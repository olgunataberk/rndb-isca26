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7" r:id="rId2"/>
  </p:sldMasterIdLst>
  <p:notesMasterIdLst>
    <p:notesMasterId r:id="rId104"/>
  </p:notesMasterIdLst>
  <p:handoutMasterIdLst>
    <p:handoutMasterId r:id="rId105"/>
  </p:handoutMasterIdLst>
  <p:sldIdLst>
    <p:sldId id="8359" r:id="rId3"/>
    <p:sldId id="8687" r:id="rId4"/>
    <p:sldId id="8703" r:id="rId5"/>
    <p:sldId id="8704" r:id="rId6"/>
    <p:sldId id="8714" r:id="rId7"/>
    <p:sldId id="8695" r:id="rId8"/>
    <p:sldId id="257" r:id="rId9"/>
    <p:sldId id="8694" r:id="rId10"/>
    <p:sldId id="8711" r:id="rId11"/>
    <p:sldId id="8690" r:id="rId12"/>
    <p:sldId id="8701" r:id="rId13"/>
    <p:sldId id="8724" r:id="rId14"/>
    <p:sldId id="8728" r:id="rId15"/>
    <p:sldId id="8729" r:id="rId16"/>
    <p:sldId id="8700" r:id="rId17"/>
    <p:sldId id="8698" r:id="rId18"/>
    <p:sldId id="8720" r:id="rId19"/>
    <p:sldId id="8721" r:id="rId20"/>
    <p:sldId id="8722" r:id="rId21"/>
    <p:sldId id="8705" r:id="rId22"/>
    <p:sldId id="8688" r:id="rId23"/>
    <p:sldId id="8730" r:id="rId24"/>
    <p:sldId id="8691" r:id="rId25"/>
    <p:sldId id="8731" r:id="rId26"/>
    <p:sldId id="8732" r:id="rId27"/>
    <p:sldId id="8733" r:id="rId28"/>
    <p:sldId id="8706" r:id="rId29"/>
    <p:sldId id="8734" r:id="rId30"/>
    <p:sldId id="8735" r:id="rId31"/>
    <p:sldId id="8736" r:id="rId32"/>
    <p:sldId id="8677" r:id="rId33"/>
    <p:sldId id="8678" r:id="rId34"/>
    <p:sldId id="7221" r:id="rId35"/>
    <p:sldId id="8679" r:id="rId36"/>
    <p:sldId id="8681" r:id="rId37"/>
    <p:sldId id="7254" r:id="rId38"/>
    <p:sldId id="8680" r:id="rId39"/>
    <p:sldId id="8683" r:id="rId40"/>
    <p:sldId id="8684" r:id="rId41"/>
    <p:sldId id="8343" r:id="rId42"/>
    <p:sldId id="8685" r:id="rId43"/>
    <p:sldId id="8374" r:id="rId44"/>
    <p:sldId id="8423" r:id="rId45"/>
    <p:sldId id="8633" r:id="rId46"/>
    <p:sldId id="8647" r:id="rId47"/>
    <p:sldId id="333" r:id="rId48"/>
    <p:sldId id="373" r:id="rId49"/>
    <p:sldId id="8636" r:id="rId50"/>
    <p:sldId id="1026" r:id="rId51"/>
    <p:sldId id="8236" r:id="rId52"/>
    <p:sldId id="8239" r:id="rId53"/>
    <p:sldId id="8648" r:id="rId54"/>
    <p:sldId id="8645" r:id="rId55"/>
    <p:sldId id="8646" r:id="rId56"/>
    <p:sldId id="8649" r:id="rId57"/>
    <p:sldId id="8412" r:id="rId58"/>
    <p:sldId id="8413" r:id="rId59"/>
    <p:sldId id="352" r:id="rId60"/>
    <p:sldId id="8276" r:id="rId61"/>
    <p:sldId id="8414" r:id="rId62"/>
    <p:sldId id="8415" r:id="rId63"/>
    <p:sldId id="8416" r:id="rId64"/>
    <p:sldId id="8417" r:id="rId65"/>
    <p:sldId id="8244" r:id="rId66"/>
    <p:sldId id="8257" r:id="rId67"/>
    <p:sldId id="8258" r:id="rId68"/>
    <p:sldId id="8259" r:id="rId69"/>
    <p:sldId id="8245" r:id="rId70"/>
    <p:sldId id="8260" r:id="rId71"/>
    <p:sldId id="8277" r:id="rId72"/>
    <p:sldId id="8650" r:id="rId73"/>
    <p:sldId id="8273" r:id="rId74"/>
    <p:sldId id="8278" r:id="rId75"/>
    <p:sldId id="8251" r:id="rId76"/>
    <p:sldId id="8262" r:id="rId77"/>
    <p:sldId id="8671" r:id="rId78"/>
    <p:sldId id="8672" r:id="rId79"/>
    <p:sldId id="8280" r:id="rId80"/>
    <p:sldId id="8263" r:id="rId81"/>
    <p:sldId id="8651" r:id="rId82"/>
    <p:sldId id="8252" r:id="rId83"/>
    <p:sldId id="8638" r:id="rId84"/>
    <p:sldId id="8641" r:id="rId85"/>
    <p:sldId id="8642" r:id="rId86"/>
    <p:sldId id="8673" r:id="rId87"/>
    <p:sldId id="8656" r:id="rId88"/>
    <p:sldId id="8674" r:id="rId89"/>
    <p:sldId id="8737" r:id="rId90"/>
    <p:sldId id="8738" r:id="rId91"/>
    <p:sldId id="8739" r:id="rId92"/>
    <p:sldId id="8740" r:id="rId93"/>
    <p:sldId id="8741" r:id="rId94"/>
    <p:sldId id="8708" r:id="rId95"/>
    <p:sldId id="8709" r:id="rId96"/>
    <p:sldId id="8723" r:id="rId97"/>
    <p:sldId id="8717" r:id="rId98"/>
    <p:sldId id="8719" r:id="rId99"/>
    <p:sldId id="8727" r:id="rId100"/>
    <p:sldId id="8742" r:id="rId101"/>
    <p:sldId id="8743" r:id="rId102"/>
    <p:sldId id="8686" r:id="rId10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95CA9F4-C014-4D42-A27D-6FB6206EF324}">
          <p14:sldIdLst>
            <p14:sldId id="8359"/>
            <p14:sldId id="8687"/>
            <p14:sldId id="8703"/>
            <p14:sldId id="8704"/>
            <p14:sldId id="8714"/>
            <p14:sldId id="8695"/>
            <p14:sldId id="257"/>
            <p14:sldId id="8694"/>
            <p14:sldId id="8711"/>
            <p14:sldId id="8690"/>
            <p14:sldId id="8701"/>
            <p14:sldId id="8724"/>
            <p14:sldId id="8728"/>
            <p14:sldId id="8729"/>
            <p14:sldId id="8700"/>
            <p14:sldId id="8698"/>
            <p14:sldId id="8720"/>
            <p14:sldId id="8721"/>
            <p14:sldId id="8722"/>
            <p14:sldId id="8705"/>
            <p14:sldId id="8688"/>
            <p14:sldId id="8730"/>
            <p14:sldId id="8691"/>
            <p14:sldId id="8731"/>
            <p14:sldId id="8732"/>
            <p14:sldId id="8733"/>
            <p14:sldId id="8706"/>
            <p14:sldId id="8734"/>
            <p14:sldId id="8735"/>
            <p14:sldId id="8736"/>
            <p14:sldId id="8677"/>
            <p14:sldId id="8678"/>
            <p14:sldId id="7221"/>
            <p14:sldId id="8679"/>
            <p14:sldId id="8681"/>
            <p14:sldId id="7254"/>
            <p14:sldId id="8680"/>
            <p14:sldId id="8683"/>
            <p14:sldId id="8684"/>
            <p14:sldId id="8343"/>
            <p14:sldId id="8685"/>
            <p14:sldId id="8374"/>
            <p14:sldId id="8423"/>
            <p14:sldId id="8633"/>
            <p14:sldId id="8647"/>
            <p14:sldId id="333"/>
            <p14:sldId id="373"/>
            <p14:sldId id="8636"/>
            <p14:sldId id="1026"/>
            <p14:sldId id="8236"/>
            <p14:sldId id="8239"/>
            <p14:sldId id="8648"/>
            <p14:sldId id="8645"/>
            <p14:sldId id="8646"/>
            <p14:sldId id="8649"/>
            <p14:sldId id="8412"/>
            <p14:sldId id="8413"/>
            <p14:sldId id="352"/>
            <p14:sldId id="8276"/>
            <p14:sldId id="8414"/>
            <p14:sldId id="8415"/>
            <p14:sldId id="8416"/>
            <p14:sldId id="8417"/>
            <p14:sldId id="8244"/>
            <p14:sldId id="8257"/>
            <p14:sldId id="8258"/>
            <p14:sldId id="8259"/>
            <p14:sldId id="8245"/>
            <p14:sldId id="8260"/>
            <p14:sldId id="8277"/>
            <p14:sldId id="8650"/>
            <p14:sldId id="8273"/>
            <p14:sldId id="8278"/>
            <p14:sldId id="8251"/>
            <p14:sldId id="8262"/>
            <p14:sldId id="8671"/>
            <p14:sldId id="8672"/>
            <p14:sldId id="8280"/>
            <p14:sldId id="8263"/>
            <p14:sldId id="8651"/>
            <p14:sldId id="8252"/>
            <p14:sldId id="8638"/>
            <p14:sldId id="8641"/>
            <p14:sldId id="8642"/>
            <p14:sldId id="8673"/>
            <p14:sldId id="8656"/>
            <p14:sldId id="8674"/>
            <p14:sldId id="8737"/>
            <p14:sldId id="8738"/>
            <p14:sldId id="8739"/>
            <p14:sldId id="8740"/>
            <p14:sldId id="8741"/>
            <p14:sldId id="8708"/>
            <p14:sldId id="8709"/>
            <p14:sldId id="8723"/>
            <p14:sldId id="8717"/>
            <p14:sldId id="8719"/>
            <p14:sldId id="8727"/>
            <p14:sldId id="8742"/>
            <p14:sldId id="8743"/>
            <p14:sldId id="86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40DC"/>
    <a:srgbClr val="316CE3"/>
    <a:srgbClr val="FF5F25"/>
    <a:srgbClr val="654591"/>
    <a:srgbClr val="CFDEFD"/>
    <a:srgbClr val="86A9EE"/>
    <a:srgbClr val="5687E8"/>
    <a:srgbClr val="FFEBCD"/>
    <a:srgbClr val="F9D3E4"/>
    <a:srgbClr val="E125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Orta Stil 4 - Vurgu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Orta Stil 4 - Vurgu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33" autoAdjust="0"/>
    <p:restoredTop sz="76633" autoAdjust="0"/>
  </p:normalViewPr>
  <p:slideViewPr>
    <p:cSldViewPr snapToGrid="0">
      <p:cViewPr varScale="1">
        <p:scale>
          <a:sx n="90" d="100"/>
          <a:sy n="90" d="100"/>
        </p:scale>
        <p:origin x="2024" y="192"/>
      </p:cViewPr>
      <p:guideLst/>
    </p:cSldViewPr>
  </p:slideViewPr>
  <p:notesTextViewPr>
    <p:cViewPr>
      <p:scale>
        <a:sx n="153" d="100"/>
        <a:sy n="153" d="100"/>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viewProps" Target="view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41513380226432"/>
          <c:y val="0.10773477041388814"/>
          <c:w val="0.79131450995388553"/>
          <c:h val="0.6558213407387814"/>
        </c:manualLayout>
      </c:layout>
      <c:barChart>
        <c:barDir val="bar"/>
        <c:grouping val="clustered"/>
        <c:varyColors val="0"/>
        <c:ser>
          <c:idx val="0"/>
          <c:order val="0"/>
          <c:tx>
            <c:strRef>
              <c:f>Sheet1!$B$1</c:f>
              <c:strCache>
                <c:ptCount val="1"/>
                <c:pt idx="0">
                  <c:v>2023</c:v>
                </c:pt>
              </c:strCache>
            </c:strRef>
          </c:tx>
          <c:spPr>
            <a:solidFill>
              <a:srgbClr val="C00000"/>
            </a:solidFill>
            <a:ln w="38100">
              <a:solidFill>
                <a:schemeClr val="tx1"/>
              </a:solidFill>
            </a:ln>
            <a:effectLst/>
          </c:spPr>
          <c:invertIfNegative val="0"/>
          <c:dPt>
            <c:idx val="0"/>
            <c:invertIfNegative val="0"/>
            <c:bubble3D val="0"/>
            <c:spPr>
              <a:solidFill>
                <a:srgbClr val="C00000"/>
              </a:solidFill>
              <a:ln w="38100">
                <a:solidFill>
                  <a:schemeClr val="tx1"/>
                </a:solidFill>
              </a:ln>
              <a:effectLst/>
            </c:spPr>
            <c:extLst>
              <c:ext xmlns:c16="http://schemas.microsoft.com/office/drawing/2014/chart" uri="{C3380CC4-5D6E-409C-BE32-E72D297353CC}">
                <c16:uniqueId val="{00000001-66C9-6442-8728-6CDBF45E02C2}"/>
              </c:ext>
            </c:extLst>
          </c:dPt>
          <c:cat>
            <c:strRef>
              <c:f>Sheet1!$A$2</c:f>
              <c:strCache>
                <c:ptCount val="1"/>
                <c:pt idx="0">
                  <c:v>The Min. ACT Count to Observe Bit Flips</c:v>
                </c:pt>
              </c:strCache>
            </c:strRef>
          </c:cat>
          <c:val>
            <c:numRef>
              <c:f>Sheet1!$B$2</c:f>
              <c:numCache>
                <c:formatCode>General</c:formatCode>
                <c:ptCount val="1"/>
                <c:pt idx="0">
                  <c:v>1</c:v>
                </c:pt>
              </c:numCache>
            </c:numRef>
          </c:val>
          <c:extLst>
            <c:ext xmlns:c16="http://schemas.microsoft.com/office/drawing/2014/chart" uri="{C3380CC4-5D6E-409C-BE32-E72D297353CC}">
              <c16:uniqueId val="{00000002-66C9-6442-8728-6CDBF45E02C2}"/>
            </c:ext>
          </c:extLst>
        </c:ser>
        <c:ser>
          <c:idx val="1"/>
          <c:order val="1"/>
          <c:tx>
            <c:strRef>
              <c:f>Sheet1!$C$1</c:f>
              <c:strCache>
                <c:ptCount val="1"/>
                <c:pt idx="0">
                  <c:v>2020</c:v>
                </c:pt>
              </c:strCache>
            </c:strRef>
          </c:tx>
          <c:spPr>
            <a:solidFill>
              <a:srgbClr val="FE6100"/>
            </a:solidFill>
            <a:ln w="38100">
              <a:solidFill>
                <a:schemeClr val="tx1"/>
              </a:solidFill>
            </a:ln>
            <a:effectLst/>
          </c:spPr>
          <c:invertIfNegative val="0"/>
          <c:cat>
            <c:strRef>
              <c:f>Sheet1!$A$2</c:f>
              <c:strCache>
                <c:ptCount val="1"/>
                <c:pt idx="0">
                  <c:v>The Min. ACT Count to Observe Bit Flips</c:v>
                </c:pt>
              </c:strCache>
            </c:strRef>
          </c:cat>
          <c:val>
            <c:numRef>
              <c:f>Sheet1!$C$2</c:f>
              <c:numCache>
                <c:formatCode>General</c:formatCode>
                <c:ptCount val="1"/>
                <c:pt idx="0">
                  <c:v>9.6</c:v>
                </c:pt>
              </c:numCache>
            </c:numRef>
          </c:val>
          <c:extLst>
            <c:ext xmlns:c16="http://schemas.microsoft.com/office/drawing/2014/chart" uri="{C3380CC4-5D6E-409C-BE32-E72D297353CC}">
              <c16:uniqueId val="{00000003-66C9-6442-8728-6CDBF45E02C2}"/>
            </c:ext>
          </c:extLst>
        </c:ser>
        <c:ser>
          <c:idx val="2"/>
          <c:order val="2"/>
          <c:tx>
            <c:strRef>
              <c:f>Sheet1!$D$1</c:f>
              <c:strCache>
                <c:ptCount val="1"/>
                <c:pt idx="0">
                  <c:v>2014</c:v>
                </c:pt>
              </c:strCache>
            </c:strRef>
          </c:tx>
          <c:spPr>
            <a:solidFill>
              <a:schemeClr val="accent1"/>
            </a:solidFill>
            <a:ln w="38100">
              <a:solidFill>
                <a:schemeClr val="tx1"/>
              </a:solidFill>
            </a:ln>
            <a:effectLst/>
          </c:spPr>
          <c:invertIfNegative val="0"/>
          <c:dPt>
            <c:idx val="0"/>
            <c:invertIfNegative val="0"/>
            <c:bubble3D val="0"/>
            <c:spPr>
              <a:solidFill>
                <a:srgbClr val="6292F7"/>
              </a:solidFill>
              <a:ln w="38100">
                <a:solidFill>
                  <a:schemeClr val="tx1"/>
                </a:solidFill>
              </a:ln>
              <a:effectLst/>
            </c:spPr>
            <c:extLst>
              <c:ext xmlns:c16="http://schemas.microsoft.com/office/drawing/2014/chart" uri="{C3380CC4-5D6E-409C-BE32-E72D297353CC}">
                <c16:uniqueId val="{00000000-47ED-44C0-905B-CB9A5CB4B7D7}"/>
              </c:ext>
            </c:extLst>
          </c:dPt>
          <c:cat>
            <c:strRef>
              <c:f>Sheet1!$A$2</c:f>
              <c:strCache>
                <c:ptCount val="1"/>
                <c:pt idx="0">
                  <c:v>The Min. ACT Count to Observe Bit Flips</c:v>
                </c:pt>
              </c:strCache>
            </c:strRef>
          </c:cat>
          <c:val>
            <c:numRef>
              <c:f>Sheet1!$D$2</c:f>
              <c:numCache>
                <c:formatCode>General</c:formatCode>
                <c:ptCount val="1"/>
                <c:pt idx="0">
                  <c:v>139.19999999999999</c:v>
                </c:pt>
              </c:numCache>
            </c:numRef>
          </c:val>
          <c:extLst>
            <c:ext xmlns:c16="http://schemas.microsoft.com/office/drawing/2014/chart" uri="{C3380CC4-5D6E-409C-BE32-E72D297353CC}">
              <c16:uniqueId val="{00000004-66C9-6442-8728-6CDBF45E02C2}"/>
            </c:ext>
          </c:extLst>
        </c:ser>
        <c:dLbls>
          <c:showLegendKey val="0"/>
          <c:showVal val="0"/>
          <c:showCatName val="0"/>
          <c:showSerName val="0"/>
          <c:showPercent val="0"/>
          <c:showBubbleSize val="0"/>
        </c:dLbls>
        <c:gapWidth val="26"/>
        <c:axId val="1754165519"/>
        <c:axId val="1509368063"/>
      </c:barChart>
      <c:catAx>
        <c:axId val="1754165519"/>
        <c:scaling>
          <c:orientation val="minMax"/>
        </c:scaling>
        <c:delete val="1"/>
        <c:axPos val="l"/>
        <c:numFmt formatCode="General" sourceLinked="1"/>
        <c:majorTickMark val="out"/>
        <c:minorTickMark val="none"/>
        <c:tickLblPos val="nextTo"/>
        <c:crossAx val="1509368063"/>
        <c:crosses val="autoZero"/>
        <c:auto val="1"/>
        <c:lblAlgn val="ctr"/>
        <c:lblOffset val="100"/>
        <c:noMultiLvlLbl val="0"/>
      </c:catAx>
      <c:valAx>
        <c:axId val="1509368063"/>
        <c:scaling>
          <c:orientation val="minMax"/>
          <c:max val="150"/>
          <c:min val="0"/>
        </c:scaling>
        <c:delete val="0"/>
        <c:axPos val="b"/>
        <c:majorGridlines>
          <c:spPr>
            <a:ln w="9525" cap="flat" cmpd="sng" algn="ctr">
              <a:solidFill>
                <a:schemeClr val="tx1">
                  <a:lumMod val="15000"/>
                  <a:lumOff val="85000"/>
                </a:schemeClr>
              </a:solidFill>
              <a:round/>
            </a:ln>
            <a:effectLst/>
          </c:spPr>
        </c:majorGridlines>
        <c:numFmt formatCode="0\K;\-0\K"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j-lt"/>
                <a:ea typeface="+mn-ea"/>
                <a:cs typeface="+mn-cs"/>
              </a:defRPr>
            </a:pPr>
            <a:endParaRPr lang="en-CH"/>
          </a:p>
        </c:txPr>
        <c:crossAx val="1754165519"/>
        <c:crosses val="autoZero"/>
        <c:crossBetween val="between"/>
        <c:min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j-lt"/>
        </a:defRPr>
      </a:pPr>
      <a:endParaRPr lang="en-CH"/>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0.2297</cdr:x>
      <cdr:y>0.33558</cdr:y>
    </cdr:from>
    <cdr:to>
      <cdr:x>0.91915</cdr:x>
      <cdr:y>0.47396</cdr:y>
    </cdr:to>
    <cdr:grpSp>
      <cdr:nvGrpSpPr>
        <cdr:cNvPr id="2" name="Group 1">
          <a:extLst xmlns:a="http://schemas.openxmlformats.org/drawingml/2006/main">
            <a:ext uri="{FF2B5EF4-FFF2-40B4-BE49-F238E27FC236}">
              <a16:creationId xmlns:a16="http://schemas.microsoft.com/office/drawing/2014/main" id="{BE86B0E8-1993-A74C-B05D-48CA2A51169E}"/>
            </a:ext>
          </a:extLst>
        </cdr:cNvPr>
        <cdr:cNvGrpSpPr/>
      </cdr:nvGrpSpPr>
      <cdr:grpSpPr>
        <a:xfrm xmlns:a="http://schemas.openxmlformats.org/drawingml/2006/main">
          <a:off x="2037463" y="870295"/>
          <a:ext cx="6115493" cy="358876"/>
          <a:chOff x="5493358" y="-924114"/>
          <a:chExt cx="3106984" cy="195197"/>
        </a:xfrm>
      </cdr:grpSpPr>
      <cdr:cxnSp macro="">
        <cdr:nvCxnSpPr>
          <cdr:cNvPr id="7" name="Straight Arrow Connector 6">
            <a:extLst xmlns:a="http://schemas.openxmlformats.org/drawingml/2006/main">
              <a:ext uri="{FF2B5EF4-FFF2-40B4-BE49-F238E27FC236}">
                <a16:creationId xmlns:a16="http://schemas.microsoft.com/office/drawing/2014/main" id="{E14E8D98-2FA7-9A48-ABDF-B0E9FFA5C572}"/>
              </a:ext>
            </a:extLst>
          </cdr:cNvPr>
          <cdr:cNvCxnSpPr>
            <a:cxnSpLocks xmlns:a="http://schemas.openxmlformats.org/drawingml/2006/main"/>
          </cdr:cNvCxnSpPr>
        </cdr:nvCxnSpPr>
        <cdr:spPr>
          <a:xfrm xmlns:a="http://schemas.openxmlformats.org/drawingml/2006/main" flipH="1">
            <a:off x="5493358" y="-728917"/>
            <a:ext cx="3090670" cy="0"/>
          </a:xfrm>
          <a:prstGeom xmlns:a="http://schemas.openxmlformats.org/drawingml/2006/main" prst="straightConnector1">
            <a:avLst/>
          </a:prstGeom>
          <a:ln xmlns:a="http://schemas.openxmlformats.org/drawingml/2006/main" w="76200">
            <a:solidFill>
              <a:srgbClr val="FE610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sp macro="" textlink="">
        <cdr:nvSpPr>
          <cdr:cNvPr id="8" name="TextBox 12">
            <a:extLst xmlns:a="http://schemas.openxmlformats.org/drawingml/2006/main">
              <a:ext uri="{FF2B5EF4-FFF2-40B4-BE49-F238E27FC236}">
                <a16:creationId xmlns:a16="http://schemas.microsoft.com/office/drawing/2014/main" id="{39E1B207-FADD-674A-9FCB-D6D907713E1E}"/>
              </a:ext>
            </a:extLst>
          </cdr:cNvPr>
          <cdr:cNvSpPr txBox="1"/>
        </cdr:nvSpPr>
        <cdr:spPr>
          <a:xfrm xmlns:a="http://schemas.openxmlformats.org/drawingml/2006/main">
            <a:off x="6263766" y="-924114"/>
            <a:ext cx="2336576" cy="184129"/>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a:r>
              <a:rPr lang="en-US" sz="1600" b="1" dirty="0">
                <a:solidFill>
                  <a:srgbClr val="FE6100"/>
                </a:solidFill>
                <a:latin typeface="+mj-lt"/>
              </a:rPr>
              <a:t>More than 10X reduction</a:t>
            </a:r>
          </a:p>
        </cdr:txBody>
      </cdr:sp>
    </cdr:grpSp>
  </cdr:relSizeAnchor>
  <cdr:relSizeAnchor xmlns:cdr="http://schemas.openxmlformats.org/drawingml/2006/chartDrawing">
    <cdr:from>
      <cdr:x>0.18061</cdr:x>
      <cdr:y>0.85718</cdr:y>
    </cdr:from>
    <cdr:to>
      <cdr:x>0.92448</cdr:x>
      <cdr:y>0.97586</cdr:y>
    </cdr:to>
    <cdr:sp macro="" textlink="">
      <cdr:nvSpPr>
        <cdr:cNvPr id="10" name="TextBox 16">
          <a:extLst xmlns:a="http://schemas.openxmlformats.org/drawingml/2006/main">
            <a:ext uri="{FF2B5EF4-FFF2-40B4-BE49-F238E27FC236}">
              <a16:creationId xmlns:a16="http://schemas.microsoft.com/office/drawing/2014/main" id="{5133D1B7-58C4-6C59-A91F-EFF72FAB742C}"/>
            </a:ext>
          </a:extLst>
        </cdr:cNvPr>
        <cdr:cNvSpPr txBox="1"/>
      </cdr:nvSpPr>
      <cdr:spPr>
        <a:xfrm xmlns:a="http://schemas.openxmlformats.org/drawingml/2006/main">
          <a:off x="1602054" y="2223016"/>
          <a:ext cx="6598200" cy="307785"/>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400" dirty="0">
              <a:solidFill>
                <a:schemeClr val="tx1"/>
              </a:solidFill>
              <a:latin typeface="+mj-lt"/>
            </a:rPr>
            <a:t>Minimum hammer count needed to induce the first read disturbance bitflip</a:t>
          </a:r>
        </a:p>
      </cdr:txBody>
    </cdr:sp>
  </cdr:relSizeAnchor>
  <cdr:relSizeAnchor xmlns:cdr="http://schemas.openxmlformats.org/drawingml/2006/chartDrawing">
    <cdr:from>
      <cdr:x>0.18325</cdr:x>
      <cdr:y>0.50704</cdr:y>
    </cdr:from>
    <cdr:to>
      <cdr:x>0.92179</cdr:x>
      <cdr:y>0.64309</cdr:y>
    </cdr:to>
    <cdr:grpSp>
      <cdr:nvGrpSpPr>
        <cdr:cNvPr id="12" name="Group 11">
          <a:extLst xmlns:a="http://schemas.openxmlformats.org/drawingml/2006/main">
            <a:ext uri="{FF2B5EF4-FFF2-40B4-BE49-F238E27FC236}">
              <a16:creationId xmlns:a16="http://schemas.microsoft.com/office/drawing/2014/main" id="{568889B3-AF04-08B7-0E5E-01C77B07CE14}"/>
            </a:ext>
          </a:extLst>
        </cdr:cNvPr>
        <cdr:cNvGrpSpPr/>
      </cdr:nvGrpSpPr>
      <cdr:grpSpPr>
        <a:xfrm xmlns:a="http://schemas.openxmlformats.org/drawingml/2006/main">
          <a:off x="1625447" y="1314961"/>
          <a:ext cx="6550926" cy="352832"/>
          <a:chOff x="7236762" y="-3542230"/>
          <a:chExt cx="1485075" cy="148287"/>
        </a:xfrm>
      </cdr:grpSpPr>
      <cdr:cxnSp macro="">
        <cdr:nvCxnSpPr>
          <cdr:cNvPr id="13" name="Straight Arrow Connector 12">
            <a:extLst xmlns:a="http://schemas.openxmlformats.org/drawingml/2006/main">
              <a:ext uri="{FF2B5EF4-FFF2-40B4-BE49-F238E27FC236}">
                <a16:creationId xmlns:a16="http://schemas.microsoft.com/office/drawing/2014/main" id="{071BDCAD-B506-21CF-A5C9-9C3103090160}"/>
              </a:ext>
            </a:extLst>
          </cdr:cNvPr>
          <cdr:cNvCxnSpPr>
            <a:cxnSpLocks xmlns:a="http://schemas.openxmlformats.org/drawingml/2006/main"/>
          </cdr:cNvCxnSpPr>
        </cdr:nvCxnSpPr>
        <cdr:spPr>
          <a:xfrm xmlns:a="http://schemas.openxmlformats.org/drawingml/2006/main" flipH="1">
            <a:off x="7236762" y="-3393943"/>
            <a:ext cx="1475359" cy="0"/>
          </a:xfrm>
          <a:prstGeom xmlns:a="http://schemas.openxmlformats.org/drawingml/2006/main" prst="straightConnector1">
            <a:avLst/>
          </a:prstGeom>
          <a:ln xmlns:a="http://schemas.openxmlformats.org/drawingml/2006/main" w="76200">
            <a:solidFill>
              <a:srgbClr val="C0000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sp macro="" textlink="">
        <cdr:nvSpPr>
          <cdr:cNvPr id="14" name="TextBox 12">
            <a:extLst xmlns:a="http://schemas.openxmlformats.org/drawingml/2006/main">
              <a:ext uri="{FF2B5EF4-FFF2-40B4-BE49-F238E27FC236}">
                <a16:creationId xmlns:a16="http://schemas.microsoft.com/office/drawing/2014/main" id="{77CE63B6-C641-E3E4-078B-A5600B44E5CA}"/>
              </a:ext>
            </a:extLst>
          </cdr:cNvPr>
          <cdr:cNvSpPr txBox="1"/>
        </cdr:nvSpPr>
        <cdr:spPr>
          <a:xfrm xmlns:a="http://schemas.openxmlformats.org/drawingml/2006/main">
            <a:off x="7534720" y="-3542230"/>
            <a:ext cx="1187117" cy="14228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en-US" sz="1600" b="1" dirty="0">
                <a:solidFill>
                  <a:srgbClr val="C00000"/>
                </a:solidFill>
                <a:latin typeface="+mj-lt"/>
              </a:rPr>
              <a:t>More than 100X reduction</a:t>
            </a:r>
          </a:p>
        </cdr:txBody>
      </cdr:sp>
    </cdr:grp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AA832AD0-4930-4A38-9417-2B65CA063F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85B7EE4F-C375-412A-A2C2-5B3E3E3228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9EE74D-3E80-4630-85C1-9DAA3B40707E}" type="datetimeFigureOut">
              <a:rPr lang="tr-TR" smtClean="0"/>
              <a:t>27.06.2026</a:t>
            </a:fld>
            <a:endParaRPr lang="tr-TR"/>
          </a:p>
        </p:txBody>
      </p:sp>
      <p:sp>
        <p:nvSpPr>
          <p:cNvPr id="4" name="Alt Bilgi Yer Tutucusu 3">
            <a:extLst>
              <a:ext uri="{FF2B5EF4-FFF2-40B4-BE49-F238E27FC236}">
                <a16:creationId xmlns:a16="http://schemas.microsoft.com/office/drawing/2014/main" id="{13C7215F-F397-40E9-8612-970E766789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6AE5EB41-4C5E-4B7B-986F-D0317A93D1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B505F3-A52E-44E1-BBC9-38B71473DECB}" type="slidenum">
              <a:rPr lang="tr-TR" smtClean="0"/>
              <a:t>‹#›</a:t>
            </a:fld>
            <a:endParaRPr lang="tr-TR"/>
          </a:p>
        </p:txBody>
      </p:sp>
    </p:spTree>
    <p:extLst>
      <p:ext uri="{BB962C8B-B14F-4D97-AF65-F5344CB8AC3E}">
        <p14:creationId xmlns:p14="http://schemas.microsoft.com/office/powerpoint/2010/main" val="462461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7F0D30-3E46-4825-8588-D9B6072F0A29}" type="datetimeFigureOut">
              <a:rPr lang="tr-TR" smtClean="0"/>
              <a:t>27.06.2026</a:t>
            </a:fld>
            <a:endParaRPr lang="tr-TR"/>
          </a:p>
        </p:txBody>
      </p:sp>
      <p:sp>
        <p:nvSpPr>
          <p:cNvPr id="4" name="Slayt Resmi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65BF41-557F-464F-A572-936F8C7D1291}" type="slidenum">
              <a:rPr lang="tr-TR" smtClean="0"/>
              <a:t>‹#›</a:t>
            </a:fld>
            <a:endParaRPr lang="tr-TR"/>
          </a:p>
        </p:txBody>
      </p:sp>
    </p:spTree>
    <p:extLst>
      <p:ext uri="{BB962C8B-B14F-4D97-AF65-F5344CB8AC3E}">
        <p14:creationId xmlns:p14="http://schemas.microsoft.com/office/powerpoint/2010/main" val="2502633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CMU-SAFARI/Cleaning-up-the-Mes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F8BC1-42BA-BE0E-6C05-AC5861A9E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DE180-61F8-7B6F-C72A-2C78FFB28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3148C-2636-AE70-F617-099C820BF22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a:extLst>
              <a:ext uri="{FF2B5EF4-FFF2-40B4-BE49-F238E27FC236}">
                <a16:creationId xmlns:a16="http://schemas.microsoft.com/office/drawing/2014/main" id="{6A494F37-D575-801F-74FA-13390B6D7166}"/>
              </a:ext>
            </a:extLst>
          </p:cNvPr>
          <p:cNvSpPr>
            <a:spLocks noGrp="1"/>
          </p:cNvSpPr>
          <p:nvPr>
            <p:ph type="sldNum" sz="quarter" idx="10"/>
          </p:nvPr>
        </p:nvSpPr>
        <p:spPr/>
        <p:txBody>
          <a:bodyPr/>
          <a:lstStyle/>
          <a:p>
            <a:fld id="{EF7F79D3-8C36-4CB5-B03B-F440DA7B71AF}" type="slidenum">
              <a:rPr lang="en-US" smtClean="0"/>
              <a:t>1</a:t>
            </a:fld>
            <a:endParaRPr lang="en-US"/>
          </a:p>
        </p:txBody>
      </p:sp>
    </p:spTree>
    <p:extLst>
      <p:ext uri="{BB962C8B-B14F-4D97-AF65-F5344CB8AC3E}">
        <p14:creationId xmlns:p14="http://schemas.microsoft.com/office/powerpoint/2010/main" val="3385555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F8BC1-42BA-BE0E-6C05-AC5861A9E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DE180-61F8-7B6F-C72A-2C78FFB28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3148C-2636-AE70-F617-099C820BF22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Hi everyone, I am Nisa and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Today </a:t>
            </a:r>
            <a:r>
              <a:rPr lang="en-US" baseline="0" err="1"/>
              <a:t>Haocong</a:t>
            </a:r>
            <a:r>
              <a:rPr lang="en-US" baseline="0"/>
              <a:t> and I are going to present our work called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Cleaning up the Mess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Re-Evaluating the Real-System Modeling Accuracy of </a:t>
            </a:r>
            <a:r>
              <a:rPr lang="en-US" baseline="0" err="1"/>
              <a:t>Ramulator</a:t>
            </a:r>
            <a:r>
              <a:rPr lang="en-US" baseline="0"/>
              <a:t> 2.0</a:t>
            </a:r>
          </a:p>
        </p:txBody>
      </p:sp>
      <p:sp>
        <p:nvSpPr>
          <p:cNvPr id="4" name="Slide Number Placeholder 3">
            <a:extLst>
              <a:ext uri="{FF2B5EF4-FFF2-40B4-BE49-F238E27FC236}">
                <a16:creationId xmlns:a16="http://schemas.microsoft.com/office/drawing/2014/main" id="{6A494F37-D575-801F-74FA-13390B6D7166}"/>
              </a:ext>
            </a:extLst>
          </p:cNvPr>
          <p:cNvSpPr>
            <a:spLocks noGrp="1"/>
          </p:cNvSpPr>
          <p:nvPr>
            <p:ph type="sldNum" sz="quarter" idx="10"/>
          </p:nvPr>
        </p:nvSpPr>
        <p:spPr/>
        <p:txBody>
          <a:bodyPr/>
          <a:lstStyle/>
          <a:p>
            <a:fld id="{EF7F79D3-8C36-4CB5-B03B-F440DA7B71AF}" type="slidenum">
              <a:rPr lang="en-US" smtClean="0"/>
              <a:t>2</a:t>
            </a:fld>
            <a:endParaRPr lang="en-US"/>
          </a:p>
        </p:txBody>
      </p:sp>
    </p:spTree>
    <p:extLst>
      <p:ext uri="{BB962C8B-B14F-4D97-AF65-F5344CB8AC3E}">
        <p14:creationId xmlns:p14="http://schemas.microsoft.com/office/powerpoint/2010/main" val="338555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D9EE3-7753-7545-52B2-16D3CD707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5EEEB-EEF5-CB28-BB31-F1B0F2BC0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79982-9084-3FAA-770C-95A210CA3A85}"/>
              </a:ext>
            </a:extLst>
          </p:cNvPr>
          <p:cNvSpPr>
            <a:spLocks noGrp="1"/>
          </p:cNvSpPr>
          <p:nvPr>
            <p:ph type="body" idx="1"/>
          </p:nvPr>
        </p:nvSpPr>
        <p:spPr/>
        <p:txBody>
          <a:bodyPr/>
          <a:lstStyle/>
          <a:p>
            <a:r>
              <a:rPr lang="en-US"/>
              <a:t>Cycle-level DRAM simulators provide accurate and flexible models for DRAM and memory controller operations</a:t>
            </a:r>
          </a:p>
          <a:p>
            <a:r>
              <a:rPr lang="en-US"/>
              <a:t>And doing so, they enable research on current and future memory systems in various areas</a:t>
            </a:r>
          </a:p>
          <a:p>
            <a:r>
              <a:rPr lang="en-US"/>
              <a:t>Such as  improving DRAM latency, developing solutions for robustness issues such as retention and read disturbance</a:t>
            </a:r>
          </a:p>
          <a:p>
            <a:r>
              <a:rPr lang="en-US"/>
              <a:t>And evaluating various systems like emerging processing-in-memory architectures</a:t>
            </a:r>
          </a:p>
          <a:p>
            <a:endParaRPr lang="en-US"/>
          </a:p>
          <a:p>
            <a:endParaRPr lang="en-US"/>
          </a:p>
          <a:p>
            <a:r>
              <a:rPr lang="en-US"/>
              <a:t>Therefore, these simulators are critical for improving the performance, efficiency and robustness of memory systems</a:t>
            </a:r>
          </a:p>
          <a:p>
            <a:endParaRPr lang="en-US"/>
          </a:p>
        </p:txBody>
      </p:sp>
      <p:sp>
        <p:nvSpPr>
          <p:cNvPr id="4" name="Slide Number Placeholder 3">
            <a:extLst>
              <a:ext uri="{FF2B5EF4-FFF2-40B4-BE49-F238E27FC236}">
                <a16:creationId xmlns:a16="http://schemas.microsoft.com/office/drawing/2014/main" id="{A3385E1D-2FA2-A149-8D68-EB7DD9F5CC2F}"/>
              </a:ext>
            </a:extLst>
          </p:cNvPr>
          <p:cNvSpPr>
            <a:spLocks noGrp="1"/>
          </p:cNvSpPr>
          <p:nvPr>
            <p:ph type="sldNum" sz="quarter" idx="5"/>
          </p:nvPr>
        </p:nvSpPr>
        <p:spPr/>
        <p:txBody>
          <a:bodyPr/>
          <a:lstStyle/>
          <a:p>
            <a:fld id="{2F65BF41-557F-464F-A572-936F8C7D1291}" type="slidenum">
              <a:rPr lang="tr-TR" smtClean="0"/>
              <a:t>3</a:t>
            </a:fld>
            <a:endParaRPr lang="tr-TR"/>
          </a:p>
        </p:txBody>
      </p:sp>
    </p:spTree>
    <p:extLst>
      <p:ext uri="{BB962C8B-B14F-4D97-AF65-F5344CB8AC3E}">
        <p14:creationId xmlns:p14="http://schemas.microsoft.com/office/powerpoint/2010/main" val="1114470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MICRO 2024 best paper runner-up publication with all 3 artifact badges</a:t>
            </a:r>
            <a:r>
              <a:rPr lang="en-US"/>
              <a:t>, titled </a:t>
            </a:r>
            <a:r>
              <a:rPr lang="en-GB" sz="1200" b="1" i="1"/>
              <a:t>"A Mess of Memory System Benchmarking, Simulation and Application Profiling",  </a:t>
            </a:r>
            <a:r>
              <a:rPr lang="en-GB" sz="1200" b="0" i="0"/>
              <a:t>which we call the Mess paper, </a:t>
            </a:r>
          </a:p>
          <a:p>
            <a:r>
              <a:rPr lang="en-GB" sz="1200" b="1" i="0"/>
              <a:t>[CLICK] </a:t>
            </a:r>
            <a:r>
              <a:rPr lang="en-GB" sz="1200" b="0" i="0"/>
              <a:t>proposes a new benchmark to evaluate the real and simulated memory system performance</a:t>
            </a:r>
          </a:p>
          <a:p>
            <a:endParaRPr lang="en-GB" sz="1200" b="0" i="0"/>
          </a:p>
          <a:p>
            <a:r>
              <a:rPr lang="en-GB" sz="1200" b="1" i="0"/>
              <a:t>[CLICK]</a:t>
            </a:r>
            <a:r>
              <a:rPr lang="en-GB" sz="1200" b="0" i="0"/>
              <a:t> while doing so, it also makes some </a:t>
            </a:r>
            <a:r>
              <a:rPr lang="en-GB" sz="1200" b="1" i="0"/>
              <a:t>strong negative claims </a:t>
            </a:r>
            <a:r>
              <a:rPr lang="en-GB" sz="1200" b="0" i="0"/>
              <a:t>about two of our simulation infrastructures: </a:t>
            </a:r>
            <a:r>
              <a:rPr lang="en-GB" sz="1200" b="0" i="0" err="1"/>
              <a:t>Ramulator</a:t>
            </a:r>
            <a:r>
              <a:rPr lang="en-GB" sz="1200" b="0" i="0"/>
              <a:t> 2.0 and DAMOV and shows </a:t>
            </a:r>
            <a:r>
              <a:rPr lang="en-GB" sz="1200" b="1" i="0"/>
              <a:t>unexpected results</a:t>
            </a:r>
          </a:p>
          <a:p>
            <a:r>
              <a:rPr lang="en-GB" sz="1200" b="1" i="0"/>
              <a:t>[CLICK] </a:t>
            </a:r>
            <a:r>
              <a:rPr lang="en-GB" sz="1200" b="0" i="0"/>
              <a:t>concluding that they poorly resemble the actual system performance</a:t>
            </a:r>
          </a:p>
          <a:p>
            <a:br>
              <a:rPr lang="en-GB" sz="1200" b="0" i="0"/>
            </a:br>
            <a:br>
              <a:rPr lang="en-GB" sz="1200" b="0" i="0"/>
            </a:br>
            <a:br>
              <a:rPr lang="en-GB" sz="1200" b="0" i="0"/>
            </a:br>
            <a:endParaRPr lang="en-US" b="0" i="0"/>
          </a:p>
        </p:txBody>
      </p:sp>
      <p:sp>
        <p:nvSpPr>
          <p:cNvPr id="4" name="Slide Number Placeholder 3"/>
          <p:cNvSpPr>
            <a:spLocks noGrp="1"/>
          </p:cNvSpPr>
          <p:nvPr>
            <p:ph type="sldNum" sz="quarter" idx="5"/>
          </p:nvPr>
        </p:nvSpPr>
        <p:spPr/>
        <p:txBody>
          <a:bodyPr/>
          <a:lstStyle/>
          <a:p>
            <a:fld id="{2F65BF41-557F-464F-A572-936F8C7D1291}" type="slidenum">
              <a:rPr lang="tr-TR" smtClean="0"/>
              <a:t>4</a:t>
            </a:fld>
            <a:endParaRPr lang="tr-TR"/>
          </a:p>
        </p:txBody>
      </p:sp>
    </p:spTree>
    <p:extLst>
      <p:ext uri="{BB962C8B-B14F-4D97-AF65-F5344CB8AC3E}">
        <p14:creationId xmlns:p14="http://schemas.microsoft.com/office/powerpoint/2010/main" val="398782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35449-FFAC-1922-5246-7A5FBC173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3A296-655E-E655-AF64-A19EB02FD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9C741-3428-4E56-A39B-57AF00260CC0}"/>
              </a:ext>
            </a:extLst>
          </p:cNvPr>
          <p:cNvSpPr>
            <a:spLocks noGrp="1"/>
          </p:cNvSpPr>
          <p:nvPr>
            <p:ph type="body" idx="1"/>
          </p:nvPr>
        </p:nvSpPr>
        <p:spPr/>
        <p:txBody>
          <a:bodyPr/>
          <a:lstStyle/>
          <a:p>
            <a:r>
              <a:rPr lang="en-GB" sz="1200" b="1" i="0"/>
              <a:t>[CLICK] </a:t>
            </a:r>
            <a:r>
              <a:rPr lang="en-GB" sz="1200" b="0" i="0"/>
              <a:t>In this work, we demonstrate that these claims and results are </a:t>
            </a:r>
            <a:r>
              <a:rPr lang="en-GB" sz="1200" b="1" i="0"/>
              <a:t>incorrect </a:t>
            </a:r>
            <a:r>
              <a:rPr lang="en-GB" sz="1200" b="0" i="0"/>
              <a:t>and are due to configuration and simulator usage errors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a:t>Made in the Mess paper.</a:t>
            </a:r>
            <a:br>
              <a:rPr lang="en-GB" sz="1200" b="0" i="0"/>
            </a:br>
            <a:br>
              <a:rPr lang="en-GB" sz="1200" b="0" i="0"/>
            </a:br>
            <a:r>
              <a:rPr lang="en-GB" sz="1200" kern="1200">
                <a:solidFill>
                  <a:schemeClr val="tx1"/>
                </a:solidFill>
                <a:latin typeface="+mn-lt"/>
                <a:ea typeface="+mn-ea"/>
                <a:cs typeface="+mn-cs"/>
              </a:rPr>
              <a:t>We describe </a:t>
            </a:r>
            <a:r>
              <a:rPr lang="en-GB" sz="1200" b="1" kern="1200">
                <a:solidFill>
                  <a:srgbClr val="6D40DC"/>
                </a:solidFill>
                <a:latin typeface="+mn-lt"/>
                <a:ea typeface="+mn-ea"/>
                <a:cs typeface="+mn-cs"/>
              </a:rPr>
              <a:t>four best practices </a:t>
            </a:r>
            <a:br>
              <a:rPr lang="en-GB" sz="1200" kern="1200">
                <a:solidFill>
                  <a:schemeClr val="tx1"/>
                </a:solidFill>
                <a:latin typeface="+mn-lt"/>
                <a:ea typeface="+mn-ea"/>
                <a:cs typeface="+mn-cs"/>
              </a:rPr>
            </a:br>
            <a:r>
              <a:rPr lang="en-GB" sz="1200" kern="1200">
                <a:solidFill>
                  <a:schemeClr val="tx1"/>
                </a:solidFill>
                <a:latin typeface="+mn-lt"/>
                <a:ea typeface="+mn-ea"/>
                <a:cs typeface="+mn-cs"/>
              </a:rPr>
              <a:t>to aid users and developers of simulation tools</a:t>
            </a:r>
            <a:endParaRPr lang="en-US" sz="1200" kern="1200">
              <a:solidFill>
                <a:srgbClr val="C00000"/>
              </a:solidFill>
              <a:latin typeface="+mn-lt"/>
              <a:ea typeface="+mn-ea"/>
              <a:cs typeface="+mn-cs"/>
            </a:endParaRPr>
          </a:p>
          <a:p>
            <a:endParaRPr lang="en-US" b="0" i="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latin typeface="+mn-lt"/>
                <a:ea typeface="+mn-ea"/>
                <a:cs typeface="+mn-cs"/>
              </a:rPr>
              <a:t>To facilitate transparency and reproducibility, </a:t>
            </a:r>
            <a:br>
              <a:rPr lang="en-GB" sz="1200" kern="1200">
                <a:solidFill>
                  <a:schemeClr val="tx1"/>
                </a:solidFill>
                <a:latin typeface="+mn-lt"/>
                <a:ea typeface="+mn-ea"/>
                <a:cs typeface="+mn-cs"/>
              </a:rPr>
            </a:br>
            <a:r>
              <a:rPr lang="en-GB" sz="1200" kern="1200">
                <a:solidFill>
                  <a:schemeClr val="tx1"/>
                </a:solidFill>
                <a:latin typeface="+mn-lt"/>
                <a:ea typeface="+mn-ea"/>
                <a:cs typeface="+mn-cs"/>
              </a:rPr>
              <a:t>we </a:t>
            </a:r>
            <a:r>
              <a:rPr lang="en-GB" sz="1200" b="1" kern="1200">
                <a:solidFill>
                  <a:schemeClr val="tx1"/>
                </a:solidFill>
                <a:latin typeface="+mn-lt"/>
                <a:ea typeface="+mn-ea"/>
                <a:cs typeface="+mn-cs"/>
              </a:rPr>
              <a:t>open source all our code </a:t>
            </a:r>
            <a:r>
              <a:rPr lang="en-GB" sz="1200" kern="1200">
                <a:solidFill>
                  <a:schemeClr val="tx1"/>
                </a:solidFill>
                <a:latin typeface="+mn-lt"/>
                <a:ea typeface="+mn-ea"/>
                <a:cs typeface="+mn-cs"/>
              </a:rPr>
              <a:t>and </a:t>
            </a:r>
            <a:r>
              <a:rPr lang="en-GB" sz="1200" b="1" kern="1200">
                <a:solidFill>
                  <a:schemeClr val="tx1"/>
                </a:solidFill>
                <a:latin typeface="+mn-lt"/>
                <a:ea typeface="+mn-ea"/>
                <a:cs typeface="+mn-cs"/>
              </a:rPr>
              <a:t>results</a:t>
            </a:r>
            <a:r>
              <a:rPr lang="en-GB" sz="1200" kern="1200">
                <a:solidFill>
                  <a:schemeClr val="tx1"/>
                </a:solidFill>
                <a:latin typeface="+mn-lt"/>
                <a:ea typeface="+mn-ea"/>
                <a:cs typeface="+mn-cs"/>
              </a:rPr>
              <a:t>: </a:t>
            </a:r>
            <a:br>
              <a:rPr lang="en-GB" sz="1200" kern="1200">
                <a:solidFill>
                  <a:schemeClr val="tx1"/>
                </a:solidFill>
                <a:latin typeface="+mn-lt"/>
                <a:ea typeface="+mn-ea"/>
                <a:cs typeface="+mn-cs"/>
              </a:rPr>
            </a:br>
            <a:r>
              <a:rPr lang="en-GB" sz="1200" kern="1200">
                <a:solidFill>
                  <a:schemeClr val="tx1"/>
                </a:solidFill>
                <a:latin typeface="+mn-lt"/>
                <a:ea typeface="+mn-ea"/>
                <a:cs typeface="+mn-cs"/>
                <a:hlinkClick r:id="rId3"/>
              </a:rPr>
              <a:t>https://github.com/CMU-SAFARI/Cleaning-up-the-Mess</a:t>
            </a:r>
            <a:endParaRPr lang="en-GB" sz="1200" kern="1200">
              <a:solidFill>
                <a:schemeClr val="tx1"/>
              </a:solidFill>
              <a:latin typeface="+mn-lt"/>
              <a:ea typeface="+mn-ea"/>
              <a:cs typeface="+mn-cs"/>
            </a:endParaRPr>
          </a:p>
          <a:p>
            <a:endParaRPr lang="en-US" b="0" i="0"/>
          </a:p>
        </p:txBody>
      </p:sp>
      <p:sp>
        <p:nvSpPr>
          <p:cNvPr id="4" name="Slide Number Placeholder 3">
            <a:extLst>
              <a:ext uri="{FF2B5EF4-FFF2-40B4-BE49-F238E27FC236}">
                <a16:creationId xmlns:a16="http://schemas.microsoft.com/office/drawing/2014/main" id="{B87D009A-7535-0BE4-E383-72AB38C699CA}"/>
              </a:ext>
            </a:extLst>
          </p:cNvPr>
          <p:cNvSpPr>
            <a:spLocks noGrp="1"/>
          </p:cNvSpPr>
          <p:nvPr>
            <p:ph type="sldNum" sz="quarter" idx="5"/>
          </p:nvPr>
        </p:nvSpPr>
        <p:spPr/>
        <p:txBody>
          <a:bodyPr/>
          <a:lstStyle/>
          <a:p>
            <a:fld id="{2F65BF41-557F-464F-A572-936F8C7D1291}" type="slidenum">
              <a:rPr lang="tr-TR" smtClean="0"/>
              <a:t>5</a:t>
            </a:fld>
            <a:endParaRPr lang="tr-TR"/>
          </a:p>
        </p:txBody>
      </p:sp>
    </p:spTree>
    <p:extLst>
      <p:ext uri="{BB962C8B-B14F-4D97-AF65-F5344CB8AC3E}">
        <p14:creationId xmlns:p14="http://schemas.microsoft.com/office/powerpoint/2010/main" val="1716019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demonstrate that these results and claims are incorrect, </a:t>
            </a:r>
            <a:r>
              <a:rPr lang="en-US" b="1"/>
              <a:t>[CLICK]</a:t>
            </a:r>
            <a:r>
              <a:rPr lang="en-US"/>
              <a:t> we first analyze the evaluation of </a:t>
            </a:r>
            <a:r>
              <a:rPr lang="en-US" err="1"/>
              <a:t>Ramulator</a:t>
            </a:r>
            <a:r>
              <a:rPr lang="en-US"/>
              <a:t> 2.0 and DAMOV in the Mess paper</a:t>
            </a:r>
          </a:p>
          <a:p>
            <a:r>
              <a:rPr lang="en-US" b="1"/>
              <a:t>[CLICK]</a:t>
            </a:r>
            <a:r>
              <a:rPr lang="en-US"/>
              <a:t> and then describe best practices for these tools for users to avoid such issues in the future</a:t>
            </a:r>
          </a:p>
          <a:p>
            <a:r>
              <a:rPr lang="en-US" b="1"/>
              <a:t>[CLICK] </a:t>
            </a:r>
            <a:r>
              <a:rPr lang="en-US" b="0"/>
              <a:t>Now lets talk about our analysis of the evaluation of </a:t>
            </a:r>
            <a:r>
              <a:rPr lang="en-US" b="0" err="1"/>
              <a:t>Ramulator</a:t>
            </a:r>
            <a:r>
              <a:rPr lang="en-US" b="0"/>
              <a:t> 2.0 in the mess paper</a:t>
            </a:r>
          </a:p>
        </p:txBody>
      </p:sp>
      <p:sp>
        <p:nvSpPr>
          <p:cNvPr id="4" name="Slide Number Placeholder 3"/>
          <p:cNvSpPr>
            <a:spLocks noGrp="1"/>
          </p:cNvSpPr>
          <p:nvPr>
            <p:ph type="sldNum" sz="quarter" idx="5"/>
          </p:nvPr>
        </p:nvSpPr>
        <p:spPr/>
        <p:txBody>
          <a:bodyPr/>
          <a:lstStyle/>
          <a:p>
            <a:fld id="{2F65BF41-557F-464F-A572-936F8C7D1291}" type="slidenum">
              <a:rPr lang="tr-TR" smtClean="0"/>
              <a:t>6</a:t>
            </a:fld>
            <a:endParaRPr lang="tr-TR"/>
          </a:p>
        </p:txBody>
      </p:sp>
    </p:spTree>
    <p:extLst>
      <p:ext uri="{BB962C8B-B14F-4D97-AF65-F5344CB8AC3E}">
        <p14:creationId xmlns:p14="http://schemas.microsoft.com/office/powerpoint/2010/main" val="3954902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err="1"/>
              <a:t>Ramulator</a:t>
            </a:r>
            <a:r>
              <a:rPr lang="en-US" b="0"/>
              <a:t> 2.0 is a modern modular and extensible DRAM simulator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[CLICK] that models a wide range of DRAM standards and memory controller functionalities, which are easy to extend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[CLICK] It enables fine-grained modeling of DRAM operation and [CLICK] is used by many research works since its release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0"/>
            </a:br>
            <a:r>
              <a:rPr lang="en-US" b="0"/>
              <a:t>[CLICK] It is open sourced and freely available on GitHub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ayt Numarası Yer Tutucusu 3"/>
          <p:cNvSpPr>
            <a:spLocks noGrp="1"/>
          </p:cNvSpPr>
          <p:nvPr>
            <p:ph type="sldNum" sz="quarter" idx="5"/>
          </p:nvPr>
        </p:nvSpPr>
        <p:spPr/>
        <p:txBody>
          <a:bodyPr/>
          <a:lstStyle/>
          <a:p>
            <a:fld id="{BC575381-7527-4E0E-A355-7550D954D08C}" type="slidenum">
              <a:rPr lang="tr-TR" smtClean="0"/>
              <a:t>7</a:t>
            </a:fld>
            <a:endParaRPr lang="tr-TR"/>
          </a:p>
        </p:txBody>
      </p:sp>
    </p:spTree>
    <p:extLst>
      <p:ext uri="{BB962C8B-B14F-4D97-AF65-F5344CB8AC3E}">
        <p14:creationId xmlns:p14="http://schemas.microsoft.com/office/powerpoint/2010/main" val="3996834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Mess paper evaluates memory system performance by proposing the mess benchmark:</a:t>
            </a:r>
          </a:p>
          <a:p>
            <a:r>
              <a:rPr lang="en-US">
                <a:ea typeface="Calibri"/>
                <a:cs typeface="Calibri"/>
              </a:rPr>
              <a:t>The Mess benchmark aims to characterize a memory system, using a set of latency-throughput, or "used bandwidth" curves</a:t>
            </a:r>
          </a:p>
          <a:p>
            <a:r>
              <a:rPr lang="en-US">
                <a:ea typeface="Calibri"/>
                <a:cs typeface="Calibri"/>
              </a:rPr>
              <a:t>[CLICK] These curves are plotted as a line figure, </a:t>
            </a:r>
          </a:p>
          <a:p>
            <a:r>
              <a:rPr lang="en-US">
                <a:ea typeface="Calibri"/>
                <a:cs typeface="Calibri"/>
              </a:rPr>
              <a:t>[CLICK] where each data point is an experiment that performs two types of accesses concurrently : streaming and pointer-chasing patterns</a:t>
            </a:r>
          </a:p>
          <a:p>
            <a:r>
              <a:rPr lang="en-US">
                <a:ea typeface="Calibri"/>
                <a:cs typeface="Calibri"/>
              </a:rPr>
              <a:t>[CLICK] plots the measured average memory access latency and [CLICK] the used memory bandwidth</a:t>
            </a:r>
          </a:p>
          <a:p>
            <a:endParaRPr lang="en-US">
              <a:ea typeface="Calibri"/>
              <a:cs typeface="Calibri"/>
            </a:endParaRPr>
          </a:p>
          <a:p>
            <a:r>
              <a:rPr lang="en-US">
                <a:ea typeface="Calibri"/>
                <a:cs typeface="Calibri"/>
              </a:rPr>
              <a:t>[CLICK] The Mess benchmark then varies the memory intensity by adding NOPs between subsequent memory requests which creates "a single curve"</a:t>
            </a:r>
          </a:p>
          <a:p>
            <a:r>
              <a:rPr lang="en-US">
                <a:ea typeface="Calibri"/>
                <a:cs typeface="Calibri"/>
              </a:rPr>
              <a:t>[CLICK] And evaluating a sweep of read write operation intensities from 50% to 100% reads</a:t>
            </a:r>
          </a:p>
          <a:p>
            <a:r>
              <a:rPr lang="en-US">
                <a:ea typeface="Calibri"/>
                <a:cs typeface="Calibri"/>
              </a:rPr>
              <a:t>[CLICK] creates different curves</a:t>
            </a:r>
          </a:p>
          <a:p>
            <a:endParaRPr lang="en-US">
              <a:ea typeface="Calibri"/>
              <a:cs typeface="Calibri"/>
            </a:endParaRPr>
          </a:p>
          <a:p>
            <a:br>
              <a:rPr lang="en-US">
                <a:ea typeface="Calibri"/>
                <a:cs typeface="Calibri"/>
              </a:rPr>
            </a:br>
            <a:endParaRPr lang="en-US">
              <a:ea typeface="Calibri"/>
              <a:cs typeface="Calibri"/>
            </a:endParaRPr>
          </a:p>
        </p:txBody>
      </p:sp>
      <p:sp>
        <p:nvSpPr>
          <p:cNvPr id="4" name="Slide Number Placeholder 3"/>
          <p:cNvSpPr>
            <a:spLocks noGrp="1"/>
          </p:cNvSpPr>
          <p:nvPr>
            <p:ph type="sldNum" sz="quarter" idx="5"/>
          </p:nvPr>
        </p:nvSpPr>
        <p:spPr/>
        <p:txBody>
          <a:bodyPr/>
          <a:lstStyle/>
          <a:p>
            <a:fld id="{2F65BF41-557F-464F-A572-936F8C7D1291}" type="slidenum">
              <a:rPr lang="tr-TR" smtClean="0"/>
              <a:t>8</a:t>
            </a:fld>
            <a:endParaRPr lang="tr-TR"/>
          </a:p>
        </p:txBody>
      </p:sp>
    </p:spTree>
    <p:extLst>
      <p:ext uri="{BB962C8B-B14F-4D97-AF65-F5344CB8AC3E}">
        <p14:creationId xmlns:p14="http://schemas.microsoft.com/office/powerpoint/2010/main" val="143319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4A64-7DD3-8E13-2230-A10B565ED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0D96-3376-7669-1549-8C16C923F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709F4-F19C-8265-4176-89CEDCB4258C}"/>
              </a:ext>
            </a:extLst>
          </p:cNvPr>
          <p:cNvSpPr>
            <a:spLocks noGrp="1"/>
          </p:cNvSpPr>
          <p:nvPr>
            <p:ph type="body" idx="1"/>
          </p:nvPr>
        </p:nvSpPr>
        <p:spPr/>
        <p:txBody>
          <a:bodyPr/>
          <a:lstStyle/>
          <a:p>
            <a:r>
              <a:rPr lang="en-US"/>
              <a:t>The Mess paper comments on the accuracy of </a:t>
            </a:r>
            <a:r>
              <a:rPr lang="en-US" err="1"/>
              <a:t>Ramulator</a:t>
            </a:r>
            <a:r>
              <a:rPr lang="en-US"/>
              <a:t> 2.0 by first evaluating a real DDR5 system with the Mess benchmark, </a:t>
            </a:r>
          </a:p>
          <a:p>
            <a:r>
              <a:rPr lang="en-US"/>
              <a:t>[CLICK] which results in these curves in the first figure</a:t>
            </a:r>
          </a:p>
          <a:p>
            <a:r>
              <a:rPr lang="en-US"/>
              <a:t>[CLICK] and then compares them against the </a:t>
            </a:r>
            <a:r>
              <a:rPr lang="en-US" err="1"/>
              <a:t>Ramulator</a:t>
            </a:r>
            <a:r>
              <a:rPr lang="en-US"/>
              <a:t> 2.0 curves that it obtains</a:t>
            </a:r>
          </a:p>
          <a:p>
            <a:r>
              <a:rPr lang="en-US"/>
              <a:t>[CLICK] The Mess paper observes that </a:t>
            </a:r>
            <a:r>
              <a:rPr lang="en-US" err="1"/>
              <a:t>Ramulator</a:t>
            </a:r>
            <a:r>
              <a:rPr lang="en-US"/>
              <a:t> 2.0's curves show 1) smaller used memory bandwidth and [CLICK] 2) smaller memory access latency compared to the real system curves</a:t>
            </a:r>
          </a:p>
          <a:p>
            <a:r>
              <a:rPr lang="en-US"/>
              <a:t>[CLICK] And contends that </a:t>
            </a:r>
            <a:r>
              <a:rPr lang="en-US" err="1"/>
              <a:t>Ramulator</a:t>
            </a:r>
            <a:r>
              <a:rPr lang="en-US"/>
              <a:t> 2.0 poorly resembles the actual system performance</a:t>
            </a:r>
          </a:p>
          <a:p>
            <a:endParaRPr lang="en-US"/>
          </a:p>
          <a:p>
            <a:r>
              <a:rPr lang="en-US"/>
              <a:t>[CLICK] However, </a:t>
            </a:r>
            <a:r>
              <a:rPr lang="en-US" err="1"/>
              <a:t>Ramulator</a:t>
            </a:r>
            <a:r>
              <a:rPr lang="en-US"/>
              <a:t> 2.0 results in the Mess paper are incorrect and at the time of the publication of the paper, *were* irreproducible</a:t>
            </a:r>
            <a:br>
              <a:rPr lang="en-US"/>
            </a:br>
            <a:br>
              <a:rPr lang="en-US"/>
            </a:br>
            <a:br>
              <a:rPr lang="en-US"/>
            </a:br>
            <a:endParaRPr lang="en-US"/>
          </a:p>
        </p:txBody>
      </p:sp>
      <p:sp>
        <p:nvSpPr>
          <p:cNvPr id="4" name="Slide Number Placeholder 3">
            <a:extLst>
              <a:ext uri="{FF2B5EF4-FFF2-40B4-BE49-F238E27FC236}">
                <a16:creationId xmlns:a16="http://schemas.microsoft.com/office/drawing/2014/main" id="{7087EF41-9408-04B0-71B1-E94CFBA0D1D2}"/>
              </a:ext>
            </a:extLst>
          </p:cNvPr>
          <p:cNvSpPr>
            <a:spLocks noGrp="1"/>
          </p:cNvSpPr>
          <p:nvPr>
            <p:ph type="sldNum" sz="quarter" idx="5"/>
          </p:nvPr>
        </p:nvSpPr>
        <p:spPr/>
        <p:txBody>
          <a:bodyPr/>
          <a:lstStyle/>
          <a:p>
            <a:fld id="{2F65BF41-557F-464F-A572-936F8C7D1291}" type="slidenum">
              <a:rPr lang="tr-TR" smtClean="0"/>
              <a:t>9</a:t>
            </a:fld>
            <a:endParaRPr lang="tr-TR"/>
          </a:p>
        </p:txBody>
      </p:sp>
    </p:spTree>
    <p:extLst>
      <p:ext uri="{BB962C8B-B14F-4D97-AF65-F5344CB8AC3E}">
        <p14:creationId xmlns:p14="http://schemas.microsoft.com/office/powerpoint/2010/main" val="2705059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analyze the Mess paper and its open-sourced artifact and identify various issues in three categories:</a:t>
            </a:r>
          </a:p>
          <a:p>
            <a:r>
              <a:rPr lang="en-US" dirty="0"/>
              <a:t>[CLICK] First, it was not possible to reproduce any of the </a:t>
            </a:r>
            <a:r>
              <a:rPr lang="en-US" dirty="0" err="1"/>
              <a:t>Ramulator</a:t>
            </a:r>
            <a:r>
              <a:rPr lang="en-US" dirty="0"/>
              <a:t> 2.0 results from the Mess paper artifacts available due to missing source codes</a:t>
            </a:r>
          </a:p>
          <a:p>
            <a:r>
              <a:rPr lang="en-US" dirty="0"/>
              <a:t>[CLICK] The missing source codes were uploaded only after our contact, 10 months after the artifact evaluation badges were awarded</a:t>
            </a:r>
          </a:p>
          <a:p>
            <a:endParaRPr lang="en-US" dirty="0"/>
          </a:p>
          <a:p>
            <a:r>
              <a:rPr lang="en-US" dirty="0"/>
              <a:t>Second,</a:t>
            </a:r>
          </a:p>
          <a:p>
            <a:r>
              <a:rPr lang="en-US" dirty="0"/>
              <a:t>[CLICK] We identify that </a:t>
            </a:r>
            <a:r>
              <a:rPr lang="en-US" dirty="0" err="1"/>
              <a:t>Ramulator</a:t>
            </a:r>
            <a:r>
              <a:rPr lang="en-US" dirty="0"/>
              <a:t> 2.0's evaluation suffers from fundamental configuration errors as</a:t>
            </a:r>
          </a:p>
          <a:p>
            <a:r>
              <a:rPr lang="en-US" dirty="0"/>
              <a:t>[CLICK] the Mess paper compares an 8-channel memory system in </a:t>
            </a:r>
            <a:r>
              <a:rPr lang="en-US" dirty="0" err="1"/>
              <a:t>Ramulator</a:t>
            </a:r>
            <a:r>
              <a:rPr lang="en-US" dirty="0"/>
              <a:t> 2.0 against a 16-channel real memory system.</a:t>
            </a:r>
          </a:p>
          <a:p>
            <a:r>
              <a:rPr lang="en-US" dirty="0"/>
              <a:t>[CLICK] and configures the system to have unrealistically low cache latency configurations that lead to low memory access latency</a:t>
            </a:r>
          </a:p>
          <a:p>
            <a:endParaRPr lang="en-US" dirty="0"/>
          </a:p>
          <a:p>
            <a:r>
              <a:rPr lang="en-US" dirty="0"/>
              <a:t>Lastly,</a:t>
            </a:r>
          </a:p>
          <a:p>
            <a:r>
              <a:rPr lang="en-US" dirty="0"/>
              <a:t>[CLICK] We also identified scholarship issues as the paper does not disclose</a:t>
            </a:r>
          </a:p>
          <a:p>
            <a:r>
              <a:rPr lang="en-US" dirty="0"/>
              <a:t>[CLICK] these modifications to the source code of </a:t>
            </a:r>
            <a:r>
              <a:rPr lang="en-US" dirty="0" err="1"/>
              <a:t>Ramulator</a:t>
            </a:r>
            <a:r>
              <a:rPr lang="en-US" dirty="0"/>
              <a:t> 2.0</a:t>
            </a:r>
          </a:p>
          <a:p>
            <a:r>
              <a:rPr lang="en-US" dirty="0"/>
              <a:t>[CLICK] and differences in evaluation methodologies of real and simulated memory systems that we will not cover in this presentation but explained in detail in our paper</a:t>
            </a:r>
          </a:p>
          <a:p>
            <a:endParaRPr lang="en-US" dirty="0"/>
          </a:p>
          <a:p>
            <a:endParaRPr lang="en-US" dirty="0"/>
          </a:p>
          <a:p>
            <a:r>
              <a:rPr lang="en-US" dirty="0"/>
              <a:t>In the interest of time, we will focus on the fundamental configuration errors</a:t>
            </a:r>
            <a:br>
              <a:rPr lang="en-US" dirty="0"/>
            </a:br>
            <a:br>
              <a:rPr lang="en-US" dirty="0"/>
            </a:b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10</a:t>
            </a:fld>
            <a:endParaRPr lang="tr-TR"/>
          </a:p>
        </p:txBody>
      </p:sp>
    </p:spTree>
    <p:extLst>
      <p:ext uri="{BB962C8B-B14F-4D97-AF65-F5344CB8AC3E}">
        <p14:creationId xmlns:p14="http://schemas.microsoft.com/office/powerpoint/2010/main" val="3981609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Mess paper's configuration errors result in the claimed inaccuracies, and lead to incorrect claims.</a:t>
            </a:r>
            <a:br>
              <a:rPr lang="en-US"/>
            </a:br>
            <a:br>
              <a:rPr lang="en-US"/>
            </a:br>
            <a:br>
              <a:rPr lang="en-US"/>
            </a:br>
            <a:r>
              <a:rPr lang="en-US"/>
              <a:t>"</a:t>
            </a:r>
            <a:br>
              <a:rPr lang="en-US"/>
            </a:br>
            <a:r>
              <a:rPr lang="en-US"/>
              <a:t>The mess paper's configuration errors result in incorrect claims about </a:t>
            </a:r>
            <a:r>
              <a:rPr lang="en-US" err="1"/>
              <a:t>Ramulator</a:t>
            </a:r>
            <a:r>
              <a:rPr lang="en-US"/>
              <a:t> 2. now we will describe how they lead to smaller bandwidth and smaller latency</a:t>
            </a:r>
            <a:br>
              <a:rPr lang="en-US"/>
            </a:br>
            <a:r>
              <a:rPr lang="en-US"/>
              <a:t>"</a:t>
            </a:r>
            <a:br>
              <a:rPr lang="en-US"/>
            </a:br>
            <a:br>
              <a:rPr lang="en-US"/>
            </a:br>
            <a:endParaRPr lang="en-US"/>
          </a:p>
        </p:txBody>
      </p:sp>
      <p:sp>
        <p:nvSpPr>
          <p:cNvPr id="4" name="Slide Number Placeholder 3"/>
          <p:cNvSpPr>
            <a:spLocks noGrp="1"/>
          </p:cNvSpPr>
          <p:nvPr>
            <p:ph type="sldNum" sz="quarter" idx="5"/>
          </p:nvPr>
        </p:nvSpPr>
        <p:spPr/>
        <p:txBody>
          <a:bodyPr/>
          <a:lstStyle/>
          <a:p>
            <a:fld id="{2F65BF41-557F-464F-A572-936F8C7D1291}" type="slidenum">
              <a:rPr lang="tr-TR" smtClean="0"/>
              <a:t>11</a:t>
            </a:fld>
            <a:endParaRPr lang="tr-TR"/>
          </a:p>
        </p:txBody>
      </p:sp>
    </p:spTree>
    <p:extLst>
      <p:ext uri="{BB962C8B-B14F-4D97-AF65-F5344CB8AC3E}">
        <p14:creationId xmlns:p14="http://schemas.microsoft.com/office/powerpoint/2010/main" val="2909039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B836-55B8-2F4D-A17A-1397E4F95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8D89E-3CC7-CC4C-6AF4-CB0E0D242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AF175-1543-E468-C0B7-64D9F208651A}"/>
              </a:ext>
            </a:extLst>
          </p:cNvPr>
          <p:cNvSpPr>
            <a:spLocks noGrp="1"/>
          </p:cNvSpPr>
          <p:nvPr>
            <p:ph type="body" idx="1"/>
          </p:nvPr>
        </p:nvSpPr>
        <p:spPr/>
        <p:txBody>
          <a:bodyPr/>
          <a:lstStyle/>
          <a:p>
            <a:r>
              <a:rPr lang="en-US">
                <a:ea typeface="Calibri"/>
                <a:cs typeface="Calibri"/>
              </a:rPr>
              <a:t>First, the smaller used bandwidth results are caused by the difference in numbers of channels available [CLICK] in simulation and in real system evaluations</a:t>
            </a:r>
            <a:br>
              <a:rPr lang="en-US">
                <a:ea typeface="Calibri"/>
                <a:cs typeface="Calibri"/>
              </a:rPr>
            </a:br>
            <a:br>
              <a:rPr lang="en-US">
                <a:ea typeface="Calibri"/>
                <a:cs typeface="Calibri"/>
              </a:rPr>
            </a:br>
            <a:r>
              <a:rPr lang="en-US">
                <a:ea typeface="Calibri"/>
                <a:cs typeface="Calibri"/>
              </a:rPr>
              <a:t>[CLICK] Mess Paper's </a:t>
            </a:r>
            <a:r>
              <a:rPr lang="en-US" err="1">
                <a:ea typeface="Calibri"/>
                <a:cs typeface="Calibri"/>
              </a:rPr>
              <a:t>Ramulator</a:t>
            </a:r>
            <a:r>
              <a:rPr lang="en-US">
                <a:ea typeface="Calibri"/>
                <a:cs typeface="Calibri"/>
              </a:rPr>
              <a:t> 2.0 configuration specifies 8 channels with this configuration line. </a:t>
            </a:r>
            <a:br>
              <a:rPr lang="en-US">
                <a:ea typeface="Calibri"/>
                <a:cs typeface="Calibri"/>
              </a:rPr>
            </a:br>
            <a:r>
              <a:rPr lang="en-US">
                <a:ea typeface="Calibri"/>
                <a:cs typeface="Calibri"/>
              </a:rPr>
              <a:t>And the paper specifies the real system configuration as "8 X DDR5" </a:t>
            </a:r>
          </a:p>
          <a:p>
            <a:endParaRPr lang="en-US">
              <a:ea typeface="Calibri"/>
              <a:cs typeface="Calibri"/>
            </a:endParaRPr>
          </a:p>
          <a:p>
            <a:endParaRPr lang="en-US">
              <a:ea typeface="Calibri"/>
              <a:cs typeface="Calibri"/>
            </a:endParaRPr>
          </a:p>
          <a:p>
            <a:r>
              <a:rPr lang="en-US">
                <a:ea typeface="Calibri"/>
                <a:cs typeface="Calibri"/>
              </a:rPr>
              <a:t>This leads to </a:t>
            </a:r>
            <a:r>
              <a:rPr lang="en-US" err="1">
                <a:ea typeface="Calibri"/>
                <a:cs typeface="Calibri"/>
              </a:rPr>
              <a:t>Ramulator</a:t>
            </a:r>
            <a:r>
              <a:rPr lang="en-US">
                <a:ea typeface="Calibri"/>
                <a:cs typeface="Calibri"/>
              </a:rPr>
              <a:t> 2.0 instantiating 8 independent DDR5 channels</a:t>
            </a:r>
          </a:p>
          <a:p>
            <a:r>
              <a:rPr lang="en-US">
                <a:ea typeface="Calibri"/>
                <a:cs typeface="Calibri"/>
              </a:rPr>
              <a:t>Whereas the real system configuration has 8 DDR5 DIMMS each of which containing 2 channels. Meaning that there are actually 16 independent DDR5 channels in the Mess paper’s real system configuration</a:t>
            </a:r>
          </a:p>
          <a:p>
            <a:endParaRPr lang="en-US">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[CLICK] And because of this mismatch, </a:t>
            </a:r>
          </a:p>
          <a:p>
            <a:endParaRPr lang="en-US">
              <a:ea typeface="Calibri"/>
              <a:cs typeface="Calibri"/>
            </a:endParaRPr>
          </a:p>
        </p:txBody>
      </p:sp>
      <p:sp>
        <p:nvSpPr>
          <p:cNvPr id="4" name="Slide Number Placeholder 3">
            <a:extLst>
              <a:ext uri="{FF2B5EF4-FFF2-40B4-BE49-F238E27FC236}">
                <a16:creationId xmlns:a16="http://schemas.microsoft.com/office/drawing/2014/main" id="{01DD6F06-FCD0-2C1D-7C5E-5FB2390BA10B}"/>
              </a:ext>
            </a:extLst>
          </p:cNvPr>
          <p:cNvSpPr>
            <a:spLocks noGrp="1"/>
          </p:cNvSpPr>
          <p:nvPr>
            <p:ph type="sldNum" sz="quarter" idx="5"/>
          </p:nvPr>
        </p:nvSpPr>
        <p:spPr/>
        <p:txBody>
          <a:bodyPr/>
          <a:lstStyle/>
          <a:p>
            <a:fld id="{2F65BF41-557F-464F-A572-936F8C7D1291}" type="slidenum">
              <a:rPr lang="tr-TR" smtClean="0"/>
              <a:t>12</a:t>
            </a:fld>
            <a:endParaRPr lang="tr-TR"/>
          </a:p>
        </p:txBody>
      </p:sp>
    </p:spTree>
    <p:extLst>
      <p:ext uri="{BB962C8B-B14F-4D97-AF65-F5344CB8AC3E}">
        <p14:creationId xmlns:p14="http://schemas.microsoft.com/office/powerpoint/2010/main" val="2597795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F3080-7094-A304-A11B-B01EF4D58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C9E7E-DCE7-3B9E-488D-AF5D6479E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A1AC4-664C-450E-7368-033DFD9C7056}"/>
              </a:ext>
            </a:extLst>
          </p:cNvPr>
          <p:cNvSpPr>
            <a:spLocks noGrp="1"/>
          </p:cNvSpPr>
          <p:nvPr>
            <p:ph type="body" idx="1"/>
          </p:nvPr>
        </p:nvSpPr>
        <p:spPr/>
        <p:txBody>
          <a:bodyPr/>
          <a:lstStyle/>
          <a:p>
            <a:r>
              <a:rPr lang="en-US" err="1">
                <a:ea typeface="Calibri"/>
                <a:cs typeface="Calibri"/>
              </a:rPr>
              <a:t>Ramulator</a:t>
            </a:r>
            <a:r>
              <a:rPr lang="en-US">
                <a:ea typeface="Calibri"/>
                <a:cs typeface="Calibri"/>
              </a:rPr>
              <a:t> 2.0 results show around half the used bandwidth of real system measurements, as it has half the number of channels.</a:t>
            </a:r>
          </a:p>
          <a:p>
            <a:endParaRPr lang="en-US">
              <a:ea typeface="Calibri"/>
              <a:cs typeface="Calibri"/>
            </a:endParaRPr>
          </a:p>
          <a:p>
            <a:r>
              <a:rPr lang="en-US">
                <a:ea typeface="Calibri"/>
                <a:cs typeface="Calibri"/>
              </a:rPr>
              <a:t>We identify that this is because, the mess paper incorrectly assumes a DDR5 channel in </a:t>
            </a:r>
            <a:r>
              <a:rPr lang="en-US" err="1">
                <a:ea typeface="Calibri"/>
                <a:cs typeface="Calibri"/>
              </a:rPr>
              <a:t>Ramulator</a:t>
            </a:r>
            <a:r>
              <a:rPr lang="en-US">
                <a:ea typeface="Calibri"/>
                <a:cs typeface="Calibri"/>
              </a:rPr>
              <a:t> 2 is 64 bits wide</a:t>
            </a:r>
          </a:p>
          <a:p>
            <a:r>
              <a:rPr lang="en-US">
                <a:ea typeface="Calibri"/>
                <a:cs typeface="Calibri"/>
              </a:rPr>
              <a:t>Whereas the implementation clearly states a channel as 32 bits wide, which is the consistent value with the JEDEC DDR5 standards</a:t>
            </a:r>
          </a:p>
          <a:p>
            <a:endParaRPr lang="en-US">
              <a:ea typeface="Calibri"/>
              <a:cs typeface="Calibri"/>
            </a:endParaRPr>
          </a:p>
        </p:txBody>
      </p:sp>
      <p:sp>
        <p:nvSpPr>
          <p:cNvPr id="4" name="Slide Number Placeholder 3">
            <a:extLst>
              <a:ext uri="{FF2B5EF4-FFF2-40B4-BE49-F238E27FC236}">
                <a16:creationId xmlns:a16="http://schemas.microsoft.com/office/drawing/2014/main" id="{1D97F443-75B0-C5BA-941D-6BEFCF4ECB36}"/>
              </a:ext>
            </a:extLst>
          </p:cNvPr>
          <p:cNvSpPr>
            <a:spLocks noGrp="1"/>
          </p:cNvSpPr>
          <p:nvPr>
            <p:ph type="sldNum" sz="quarter" idx="5"/>
          </p:nvPr>
        </p:nvSpPr>
        <p:spPr/>
        <p:txBody>
          <a:bodyPr/>
          <a:lstStyle/>
          <a:p>
            <a:fld id="{2F65BF41-557F-464F-A572-936F8C7D1291}" type="slidenum">
              <a:rPr lang="tr-TR" smtClean="0"/>
              <a:t>13</a:t>
            </a:fld>
            <a:endParaRPr lang="tr-TR"/>
          </a:p>
        </p:txBody>
      </p:sp>
    </p:spTree>
    <p:extLst>
      <p:ext uri="{BB962C8B-B14F-4D97-AF65-F5344CB8AC3E}">
        <p14:creationId xmlns:p14="http://schemas.microsoft.com/office/powerpoint/2010/main" val="1862011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C7C1C-A93E-F445-F54E-D58C08C2A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96719-D874-0EB8-0F0E-F3203FB29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18DF7-AE3A-4E7C-91C5-C76DC1A0DAD3}"/>
              </a:ext>
            </a:extLst>
          </p:cNvPr>
          <p:cNvSpPr>
            <a:spLocks noGrp="1"/>
          </p:cNvSpPr>
          <p:nvPr>
            <p:ph type="body" idx="1"/>
          </p:nvPr>
        </p:nvSpPr>
        <p:spPr/>
        <p:txBody>
          <a:bodyPr/>
          <a:lstStyle/>
          <a:p>
            <a:r>
              <a:rPr lang="en-US">
                <a:ea typeface="Calibri"/>
                <a:cs typeface="Calibri"/>
              </a:rPr>
              <a:t>Because of this configuration error, the mess paper configures </a:t>
            </a:r>
            <a:r>
              <a:rPr lang="en-US" err="1">
                <a:ea typeface="Calibri"/>
                <a:cs typeface="Calibri"/>
              </a:rPr>
              <a:t>Ramulator</a:t>
            </a:r>
            <a:r>
              <a:rPr lang="en-US">
                <a:ea typeface="Calibri"/>
                <a:cs typeface="Calibri"/>
              </a:rPr>
              <a:t> 2 with half the channels of a real system and thus results in smaller used bandwidth</a:t>
            </a:r>
          </a:p>
        </p:txBody>
      </p:sp>
      <p:sp>
        <p:nvSpPr>
          <p:cNvPr id="4" name="Slide Number Placeholder 3">
            <a:extLst>
              <a:ext uri="{FF2B5EF4-FFF2-40B4-BE49-F238E27FC236}">
                <a16:creationId xmlns:a16="http://schemas.microsoft.com/office/drawing/2014/main" id="{435F9CE2-248D-1DFD-A81A-FD6E02E87F28}"/>
              </a:ext>
            </a:extLst>
          </p:cNvPr>
          <p:cNvSpPr>
            <a:spLocks noGrp="1"/>
          </p:cNvSpPr>
          <p:nvPr>
            <p:ph type="sldNum" sz="quarter" idx="5"/>
          </p:nvPr>
        </p:nvSpPr>
        <p:spPr/>
        <p:txBody>
          <a:bodyPr/>
          <a:lstStyle/>
          <a:p>
            <a:fld id="{2F65BF41-557F-464F-A572-936F8C7D1291}" type="slidenum">
              <a:rPr lang="tr-TR" smtClean="0"/>
              <a:t>14</a:t>
            </a:fld>
            <a:endParaRPr lang="tr-TR"/>
          </a:p>
        </p:txBody>
      </p:sp>
    </p:spTree>
    <p:extLst>
      <p:ext uri="{BB962C8B-B14F-4D97-AF65-F5344CB8AC3E}">
        <p14:creationId xmlns:p14="http://schemas.microsoft.com/office/powerpoint/2010/main" val="2799629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issue, smaller memory access latency is due to the unrealistic cache latency configurations</a:t>
            </a:r>
          </a:p>
          <a:p>
            <a:endParaRPr lang="en-US"/>
          </a:p>
          <a:p>
            <a:r>
              <a:rPr lang="en-US"/>
              <a:t>The mess paper's artifact hardcodes the cache latency as 0 cycles and instantiates a high number of miss-status holding registers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configuration leads to significantly smaller DRAM round-trip latency and queueing delays, thus a low memory access latency compared to a real system</a:t>
            </a:r>
            <a:br>
              <a:rPr lang="en-US"/>
            </a:br>
            <a:br>
              <a:rPr lang="en-US"/>
            </a:br>
            <a:r>
              <a:rPr lang="en-US"/>
              <a:t>so, </a:t>
            </a:r>
            <a:r>
              <a:rPr lang="en-GB" sz="1200" kern="1200">
                <a:solidFill>
                  <a:srgbClr val="F23F00"/>
                </a:solidFill>
                <a:latin typeface="+mn-lt"/>
                <a:ea typeface="+mn-ea"/>
                <a:cs typeface="+mn-cs"/>
              </a:rPr>
              <a:t>The Mess paper uses </a:t>
            </a:r>
            <a:r>
              <a:rPr lang="en-GB" sz="1200" b="1" kern="1200">
                <a:solidFill>
                  <a:srgbClr val="F23F00"/>
                </a:solidFill>
                <a:latin typeface="+mn-lt"/>
                <a:ea typeface="+mn-ea"/>
                <a:cs typeface="+mn-cs"/>
              </a:rPr>
              <a:t>unrealistically low cache latency configurations </a:t>
            </a:r>
            <a:br>
              <a:rPr lang="en-GB" sz="1200" kern="1200">
                <a:solidFill>
                  <a:srgbClr val="F23F00"/>
                </a:solidFill>
                <a:latin typeface="+mn-lt"/>
                <a:ea typeface="+mn-ea"/>
                <a:cs typeface="+mn-cs"/>
              </a:rPr>
            </a:br>
            <a:r>
              <a:rPr lang="en-GB" sz="1200" kern="1200">
                <a:solidFill>
                  <a:srgbClr val="F23F00"/>
                </a:solidFill>
                <a:latin typeface="+mn-lt"/>
                <a:ea typeface="+mn-ea"/>
                <a:cs typeface="+mn-cs"/>
              </a:rPr>
              <a:t>resulting in the </a:t>
            </a:r>
            <a:r>
              <a:rPr lang="en-GB" sz="1200" b="1" kern="1200" err="1">
                <a:solidFill>
                  <a:srgbClr val="F23F00"/>
                </a:solidFill>
                <a:latin typeface="+mn-lt"/>
                <a:ea typeface="+mn-ea"/>
                <a:cs typeface="+mn-cs"/>
              </a:rPr>
              <a:t>the</a:t>
            </a:r>
            <a:r>
              <a:rPr lang="en-GB" sz="1200" b="1" kern="1200">
                <a:solidFill>
                  <a:srgbClr val="F23F00"/>
                </a:solidFill>
                <a:latin typeface="+mn-lt"/>
                <a:ea typeface="+mn-ea"/>
                <a:cs typeface="+mn-cs"/>
              </a:rPr>
              <a:t> low memory access latency </a:t>
            </a:r>
            <a:br>
              <a:rPr lang="en-GB" sz="1200" b="1" kern="1200">
                <a:solidFill>
                  <a:srgbClr val="F23F00"/>
                </a:solidFill>
                <a:latin typeface="+mn-lt"/>
                <a:ea typeface="+mn-ea"/>
                <a:cs typeface="+mn-cs"/>
              </a:rPr>
            </a:br>
            <a:r>
              <a:rPr lang="en-GB" sz="1200" kern="1200">
                <a:solidFill>
                  <a:srgbClr val="F23F00"/>
                </a:solidFill>
                <a:latin typeface="+mn-lt"/>
                <a:ea typeface="+mn-ea"/>
                <a:cs typeface="+mn-cs"/>
              </a:rPr>
              <a:t>that it attributes to </a:t>
            </a:r>
            <a:r>
              <a:rPr lang="en-GB" sz="1200" kern="1200" err="1">
                <a:solidFill>
                  <a:srgbClr val="F23F00"/>
                </a:solidFill>
                <a:latin typeface="+mn-lt"/>
                <a:ea typeface="+mn-ea"/>
                <a:cs typeface="+mn-cs"/>
              </a:rPr>
              <a:t>Ramulator</a:t>
            </a:r>
            <a:r>
              <a:rPr lang="en-GB" sz="1200" kern="1200">
                <a:solidFill>
                  <a:srgbClr val="F23F00"/>
                </a:solidFill>
                <a:latin typeface="+mn-lt"/>
                <a:ea typeface="+mn-ea"/>
                <a:cs typeface="+mn-cs"/>
              </a:rPr>
              <a:t> 2.0 </a:t>
            </a:r>
          </a:p>
          <a:p>
            <a:br>
              <a:rPr lang="en-US"/>
            </a:br>
            <a:endParaRPr lang="en-US"/>
          </a:p>
          <a:p>
            <a:r>
              <a:rPr lang="en-US"/>
              <a:t>Transition:</a:t>
            </a:r>
            <a:br>
              <a:rPr lang="en-US"/>
            </a:br>
            <a:r>
              <a:rPr lang="en-US"/>
              <a:t>Now lets hear from </a:t>
            </a:r>
            <a:r>
              <a:rPr lang="en-US" err="1"/>
              <a:t>Haocong</a:t>
            </a:r>
            <a:r>
              <a:rPr lang="en-US"/>
              <a:t> about how *we* evaluate </a:t>
            </a:r>
            <a:r>
              <a:rPr lang="en-US" err="1"/>
              <a:t>Ramulator</a:t>
            </a:r>
            <a:r>
              <a:rPr lang="en-US"/>
              <a:t> 2.0</a:t>
            </a:r>
          </a:p>
        </p:txBody>
      </p:sp>
      <p:sp>
        <p:nvSpPr>
          <p:cNvPr id="4" name="Slide Number Placeholder 3"/>
          <p:cNvSpPr>
            <a:spLocks noGrp="1"/>
          </p:cNvSpPr>
          <p:nvPr>
            <p:ph type="sldNum" sz="quarter" idx="5"/>
          </p:nvPr>
        </p:nvSpPr>
        <p:spPr/>
        <p:txBody>
          <a:bodyPr/>
          <a:lstStyle/>
          <a:p>
            <a:fld id="{2F65BF41-557F-464F-A572-936F8C7D1291}" type="slidenum">
              <a:rPr lang="tr-TR" smtClean="0"/>
              <a:t>15</a:t>
            </a:fld>
            <a:endParaRPr lang="tr-TR"/>
          </a:p>
        </p:txBody>
      </p:sp>
    </p:spTree>
    <p:extLst>
      <p:ext uri="{BB962C8B-B14F-4D97-AF65-F5344CB8AC3E}">
        <p14:creationId xmlns:p14="http://schemas.microsoft.com/office/powerpoint/2010/main" val="3609400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this end, </a:t>
            </a:r>
            <a:br>
              <a:rPr lang="en-US"/>
            </a:br>
            <a:r>
              <a:rPr lang="en-US"/>
              <a:t>[CLICK]</a:t>
            </a:r>
            <a:br>
              <a:rPr lang="en-US"/>
            </a:br>
            <a:r>
              <a:rPr lang="en-US"/>
              <a:t>we independently evaluate the Mess benchmark by executing the same access pattern</a:t>
            </a:r>
          </a:p>
          <a:p>
            <a:r>
              <a:rPr lang="en-US"/>
              <a:t>[CLICK]</a:t>
            </a:r>
            <a:br>
              <a:rPr lang="en-US"/>
            </a:br>
            <a:r>
              <a:rPr lang="en-US"/>
              <a:t>And configure Ramulator 2.0 correctly:</a:t>
            </a:r>
          </a:p>
          <a:p>
            <a:r>
              <a:rPr lang="en-US"/>
              <a:t>We instantiate a 16-channel DDR5 memory system </a:t>
            </a:r>
          </a:p>
          <a:p>
            <a:r>
              <a:rPr lang="en-US"/>
              <a:t>And measure the memory access latency from the memory controller</a:t>
            </a:r>
          </a:p>
        </p:txBody>
      </p:sp>
      <p:sp>
        <p:nvSpPr>
          <p:cNvPr id="4" name="Slide Number Placeholder 3"/>
          <p:cNvSpPr>
            <a:spLocks noGrp="1"/>
          </p:cNvSpPr>
          <p:nvPr>
            <p:ph type="sldNum" sz="quarter" idx="5"/>
          </p:nvPr>
        </p:nvSpPr>
        <p:spPr/>
        <p:txBody>
          <a:bodyPr/>
          <a:lstStyle/>
          <a:p>
            <a:fld id="{2F65BF41-557F-464F-A572-936F8C7D1291}" type="slidenum">
              <a:rPr lang="tr-TR" smtClean="0"/>
              <a:t>16</a:t>
            </a:fld>
            <a:endParaRPr lang="tr-TR"/>
          </a:p>
        </p:txBody>
      </p:sp>
    </p:spTree>
    <p:extLst>
      <p:ext uri="{BB962C8B-B14F-4D97-AF65-F5344CB8AC3E}">
        <p14:creationId xmlns:p14="http://schemas.microsoft.com/office/powerpoint/2010/main" val="129356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D46C1-0829-CD05-72E1-0D47ECDFC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DE17E-C535-2C77-9E6F-D5D7B735A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4E148-1BD2-7653-3E40-DE0B9023DF72}"/>
              </a:ext>
            </a:extLst>
          </p:cNvPr>
          <p:cNvSpPr>
            <a:spLocks noGrp="1"/>
          </p:cNvSpPr>
          <p:nvPr>
            <p:ph type="body" idx="1"/>
          </p:nvPr>
        </p:nvSpPr>
        <p:spPr/>
        <p:txBody>
          <a:bodyPr/>
          <a:lstStyle/>
          <a:p>
            <a:r>
              <a:rPr lang="en-US"/>
              <a:t>Now lets see our results</a:t>
            </a:r>
          </a:p>
          <a:p>
            <a:r>
              <a:rPr lang="en-US"/>
              <a:t>[CLICK]</a:t>
            </a:r>
          </a:p>
          <a:p>
            <a:r>
              <a:rPr lang="en-US"/>
              <a:t>On the X axis, we see the used memory bandwidth and on the y-axis, the memory access latency.</a:t>
            </a:r>
          </a:p>
          <a:p>
            <a:r>
              <a:rPr lang="en-US"/>
              <a:t>[CLICK]</a:t>
            </a:r>
          </a:p>
          <a:p>
            <a:r>
              <a:rPr lang="en-US"/>
              <a:t>We show the maximum theoretical bandwidth as the yellow line </a:t>
            </a:r>
          </a:p>
          <a:p>
            <a:r>
              <a:rPr lang="en-US"/>
              <a:t>[CLICK]</a:t>
            </a:r>
          </a:p>
          <a:p>
            <a:r>
              <a:rPr lang="en-US"/>
              <a:t>Since this does not account for periodic refresh, we draw a second line to show the maximum achievable bandwidth that accounts for refreshes.</a:t>
            </a:r>
          </a:p>
          <a:p>
            <a:r>
              <a:rPr lang="en-US"/>
              <a:t>[CLICK]</a:t>
            </a:r>
          </a:p>
          <a:p>
            <a:r>
              <a:rPr lang="en-US"/>
              <a:t>These are our results,</a:t>
            </a:r>
          </a:p>
          <a:p>
            <a:r>
              <a:rPr lang="en-US"/>
              <a:t>We make two key observations </a:t>
            </a:r>
          </a:p>
          <a:p>
            <a:r>
              <a:rPr lang="en-US"/>
              <a:t>[CLICK]</a:t>
            </a:r>
          </a:p>
          <a:p>
            <a:r>
              <a:rPr lang="en-US"/>
              <a:t>First, </a:t>
            </a:r>
            <a:r>
              <a:rPr lang="en-US" err="1"/>
              <a:t>Ramulator</a:t>
            </a:r>
            <a:r>
              <a:rPr lang="en-US"/>
              <a:t> 2.0's memory model </a:t>
            </a:r>
          </a:p>
          <a:p>
            <a:r>
              <a:rPr lang="en-US"/>
              <a:t>[CLICK]</a:t>
            </a:r>
          </a:p>
          <a:p>
            <a:r>
              <a:rPr lang="en-US"/>
              <a:t>achieves a high used memory bandwidth, close to the achievable bandwidth value, as opposed to the claims of the Mess paper.</a:t>
            </a:r>
          </a:p>
        </p:txBody>
      </p:sp>
      <p:sp>
        <p:nvSpPr>
          <p:cNvPr id="4" name="Slide Number Placeholder 3">
            <a:extLst>
              <a:ext uri="{FF2B5EF4-FFF2-40B4-BE49-F238E27FC236}">
                <a16:creationId xmlns:a16="http://schemas.microsoft.com/office/drawing/2014/main" id="{C8EE902B-5F6C-C1EE-55D5-1D1CB3E37304}"/>
              </a:ext>
            </a:extLst>
          </p:cNvPr>
          <p:cNvSpPr>
            <a:spLocks noGrp="1"/>
          </p:cNvSpPr>
          <p:nvPr>
            <p:ph type="sldNum" sz="quarter" idx="5"/>
          </p:nvPr>
        </p:nvSpPr>
        <p:spPr/>
        <p:txBody>
          <a:bodyPr/>
          <a:lstStyle/>
          <a:p>
            <a:fld id="{2F65BF41-557F-464F-A572-936F8C7D1291}" type="slidenum">
              <a:rPr lang="tr-TR" smtClean="0"/>
              <a:t>17</a:t>
            </a:fld>
            <a:endParaRPr lang="tr-TR"/>
          </a:p>
        </p:txBody>
      </p:sp>
    </p:spTree>
    <p:extLst>
      <p:ext uri="{BB962C8B-B14F-4D97-AF65-F5344CB8AC3E}">
        <p14:creationId xmlns:p14="http://schemas.microsoft.com/office/powerpoint/2010/main" val="2855314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6D43C-A13F-6725-BFE6-E92FB72C2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342BF-66C2-FFD3-B62A-D19B9A40F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32C08-3A03-2155-C8F9-E0C15D86B421}"/>
              </a:ext>
            </a:extLst>
          </p:cNvPr>
          <p:cNvSpPr>
            <a:spLocks noGrp="1"/>
          </p:cNvSpPr>
          <p:nvPr>
            <p:ph type="body" idx="1"/>
          </p:nvPr>
        </p:nvSpPr>
        <p:spPr/>
        <p:txBody>
          <a:bodyPr/>
          <a:lstStyle/>
          <a:p>
            <a:r>
              <a:rPr lang="en-US"/>
              <a:t>Second, the memory access latency [CLICK] of Ramulator 2.0’s DRAM model increases as </a:t>
            </a:r>
            <a:r>
              <a:rPr lang="en-US" err="1"/>
              <a:t>as</a:t>
            </a:r>
            <a:r>
              <a:rPr lang="en-US"/>
              <a:t> the used memory bandwidth and the write ratio increases</a:t>
            </a:r>
          </a:p>
        </p:txBody>
      </p:sp>
      <p:sp>
        <p:nvSpPr>
          <p:cNvPr id="4" name="Slide Number Placeholder 3">
            <a:extLst>
              <a:ext uri="{FF2B5EF4-FFF2-40B4-BE49-F238E27FC236}">
                <a16:creationId xmlns:a16="http://schemas.microsoft.com/office/drawing/2014/main" id="{802EFF01-F11E-E7E3-A42A-3F04C6216E6F}"/>
              </a:ext>
            </a:extLst>
          </p:cNvPr>
          <p:cNvSpPr>
            <a:spLocks noGrp="1"/>
          </p:cNvSpPr>
          <p:nvPr>
            <p:ph type="sldNum" sz="quarter" idx="5"/>
          </p:nvPr>
        </p:nvSpPr>
        <p:spPr/>
        <p:txBody>
          <a:bodyPr/>
          <a:lstStyle/>
          <a:p>
            <a:fld id="{2F65BF41-557F-464F-A572-936F8C7D1291}" type="slidenum">
              <a:rPr lang="tr-TR" smtClean="0"/>
              <a:t>18</a:t>
            </a:fld>
            <a:endParaRPr lang="tr-TR"/>
          </a:p>
        </p:txBody>
      </p:sp>
    </p:spTree>
    <p:extLst>
      <p:ext uri="{BB962C8B-B14F-4D97-AF65-F5344CB8AC3E}">
        <p14:creationId xmlns:p14="http://schemas.microsoft.com/office/powerpoint/2010/main" val="3511540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5A756-5766-2E54-463E-D374B3480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BEB0D-71C9-4A3B-A700-ABC4BB68B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2802B-4111-AAE0-6BAF-8104D924BFCA}"/>
              </a:ext>
            </a:extLst>
          </p:cNvPr>
          <p:cNvSpPr>
            <a:spLocks noGrp="1"/>
          </p:cNvSpPr>
          <p:nvPr>
            <p:ph type="body" idx="1"/>
          </p:nvPr>
        </p:nvSpPr>
        <p:spPr/>
        <p:txBody>
          <a:bodyPr/>
          <a:lstStyle/>
          <a:p>
            <a:r>
              <a:rPr lang="en-US"/>
              <a:t>We conclude that </a:t>
            </a:r>
          </a:p>
          <a:p>
            <a:r>
              <a:rPr lang="en-US"/>
              <a:t>When </a:t>
            </a:r>
            <a:r>
              <a:rPr lang="en-US" err="1"/>
              <a:t>correcty</a:t>
            </a:r>
            <a:r>
              <a:rPr lang="en-US"/>
              <a:t> configured, </a:t>
            </a:r>
          </a:p>
          <a:p>
            <a:r>
              <a:rPr lang="en-US"/>
              <a:t>Ramulator 2.0's simulated memory system performance</a:t>
            </a:r>
          </a:p>
          <a:p>
            <a:r>
              <a:rPr lang="en-US"/>
              <a:t>Resembles real system characteristics</a:t>
            </a:r>
            <a:br>
              <a:rPr lang="en-US"/>
            </a:br>
            <a:endParaRPr lang="en-US"/>
          </a:p>
        </p:txBody>
      </p:sp>
      <p:sp>
        <p:nvSpPr>
          <p:cNvPr id="4" name="Slide Number Placeholder 3">
            <a:extLst>
              <a:ext uri="{FF2B5EF4-FFF2-40B4-BE49-F238E27FC236}">
                <a16:creationId xmlns:a16="http://schemas.microsoft.com/office/drawing/2014/main" id="{82B63DF2-EEAC-5C34-FFE0-6B8244B1D66E}"/>
              </a:ext>
            </a:extLst>
          </p:cNvPr>
          <p:cNvSpPr>
            <a:spLocks noGrp="1"/>
          </p:cNvSpPr>
          <p:nvPr>
            <p:ph type="sldNum" sz="quarter" idx="5"/>
          </p:nvPr>
        </p:nvSpPr>
        <p:spPr/>
        <p:txBody>
          <a:bodyPr/>
          <a:lstStyle/>
          <a:p>
            <a:fld id="{2F65BF41-557F-464F-A572-936F8C7D1291}" type="slidenum">
              <a:rPr lang="tr-TR" smtClean="0"/>
              <a:t>19</a:t>
            </a:fld>
            <a:endParaRPr lang="tr-TR"/>
          </a:p>
        </p:txBody>
      </p:sp>
    </p:spTree>
    <p:extLst>
      <p:ext uri="{BB962C8B-B14F-4D97-AF65-F5344CB8AC3E}">
        <p14:creationId xmlns:p14="http://schemas.microsoft.com/office/powerpoint/2010/main" val="1766210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5378B-8BFE-B485-6C40-FCF1E9D00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8675E-C3D2-6A0E-DA0C-C1C14756C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F92A8-C66E-5021-CD59-ADE35A67CA39}"/>
              </a:ext>
            </a:extLst>
          </p:cNvPr>
          <p:cNvSpPr>
            <a:spLocks noGrp="1"/>
          </p:cNvSpPr>
          <p:nvPr>
            <p:ph type="body" idx="1"/>
          </p:nvPr>
        </p:nvSpPr>
        <p:spPr/>
        <p:txBody>
          <a:bodyPr/>
          <a:lstStyle/>
          <a:p>
            <a:r>
              <a:rPr lang="en-US" b="0"/>
              <a:t>Now lets </a:t>
            </a:r>
            <a:r>
              <a:rPr lang="en-US"/>
              <a:t>look at the </a:t>
            </a:r>
            <a:r>
              <a:rPr lang="en-US" b="0"/>
              <a:t>analysis of the evaluation of </a:t>
            </a:r>
            <a:r>
              <a:rPr lang="en-US"/>
              <a:t>DAMOV </a:t>
            </a:r>
            <a:r>
              <a:rPr lang="en-US" b="0"/>
              <a:t>in the </a:t>
            </a:r>
            <a:r>
              <a:rPr lang="en-US"/>
              <a:t>Mess </a:t>
            </a:r>
            <a:r>
              <a:rPr lang="en-US" b="0"/>
              <a:t>paper</a:t>
            </a:r>
            <a:endParaRPr lang="en-US"/>
          </a:p>
          <a:p>
            <a:endParaRPr lang="en-US" b="0">
              <a:ea typeface="Calibri"/>
              <a:cs typeface="Calibri"/>
            </a:endParaRPr>
          </a:p>
        </p:txBody>
      </p:sp>
      <p:sp>
        <p:nvSpPr>
          <p:cNvPr id="4" name="Slide Number Placeholder 3">
            <a:extLst>
              <a:ext uri="{FF2B5EF4-FFF2-40B4-BE49-F238E27FC236}">
                <a16:creationId xmlns:a16="http://schemas.microsoft.com/office/drawing/2014/main" id="{4AFFC538-0959-8D8A-EC81-CDBFB2658564}"/>
              </a:ext>
            </a:extLst>
          </p:cNvPr>
          <p:cNvSpPr>
            <a:spLocks noGrp="1"/>
          </p:cNvSpPr>
          <p:nvPr>
            <p:ph type="sldNum" sz="quarter" idx="5"/>
          </p:nvPr>
        </p:nvSpPr>
        <p:spPr/>
        <p:txBody>
          <a:bodyPr/>
          <a:lstStyle/>
          <a:p>
            <a:fld id="{2F65BF41-557F-464F-A572-936F8C7D1291}" type="slidenum">
              <a:rPr lang="tr-TR" smtClean="0"/>
              <a:t>20</a:t>
            </a:fld>
            <a:endParaRPr lang="tr-TR"/>
          </a:p>
        </p:txBody>
      </p:sp>
    </p:spTree>
    <p:extLst>
      <p:ext uri="{BB962C8B-B14F-4D97-AF65-F5344CB8AC3E}">
        <p14:creationId xmlns:p14="http://schemas.microsoft.com/office/powerpoint/2010/main" val="2805457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DAMOV is another simulation framework that integrates a core model, </a:t>
            </a:r>
            <a:r>
              <a:rPr lang="en-US" dirty="0" err="1"/>
              <a:t>Zsim</a:t>
            </a:r>
            <a:r>
              <a:rPr lang="en-US" dirty="0"/>
              <a:t> with an earlier version of </a:t>
            </a:r>
            <a:r>
              <a:rPr lang="en-US" dirty="0" err="1"/>
              <a:t>Ramulator</a:t>
            </a:r>
            <a:r>
              <a:rPr lang="en-US" dirty="0"/>
              <a:t> for evaluating emerging processing-in-memory architectures</a:t>
            </a:r>
            <a:br>
              <a:rPr lang="en-US" dirty="0"/>
            </a:br>
            <a:endParaRPr lang="en-US" dirty="0"/>
          </a:p>
          <a:p>
            <a:endParaRPr lang="en-US" dirty="0"/>
          </a:p>
          <a:p>
            <a:r>
              <a:rPr lang="en-US" dirty="0"/>
              <a:t>=========================</a:t>
            </a:r>
            <a:br>
              <a:rPr lang="en-US" dirty="0"/>
            </a:br>
            <a:r>
              <a:rPr lang="en-US" dirty="0"/>
              <a:t>second point could come later?</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21</a:t>
            </a:fld>
            <a:endParaRPr lang="tr-TR"/>
          </a:p>
        </p:txBody>
      </p:sp>
    </p:spTree>
    <p:extLst>
      <p:ext uri="{BB962C8B-B14F-4D97-AF65-F5344CB8AC3E}">
        <p14:creationId xmlns:p14="http://schemas.microsoft.com/office/powerpoint/2010/main" val="147668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Mess paper evaluates a real DDR4 system as shown on the left</a:t>
            </a:r>
          </a:p>
          <a:p>
            <a:r>
              <a:rPr lang="en-US"/>
              <a:t>For DAMOV, the Mess paper’s results are on the right, which shows a constant memory access latency</a:t>
            </a:r>
          </a:p>
          <a:p>
            <a:endParaRPr lang="en-US"/>
          </a:p>
          <a:p>
            <a:r>
              <a:rPr lang="en-US"/>
              <a:t>We identify that DAMOV results in the Mess paper use wrong simulation statistics that are unrelated to the simulated DRAM performance</a:t>
            </a:r>
            <a:br>
              <a:rPr lang="en-US"/>
            </a:br>
            <a:endParaRPr lang="en-US"/>
          </a:p>
        </p:txBody>
      </p:sp>
      <p:sp>
        <p:nvSpPr>
          <p:cNvPr id="4" name="Slide Number Placeholder 3"/>
          <p:cNvSpPr>
            <a:spLocks noGrp="1"/>
          </p:cNvSpPr>
          <p:nvPr>
            <p:ph type="sldNum" sz="quarter" idx="5"/>
          </p:nvPr>
        </p:nvSpPr>
        <p:spPr/>
        <p:txBody>
          <a:bodyPr/>
          <a:lstStyle/>
          <a:p>
            <a:fld id="{2F65BF41-557F-464F-A572-936F8C7D1291}" type="slidenum">
              <a:rPr lang="tr-TR" smtClean="0"/>
              <a:t>22</a:t>
            </a:fld>
            <a:endParaRPr lang="tr-TR"/>
          </a:p>
        </p:txBody>
      </p:sp>
    </p:spTree>
    <p:extLst>
      <p:ext uri="{BB962C8B-B14F-4D97-AF65-F5344CB8AC3E}">
        <p14:creationId xmlns:p14="http://schemas.microsoft.com/office/powerpoint/2010/main" val="2700064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analyzed the Mess paper and its artifact and identified 2 key issues </a:t>
            </a:r>
          </a:p>
          <a:p>
            <a:r>
              <a:rPr lang="en-US"/>
              <a:t>[CLICK]</a:t>
            </a:r>
          </a:p>
          <a:p>
            <a:r>
              <a:rPr lang="en-US"/>
              <a:t>First, we could not reproduce any DAMOV results in the Mess paper due to missing source code and configurations in their artifact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[CLICK]</a:t>
            </a:r>
          </a:p>
          <a:p>
            <a:r>
              <a:rPr lang="en-US"/>
              <a:t>Second, we identify that the Mess paper's scripts use statistics from Zsim to calculate the memory latency, but these stats are not related to DRAM latency modeled by Ramulator. </a:t>
            </a:r>
          </a:p>
          <a:p>
            <a:r>
              <a:rPr lang="en-US"/>
              <a:t>[CLICK]</a:t>
            </a:r>
          </a:p>
          <a:p>
            <a:r>
              <a:rPr lang="en-US"/>
              <a:t>Due to these issues, we independently evaluate DAMOV by executing the Mess benchmark by adding missing resources in a best-guess manner</a:t>
            </a:r>
          </a:p>
        </p:txBody>
      </p:sp>
      <p:sp>
        <p:nvSpPr>
          <p:cNvPr id="4" name="Slide Number Placeholder 3"/>
          <p:cNvSpPr>
            <a:spLocks noGrp="1"/>
          </p:cNvSpPr>
          <p:nvPr>
            <p:ph type="sldNum" sz="quarter" idx="5"/>
          </p:nvPr>
        </p:nvSpPr>
        <p:spPr/>
        <p:txBody>
          <a:bodyPr/>
          <a:lstStyle/>
          <a:p>
            <a:fld id="{2F65BF41-557F-464F-A572-936F8C7D1291}" type="slidenum">
              <a:rPr lang="tr-TR" smtClean="0"/>
              <a:t>23</a:t>
            </a:fld>
            <a:endParaRPr lang="tr-TR"/>
          </a:p>
        </p:txBody>
      </p:sp>
    </p:spTree>
    <p:extLst>
      <p:ext uri="{BB962C8B-B14F-4D97-AF65-F5344CB8AC3E}">
        <p14:creationId xmlns:p14="http://schemas.microsoft.com/office/powerpoint/2010/main" val="2887720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results</a:t>
            </a:r>
          </a:p>
          <a:p>
            <a:r>
              <a:rPr lang="en-US" dirty="0"/>
              <a:t>[CLICK]</a:t>
            </a:r>
          </a:p>
          <a:p>
            <a:r>
              <a:rPr lang="en-US" dirty="0"/>
              <a:t>We observe that when correct statistics are used DAMOV's memory access latency is not constant,</a:t>
            </a:r>
          </a:p>
          <a:p>
            <a:r>
              <a:rPr lang="en-US" dirty="0"/>
              <a:t>In contrast to the claims of the Mess paper</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24</a:t>
            </a:fld>
            <a:endParaRPr lang="tr-TR"/>
          </a:p>
        </p:txBody>
      </p:sp>
    </p:spTree>
    <p:extLst>
      <p:ext uri="{BB962C8B-B14F-4D97-AF65-F5344CB8AC3E}">
        <p14:creationId xmlns:p14="http://schemas.microsoft.com/office/powerpoint/2010/main" val="3836345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even more details and analyses in the extended version of our paper on </a:t>
            </a:r>
            <a:r>
              <a:rPr lang="en-US" err="1"/>
              <a:t>arxiv</a:t>
            </a:r>
            <a:r>
              <a:rPr lang="en-US"/>
              <a:t> which you can access it with this link</a:t>
            </a:r>
            <a:br>
              <a:rPr lang="en-US"/>
            </a:br>
            <a:endParaRPr lang="en-US"/>
          </a:p>
        </p:txBody>
      </p:sp>
      <p:sp>
        <p:nvSpPr>
          <p:cNvPr id="4" name="Slide Number Placeholder 3"/>
          <p:cNvSpPr>
            <a:spLocks noGrp="1"/>
          </p:cNvSpPr>
          <p:nvPr>
            <p:ph type="sldNum" sz="quarter" idx="5"/>
          </p:nvPr>
        </p:nvSpPr>
        <p:spPr/>
        <p:txBody>
          <a:bodyPr/>
          <a:lstStyle/>
          <a:p>
            <a:fld id="{2F65BF41-557F-464F-A572-936F8C7D1291}" type="slidenum">
              <a:rPr lang="tr-TR" smtClean="0"/>
              <a:t>25</a:t>
            </a:fld>
            <a:endParaRPr lang="tr-TR"/>
          </a:p>
        </p:txBody>
      </p:sp>
    </p:spTree>
    <p:extLst>
      <p:ext uri="{BB962C8B-B14F-4D97-AF65-F5344CB8AC3E}">
        <p14:creationId xmlns:p14="http://schemas.microsoft.com/office/powerpoint/2010/main" val="4076576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our source code and scripts are open sourced and artifact evaluated which you can check from the </a:t>
            </a:r>
            <a:r>
              <a:rPr lang="en-US" err="1"/>
              <a:t>Github</a:t>
            </a:r>
            <a:r>
              <a:rPr lang="en-US"/>
              <a:t> repo</a:t>
            </a:r>
          </a:p>
        </p:txBody>
      </p:sp>
      <p:sp>
        <p:nvSpPr>
          <p:cNvPr id="4" name="Slide Number Placeholder 3"/>
          <p:cNvSpPr>
            <a:spLocks noGrp="1"/>
          </p:cNvSpPr>
          <p:nvPr>
            <p:ph type="sldNum" sz="quarter" idx="5"/>
          </p:nvPr>
        </p:nvSpPr>
        <p:spPr/>
        <p:txBody>
          <a:bodyPr/>
          <a:lstStyle/>
          <a:p>
            <a:fld id="{2F65BF41-557F-464F-A572-936F8C7D1291}" type="slidenum">
              <a:rPr lang="tr-TR" smtClean="0"/>
              <a:t>26</a:t>
            </a:fld>
            <a:endParaRPr lang="tr-TR"/>
          </a:p>
        </p:txBody>
      </p:sp>
    </p:spTree>
    <p:extLst>
      <p:ext uri="{BB962C8B-B14F-4D97-AF65-F5344CB8AC3E}">
        <p14:creationId xmlns:p14="http://schemas.microsoft.com/office/powerpoint/2010/main" val="41192108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9CEB2-24D0-BAFA-D346-194354C5E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39489-CF9F-646B-411D-08786377A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00401-5E2B-EC3B-DF87-34CE45DD50EA}"/>
              </a:ext>
            </a:extLst>
          </p:cNvPr>
          <p:cNvSpPr>
            <a:spLocks noGrp="1"/>
          </p:cNvSpPr>
          <p:nvPr>
            <p:ph type="body" idx="1"/>
          </p:nvPr>
        </p:nvSpPr>
        <p:spPr/>
        <p:txBody>
          <a:bodyPr/>
          <a:lstStyle/>
          <a:p>
            <a:r>
              <a:rPr lang="en-US"/>
              <a:t>Lastly, based on these analyses, we identify best practices for </a:t>
            </a:r>
            <a:r>
              <a:rPr lang="en-US" err="1"/>
              <a:t>Ramulator</a:t>
            </a:r>
            <a:r>
              <a:rPr lang="en-US"/>
              <a:t> 2 and DAMOV</a:t>
            </a:r>
          </a:p>
          <a:p>
            <a:endParaRPr lang="en-US" b="0">
              <a:ea typeface="Calibri"/>
              <a:cs typeface="Calibri"/>
            </a:endParaRPr>
          </a:p>
        </p:txBody>
      </p:sp>
      <p:sp>
        <p:nvSpPr>
          <p:cNvPr id="4" name="Slide Number Placeholder 3">
            <a:extLst>
              <a:ext uri="{FF2B5EF4-FFF2-40B4-BE49-F238E27FC236}">
                <a16:creationId xmlns:a16="http://schemas.microsoft.com/office/drawing/2014/main" id="{96DBD7A4-04D2-B61D-D8B3-92D832AFF810}"/>
              </a:ext>
            </a:extLst>
          </p:cNvPr>
          <p:cNvSpPr>
            <a:spLocks noGrp="1"/>
          </p:cNvSpPr>
          <p:nvPr>
            <p:ph type="sldNum" sz="quarter" idx="5"/>
          </p:nvPr>
        </p:nvSpPr>
        <p:spPr/>
        <p:txBody>
          <a:bodyPr/>
          <a:lstStyle/>
          <a:p>
            <a:fld id="{2F65BF41-557F-464F-A572-936F8C7D1291}" type="slidenum">
              <a:rPr lang="tr-TR" smtClean="0"/>
              <a:t>27</a:t>
            </a:fld>
            <a:endParaRPr lang="tr-TR"/>
          </a:p>
        </p:txBody>
      </p:sp>
    </p:spTree>
    <p:extLst>
      <p:ext uri="{BB962C8B-B14F-4D97-AF65-F5344CB8AC3E}">
        <p14:creationId xmlns:p14="http://schemas.microsoft.com/office/powerpoint/2010/main" val="1377911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such configuration and usage errors, </a:t>
            </a:r>
          </a:p>
          <a:p>
            <a:endParaRPr lang="en-US" dirty="0"/>
          </a:p>
          <a:p>
            <a:r>
              <a:rPr lang="en-US" dirty="0"/>
              <a:t>[CLICK] First, the users should be familiarized with JEDEC standard documents </a:t>
            </a:r>
          </a:p>
          <a:p>
            <a:r>
              <a:rPr lang="en-US" sz="1200" kern="1200" dirty="0">
                <a:solidFill>
                  <a:srgbClr val="E28700"/>
                </a:solidFill>
                <a:latin typeface="+mn-lt"/>
                <a:ea typeface="+mn-ea"/>
                <a:cs typeface="+mn-cs"/>
              </a:rPr>
              <a:t>[CLICK] Second, they should understand the simulators memory organization and configurations</a:t>
            </a:r>
          </a:p>
          <a:p>
            <a:endParaRPr lang="en-US" sz="1200" kern="1200" dirty="0">
              <a:solidFill>
                <a:srgbClr val="E28700"/>
              </a:solidFill>
              <a:latin typeface="+mn-lt"/>
              <a:ea typeface="+mn-ea"/>
              <a:cs typeface="+mn-cs"/>
            </a:endParaRPr>
          </a:p>
          <a:p>
            <a:r>
              <a:rPr lang="en-US" sz="1200" kern="1200" dirty="0">
                <a:solidFill>
                  <a:srgbClr val="E28700"/>
                </a:solidFill>
                <a:latin typeface="+mn-lt"/>
                <a:ea typeface="+mn-ea"/>
                <a:cs typeface="+mn-cs"/>
              </a:rPr>
              <a:t>These two best practices would help avoiding the </a:t>
            </a:r>
            <a:r>
              <a:rPr lang="en-US" sz="1200" kern="1200" dirty="0" err="1">
                <a:solidFill>
                  <a:srgbClr val="E28700"/>
                </a:solidFill>
                <a:latin typeface="+mn-lt"/>
                <a:ea typeface="+mn-ea"/>
                <a:cs typeface="+mn-cs"/>
              </a:rPr>
              <a:t>Ramulator</a:t>
            </a:r>
            <a:r>
              <a:rPr lang="en-US" sz="1200" kern="1200" dirty="0">
                <a:solidFill>
                  <a:srgbClr val="E28700"/>
                </a:solidFill>
                <a:latin typeface="+mn-lt"/>
                <a:ea typeface="+mn-ea"/>
                <a:cs typeface="+mn-cs"/>
              </a:rPr>
              <a:t> 2.0 configuration error in the Mess paper </a:t>
            </a:r>
          </a:p>
          <a:p>
            <a:endParaRPr lang="en-US" sz="1200" kern="1200" dirty="0">
              <a:solidFill>
                <a:srgbClr val="E28700"/>
              </a:solidFill>
              <a:latin typeface="+mn-lt"/>
              <a:ea typeface="+mn-ea"/>
              <a:cs typeface="+mn-cs"/>
            </a:endParaRPr>
          </a:p>
          <a:p>
            <a:r>
              <a:rPr lang="en-US" sz="1200" kern="1200" dirty="0">
                <a:solidFill>
                  <a:srgbClr val="E28700"/>
                </a:solidFill>
                <a:latin typeface="+mn-lt"/>
                <a:ea typeface="+mn-ea"/>
                <a:cs typeface="+mn-cs"/>
              </a:rPr>
              <a:t>[CLICK] Third, they should understand simulation methodology and simulator implementations sufficiently to use the correct statistics</a:t>
            </a:r>
          </a:p>
          <a:p>
            <a:r>
              <a:rPr lang="en-US" sz="1200" kern="1200" dirty="0">
                <a:solidFill>
                  <a:srgbClr val="E28700"/>
                </a:solidFill>
                <a:latin typeface="+mn-lt"/>
                <a:ea typeface="+mn-ea"/>
                <a:cs typeface="+mn-cs"/>
              </a:rPr>
              <a:t>This would help avoiding the statistics usage errors in the Mess paper</a:t>
            </a:r>
          </a:p>
          <a:p>
            <a:endParaRPr lang="en-US" sz="1200" kern="1200" dirty="0">
              <a:solidFill>
                <a:srgbClr val="E2870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rgbClr val="E28700"/>
                </a:solidFill>
                <a:latin typeface="+mn-lt"/>
                <a:ea typeface="+mn-ea"/>
                <a:cs typeface="+mn-cs"/>
              </a:rPr>
              <a:t>[CLICK] Lastly, </a:t>
            </a:r>
            <a:r>
              <a:rPr lang="en-US" sz="1200" kern="1200" dirty="0">
                <a:solidFill>
                  <a:srgbClr val="385723"/>
                </a:solidFill>
                <a:latin typeface="+mn-lt"/>
                <a:ea typeface="+mn-ea"/>
                <a:cs typeface="+mn-cs"/>
              </a:rPr>
              <a:t>the users should communicate with the simulator developers or user community when unexpected results are observed to ensure correct simulator usage</a:t>
            </a:r>
          </a:p>
          <a:p>
            <a:r>
              <a:rPr lang="en-US" dirty="0"/>
              <a:t>This best practice would help avoid all errors in the Mess paper.</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28</a:t>
            </a:fld>
            <a:endParaRPr lang="tr-TR"/>
          </a:p>
        </p:txBody>
      </p:sp>
    </p:spTree>
    <p:extLst>
      <p:ext uri="{BB962C8B-B14F-4D97-AF65-F5344CB8AC3E}">
        <p14:creationId xmlns:p14="http://schemas.microsoft.com/office/powerpoint/2010/main" val="32507874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11DF7-82B2-0267-B28A-0532CA5D9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9941E-F451-2C58-76B0-A28276B50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E8988-3C38-9F4A-56E8-7AD747DF390D}"/>
              </a:ext>
            </a:extLst>
          </p:cNvPr>
          <p:cNvSpPr>
            <a:spLocks noGrp="1"/>
          </p:cNvSpPr>
          <p:nvPr>
            <p:ph type="body" idx="1"/>
          </p:nvPr>
        </p:nvSpPr>
        <p:spPr/>
        <p:txBody>
          <a:bodyPr/>
          <a:lstStyle/>
          <a:p>
            <a:r>
              <a:rPr lang="en-US"/>
              <a:t>Now, let us conclude our talk.</a:t>
            </a:r>
          </a:p>
        </p:txBody>
      </p:sp>
      <p:sp>
        <p:nvSpPr>
          <p:cNvPr id="4" name="Slide Number Placeholder 3">
            <a:extLst>
              <a:ext uri="{FF2B5EF4-FFF2-40B4-BE49-F238E27FC236}">
                <a16:creationId xmlns:a16="http://schemas.microsoft.com/office/drawing/2014/main" id="{E83512B3-82DE-9DC6-0B50-4DB6F570AE63}"/>
              </a:ext>
            </a:extLst>
          </p:cNvPr>
          <p:cNvSpPr>
            <a:spLocks noGrp="1"/>
          </p:cNvSpPr>
          <p:nvPr>
            <p:ph type="sldNum" sz="quarter" idx="5"/>
          </p:nvPr>
        </p:nvSpPr>
        <p:spPr/>
        <p:txBody>
          <a:bodyPr/>
          <a:lstStyle/>
          <a:p>
            <a:fld id="{2F65BF41-557F-464F-A572-936F8C7D1291}" type="slidenum">
              <a:rPr lang="tr-TR" smtClean="0"/>
              <a:t>29</a:t>
            </a:fld>
            <a:endParaRPr lang="tr-TR"/>
          </a:p>
        </p:txBody>
      </p:sp>
    </p:spTree>
    <p:extLst>
      <p:ext uri="{BB962C8B-B14F-4D97-AF65-F5344CB8AC3E}">
        <p14:creationId xmlns:p14="http://schemas.microsoft.com/office/powerpoint/2010/main" val="40474674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E13CA-1790-FCCD-03A1-5535E031F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AEE9D-C02D-03C0-CB7B-59AFD7F1E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0FD91-A8E2-8AEB-22C7-65E35ADAC4E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p:txBody>
      </p:sp>
      <p:sp>
        <p:nvSpPr>
          <p:cNvPr id="4" name="Slide Number Placeholder 3">
            <a:extLst>
              <a:ext uri="{FF2B5EF4-FFF2-40B4-BE49-F238E27FC236}">
                <a16:creationId xmlns:a16="http://schemas.microsoft.com/office/drawing/2014/main" id="{9B77A44A-5898-E1CA-FE21-7495F34D8A69}"/>
              </a:ext>
            </a:extLst>
          </p:cNvPr>
          <p:cNvSpPr>
            <a:spLocks noGrp="1"/>
          </p:cNvSpPr>
          <p:nvPr>
            <p:ph type="sldNum" sz="quarter" idx="10"/>
          </p:nvPr>
        </p:nvSpPr>
        <p:spPr/>
        <p:txBody>
          <a:bodyPr/>
          <a:lstStyle/>
          <a:p>
            <a:fld id="{EF7F79D3-8C36-4CB5-B03B-F440DA7B71AF}" type="slidenum">
              <a:rPr lang="en-US" smtClean="0"/>
              <a:t>30</a:t>
            </a:fld>
            <a:endParaRPr lang="en-US"/>
          </a:p>
        </p:txBody>
      </p:sp>
    </p:spTree>
    <p:extLst>
      <p:ext uri="{BB962C8B-B14F-4D97-AF65-F5344CB8AC3E}">
        <p14:creationId xmlns:p14="http://schemas.microsoft.com/office/powerpoint/2010/main" val="986252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E676A0-33B1-4B4B-B1AA-B0B917FCAA93}" type="slidenum">
              <a:rPr lang="en-US" smtClean="0"/>
              <a:t>33</a:t>
            </a:fld>
            <a:endParaRPr lang="en-US"/>
          </a:p>
        </p:txBody>
      </p:sp>
    </p:spTree>
    <p:extLst>
      <p:ext uri="{BB962C8B-B14F-4D97-AF65-F5344CB8AC3E}">
        <p14:creationId xmlns:p14="http://schemas.microsoft.com/office/powerpoint/2010/main" val="2543337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CDEB1-4655-A6AF-4A67-C03B5800B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8FA72-872B-C03D-6137-0064CC6326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CE496-54E3-2DE2-5667-8FF535718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0FB22-4554-3D4B-6B76-B2D6EDB706A0}"/>
              </a:ext>
            </a:extLst>
          </p:cNvPr>
          <p:cNvSpPr>
            <a:spLocks noGrp="1"/>
          </p:cNvSpPr>
          <p:nvPr>
            <p:ph type="sldNum" sz="quarter" idx="10"/>
          </p:nvPr>
        </p:nvSpPr>
        <p:spPr/>
        <p:txBody>
          <a:bodyPr/>
          <a:lstStyle/>
          <a:p>
            <a:fld id="{35E676A0-33B1-4B4B-B1AA-B0B917FCAA93}" type="slidenum">
              <a:rPr lang="en-US" smtClean="0"/>
              <a:t>36</a:t>
            </a:fld>
            <a:endParaRPr lang="en-US"/>
          </a:p>
        </p:txBody>
      </p:sp>
    </p:spTree>
    <p:extLst>
      <p:ext uri="{BB962C8B-B14F-4D97-AF65-F5344CB8AC3E}">
        <p14:creationId xmlns:p14="http://schemas.microsoft.com/office/powerpoint/2010/main" val="3410231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D0507-6EA5-971A-CD25-9B12F7C42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EF2CE-1BC7-5069-391E-488822C5E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704D8-491F-643D-D226-5419A58AF1B2}"/>
              </a:ext>
            </a:extLst>
          </p:cNvPr>
          <p:cNvSpPr>
            <a:spLocks noGrp="1"/>
          </p:cNvSpPr>
          <p:nvPr>
            <p:ph type="body" idx="1"/>
          </p:nvPr>
        </p:nvSpPr>
        <p:spPr/>
        <p:txBody>
          <a:bodyPr/>
          <a:lstStyle/>
          <a:p>
            <a:r>
              <a:rPr lang="en-US" dirty="0"/>
              <a:t>expand</a:t>
            </a:r>
          </a:p>
        </p:txBody>
      </p:sp>
      <p:sp>
        <p:nvSpPr>
          <p:cNvPr id="4" name="Slide Number Placeholder 3">
            <a:extLst>
              <a:ext uri="{FF2B5EF4-FFF2-40B4-BE49-F238E27FC236}">
                <a16:creationId xmlns:a16="http://schemas.microsoft.com/office/drawing/2014/main" id="{8BBC8586-0F86-AADC-1F4A-C0591B8D8B12}"/>
              </a:ext>
            </a:extLst>
          </p:cNvPr>
          <p:cNvSpPr>
            <a:spLocks noGrp="1"/>
          </p:cNvSpPr>
          <p:nvPr>
            <p:ph type="sldNum" sz="quarter" idx="10"/>
          </p:nvPr>
        </p:nvSpPr>
        <p:spPr/>
        <p:txBody>
          <a:bodyPr/>
          <a:lstStyle/>
          <a:p>
            <a:fld id="{35E676A0-33B1-4B4B-B1AA-B0B917FCAA93}" type="slidenum">
              <a:rPr lang="en-US" smtClean="0"/>
              <a:t>40</a:t>
            </a:fld>
            <a:endParaRPr lang="en-US"/>
          </a:p>
        </p:txBody>
      </p:sp>
    </p:spTree>
    <p:extLst>
      <p:ext uri="{BB962C8B-B14F-4D97-AF65-F5344CB8AC3E}">
        <p14:creationId xmlns:p14="http://schemas.microsoft.com/office/powerpoint/2010/main" val="3109581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42</a:t>
            </a:fld>
            <a:endParaRPr lang="tr-TR"/>
          </a:p>
        </p:txBody>
      </p:sp>
    </p:spTree>
    <p:extLst>
      <p:ext uri="{BB962C8B-B14F-4D97-AF65-F5344CB8AC3E}">
        <p14:creationId xmlns:p14="http://schemas.microsoft.com/office/powerpoint/2010/main" val="27083713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Modern computing systems are vulnerable to security attacks such as covert channel and side channel attacks where an attacker uses the shared computing system to communicate with other attacker processes or to leak security critical data of concurrently running applications</a:t>
            </a:r>
          </a:p>
          <a:p>
            <a:endParaRPr lang="en-US" b="0" dirty="0"/>
          </a:p>
          <a:p>
            <a:r>
              <a:rPr lang="en-US" b="0" dirty="0"/>
              <a:t>A set of attacks exploit shared hardware structures that result in different execution time for executing a type of operation based on the </a:t>
            </a:r>
            <a:r>
              <a:rPr lang="en-US" b="0" dirty="0" err="1"/>
              <a:t>inpu</a:t>
            </a:r>
            <a:r>
              <a:rPr lang="en-US" b="0" dirty="0"/>
              <a:t> or the current state of the structure</a:t>
            </a:r>
          </a:p>
          <a:p>
            <a:endParaRPr lang="en-US" b="0" dirty="0"/>
          </a:p>
          <a:p>
            <a:r>
              <a:rPr lang="en-US" b="0" dirty="0"/>
              <a:t>This means that timing differences …</a:t>
            </a:r>
          </a:p>
          <a:p>
            <a:endParaRPr lang="en-US" b="0" dirty="0"/>
          </a:p>
          <a:p>
            <a:r>
              <a:rPr lang="en-US" b="0" dirty="0"/>
              <a:t>Lets take a closer look at these computing systems </a:t>
            </a:r>
          </a:p>
          <a:p>
            <a:endParaRPr lang="en-US" b="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81448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39123-2114-444F-44A4-37C3E65B0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DB504-B522-6B68-A615-D6BDD8670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3D3FB-A2F0-C19D-549A-B77B45FA4BCA}"/>
              </a:ext>
            </a:extLst>
          </p:cNvPr>
          <p:cNvSpPr>
            <a:spLocks noGrp="1"/>
          </p:cNvSpPr>
          <p:nvPr>
            <p:ph type="body" idx="1"/>
          </p:nvPr>
        </p:nvSpPr>
        <p:spPr/>
        <p:txBody>
          <a:bodyPr/>
          <a:lstStyle/>
          <a:p>
            <a:r>
              <a:rPr lang="en-US" b="0" dirty="0"/>
              <a:t>This is a typical DRAM-based computing system with a CPU and a DRAM module connected over an off-chip link called the DRAM channel. </a:t>
            </a:r>
          </a:p>
        </p:txBody>
      </p:sp>
      <p:sp>
        <p:nvSpPr>
          <p:cNvPr id="4" name="Slide Number Placeholder 3">
            <a:extLst>
              <a:ext uri="{FF2B5EF4-FFF2-40B4-BE49-F238E27FC236}">
                <a16:creationId xmlns:a16="http://schemas.microsoft.com/office/drawing/2014/main" id="{BEB0DB24-F082-A862-3F57-4F6837632AD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30946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Unfortunately, DRAM is vulnerable to read disturbance which breaks memory isolation.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 prime example of DRAM read disturbance is </a:t>
            </a:r>
            <a:r>
              <a:rPr lang="en-US" b="0" dirty="0" err="1"/>
              <a:t>RowHammer</a:t>
            </a:r>
            <a:r>
              <a:rPr lang="en-US" b="0" dirty="0"/>
              <a:t>, which I will show in this slide. </a:t>
            </a:r>
          </a:p>
          <a:p>
            <a:r>
              <a:rPr lang="en-US" b="0" dirty="0"/>
              <a:t>For example, to access a data stored in Row 2, </a:t>
            </a:r>
            <a:r>
              <a:rPr lang="en-US" b="1" dirty="0"/>
              <a:t>[CLICK]</a:t>
            </a:r>
          </a:p>
          <a:p>
            <a:r>
              <a:rPr lang="en-US" b="0" dirty="0"/>
              <a:t>We first need to open Row 2, and then perform accesses. Once we need to access another row, we need to close Row 2 and open the other row </a:t>
            </a:r>
            <a:r>
              <a:rPr lang="en-US" b="1" dirty="0"/>
              <a:t>[CLICK]</a:t>
            </a:r>
          </a:p>
          <a:p>
            <a:r>
              <a:rPr lang="en-US" b="1" dirty="0"/>
              <a:t>[BACK&amp; FORTH] </a:t>
            </a:r>
            <a:r>
              <a:rPr lang="en-US" b="0" dirty="0"/>
              <a:t>If we keep opening and closing this row many times, called hammering a row, </a:t>
            </a:r>
            <a:r>
              <a:rPr lang="en-US" b="1" dirty="0"/>
              <a:t>[CLICK]</a:t>
            </a:r>
          </a:p>
          <a:p>
            <a:r>
              <a:rPr lang="en-US" b="0" dirty="0"/>
              <a:t>We observe bitflips in physically nearby DRAM rows </a:t>
            </a:r>
            <a:r>
              <a:rPr lang="en-US" b="1" dirty="0"/>
              <a:t>[CLICK]</a:t>
            </a:r>
          </a:p>
          <a:p>
            <a:r>
              <a:rPr lang="en-US" b="0" dirty="0"/>
              <a:t>This phenomenon is called </a:t>
            </a:r>
            <a:r>
              <a:rPr lang="en-US" b="0" dirty="0" err="1"/>
              <a:t>RowHammer</a:t>
            </a:r>
            <a:r>
              <a:rPr lang="en-US" b="0" dirty="0"/>
              <a:t>. We refer to the hammered row as the aggressor row and the rows that are affected as victim rows. </a:t>
            </a:r>
            <a:r>
              <a:rPr lang="en-US" b="1" dirty="0"/>
              <a:t>[CLICK]</a:t>
            </a:r>
          </a:p>
          <a:p>
            <a:endParaRPr lang="en-US" b="1" dirty="0"/>
          </a:p>
        </p:txBody>
      </p:sp>
      <p:sp>
        <p:nvSpPr>
          <p:cNvPr id="4" name="Slayt Numarası Yer Tutucusu 3"/>
          <p:cNvSpPr>
            <a:spLocks noGrp="1"/>
          </p:cNvSpPr>
          <p:nvPr>
            <p:ph type="sldNum" sz="quarter" idx="5"/>
          </p:nvPr>
        </p:nvSpPr>
        <p:spPr/>
        <p:txBody>
          <a:bodyPr/>
          <a:lstStyle/>
          <a:p>
            <a:fld id="{2F65BF41-557F-464F-A572-936F8C7D1291}" type="slidenum">
              <a:rPr lang="tr-TR" smtClean="0"/>
              <a:t>46</a:t>
            </a:fld>
            <a:endParaRPr lang="tr-TR"/>
          </a:p>
        </p:txBody>
      </p:sp>
    </p:spTree>
    <p:extLst>
      <p:ext uri="{BB962C8B-B14F-4D97-AF65-F5344CB8AC3E}">
        <p14:creationId xmlns:p14="http://schemas.microsoft.com/office/powerpoint/2010/main" val="40909906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One way to mitigate read disturbance is to preventively refresh potential victim rows before they experience bitflips</a:t>
            </a:r>
          </a:p>
          <a:p>
            <a:endParaRPr lang="tr-TR" dirty="0"/>
          </a:p>
        </p:txBody>
      </p:sp>
      <p:sp>
        <p:nvSpPr>
          <p:cNvPr id="4" name="Slayt Numarası Yer Tutucusu 3"/>
          <p:cNvSpPr>
            <a:spLocks noGrp="1"/>
          </p:cNvSpPr>
          <p:nvPr>
            <p:ph type="sldNum" sz="quarter" idx="5"/>
          </p:nvPr>
        </p:nvSpPr>
        <p:spPr/>
        <p:txBody>
          <a:bodyPr/>
          <a:lstStyle/>
          <a:p>
            <a:fld id="{2F65BF41-557F-464F-A572-936F8C7D1291}" type="slidenum">
              <a:rPr lang="tr-TR" smtClean="0"/>
              <a:t>47</a:t>
            </a:fld>
            <a:endParaRPr lang="tr-TR"/>
          </a:p>
        </p:txBody>
      </p:sp>
    </p:spTree>
    <p:extLst>
      <p:ext uri="{BB962C8B-B14F-4D97-AF65-F5344CB8AC3E}">
        <p14:creationId xmlns:p14="http://schemas.microsoft.com/office/powerpoint/2010/main" val="33709745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005B9-90B8-B408-AA0C-1B281F1B324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804F5D3-FC66-200C-13A1-855CD97EDA2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8ECEFA9-0B83-30BF-BD00-6D71D199722F}"/>
              </a:ext>
            </a:extLst>
          </p:cNvPr>
          <p:cNvSpPr>
            <a:spLocks noGrp="1"/>
          </p:cNvSpPr>
          <p:nvPr>
            <p:ph type="body" idx="1"/>
          </p:nvPr>
        </p:nvSpPr>
        <p:spPr/>
        <p:txBody>
          <a:bodyPr/>
          <a:lstStyle/>
          <a:p>
            <a:r>
              <a:rPr lang="en-US" dirty="0"/>
              <a:t>However, doing so requires tracking row </a:t>
            </a:r>
            <a:r>
              <a:rPr lang="en-US" dirty="0" err="1"/>
              <a:t>actvation</a:t>
            </a:r>
            <a:r>
              <a:rPr lang="en-US" dirty="0"/>
              <a:t> counts of aggressor rows to determine which rows to preventively refresh</a:t>
            </a:r>
            <a:endParaRPr lang="tr-TR" dirty="0"/>
          </a:p>
        </p:txBody>
      </p:sp>
      <p:sp>
        <p:nvSpPr>
          <p:cNvPr id="4" name="Slayt Numarası Yer Tutucusu 3">
            <a:extLst>
              <a:ext uri="{FF2B5EF4-FFF2-40B4-BE49-F238E27FC236}">
                <a16:creationId xmlns:a16="http://schemas.microsoft.com/office/drawing/2014/main" id="{BD15C352-FFE7-2186-1673-06389D6A1399}"/>
              </a:ext>
            </a:extLst>
          </p:cNvPr>
          <p:cNvSpPr>
            <a:spLocks noGrp="1"/>
          </p:cNvSpPr>
          <p:nvPr>
            <p:ph type="sldNum" sz="quarter" idx="5"/>
          </p:nvPr>
        </p:nvSpPr>
        <p:spPr/>
        <p:txBody>
          <a:bodyPr/>
          <a:lstStyle/>
          <a:p>
            <a:fld id="{2F65BF41-557F-464F-A572-936F8C7D1291}" type="slidenum">
              <a:rPr lang="tr-TR" smtClean="0"/>
              <a:t>48</a:t>
            </a:fld>
            <a:endParaRPr lang="tr-TR"/>
          </a:p>
        </p:txBody>
      </p:sp>
    </p:spTree>
    <p:extLst>
      <p:ext uri="{BB962C8B-B14F-4D97-AF65-F5344CB8AC3E}">
        <p14:creationId xmlns:p14="http://schemas.microsoft.com/office/powerpoint/2010/main" val="141901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make things worse:</a:t>
            </a:r>
          </a:p>
          <a:p>
            <a:r>
              <a:rPr lang="en-US" b="0" dirty="0"/>
              <a:t>With technology node scaling, DRAM cells get smaller in size and closer to each other</a:t>
            </a:r>
            <a:r>
              <a:rPr lang="en-US" b="1" dirty="0"/>
              <a:t>[CLICK]</a:t>
            </a:r>
          </a:p>
          <a:p>
            <a:r>
              <a:rPr lang="en-US" b="0" dirty="0"/>
              <a:t>Such that we observe significant reductions in the minimum hammer count to induce the first bitflip</a:t>
            </a:r>
            <a:r>
              <a:rPr lang="en-US" b="1" dirty="0"/>
              <a:t> </a:t>
            </a:r>
            <a:r>
              <a:rPr lang="en-US" b="0" dirty="0"/>
              <a:t>in the last decade </a:t>
            </a:r>
            <a:r>
              <a:rPr lang="en-US" b="1" dirty="0"/>
              <a:t>[CLICK]</a:t>
            </a:r>
          </a:p>
          <a:p>
            <a:r>
              <a:rPr lang="en-US" b="0" dirty="0"/>
              <a:t>Thus DRAM cells become increasingly more vulnerable to read disturbance </a:t>
            </a:r>
            <a:r>
              <a:rPr lang="en-US" b="1" dirty="0"/>
              <a:t>[CLICK]</a:t>
            </a:r>
          </a:p>
          <a:p>
            <a:endParaRPr lang="en-US" b="1" dirty="0"/>
          </a:p>
        </p:txBody>
      </p:sp>
      <p:sp>
        <p:nvSpPr>
          <p:cNvPr id="4" name="Slide Number Placeholder 3"/>
          <p:cNvSpPr>
            <a:spLocks noGrp="1"/>
          </p:cNvSpPr>
          <p:nvPr>
            <p:ph type="sldNum" sz="quarter" idx="5"/>
          </p:nvPr>
        </p:nvSpPr>
        <p:spPr/>
        <p:txBody>
          <a:bodyPr/>
          <a:lstStyle/>
          <a:p>
            <a:fld id="{35E676A0-33B1-4B4B-B1AA-B0B917FCAA93}" type="slidenum">
              <a:rPr lang="en-US" smtClean="0"/>
              <a:t>49</a:t>
            </a:fld>
            <a:endParaRPr lang="en-US"/>
          </a:p>
        </p:txBody>
      </p:sp>
    </p:spTree>
    <p:extLst>
      <p:ext uri="{BB962C8B-B14F-4D97-AF65-F5344CB8AC3E}">
        <p14:creationId xmlns:p14="http://schemas.microsoft.com/office/powerpoint/2010/main" val="1508330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50</a:t>
            </a:fld>
            <a:endParaRPr lang="tr-TR"/>
          </a:p>
        </p:txBody>
      </p:sp>
    </p:spTree>
    <p:extLst>
      <p:ext uri="{BB962C8B-B14F-4D97-AF65-F5344CB8AC3E}">
        <p14:creationId xmlns:p14="http://schemas.microsoft.com/office/powerpoint/2010/main" val="4824160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industry already standardized multiple </a:t>
            </a:r>
            <a:r>
              <a:rPr lang="en-US" sz="1200" dirty="0" err="1"/>
              <a:t>RowHammer</a:t>
            </a:r>
            <a:r>
              <a:rPr lang="en-US" sz="1200" dirty="0"/>
              <a:t> defenses to mitigate read disturbance bitflips, yet their </a:t>
            </a:r>
            <a:r>
              <a:rPr lang="en-US" sz="1200" dirty="0">
                <a:solidFill>
                  <a:srgbClr val="F23F00"/>
                </a:solidFill>
              </a:rPr>
              <a:t>full</a:t>
            </a:r>
            <a:r>
              <a:rPr lang="en-US" sz="1200" dirty="0"/>
              <a:t> </a:t>
            </a:r>
            <a:r>
              <a:rPr lang="en-US" sz="1200" dirty="0">
                <a:solidFill>
                  <a:srgbClr val="F23F00"/>
                </a:solidFill>
              </a:rPr>
              <a:t>security implications </a:t>
            </a:r>
            <a:r>
              <a:rPr lang="en-US" sz="1200" dirty="0"/>
              <a:t>are </a:t>
            </a:r>
            <a:r>
              <a:rPr lang="en-US" sz="1200" i="1" dirty="0">
                <a:solidFill>
                  <a:srgbClr val="F23F00"/>
                </a:solidFill>
              </a:rPr>
              <a:t>not </a:t>
            </a:r>
            <a:r>
              <a:rPr lang="en-US" sz="1200" dirty="0">
                <a:solidFill>
                  <a:srgbClr val="F23F00"/>
                </a:solidFill>
              </a:rPr>
              <a:t>known</a:t>
            </a:r>
          </a:p>
          <a:p>
            <a:endParaRPr lang="en-US" dirty="0"/>
          </a:p>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51</a:t>
            </a:fld>
            <a:endParaRPr lang="tr-TR"/>
          </a:p>
        </p:txBody>
      </p:sp>
    </p:spTree>
    <p:extLst>
      <p:ext uri="{BB962C8B-B14F-4D97-AF65-F5344CB8AC3E}">
        <p14:creationId xmlns:p14="http://schemas.microsoft.com/office/powerpoint/2010/main" val="15430493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FA640-F017-5ACD-CB80-4C409BE22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038B1-E1C3-429F-00B6-C63F745CD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F884E-1372-576C-5DA4-6D858339DE26}"/>
              </a:ext>
            </a:extLst>
          </p:cNvPr>
          <p:cNvSpPr>
            <a:spLocks noGrp="1"/>
          </p:cNvSpPr>
          <p:nvPr>
            <p:ph type="body" idx="1"/>
          </p:nvPr>
        </p:nvSpPr>
        <p:spPr/>
        <p:txBody>
          <a:bodyPr/>
          <a:lstStyle/>
          <a:p>
            <a:r>
              <a:rPr lang="en-US" dirty="0"/>
              <a:t>We make the key observation that preventive actions have two fundamental features that enable covert and side channels:</a:t>
            </a:r>
          </a:p>
          <a:p>
            <a:r>
              <a:rPr lang="en-US" dirty="0"/>
              <a:t>[CLICK]</a:t>
            </a:r>
          </a:p>
          <a:p>
            <a:r>
              <a:rPr lang="en-US" dirty="0"/>
              <a:t>Preventive actions often result in significantly high memory access latencies for regular memory requests</a:t>
            </a:r>
          </a:p>
          <a:p>
            <a:r>
              <a:rPr lang="en-US" dirty="0"/>
              <a:t>This is because preventive actions have high latency </a:t>
            </a:r>
          </a:p>
        </p:txBody>
      </p:sp>
      <p:sp>
        <p:nvSpPr>
          <p:cNvPr id="4" name="Slide Number Placeholder 3">
            <a:extLst>
              <a:ext uri="{FF2B5EF4-FFF2-40B4-BE49-F238E27FC236}">
                <a16:creationId xmlns:a16="http://schemas.microsoft.com/office/drawing/2014/main" id="{A08DD34A-00A4-3BCB-9FA7-55811FBC520F}"/>
              </a:ext>
            </a:extLst>
          </p:cNvPr>
          <p:cNvSpPr>
            <a:spLocks noGrp="1"/>
          </p:cNvSpPr>
          <p:nvPr>
            <p:ph type="sldNum" sz="quarter" idx="5"/>
          </p:nvPr>
        </p:nvSpPr>
        <p:spPr/>
        <p:txBody>
          <a:bodyPr/>
          <a:lstStyle/>
          <a:p>
            <a:fld id="{2F65BF41-557F-464F-A572-936F8C7D1291}" type="slidenum">
              <a:rPr lang="tr-TR" smtClean="0"/>
              <a:t>53</a:t>
            </a:fld>
            <a:endParaRPr lang="tr-TR"/>
          </a:p>
        </p:txBody>
      </p:sp>
    </p:spTree>
    <p:extLst>
      <p:ext uri="{BB962C8B-B14F-4D97-AF65-F5344CB8AC3E}">
        <p14:creationId xmlns:p14="http://schemas.microsoft.com/office/powerpoint/2010/main" val="3995356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2B5EA-21B5-A03D-9F73-5F2DF7CFA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AA4FD-0612-FE74-4B1C-9410688CF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76829-5C8D-1E5C-7B4E-DD7417EDDE30}"/>
              </a:ext>
            </a:extLst>
          </p:cNvPr>
          <p:cNvSpPr>
            <a:spLocks noGrp="1"/>
          </p:cNvSpPr>
          <p:nvPr>
            <p:ph type="body" idx="1"/>
          </p:nvPr>
        </p:nvSpPr>
        <p:spPr/>
        <p:txBody>
          <a:bodyPr/>
          <a:lstStyle/>
          <a:p>
            <a:r>
              <a:rPr lang="en-US" dirty="0"/>
              <a:t>We make the key observation that preventive actions have two fundamental features that enable covert and side channels:</a:t>
            </a:r>
          </a:p>
          <a:p>
            <a:r>
              <a:rPr lang="en-US" dirty="0"/>
              <a:t>[CLICK]</a:t>
            </a:r>
          </a:p>
          <a:p>
            <a:r>
              <a:rPr lang="en-US" dirty="0"/>
              <a:t>Preventive actions often result in significantly high memory access latencies for regular memory requests</a:t>
            </a:r>
          </a:p>
          <a:p>
            <a:r>
              <a:rPr lang="en-US" dirty="0"/>
              <a:t>This is because preventive actions have high latency </a:t>
            </a:r>
          </a:p>
        </p:txBody>
      </p:sp>
      <p:sp>
        <p:nvSpPr>
          <p:cNvPr id="4" name="Slide Number Placeholder 3">
            <a:extLst>
              <a:ext uri="{FF2B5EF4-FFF2-40B4-BE49-F238E27FC236}">
                <a16:creationId xmlns:a16="http://schemas.microsoft.com/office/drawing/2014/main" id="{B02E0D5B-F60D-30C4-AE67-1D9FCFBDAF16}"/>
              </a:ext>
            </a:extLst>
          </p:cNvPr>
          <p:cNvSpPr>
            <a:spLocks noGrp="1"/>
          </p:cNvSpPr>
          <p:nvPr>
            <p:ph type="sldNum" sz="quarter" idx="5"/>
          </p:nvPr>
        </p:nvSpPr>
        <p:spPr/>
        <p:txBody>
          <a:bodyPr/>
          <a:lstStyle/>
          <a:p>
            <a:fld id="{2F65BF41-557F-464F-A572-936F8C7D1291}" type="slidenum">
              <a:rPr lang="tr-TR" smtClean="0"/>
              <a:t>54</a:t>
            </a:fld>
            <a:endParaRPr lang="tr-TR"/>
          </a:p>
        </p:txBody>
      </p:sp>
    </p:spTree>
    <p:extLst>
      <p:ext uri="{BB962C8B-B14F-4D97-AF65-F5344CB8AC3E}">
        <p14:creationId xmlns:p14="http://schemas.microsoft.com/office/powerpoint/2010/main" val="1349797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demonstrate three different attacks as case studies of </a:t>
            </a:r>
            <a:r>
              <a:rPr lang="en-US" dirty="0" err="1"/>
              <a:t>LeakyHammer</a:t>
            </a:r>
            <a:endParaRPr lang="en-US" dirty="0"/>
          </a:p>
          <a:p>
            <a:r>
              <a:rPr lang="en-US" dirty="0"/>
              <a:t>We first establish PRAC and RFM based covert communication channels </a:t>
            </a:r>
          </a:p>
          <a:p>
            <a:r>
              <a:rPr lang="en-US" dirty="0"/>
              <a:t>And then, we demonstrate a website fingerprinting attack that leaks which website is loaded by a victim user by just observing the preventive actions caused by the victim</a:t>
            </a:r>
            <a:br>
              <a:rPr lang="en-US" dirty="0"/>
            </a:b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57</a:t>
            </a:fld>
            <a:endParaRPr lang="tr-TR"/>
          </a:p>
        </p:txBody>
      </p:sp>
    </p:spTree>
    <p:extLst>
      <p:ext uri="{BB962C8B-B14F-4D97-AF65-F5344CB8AC3E}">
        <p14:creationId xmlns:p14="http://schemas.microsoft.com/office/powerpoint/2010/main" val="40212736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they are standardized they are not widely available in chips</a:t>
            </a:r>
          </a:p>
        </p:txBody>
      </p:sp>
      <p:sp>
        <p:nvSpPr>
          <p:cNvPr id="4" name="Slide Number Placeholder 3"/>
          <p:cNvSpPr>
            <a:spLocks noGrp="1"/>
          </p:cNvSpPr>
          <p:nvPr>
            <p:ph type="sldNum" sz="quarter" idx="5"/>
          </p:nvPr>
        </p:nvSpPr>
        <p:spPr/>
        <p:txBody>
          <a:bodyPr/>
          <a:lstStyle/>
          <a:p>
            <a:fld id="{2F65BF41-557F-464F-A572-936F8C7D1291}" type="slidenum">
              <a:rPr lang="tr-TR" smtClean="0"/>
              <a:t>58</a:t>
            </a:fld>
            <a:endParaRPr lang="tr-TR"/>
          </a:p>
        </p:txBody>
      </p:sp>
    </p:spTree>
    <p:extLst>
      <p:ext uri="{BB962C8B-B14F-4D97-AF65-F5344CB8AC3E}">
        <p14:creationId xmlns:p14="http://schemas.microsoft.com/office/powerpoint/2010/main" val="22773213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Here we have a CPU with a DRAM module </a:t>
            </a:r>
          </a:p>
          <a:p>
            <a:r>
              <a:rPr lang="en-US" dirty="0"/>
              <a:t>[CLICK] Inside the DRAM module we have many rows</a:t>
            </a:r>
          </a:p>
          <a:p>
            <a:r>
              <a:rPr lang="en-US" dirty="0"/>
              <a:t>[CLICK] and each row has a dedicated activation counter</a:t>
            </a:r>
          </a:p>
          <a:p>
            <a:r>
              <a:rPr lang="en-US" dirty="0"/>
              <a:t>A PRAC based mitigation works as follows</a:t>
            </a:r>
          </a:p>
          <a:p>
            <a:r>
              <a:rPr lang="en-US" dirty="0"/>
              <a:t>[CLICK] When a row is activated, PRAC increments the counter corresponding to that row</a:t>
            </a:r>
          </a:p>
          <a:p>
            <a:r>
              <a:rPr lang="en-US" dirty="0"/>
              <a:t>[CLICK] and keeps incrementing the same row with each activation</a:t>
            </a:r>
          </a:p>
          <a:p>
            <a:r>
              <a:rPr lang="en-US" dirty="0"/>
              <a:t>after some point the counter reaches a threshold called the back off threshold</a:t>
            </a:r>
          </a:p>
          <a:p>
            <a:r>
              <a:rPr lang="en-US" dirty="0"/>
              <a:t>[CLICK] which means that the row requires a preventive action to prevent </a:t>
            </a:r>
            <a:r>
              <a:rPr lang="en-US" dirty="0" err="1"/>
              <a:t>RowHammer</a:t>
            </a:r>
            <a:r>
              <a:rPr lang="en-US" dirty="0"/>
              <a:t> bitflips and PRAC identifies the row as an aggressor row</a:t>
            </a:r>
          </a:p>
          <a:p>
            <a:r>
              <a:rPr lang="en-US" dirty="0"/>
              <a:t>[CLICK] and sends the memory controller a back-off signal </a:t>
            </a:r>
          </a:p>
          <a:p>
            <a:r>
              <a:rPr lang="en-US" dirty="0"/>
              <a:t>[CLICK] Upon receiving the back-off signal, the memory controller issues an RFM command</a:t>
            </a:r>
          </a:p>
          <a:p>
            <a:r>
              <a:rPr lang="en-US" dirty="0"/>
              <a:t>[CLICK] which allocates a fixed time for the DRAM module to perform preventive refreshes</a:t>
            </a:r>
          </a:p>
          <a:p>
            <a:r>
              <a:rPr lang="en-US" dirty="0"/>
              <a:t>[CLICK] During this time the DRAM module becomes unavailable for regular memory requests</a:t>
            </a:r>
          </a:p>
          <a:p>
            <a:r>
              <a:rPr lang="en-US" dirty="0"/>
              <a:t>[CLICK] and performs preventive refreshes</a:t>
            </a:r>
          </a:p>
          <a:p>
            <a:r>
              <a:rPr lang="en-US" dirty="0"/>
              <a:t>[CLICK] after preventive refreshes are completed, DRAM becomes available again and the memory controller can continue to send commands</a:t>
            </a:r>
          </a:p>
        </p:txBody>
      </p:sp>
      <p:sp>
        <p:nvSpPr>
          <p:cNvPr id="4" name="Slide Number Placeholder 3"/>
          <p:cNvSpPr>
            <a:spLocks noGrp="1"/>
          </p:cNvSpPr>
          <p:nvPr>
            <p:ph type="sldNum" sz="quarter" idx="5"/>
          </p:nvPr>
        </p:nvSpPr>
        <p:spPr/>
        <p:txBody>
          <a:bodyPr/>
          <a:lstStyle/>
          <a:p>
            <a:fld id="{2F65BF41-557F-464F-A572-936F8C7D1291}" type="slidenum">
              <a:rPr lang="tr-TR" smtClean="0"/>
              <a:t>60</a:t>
            </a:fld>
            <a:endParaRPr lang="tr-TR"/>
          </a:p>
        </p:txBody>
      </p:sp>
    </p:spTree>
    <p:extLst>
      <p:ext uri="{BB962C8B-B14F-4D97-AF65-F5344CB8AC3E}">
        <p14:creationId xmlns:p14="http://schemas.microsoft.com/office/powerpoint/2010/main" val="23631211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exploit PRAC for an attack, we first need to verify if we can observe PRAC induced latencies</a:t>
            </a:r>
          </a:p>
          <a:p>
            <a:r>
              <a:rPr lang="en-US" dirty="0"/>
              <a:t>[CLICK] We test if an application can</a:t>
            </a:r>
          </a:p>
          <a:p>
            <a:r>
              <a:rPr lang="en-US" dirty="0"/>
              <a:t>[CLICK] intentionally trigger a PRAC back-off</a:t>
            </a:r>
          </a:p>
          <a:p>
            <a:r>
              <a:rPr lang="en-US" dirty="0"/>
              <a:t>[CLICK] and observe higher memory access latencies caused by it</a:t>
            </a:r>
          </a:p>
          <a:p>
            <a:endParaRPr lang="en-US" dirty="0"/>
          </a:p>
          <a:p>
            <a:r>
              <a:rPr lang="en-US" dirty="0"/>
              <a:t>To do so, we first</a:t>
            </a:r>
          </a:p>
          <a:p>
            <a:r>
              <a:rPr lang="en-US" dirty="0"/>
              <a:t>[CLICK] allocate pages in different rows of a DRAM bank to cause many row activations and increment their activation counts, lets say addresses A and B. </a:t>
            </a:r>
          </a:p>
          <a:p>
            <a:r>
              <a:rPr lang="en-US" dirty="0"/>
              <a:t>[CLICK] we then first flush address A from the cache hierarchy to ensure the next accesses to it would go to the main memory </a:t>
            </a:r>
          </a:p>
          <a:p>
            <a:r>
              <a:rPr lang="en-US" dirty="0"/>
              <a:t>And read address A and measure the access latency</a:t>
            </a:r>
          </a:p>
          <a:p>
            <a:endParaRPr lang="en-US" dirty="0"/>
          </a:p>
          <a:p>
            <a:r>
              <a:rPr lang="en-US" dirty="0"/>
              <a:t>[CLICK] We repeat this step for address B</a:t>
            </a:r>
          </a:p>
          <a:p>
            <a:endParaRPr lang="en-US" dirty="0"/>
          </a:p>
          <a:p>
            <a:r>
              <a:rPr lang="en-US" dirty="0"/>
              <a:t>[CLICK] since A and B are in the same bank, repeating these steps many times potentially activates both rows in an interleaved manner and increments their activation counts</a:t>
            </a:r>
          </a:p>
          <a:p>
            <a:endParaRPr lang="en-US" dirty="0"/>
          </a:p>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61</a:t>
            </a:fld>
            <a:endParaRPr lang="tr-TR"/>
          </a:p>
        </p:txBody>
      </p:sp>
    </p:spTree>
    <p:extLst>
      <p:ext uri="{BB962C8B-B14F-4D97-AF65-F5344CB8AC3E}">
        <p14:creationId xmlns:p14="http://schemas.microsoft.com/office/powerpoint/2010/main" val="7454637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let me show you the measured request latencies.</a:t>
            </a:r>
          </a:p>
          <a:p>
            <a:r>
              <a:rPr lang="en-US" dirty="0"/>
              <a:t>On the X axis we see a window of 512 memory requests. And on the y axis we have the measured memory request latencies</a:t>
            </a:r>
          </a:p>
          <a:p>
            <a:r>
              <a:rPr lang="en-US" dirty="0"/>
              <a:t>[CLICK] and these are the results</a:t>
            </a:r>
          </a:p>
          <a:p>
            <a:r>
              <a:rPr lang="en-US" dirty="0"/>
              <a:t>[CLICK] We split the measured access latencies empirically into three categories, from the highest to the lowest latency, we have </a:t>
            </a:r>
            <a:r>
              <a:rPr lang="en-US" dirty="0" err="1"/>
              <a:t>prac</a:t>
            </a:r>
            <a:r>
              <a:rPr lang="en-US" dirty="0"/>
              <a:t> back-off, periodic refresh and row buffer conflict latencies. </a:t>
            </a:r>
          </a:p>
          <a:p>
            <a:endParaRPr lang="en-US" dirty="0"/>
          </a:p>
          <a:p>
            <a:r>
              <a:rPr lang="en-US" dirty="0"/>
              <a:t>We observe that… </a:t>
            </a:r>
          </a:p>
        </p:txBody>
      </p:sp>
      <p:sp>
        <p:nvSpPr>
          <p:cNvPr id="4" name="Slide Number Placeholder 3"/>
          <p:cNvSpPr>
            <a:spLocks noGrp="1"/>
          </p:cNvSpPr>
          <p:nvPr>
            <p:ph type="sldNum" sz="quarter" idx="5"/>
          </p:nvPr>
        </p:nvSpPr>
        <p:spPr/>
        <p:txBody>
          <a:bodyPr/>
          <a:lstStyle/>
          <a:p>
            <a:fld id="{2F65BF41-557F-464F-A572-936F8C7D1291}" type="slidenum">
              <a:rPr lang="tr-TR" smtClean="0"/>
              <a:t>62</a:t>
            </a:fld>
            <a:endParaRPr lang="tr-TR"/>
          </a:p>
        </p:txBody>
      </p:sp>
    </p:spTree>
    <p:extLst>
      <p:ext uri="{BB962C8B-B14F-4D97-AF65-F5344CB8AC3E}">
        <p14:creationId xmlns:p14="http://schemas.microsoft.com/office/powerpoint/2010/main" val="13283208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can identify back-offs as the highest peaks in the figure</a:t>
            </a:r>
          </a:p>
          <a:p>
            <a:r>
              <a:rPr lang="en-US" dirty="0"/>
              <a:t>[CLICK] which is consistent with the specification and can be distinguished from regular memory requests</a:t>
            </a:r>
          </a:p>
          <a:p>
            <a:endParaRPr lang="en-US" dirty="0"/>
          </a:p>
          <a:p>
            <a:endParaRPr lang="en-US" dirty="0"/>
          </a:p>
          <a:p>
            <a:r>
              <a:rPr lang="en-US" dirty="0"/>
              <a:t>This experiment shows that PRAC creates a promising timing channel to build attacks.</a:t>
            </a:r>
          </a:p>
        </p:txBody>
      </p:sp>
      <p:sp>
        <p:nvSpPr>
          <p:cNvPr id="4" name="Slide Number Placeholder 3"/>
          <p:cNvSpPr>
            <a:spLocks noGrp="1"/>
          </p:cNvSpPr>
          <p:nvPr>
            <p:ph type="sldNum" sz="quarter" idx="5"/>
          </p:nvPr>
        </p:nvSpPr>
        <p:spPr/>
        <p:txBody>
          <a:bodyPr/>
          <a:lstStyle/>
          <a:p>
            <a:fld id="{2F65BF41-557F-464F-A572-936F8C7D1291}" type="slidenum">
              <a:rPr lang="tr-TR" smtClean="0"/>
              <a:t>63</a:t>
            </a:fld>
            <a:endParaRPr lang="tr-TR"/>
          </a:p>
        </p:txBody>
      </p:sp>
    </p:spTree>
    <p:extLst>
      <p:ext uri="{BB962C8B-B14F-4D97-AF65-F5344CB8AC3E}">
        <p14:creationId xmlns:p14="http://schemas.microsoft.com/office/powerpoint/2010/main" val="27442315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an overview of the covert channel attack</a:t>
            </a:r>
          </a:p>
          <a:p>
            <a:endParaRPr lang="en-US" dirty="0"/>
          </a:p>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64</a:t>
            </a:fld>
            <a:endParaRPr lang="tr-TR"/>
          </a:p>
        </p:txBody>
      </p:sp>
    </p:spTree>
    <p:extLst>
      <p:ext uri="{BB962C8B-B14F-4D97-AF65-F5344CB8AC3E}">
        <p14:creationId xmlns:p14="http://schemas.microsoft.com/office/powerpoint/2010/main" val="28549851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B7599-FA86-81D1-938A-09DD79BD1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5CF53-C277-B16E-A4D3-2813C8840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80EC3-4EC5-44BF-F65B-D0647A945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711A7B-4E05-9BE0-6534-C5901699D05C}"/>
              </a:ext>
            </a:extLst>
          </p:cNvPr>
          <p:cNvSpPr>
            <a:spLocks noGrp="1"/>
          </p:cNvSpPr>
          <p:nvPr>
            <p:ph type="sldNum" sz="quarter" idx="5"/>
          </p:nvPr>
        </p:nvSpPr>
        <p:spPr/>
        <p:txBody>
          <a:bodyPr/>
          <a:lstStyle/>
          <a:p>
            <a:fld id="{2F65BF41-557F-464F-A572-936F8C7D1291}" type="slidenum">
              <a:rPr lang="tr-TR" smtClean="0"/>
              <a:t>65</a:t>
            </a:fld>
            <a:endParaRPr lang="tr-TR"/>
          </a:p>
        </p:txBody>
      </p:sp>
    </p:spTree>
    <p:extLst>
      <p:ext uri="{BB962C8B-B14F-4D97-AF65-F5344CB8AC3E}">
        <p14:creationId xmlns:p14="http://schemas.microsoft.com/office/powerpoint/2010/main" val="40960238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A1EC-DB17-1FA9-50F2-A8FFBCA48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EAB84-2C71-F862-D2F3-A3AD05BA8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770ED-FF1C-48FF-5F18-6C3DA4B0A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651AC-81D9-518F-51FD-BDF9E1867CAE}"/>
              </a:ext>
            </a:extLst>
          </p:cNvPr>
          <p:cNvSpPr>
            <a:spLocks noGrp="1"/>
          </p:cNvSpPr>
          <p:nvPr>
            <p:ph type="sldNum" sz="quarter" idx="5"/>
          </p:nvPr>
        </p:nvSpPr>
        <p:spPr/>
        <p:txBody>
          <a:bodyPr/>
          <a:lstStyle/>
          <a:p>
            <a:fld id="{2F65BF41-557F-464F-A572-936F8C7D1291}" type="slidenum">
              <a:rPr lang="tr-TR" smtClean="0"/>
              <a:t>66</a:t>
            </a:fld>
            <a:endParaRPr lang="tr-TR"/>
          </a:p>
        </p:txBody>
      </p:sp>
    </p:spTree>
    <p:extLst>
      <p:ext uri="{BB962C8B-B14F-4D97-AF65-F5344CB8AC3E}">
        <p14:creationId xmlns:p14="http://schemas.microsoft.com/office/powerpoint/2010/main" val="20946543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B8A90-FA28-56BD-83F8-02BBF4CFF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2CE96-BAFD-936D-5320-446EEAF61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AB737-7380-CBA8-5A22-466AE33799CE}"/>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16474CFE-C8B2-609F-35D7-0BBF009ED602}"/>
              </a:ext>
            </a:extLst>
          </p:cNvPr>
          <p:cNvSpPr>
            <a:spLocks noGrp="1"/>
          </p:cNvSpPr>
          <p:nvPr>
            <p:ph type="sldNum" sz="quarter" idx="5"/>
          </p:nvPr>
        </p:nvSpPr>
        <p:spPr/>
        <p:txBody>
          <a:bodyPr/>
          <a:lstStyle/>
          <a:p>
            <a:fld id="{2F65BF41-557F-464F-A572-936F8C7D1291}" type="slidenum">
              <a:rPr lang="tr-TR" smtClean="0"/>
              <a:t>67</a:t>
            </a:fld>
            <a:endParaRPr lang="tr-TR"/>
          </a:p>
        </p:txBody>
      </p:sp>
    </p:spTree>
    <p:extLst>
      <p:ext uri="{BB962C8B-B14F-4D97-AF65-F5344CB8AC3E}">
        <p14:creationId xmlns:p14="http://schemas.microsoft.com/office/powerpoint/2010/main" val="9894387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j-lt"/>
              </a:rPr>
              <a:t>When transmitting 1, the receiver detects a back-off after </a:t>
            </a:r>
            <a:r>
              <a:rPr lang="en-US" sz="1200" i="1" dirty="0">
                <a:solidFill>
                  <a:schemeClr val="tx1"/>
                </a:solidFill>
                <a:latin typeface="+mj-lt"/>
              </a:rPr>
              <a:t>N</a:t>
            </a:r>
            <a:r>
              <a:rPr lang="en-US" sz="1200" i="1" baseline="-25000" dirty="0">
                <a:solidFill>
                  <a:schemeClr val="tx1"/>
                </a:solidFill>
                <a:latin typeface="+mj-lt"/>
              </a:rPr>
              <a:t>BO</a:t>
            </a:r>
            <a:r>
              <a:rPr lang="en-US" sz="1200" dirty="0">
                <a:solidFill>
                  <a:schemeClr val="tx1"/>
                </a:solidFill>
                <a:latin typeface="+mj-lt"/>
              </a:rPr>
              <a:t> memory accesses, on average</a:t>
            </a:r>
            <a:endParaRPr lang="en-US" sz="1200" b="1" dirty="0">
              <a:solidFill>
                <a:schemeClr val="tx1"/>
              </a:solidFill>
              <a:latin typeface="+mj-lt"/>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68</a:t>
            </a:fld>
            <a:endParaRPr lang="tr-TR"/>
          </a:p>
        </p:txBody>
      </p:sp>
    </p:spTree>
    <p:extLst>
      <p:ext uri="{BB962C8B-B14F-4D97-AF65-F5344CB8AC3E}">
        <p14:creationId xmlns:p14="http://schemas.microsoft.com/office/powerpoint/2010/main" val="17907674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69</a:t>
            </a:fld>
            <a:endParaRPr lang="tr-TR"/>
          </a:p>
        </p:txBody>
      </p:sp>
    </p:spTree>
    <p:extLst>
      <p:ext uri="{BB962C8B-B14F-4D97-AF65-F5344CB8AC3E}">
        <p14:creationId xmlns:p14="http://schemas.microsoft.com/office/powerpoint/2010/main" val="17098267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We also have a covert channel with RFM but </a:t>
            </a:r>
            <a:r>
              <a:rPr lang="en-US" dirty="0" err="1"/>
              <a:t>Im</a:t>
            </a:r>
            <a:r>
              <a:rPr lang="en-US" dirty="0"/>
              <a:t> not </a:t>
            </a:r>
            <a:r>
              <a:rPr lang="en-US" dirty="0" err="1"/>
              <a:t>gonna</a:t>
            </a:r>
            <a:r>
              <a:rPr lang="en-US" dirty="0"/>
              <a:t> talk about it </a:t>
            </a:r>
          </a:p>
        </p:txBody>
      </p:sp>
      <p:sp>
        <p:nvSpPr>
          <p:cNvPr id="4" name="Slide Number Placeholder 3"/>
          <p:cNvSpPr>
            <a:spLocks noGrp="1"/>
          </p:cNvSpPr>
          <p:nvPr>
            <p:ph type="sldNum" sz="quarter" idx="5"/>
          </p:nvPr>
        </p:nvSpPr>
        <p:spPr/>
        <p:txBody>
          <a:bodyPr/>
          <a:lstStyle/>
          <a:p>
            <a:fld id="{2F65BF41-557F-464F-A572-936F8C7D1291}" type="slidenum">
              <a:rPr lang="tr-TR" smtClean="0"/>
              <a:t>71</a:t>
            </a:fld>
            <a:endParaRPr lang="tr-TR"/>
          </a:p>
        </p:txBody>
      </p:sp>
    </p:spTree>
    <p:extLst>
      <p:ext uri="{BB962C8B-B14F-4D97-AF65-F5344CB8AC3E}">
        <p14:creationId xmlns:p14="http://schemas.microsoft.com/office/powerpoint/2010/main" val="39180794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74</a:t>
            </a:fld>
            <a:endParaRPr lang="tr-TR"/>
          </a:p>
        </p:txBody>
      </p:sp>
    </p:spTree>
    <p:extLst>
      <p:ext uri="{BB962C8B-B14F-4D97-AF65-F5344CB8AC3E}">
        <p14:creationId xmlns:p14="http://schemas.microsoft.com/office/powerpoint/2010/main" val="31911318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bad</a:t>
            </a:r>
          </a:p>
        </p:txBody>
      </p:sp>
      <p:sp>
        <p:nvSpPr>
          <p:cNvPr id="4" name="Slide Number Placeholder 3"/>
          <p:cNvSpPr>
            <a:spLocks noGrp="1"/>
          </p:cNvSpPr>
          <p:nvPr>
            <p:ph type="sldNum" sz="quarter" idx="5"/>
          </p:nvPr>
        </p:nvSpPr>
        <p:spPr/>
        <p:txBody>
          <a:bodyPr/>
          <a:lstStyle/>
          <a:p>
            <a:fld id="{2F65BF41-557F-464F-A572-936F8C7D1291}" type="slidenum">
              <a:rPr lang="tr-TR" smtClean="0"/>
              <a:t>75</a:t>
            </a:fld>
            <a:endParaRPr lang="tr-TR"/>
          </a:p>
        </p:txBody>
      </p:sp>
    </p:spTree>
    <p:extLst>
      <p:ext uri="{BB962C8B-B14F-4D97-AF65-F5344CB8AC3E}">
        <p14:creationId xmlns:p14="http://schemas.microsoft.com/office/powerpoint/2010/main" val="1681522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65DC1-333F-6967-FB45-09BEAD808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8B32F-5AC6-3154-3EF9-7B4349899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DB0B2-0968-0BFC-0B42-AEAD14FAF2B2}"/>
              </a:ext>
            </a:extLst>
          </p:cNvPr>
          <p:cNvSpPr>
            <a:spLocks noGrp="1"/>
          </p:cNvSpPr>
          <p:nvPr>
            <p:ph type="body" idx="1"/>
          </p:nvPr>
        </p:nvSpPr>
        <p:spPr/>
        <p:txBody>
          <a:bodyPr/>
          <a:lstStyle/>
          <a:p>
            <a:r>
              <a:rPr lang="en-US" dirty="0"/>
              <a:t>Yellow bad</a:t>
            </a:r>
          </a:p>
        </p:txBody>
      </p:sp>
      <p:sp>
        <p:nvSpPr>
          <p:cNvPr id="4" name="Slide Number Placeholder 3">
            <a:extLst>
              <a:ext uri="{FF2B5EF4-FFF2-40B4-BE49-F238E27FC236}">
                <a16:creationId xmlns:a16="http://schemas.microsoft.com/office/drawing/2014/main" id="{A1E11EF8-02FA-F3BA-86AF-4422FB014248}"/>
              </a:ext>
            </a:extLst>
          </p:cNvPr>
          <p:cNvSpPr>
            <a:spLocks noGrp="1"/>
          </p:cNvSpPr>
          <p:nvPr>
            <p:ph type="sldNum" sz="quarter" idx="5"/>
          </p:nvPr>
        </p:nvSpPr>
        <p:spPr/>
        <p:txBody>
          <a:bodyPr/>
          <a:lstStyle/>
          <a:p>
            <a:fld id="{2F65BF41-557F-464F-A572-936F8C7D1291}" type="slidenum">
              <a:rPr lang="tr-TR" smtClean="0"/>
              <a:t>76</a:t>
            </a:fld>
            <a:endParaRPr lang="tr-TR"/>
          </a:p>
        </p:txBody>
      </p:sp>
    </p:spTree>
    <p:extLst>
      <p:ext uri="{BB962C8B-B14F-4D97-AF65-F5344CB8AC3E}">
        <p14:creationId xmlns:p14="http://schemas.microsoft.com/office/powerpoint/2010/main" val="32659497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E1D8-C4C4-80DE-97FB-0D14B6A2F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533DB-7A16-EDE9-DF3E-1A59477C6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D73AD-DCA0-9BC9-C980-7C372D3E7970}"/>
              </a:ext>
            </a:extLst>
          </p:cNvPr>
          <p:cNvSpPr>
            <a:spLocks noGrp="1"/>
          </p:cNvSpPr>
          <p:nvPr>
            <p:ph type="body" idx="1"/>
          </p:nvPr>
        </p:nvSpPr>
        <p:spPr/>
        <p:txBody>
          <a:bodyPr/>
          <a:lstStyle/>
          <a:p>
            <a:r>
              <a:rPr lang="en-US" dirty="0"/>
              <a:t>Yellow bad</a:t>
            </a:r>
          </a:p>
        </p:txBody>
      </p:sp>
      <p:sp>
        <p:nvSpPr>
          <p:cNvPr id="4" name="Slide Number Placeholder 3">
            <a:extLst>
              <a:ext uri="{FF2B5EF4-FFF2-40B4-BE49-F238E27FC236}">
                <a16:creationId xmlns:a16="http://schemas.microsoft.com/office/drawing/2014/main" id="{3E2E830B-897F-A890-0017-F833E8170022}"/>
              </a:ext>
            </a:extLst>
          </p:cNvPr>
          <p:cNvSpPr>
            <a:spLocks noGrp="1"/>
          </p:cNvSpPr>
          <p:nvPr>
            <p:ph type="sldNum" sz="quarter" idx="5"/>
          </p:nvPr>
        </p:nvSpPr>
        <p:spPr/>
        <p:txBody>
          <a:bodyPr/>
          <a:lstStyle/>
          <a:p>
            <a:fld id="{2F65BF41-557F-464F-A572-936F8C7D1291}" type="slidenum">
              <a:rPr lang="tr-TR" smtClean="0"/>
              <a:t>77</a:t>
            </a:fld>
            <a:endParaRPr lang="tr-TR"/>
          </a:p>
        </p:txBody>
      </p:sp>
    </p:spTree>
    <p:extLst>
      <p:ext uri="{BB962C8B-B14F-4D97-AF65-F5344CB8AC3E}">
        <p14:creationId xmlns:p14="http://schemas.microsoft.com/office/powerpoint/2010/main" val="4037539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78</a:t>
            </a:fld>
            <a:endParaRPr lang="tr-TR"/>
          </a:p>
        </p:txBody>
      </p:sp>
    </p:spTree>
    <p:extLst>
      <p:ext uri="{BB962C8B-B14F-4D97-AF65-F5344CB8AC3E}">
        <p14:creationId xmlns:p14="http://schemas.microsoft.com/office/powerpoint/2010/main" val="35968138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79</a:t>
            </a:fld>
            <a:endParaRPr lang="tr-TR"/>
          </a:p>
        </p:txBody>
      </p:sp>
    </p:spTree>
    <p:extLst>
      <p:ext uri="{BB962C8B-B14F-4D97-AF65-F5344CB8AC3E}">
        <p14:creationId xmlns:p14="http://schemas.microsoft.com/office/powerpoint/2010/main" val="27840713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We showed that </a:t>
            </a:r>
            <a:r>
              <a:rPr lang="en-GB" sz="1200" b="0" i="0" u="none" strike="noStrike" kern="1200" dirty="0" err="1">
                <a:solidFill>
                  <a:schemeClr val="tx1"/>
                </a:solidFill>
                <a:effectLst/>
                <a:latin typeface="+mn-lt"/>
                <a:ea typeface="+mn-ea"/>
                <a:cs typeface="+mn-cs"/>
              </a:rPr>
              <a:t>LeakyHammer</a:t>
            </a:r>
            <a:r>
              <a:rPr lang="en-GB" sz="1200" b="0" i="0" u="none" strike="noStrike" kern="1200" dirty="0">
                <a:solidFill>
                  <a:schemeClr val="tx1"/>
                </a:solidFill>
                <a:effectLst/>
                <a:latin typeface="+mn-lt"/>
                <a:ea typeface="+mn-ea"/>
                <a:cs typeface="+mn-cs"/>
              </a:rPr>
              <a:t> can have significant implications on system security and now lets discuss how to mitigate it</a:t>
            </a:r>
            <a:endParaRPr lang="en-GB" dirty="0">
              <a:effectLst/>
            </a:endParaRPr>
          </a:p>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80</a:t>
            </a:fld>
            <a:endParaRPr lang="tr-TR"/>
          </a:p>
        </p:txBody>
      </p:sp>
    </p:spTree>
    <p:extLst>
      <p:ext uri="{BB962C8B-B14F-4D97-AF65-F5344CB8AC3E}">
        <p14:creationId xmlns:p14="http://schemas.microsoft.com/office/powerpoint/2010/main" val="28918755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81</a:t>
            </a:fld>
            <a:endParaRPr lang="tr-TR"/>
          </a:p>
        </p:txBody>
      </p:sp>
    </p:spTree>
    <p:extLst>
      <p:ext uri="{BB962C8B-B14F-4D97-AF65-F5344CB8AC3E}">
        <p14:creationId xmlns:p14="http://schemas.microsoft.com/office/powerpoint/2010/main" val="33868788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82</a:t>
            </a:fld>
            <a:endParaRPr lang="tr-TR"/>
          </a:p>
        </p:txBody>
      </p:sp>
    </p:spTree>
    <p:extLst>
      <p:ext uri="{BB962C8B-B14F-4D97-AF65-F5344CB8AC3E}">
        <p14:creationId xmlns:p14="http://schemas.microsoft.com/office/powerpoint/2010/main" val="23089954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65BF41-557F-464F-A572-936F8C7D1291}" type="slidenum">
              <a:rPr lang="tr-TR" smtClean="0"/>
              <a:t>83</a:t>
            </a:fld>
            <a:endParaRPr lang="tr-TR"/>
          </a:p>
        </p:txBody>
      </p:sp>
    </p:spTree>
    <p:extLst>
      <p:ext uri="{BB962C8B-B14F-4D97-AF65-F5344CB8AC3E}">
        <p14:creationId xmlns:p14="http://schemas.microsoft.com/office/powerpoint/2010/main" val="10599202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C193-4F05-AAE3-AEBE-9521554B2D8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65F88BA-0FEF-FE9D-E5E4-4D38EE153AA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703666D-2C09-8FD7-8497-96F56E5021F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6EAC611-323F-DFA3-A867-2A4B826B1F54}"/>
              </a:ext>
            </a:extLst>
          </p:cNvPr>
          <p:cNvSpPr>
            <a:spLocks noGrp="1"/>
          </p:cNvSpPr>
          <p:nvPr>
            <p:ph type="sldNum" sz="quarter" idx="5"/>
          </p:nvPr>
        </p:nvSpPr>
        <p:spPr/>
        <p:txBody>
          <a:bodyPr/>
          <a:lstStyle/>
          <a:p>
            <a:fld id="{2F65BF41-557F-464F-A572-936F8C7D1291}" type="slidenum">
              <a:rPr lang="tr-TR" smtClean="0"/>
              <a:t>86</a:t>
            </a:fld>
            <a:endParaRPr lang="tr-TR"/>
          </a:p>
        </p:txBody>
      </p:sp>
    </p:spTree>
    <p:extLst>
      <p:ext uri="{BB962C8B-B14F-4D97-AF65-F5344CB8AC3E}">
        <p14:creationId xmlns:p14="http://schemas.microsoft.com/office/powerpoint/2010/main" val="21888900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5F00-C3D1-CD6F-988C-3242A99E0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9C4D2-64D8-8062-E856-485F8C6B2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5991C-A17A-1523-8205-57ED337F627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Hi everyone, I am Nisa, and I will be</a:t>
            </a:r>
          </a:p>
        </p:txBody>
      </p:sp>
      <p:sp>
        <p:nvSpPr>
          <p:cNvPr id="4" name="Slide Number Placeholder 3">
            <a:extLst>
              <a:ext uri="{FF2B5EF4-FFF2-40B4-BE49-F238E27FC236}">
                <a16:creationId xmlns:a16="http://schemas.microsoft.com/office/drawing/2014/main" id="{E958542B-5B49-2EB5-3932-44D687A27DB8}"/>
              </a:ext>
            </a:extLst>
          </p:cNvPr>
          <p:cNvSpPr>
            <a:spLocks noGrp="1"/>
          </p:cNvSpPr>
          <p:nvPr>
            <p:ph type="sldNum" sz="quarter" idx="10"/>
          </p:nvPr>
        </p:nvSpPr>
        <p:spPr/>
        <p:txBody>
          <a:bodyPr/>
          <a:lstStyle/>
          <a:p>
            <a:fld id="{EF7F79D3-8C36-4CB5-B03B-F440DA7B71AF}" type="slidenum">
              <a:rPr lang="en-US" smtClean="0"/>
              <a:t>87</a:t>
            </a:fld>
            <a:endParaRPr lang="en-US"/>
          </a:p>
        </p:txBody>
      </p:sp>
    </p:spTree>
    <p:extLst>
      <p:ext uri="{BB962C8B-B14F-4D97-AF65-F5344CB8AC3E}">
        <p14:creationId xmlns:p14="http://schemas.microsoft.com/office/powerpoint/2010/main" val="2180783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CEBB3-2FDA-9FD6-E7A4-B03B70ACC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A4CDB-4E58-B1E5-F911-BE0963709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7DCF6-E199-132F-ACF1-62D792E7CD3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a:p>
        </p:txBody>
      </p:sp>
      <p:sp>
        <p:nvSpPr>
          <p:cNvPr id="4" name="Slide Number Placeholder 3">
            <a:extLst>
              <a:ext uri="{FF2B5EF4-FFF2-40B4-BE49-F238E27FC236}">
                <a16:creationId xmlns:a16="http://schemas.microsoft.com/office/drawing/2014/main" id="{3B7C4E5A-346F-D8E4-A122-E4975F38871B}"/>
              </a:ext>
            </a:extLst>
          </p:cNvPr>
          <p:cNvSpPr>
            <a:spLocks noGrp="1"/>
          </p:cNvSpPr>
          <p:nvPr>
            <p:ph type="sldNum" sz="quarter" idx="10"/>
          </p:nvPr>
        </p:nvSpPr>
        <p:spPr/>
        <p:txBody>
          <a:bodyPr/>
          <a:lstStyle/>
          <a:p>
            <a:fld id="{EF7F79D3-8C36-4CB5-B03B-F440DA7B71AF}" type="slidenum">
              <a:rPr lang="en-US" smtClean="0"/>
              <a:t>88</a:t>
            </a:fld>
            <a:endParaRPr lang="en-US"/>
          </a:p>
        </p:txBody>
      </p:sp>
    </p:spTree>
    <p:extLst>
      <p:ext uri="{BB962C8B-B14F-4D97-AF65-F5344CB8AC3E}">
        <p14:creationId xmlns:p14="http://schemas.microsoft.com/office/powerpoint/2010/main" val="28794924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4653E-F5DC-E537-69F0-48A6B22B1C2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253CB62-E8B0-1579-FD45-DCD112BBD23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99F6A3C-91D5-1942-2752-D7D581C10B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ayt Numarası Yer Tutucusu 3">
            <a:extLst>
              <a:ext uri="{FF2B5EF4-FFF2-40B4-BE49-F238E27FC236}">
                <a16:creationId xmlns:a16="http://schemas.microsoft.com/office/drawing/2014/main" id="{69A3E179-7354-425F-F84C-EC0A0DA33CD8}"/>
              </a:ext>
            </a:extLst>
          </p:cNvPr>
          <p:cNvSpPr>
            <a:spLocks noGrp="1"/>
          </p:cNvSpPr>
          <p:nvPr>
            <p:ph type="sldNum" sz="quarter" idx="5"/>
          </p:nvPr>
        </p:nvSpPr>
        <p:spPr/>
        <p:txBody>
          <a:bodyPr/>
          <a:lstStyle/>
          <a:p>
            <a:fld id="{BC575381-7527-4E0E-A355-7550D954D08C}" type="slidenum">
              <a:rPr lang="tr-TR" smtClean="0"/>
              <a:t>93</a:t>
            </a:fld>
            <a:endParaRPr lang="tr-TR"/>
          </a:p>
        </p:txBody>
      </p:sp>
    </p:spTree>
    <p:extLst>
      <p:ext uri="{BB962C8B-B14F-4D97-AF65-F5344CB8AC3E}">
        <p14:creationId xmlns:p14="http://schemas.microsoft.com/office/powerpoint/2010/main" val="7883480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9E72-09C7-4F86-BA9E-069B12A81C9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9D5A27C-60A1-2FC4-71DD-93748EA2D76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45DADB9-0846-BCED-F6FC-4AEE98E1A4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ayt Numarası Yer Tutucusu 3">
            <a:extLst>
              <a:ext uri="{FF2B5EF4-FFF2-40B4-BE49-F238E27FC236}">
                <a16:creationId xmlns:a16="http://schemas.microsoft.com/office/drawing/2014/main" id="{8FEE137A-6E6D-90AA-9464-73629CDC143C}"/>
              </a:ext>
            </a:extLst>
          </p:cNvPr>
          <p:cNvSpPr>
            <a:spLocks noGrp="1"/>
          </p:cNvSpPr>
          <p:nvPr>
            <p:ph type="sldNum" sz="quarter" idx="5"/>
          </p:nvPr>
        </p:nvSpPr>
        <p:spPr/>
        <p:txBody>
          <a:bodyPr/>
          <a:lstStyle/>
          <a:p>
            <a:fld id="{BC575381-7527-4E0E-A355-7550D954D08C}" type="slidenum">
              <a:rPr lang="tr-TR" smtClean="0"/>
              <a:t>94</a:t>
            </a:fld>
            <a:endParaRPr lang="tr-TR"/>
          </a:p>
        </p:txBody>
      </p:sp>
    </p:spTree>
    <p:extLst>
      <p:ext uri="{BB962C8B-B14F-4D97-AF65-F5344CB8AC3E}">
        <p14:creationId xmlns:p14="http://schemas.microsoft.com/office/powerpoint/2010/main" val="24922013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E4F03-9ECE-A53F-E0B4-AEB9CFF31E7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DF8B535-72E4-85DF-97F2-740546DD600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554419F-BC66-5C74-EFA6-B3DA55B3C4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Add screenshot, reduce information</a:t>
            </a:r>
            <a:br>
              <a:rPr lang="en-US" b="0" dirty="0"/>
            </a:br>
            <a:r>
              <a:rPr lang="en-US" b="0" dirty="0"/>
              <a:t>and font sizes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0" dirty="0"/>
            </a:br>
            <a:br>
              <a:rPr lang="en-US" b="0" dirty="0"/>
            </a:br>
            <a:r>
              <a:rPr lang="en-US" b="0" dirty="0"/>
              <a:t>We take this opportunity to introduce </a:t>
            </a:r>
            <a:r>
              <a:rPr lang="en-US" b="0" dirty="0" err="1"/>
              <a:t>ramulator</a:t>
            </a:r>
            <a:r>
              <a:rPr lang="en-US" b="0" dirty="0"/>
              <a:t> 2.1, which is a major overhaul of </a:t>
            </a:r>
            <a:r>
              <a:rPr lang="en-US" b="0" dirty="0" err="1"/>
              <a:t>Ramulator</a:t>
            </a:r>
            <a:r>
              <a:rPr lang="en-US" b="0" dirty="0"/>
              <a:t> 2.0</a:t>
            </a:r>
            <a:br>
              <a:rPr lang="en-US" b="0" dirty="0"/>
            </a:br>
            <a:r>
              <a:rPr lang="en-US" b="0" dirty="0"/>
              <a:t>..</a:t>
            </a:r>
            <a:br>
              <a:rPr lang="en-US" b="0" dirty="0"/>
            </a:b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And if you want to learn more about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You can come to our workshops in ICS and ISCA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And advertise proceedings</a:t>
            </a:r>
            <a:br>
              <a:rPr lang="en-US" b="0" dirty="0"/>
            </a:br>
            <a:br>
              <a:rPr lang="en-US" b="0" dirty="0"/>
            </a:br>
            <a:r>
              <a:rPr lang="en-US" b="0" dirty="0"/>
              <a:t>can be a separate slide for workshops?</a:t>
            </a:r>
            <a:br>
              <a:rPr lang="en-US" b="0" dirty="0"/>
            </a:br>
            <a:br>
              <a:rPr lang="en-US" b="0" dirty="0"/>
            </a:br>
            <a:r>
              <a:rPr lang="en-US" b="0" dirty="0"/>
              <a:t>A lot of info in points, might not be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ayt Numarası Yer Tutucusu 3">
            <a:extLst>
              <a:ext uri="{FF2B5EF4-FFF2-40B4-BE49-F238E27FC236}">
                <a16:creationId xmlns:a16="http://schemas.microsoft.com/office/drawing/2014/main" id="{C3FE6E09-97E6-4868-DCC8-C24C2CF41FC8}"/>
              </a:ext>
            </a:extLst>
          </p:cNvPr>
          <p:cNvSpPr>
            <a:spLocks noGrp="1"/>
          </p:cNvSpPr>
          <p:nvPr>
            <p:ph type="sldNum" sz="quarter" idx="5"/>
          </p:nvPr>
        </p:nvSpPr>
        <p:spPr/>
        <p:txBody>
          <a:bodyPr/>
          <a:lstStyle/>
          <a:p>
            <a:fld id="{BC575381-7527-4E0E-A355-7550D954D08C}" type="slidenum">
              <a:rPr lang="tr-TR" smtClean="0"/>
              <a:t>95</a:t>
            </a:fld>
            <a:endParaRPr lang="tr-TR"/>
          </a:p>
        </p:txBody>
      </p:sp>
    </p:spTree>
    <p:extLst>
      <p:ext uri="{BB962C8B-B14F-4D97-AF65-F5344CB8AC3E}">
        <p14:creationId xmlns:p14="http://schemas.microsoft.com/office/powerpoint/2010/main" val="146651897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16104-E478-8955-D98E-A1F163F0D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C5873-50D8-D1D6-3351-11C3B3B87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241E8-4EFA-5F9B-9F9E-E28AD2724E4D}"/>
              </a:ext>
            </a:extLst>
          </p:cNvPr>
          <p:cNvSpPr>
            <a:spLocks noGrp="1"/>
          </p:cNvSpPr>
          <p:nvPr>
            <p:ph type="body" idx="1"/>
          </p:nvPr>
        </p:nvSpPr>
        <p:spPr/>
        <p:txBody>
          <a:bodyPr/>
          <a:lstStyle/>
          <a:p>
            <a:r>
              <a:rPr lang="en-US" err="1">
                <a:ea typeface="Calibri"/>
                <a:cs typeface="Calibri"/>
              </a:rPr>
              <a:t>Ramulator</a:t>
            </a:r>
            <a:r>
              <a:rPr lang="en-US">
                <a:ea typeface="Calibri"/>
                <a:cs typeface="Calibri"/>
              </a:rPr>
              <a:t> 2.0 results show around half the used bandwidth of real system measurements, as it has half the number of channels.</a:t>
            </a:r>
          </a:p>
          <a:p>
            <a:endParaRPr lang="en-US">
              <a:ea typeface="Calibri"/>
              <a:cs typeface="Calibri"/>
            </a:endParaRPr>
          </a:p>
          <a:p>
            <a:r>
              <a:rPr lang="en-US">
                <a:ea typeface="Calibri"/>
                <a:cs typeface="Calibri"/>
              </a:rPr>
              <a:t>We identify that this is because, the mess paper incorrectly assumes a DDR5 channel in </a:t>
            </a:r>
            <a:r>
              <a:rPr lang="en-US" err="1">
                <a:ea typeface="Calibri"/>
                <a:cs typeface="Calibri"/>
              </a:rPr>
              <a:t>Ramulator</a:t>
            </a:r>
            <a:r>
              <a:rPr lang="en-US">
                <a:ea typeface="Calibri"/>
                <a:cs typeface="Calibri"/>
              </a:rPr>
              <a:t> 2 is 64 bits wide</a:t>
            </a:r>
          </a:p>
          <a:p>
            <a:r>
              <a:rPr lang="en-US">
                <a:ea typeface="Calibri"/>
                <a:cs typeface="Calibri"/>
              </a:rPr>
              <a:t>Whereas the implementation clearly states a channel as 32 bits wide, which is the consistent value with the JEDEC DDR5 standards</a:t>
            </a:r>
          </a:p>
          <a:p>
            <a:endParaRPr lang="en-US">
              <a:ea typeface="Calibri"/>
              <a:cs typeface="Calibri"/>
            </a:endParaRPr>
          </a:p>
        </p:txBody>
      </p:sp>
      <p:sp>
        <p:nvSpPr>
          <p:cNvPr id="4" name="Slide Number Placeholder 3">
            <a:extLst>
              <a:ext uri="{FF2B5EF4-FFF2-40B4-BE49-F238E27FC236}">
                <a16:creationId xmlns:a16="http://schemas.microsoft.com/office/drawing/2014/main" id="{D8CE64DE-4911-882A-2047-FE0D632F9A23}"/>
              </a:ext>
            </a:extLst>
          </p:cNvPr>
          <p:cNvSpPr>
            <a:spLocks noGrp="1"/>
          </p:cNvSpPr>
          <p:nvPr>
            <p:ph type="sldNum" sz="quarter" idx="5"/>
          </p:nvPr>
        </p:nvSpPr>
        <p:spPr/>
        <p:txBody>
          <a:bodyPr/>
          <a:lstStyle/>
          <a:p>
            <a:fld id="{2F65BF41-557F-464F-A572-936F8C7D1291}" type="slidenum">
              <a:rPr lang="tr-TR" smtClean="0"/>
              <a:t>96</a:t>
            </a:fld>
            <a:endParaRPr lang="tr-TR"/>
          </a:p>
        </p:txBody>
      </p:sp>
    </p:spTree>
    <p:extLst>
      <p:ext uri="{BB962C8B-B14F-4D97-AF65-F5344CB8AC3E}">
        <p14:creationId xmlns:p14="http://schemas.microsoft.com/office/powerpoint/2010/main" val="8608353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2939F-86FB-96C8-EEAE-DD54E8A5E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389F4-2A33-D13D-44E9-DBD5E4819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F363C-0E31-F26C-F705-75D80683B23A}"/>
              </a:ext>
            </a:extLst>
          </p:cNvPr>
          <p:cNvSpPr>
            <a:spLocks noGrp="1"/>
          </p:cNvSpPr>
          <p:nvPr>
            <p:ph type="body" idx="1"/>
          </p:nvPr>
        </p:nvSpPr>
        <p:spPr/>
        <p:txBody>
          <a:bodyPr/>
          <a:lstStyle/>
          <a:p>
            <a:r>
              <a:rPr lang="en-US">
                <a:ea typeface="Calibri"/>
                <a:cs typeface="Calibri"/>
              </a:rPr>
              <a:t>Because of this configuration error, the mess paper configures </a:t>
            </a:r>
            <a:r>
              <a:rPr lang="en-US" err="1">
                <a:ea typeface="Calibri"/>
                <a:cs typeface="Calibri"/>
              </a:rPr>
              <a:t>Ramulator</a:t>
            </a:r>
            <a:r>
              <a:rPr lang="en-US">
                <a:ea typeface="Calibri"/>
                <a:cs typeface="Calibri"/>
              </a:rPr>
              <a:t> 2 with half the channels of a real system and thus results in smaller used bandwidth</a:t>
            </a:r>
          </a:p>
        </p:txBody>
      </p:sp>
      <p:sp>
        <p:nvSpPr>
          <p:cNvPr id="4" name="Slide Number Placeholder 3">
            <a:extLst>
              <a:ext uri="{FF2B5EF4-FFF2-40B4-BE49-F238E27FC236}">
                <a16:creationId xmlns:a16="http://schemas.microsoft.com/office/drawing/2014/main" id="{B767854E-2B0C-E52C-BC6F-9713064B1CC4}"/>
              </a:ext>
            </a:extLst>
          </p:cNvPr>
          <p:cNvSpPr>
            <a:spLocks noGrp="1"/>
          </p:cNvSpPr>
          <p:nvPr>
            <p:ph type="sldNum" sz="quarter" idx="5"/>
          </p:nvPr>
        </p:nvSpPr>
        <p:spPr/>
        <p:txBody>
          <a:bodyPr/>
          <a:lstStyle/>
          <a:p>
            <a:fld id="{2F65BF41-557F-464F-A572-936F8C7D1291}" type="slidenum">
              <a:rPr lang="tr-TR" smtClean="0"/>
              <a:t>97</a:t>
            </a:fld>
            <a:endParaRPr lang="tr-TR"/>
          </a:p>
        </p:txBody>
      </p:sp>
    </p:spTree>
    <p:extLst>
      <p:ext uri="{BB962C8B-B14F-4D97-AF65-F5344CB8AC3E}">
        <p14:creationId xmlns:p14="http://schemas.microsoft.com/office/powerpoint/2010/main" val="4625339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702D-6A17-7571-EE67-81542AFB637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2AC5911-2C29-E248-42EF-AE8F5455949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BFF77F7-4DBC-2570-A526-7F9B3A79DB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Add screenshot, reduce information</a:t>
            </a:r>
            <a:br>
              <a:rPr lang="en-US" b="0"/>
            </a:br>
            <a:r>
              <a:rPr lang="en-US" b="0"/>
              <a:t>and font sizes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0"/>
            </a:br>
            <a:br>
              <a:rPr lang="en-US" b="0"/>
            </a:br>
            <a:r>
              <a:rPr lang="en-US" b="0"/>
              <a:t>We take this opportunity to introduce </a:t>
            </a:r>
            <a:r>
              <a:rPr lang="en-US" b="0" err="1"/>
              <a:t>ramulator</a:t>
            </a:r>
            <a:r>
              <a:rPr lang="en-US" b="0"/>
              <a:t> 2.1, which is a major overhaul of </a:t>
            </a:r>
            <a:r>
              <a:rPr lang="en-US" b="0" err="1"/>
              <a:t>Ramulator</a:t>
            </a:r>
            <a:r>
              <a:rPr lang="en-US" b="0"/>
              <a:t> 2.0</a:t>
            </a:r>
            <a:br>
              <a:rPr lang="en-US" b="0"/>
            </a:br>
            <a:r>
              <a:rPr lang="en-US" b="0"/>
              <a:t>..</a:t>
            </a:r>
            <a:br>
              <a:rPr lang="en-US" b="0"/>
            </a:b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And if you want to learn more about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You can come to our workshops in ICS and ISCA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And advertise proceedings</a:t>
            </a:r>
            <a:br>
              <a:rPr lang="en-US" b="0"/>
            </a:br>
            <a:br>
              <a:rPr lang="en-US" b="0"/>
            </a:br>
            <a:r>
              <a:rPr lang="en-US" b="0"/>
              <a:t>can be a separate slide for workshops?</a:t>
            </a:r>
            <a:br>
              <a:rPr lang="en-US" b="0"/>
            </a:br>
            <a:br>
              <a:rPr lang="en-US" b="0"/>
            </a:br>
            <a:r>
              <a:rPr lang="en-US" b="0"/>
              <a:t>A lot of info in points, might not be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ayt Numarası Yer Tutucusu 3">
            <a:extLst>
              <a:ext uri="{FF2B5EF4-FFF2-40B4-BE49-F238E27FC236}">
                <a16:creationId xmlns:a16="http://schemas.microsoft.com/office/drawing/2014/main" id="{46550AF3-C5CF-6959-4B23-19236B45D8B3}"/>
              </a:ext>
            </a:extLst>
          </p:cNvPr>
          <p:cNvSpPr>
            <a:spLocks noGrp="1"/>
          </p:cNvSpPr>
          <p:nvPr>
            <p:ph type="sldNum" sz="quarter" idx="5"/>
          </p:nvPr>
        </p:nvSpPr>
        <p:spPr/>
        <p:txBody>
          <a:bodyPr/>
          <a:lstStyle/>
          <a:p>
            <a:fld id="{BC575381-7527-4E0E-A355-7550D954D08C}" type="slidenum">
              <a:rPr lang="tr-TR" smtClean="0"/>
              <a:t>98</a:t>
            </a:fld>
            <a:endParaRPr lang="tr-TR"/>
          </a:p>
        </p:txBody>
      </p:sp>
    </p:spTree>
    <p:extLst>
      <p:ext uri="{BB962C8B-B14F-4D97-AF65-F5344CB8AC3E}">
        <p14:creationId xmlns:p14="http://schemas.microsoft.com/office/powerpoint/2010/main" val="348789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tr-TR" dirty="0"/>
              <a:t>Asıl başlık stilini düzenlemek için tıklayın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1F98FA05-3589-4289-A74B-1B99958C69FD}" type="datetime1">
              <a:rPr lang="tr-TR" smtClean="0"/>
              <a:t>27.06.2026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1590362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şlık ve İçerik">
    <p:spTree>
      <p:nvGrpSpPr>
        <p:cNvPr id="1" name=""/>
        <p:cNvGrpSpPr/>
        <p:nvPr/>
      </p:nvGrpSpPr>
      <p:grpSpPr>
        <a:xfrm>
          <a:off x="0" y="0"/>
          <a:ext cx="0" cy="0"/>
          <a:chOff x="0" y="0"/>
          <a:chExt cx="0" cy="0"/>
        </a:xfrm>
      </p:grpSpPr>
      <p:sp>
        <p:nvSpPr>
          <p:cNvPr id="7" name="Dikdörtgen 6">
            <a:extLst>
              <a:ext uri="{FF2B5EF4-FFF2-40B4-BE49-F238E27FC236}">
                <a16:creationId xmlns:a16="http://schemas.microsoft.com/office/drawing/2014/main" id="{67A03328-A26B-0D75-E944-B0D91AFD99F5}"/>
              </a:ext>
            </a:extLst>
          </p:cNvPr>
          <p:cNvSpPr/>
          <p:nvPr userDrawn="1"/>
        </p:nvSpPr>
        <p:spPr>
          <a:xfrm>
            <a:off x="0" y="0"/>
            <a:ext cx="9143998" cy="931024"/>
          </a:xfrm>
          <a:prstGeom prst="rect">
            <a:avLst/>
          </a:prstGeom>
          <a:solidFill>
            <a:srgbClr val="CFDE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Title 1"/>
          <p:cNvSpPr>
            <a:spLocks noGrp="1"/>
          </p:cNvSpPr>
          <p:nvPr>
            <p:ph type="title"/>
          </p:nvPr>
        </p:nvSpPr>
        <p:spPr>
          <a:xfrm>
            <a:off x="99051" y="56062"/>
            <a:ext cx="8894618" cy="931025"/>
          </a:xfrm>
        </p:spPr>
        <p:txBody>
          <a:bodyPr>
            <a:noAutofit/>
          </a:bodyPr>
          <a:lstStyle>
            <a:lvl1pPr>
              <a:defRPr sz="3600" b="1">
                <a:solidFill>
                  <a:srgbClr val="2963E3"/>
                </a:solidFill>
              </a:defRPr>
            </a:lvl1pPr>
          </a:lstStyle>
          <a:p>
            <a:r>
              <a:rPr lang="tr-TR" dirty="0"/>
              <a:t>Asıl başlık stilini düzenlemek için tıklayın</a:t>
            </a:r>
            <a:endParaRPr lang="en-US" dirty="0"/>
          </a:p>
        </p:txBody>
      </p:sp>
      <p:sp>
        <p:nvSpPr>
          <p:cNvPr id="3" name="Content Placeholder 2"/>
          <p:cNvSpPr>
            <a:spLocks noGrp="1"/>
          </p:cNvSpPr>
          <p:nvPr>
            <p:ph idx="1"/>
          </p:nvPr>
        </p:nvSpPr>
        <p:spPr>
          <a:xfrm>
            <a:off x="-1" y="931025"/>
            <a:ext cx="9143999" cy="524593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tr-TR" dirty="0"/>
              <a:t>Asıl metin stillerini düzenlemek için tıklayın</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21078" y="6517178"/>
            <a:ext cx="1033897" cy="204298"/>
          </a:xfrm>
        </p:spPr>
        <p:txBody>
          <a:bodyPr/>
          <a:lstStyle/>
          <a:p>
            <a:fld id="{C530EABF-65B2-408A-9519-596A4DE5C5AC}" type="datetime1">
              <a:rPr lang="tr-TR" smtClean="0"/>
              <a:t>27.06.2026</a:t>
            </a:fld>
            <a:endParaRPr lang="tr-TR" dirty="0"/>
          </a:p>
        </p:txBody>
      </p:sp>
      <p:sp>
        <p:nvSpPr>
          <p:cNvPr id="5" name="Footer Placeholder 4"/>
          <p:cNvSpPr>
            <a:spLocks noGrp="1"/>
          </p:cNvSpPr>
          <p:nvPr>
            <p:ph type="ftr" sz="quarter" idx="11"/>
          </p:nvPr>
        </p:nvSpPr>
        <p:spPr>
          <a:xfrm>
            <a:off x="3968299" y="6517178"/>
            <a:ext cx="4427556" cy="204298"/>
          </a:xfrm>
        </p:spPr>
        <p:txBody>
          <a:bodyPr/>
          <a:lstStyle/>
          <a:p>
            <a:endParaRPr lang="tr-TR" dirty="0"/>
          </a:p>
        </p:txBody>
      </p:sp>
      <p:sp>
        <p:nvSpPr>
          <p:cNvPr id="6" name="Slide Number Placeholder 5"/>
          <p:cNvSpPr>
            <a:spLocks noGrp="1"/>
          </p:cNvSpPr>
          <p:nvPr>
            <p:ph type="sldNum" sz="quarter" idx="12"/>
          </p:nvPr>
        </p:nvSpPr>
        <p:spPr>
          <a:xfrm>
            <a:off x="8395854" y="6517178"/>
            <a:ext cx="489065" cy="204298"/>
          </a:xfrm>
        </p:spPr>
        <p:txBody>
          <a:bodyPr/>
          <a:lstStyle>
            <a:lvl1pPr>
              <a:defRPr sz="1800"/>
            </a:lvl1pPr>
          </a:lstStyle>
          <a:p>
            <a:fld id="{CBE5B309-C2CE-4D90-B104-F7E98438FC65}" type="slidenum">
              <a:rPr lang="tr-TR" smtClean="0"/>
              <a:pPr/>
              <a:t>‹#›</a:t>
            </a:fld>
            <a:endParaRPr lang="tr-TR" dirty="0"/>
          </a:p>
        </p:txBody>
      </p:sp>
      <p:pic>
        <p:nvPicPr>
          <p:cNvPr id="9" name="Graphic 2">
            <a:extLst>
              <a:ext uri="{FF2B5EF4-FFF2-40B4-BE49-F238E27FC236}">
                <a16:creationId xmlns:a16="http://schemas.microsoft.com/office/drawing/2014/main" id="{2D315ADC-F693-4AFB-AC3B-1C4C4DCE7AC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 y="6514678"/>
            <a:ext cx="1315489" cy="253076"/>
          </a:xfrm>
          <a:prstGeom prst="rect">
            <a:avLst/>
          </a:prstGeom>
        </p:spPr>
      </p:pic>
    </p:spTree>
    <p:extLst>
      <p:ext uri="{BB962C8B-B14F-4D97-AF65-F5344CB8AC3E}">
        <p14:creationId xmlns:p14="http://schemas.microsoft.com/office/powerpoint/2010/main" val="1521369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133004" y="0"/>
            <a:ext cx="8894618" cy="931025"/>
          </a:xfrm>
        </p:spPr>
        <p:txBody>
          <a:bodyPr>
            <a:noAutofit/>
          </a:bodyPr>
          <a:lstStyle>
            <a:lvl1pPr>
              <a:defRPr sz="3200" b="1">
                <a:solidFill>
                  <a:srgbClr val="2963E3"/>
                </a:solidFill>
              </a:defRPr>
            </a:lvl1pPr>
          </a:lstStyle>
          <a:p>
            <a:r>
              <a:rPr lang="tr-TR" dirty="0"/>
              <a:t>Asıl başlık stilini düzenlemek için tıklayın</a:t>
            </a:r>
            <a:endParaRPr lang="en-US" dirty="0"/>
          </a:p>
        </p:txBody>
      </p:sp>
      <p:sp>
        <p:nvSpPr>
          <p:cNvPr id="3" name="Content Placeholder 2"/>
          <p:cNvSpPr>
            <a:spLocks noGrp="1"/>
          </p:cNvSpPr>
          <p:nvPr>
            <p:ph idx="1"/>
          </p:nvPr>
        </p:nvSpPr>
        <p:spPr>
          <a:xfrm>
            <a:off x="-1" y="1088967"/>
            <a:ext cx="9143999" cy="508799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tr-TR" dirty="0"/>
              <a:t>Asıl metin stillerini düzenlemek için tıklayın</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21078" y="6517178"/>
            <a:ext cx="1033897" cy="204298"/>
          </a:xfrm>
        </p:spPr>
        <p:txBody>
          <a:bodyPr/>
          <a:lstStyle/>
          <a:p>
            <a:fld id="{FAE2AB19-EE39-4F48-843E-34CA948357C1}" type="datetime1">
              <a:rPr lang="tr-TR" smtClean="0"/>
              <a:t>27.06.2026</a:t>
            </a:fld>
            <a:endParaRPr lang="tr-TR" dirty="0"/>
          </a:p>
        </p:txBody>
      </p:sp>
      <p:sp>
        <p:nvSpPr>
          <p:cNvPr id="5" name="Footer Placeholder 4"/>
          <p:cNvSpPr>
            <a:spLocks noGrp="1"/>
          </p:cNvSpPr>
          <p:nvPr>
            <p:ph type="ftr" sz="quarter" idx="11"/>
          </p:nvPr>
        </p:nvSpPr>
        <p:spPr>
          <a:xfrm>
            <a:off x="3968299" y="6517178"/>
            <a:ext cx="4427556" cy="204298"/>
          </a:xfrm>
        </p:spPr>
        <p:txBody>
          <a:bodyPr/>
          <a:lstStyle/>
          <a:p>
            <a:endParaRPr lang="tr-TR" dirty="0"/>
          </a:p>
        </p:txBody>
      </p:sp>
      <p:sp>
        <p:nvSpPr>
          <p:cNvPr id="6" name="Slide Number Placeholder 5"/>
          <p:cNvSpPr>
            <a:spLocks noGrp="1"/>
          </p:cNvSpPr>
          <p:nvPr>
            <p:ph type="sldNum" sz="quarter" idx="12"/>
          </p:nvPr>
        </p:nvSpPr>
        <p:spPr>
          <a:xfrm>
            <a:off x="8395854" y="6517178"/>
            <a:ext cx="489065" cy="204298"/>
          </a:xfrm>
        </p:spPr>
        <p:txBody>
          <a:bodyPr/>
          <a:lstStyle>
            <a:lvl1pPr>
              <a:defRPr sz="1800"/>
            </a:lvl1pPr>
          </a:lstStyle>
          <a:p>
            <a:fld id="{CBE5B309-C2CE-4D90-B104-F7E98438FC65}" type="slidenum">
              <a:rPr lang="tr-TR" smtClean="0"/>
              <a:pPr/>
              <a:t>‹#›</a:t>
            </a:fld>
            <a:endParaRPr lang="tr-TR" dirty="0"/>
          </a:p>
        </p:txBody>
      </p:sp>
      <p:pic>
        <p:nvPicPr>
          <p:cNvPr id="9" name="Graphic 2">
            <a:extLst>
              <a:ext uri="{FF2B5EF4-FFF2-40B4-BE49-F238E27FC236}">
                <a16:creationId xmlns:a16="http://schemas.microsoft.com/office/drawing/2014/main" id="{2D315ADC-F693-4AFB-AC3B-1C4C4DCE7AC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 y="6514678"/>
            <a:ext cx="1315489" cy="253076"/>
          </a:xfrm>
          <a:prstGeom prst="rect">
            <a:avLst/>
          </a:prstGeom>
        </p:spPr>
      </p:pic>
    </p:spTree>
    <p:extLst>
      <p:ext uri="{BB962C8B-B14F-4D97-AF65-F5344CB8AC3E}">
        <p14:creationId xmlns:p14="http://schemas.microsoft.com/office/powerpoint/2010/main" val="2067368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C1818DB-4708-433C-B848-CD41E4B7EF16}" type="datetime1">
              <a:rPr lang="tr-TR" smtClean="0"/>
              <a:t>27.06.2026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510605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A6364C6-4BE7-4E72-A29F-FF09B2F63C89}" type="datetime1">
              <a:rPr lang="tr-TR" smtClean="0"/>
              <a:t>27.06.2026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727243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29842" y="2505075"/>
            <a:ext cx="3868340"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629150" y="2505075"/>
            <a:ext cx="3887391"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61BF1D8-E55B-4366-B04D-67EEA78B8CD9}" type="datetime1">
              <a:rPr lang="tr-TR" smtClean="0"/>
              <a:t>27.06.2026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2944607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32C7A75-8BB7-4F27-A9A4-7FCFEFB5ED17}" type="datetime1">
              <a:rPr lang="tr-TR" smtClean="0"/>
              <a:t>27.06.2026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1322647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6F6FC5-8973-4F49-BE79-FF208D287DA4}" type="datetime1">
              <a:rPr lang="tr-TR" smtClean="0"/>
              <a:t>27.06.2026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59634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A46BC50-E615-44FD-A83F-E75145FE5AE6}" type="datetime1">
              <a:rPr lang="tr-TR" smtClean="0"/>
              <a:t>27.06.2026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2205387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E8642D04-3D9E-4A34-BC89-C627E89EF33D}" type="datetime1">
              <a:rPr lang="tr-TR" smtClean="0"/>
              <a:t>27.06.2026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249886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5ABCCFB-E6A4-45C9-B8C5-12A9EA9E0CA9}" type="datetime1">
              <a:rPr lang="tr-TR" smtClean="0"/>
              <a:t>27.06.2026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4209358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F597B1D-9604-43BF-8861-CB7A6BA51A87}" type="datetime1">
              <a:rPr lang="tr-TR" smtClean="0"/>
              <a:t>27.06.2026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BE5B309-C2CE-4D90-B104-F7E98438FC65}" type="slidenum">
              <a:rPr lang="tr-TR" smtClean="0"/>
              <a:t>‹#›</a:t>
            </a:fld>
            <a:endParaRPr lang="tr-TR"/>
          </a:p>
        </p:txBody>
      </p:sp>
    </p:spTree>
    <p:extLst>
      <p:ext uri="{BB962C8B-B14F-4D97-AF65-F5344CB8AC3E}">
        <p14:creationId xmlns:p14="http://schemas.microsoft.com/office/powerpoint/2010/main" val="3473987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lvl1pPr>
              <a:buClr>
                <a:srgbClr val="CC9900"/>
              </a:buClr>
              <a:defRPr/>
            </a:lvl1pPr>
            <a:lvl2pPr>
              <a:buClr>
                <a:srgbClr val="006633"/>
              </a:buClr>
              <a:defRPr/>
            </a:lvl2pPr>
            <a:lvl3pPr>
              <a:buClr>
                <a:srgbClr val="CC9900"/>
              </a:buClr>
              <a:defRPr/>
            </a:lvl3pPr>
            <a:lvl4pPr>
              <a:buClr>
                <a:srgbClr val="006633"/>
              </a:buClr>
              <a:defRPr/>
            </a:lvl4pPr>
            <a:lvl5pPr>
              <a:buClr>
                <a:srgbClr val="CC990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9"/>
          <p:cNvSpPr>
            <a:spLocks noGrp="1" noChangeArrowheads="1"/>
          </p:cNvSpPr>
          <p:nvPr>
            <p:ph type="ftr" sz="quarter" idx="10"/>
          </p:nvPr>
        </p:nvSpPr>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p:txBody>
          <a:bodyPr/>
          <a:lstStyle>
            <a:lvl1pPr>
              <a:defRPr>
                <a:cs typeface="ＭＳ Ｐゴシック" charset="0"/>
              </a:defRPr>
            </a:lvl1pPr>
          </a:lstStyle>
          <a:p>
            <a:pPr>
              <a:defRPr/>
            </a:pPr>
            <a:fld id="{8E574D81-B5DE-384D-B24B-566C679AE608}" type="slidenum">
              <a:rPr lang="en-US"/>
              <a:pPr>
                <a:defRPr/>
              </a:pPr>
              <a:t>‹#›</a:t>
            </a:fld>
            <a:endParaRPr lang="en-US"/>
          </a:p>
        </p:txBody>
      </p:sp>
    </p:spTree>
    <p:extLst>
      <p:ext uri="{BB962C8B-B14F-4D97-AF65-F5344CB8AC3E}">
        <p14:creationId xmlns:p14="http://schemas.microsoft.com/office/powerpoint/2010/main" val="202699530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5037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3"/>
          <p:cNvSpPr>
            <a:spLocks noChangeArrowheads="1"/>
          </p:cNvSpPr>
          <p:nvPr/>
        </p:nvSpPr>
        <p:spPr bwMode="auto">
          <a:xfrm>
            <a:off x="457200" y="1123950"/>
            <a:ext cx="82296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ffectLst/>
        </p:spPr>
        <p:txBody>
          <a:bodyPr/>
          <a:lstStyle/>
          <a:p>
            <a:pPr>
              <a:defRPr/>
            </a:pPr>
            <a:endParaRPr lang="en-US"/>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ffectLst/>
        </p:spPr>
        <p:txBody>
          <a:bodyPr/>
          <a:lstStyle/>
          <a:p>
            <a:pPr>
              <a:defRPr/>
            </a:pPr>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endParaRPr lang="en-US" altLang="en-US"/>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endParaRPr lang="en-US" altLang="en-US"/>
          </a:p>
        </p:txBody>
      </p:sp>
      <p:sp>
        <p:nvSpPr>
          <p:cNvPr id="9" name="Rectangle 6"/>
          <p:cNvSpPr>
            <a:spLocks noGrp="1" noChangeArrowheads="1"/>
          </p:cNvSpPr>
          <p:nvPr>
            <p:ph type="sldNum" sz="quarter" idx="12"/>
          </p:nvPr>
        </p:nvSpPr>
        <p:spPr/>
        <p:txBody>
          <a:bodyPr/>
          <a:lstStyle>
            <a:lvl1pPr>
              <a:defRPr sz="1200"/>
            </a:lvl1pPr>
          </a:lstStyle>
          <a:p>
            <a:fld id="{7341D3D9-3FE8-4025-BF66-8DAB1ABB951F}" type="slidenum">
              <a:rPr lang="en-US" altLang="en-US"/>
              <a:pPr/>
              <a:t>‹#›</a:t>
            </a:fld>
            <a:endParaRPr lang="en-US" altLang="en-US"/>
          </a:p>
        </p:txBody>
      </p:sp>
    </p:spTree>
    <p:extLst>
      <p:ext uri="{BB962C8B-B14F-4D97-AF65-F5344CB8AC3E}">
        <p14:creationId xmlns:p14="http://schemas.microsoft.com/office/powerpoint/2010/main" val="49982562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tr-TR" dirty="0"/>
              <a:t>Asıl başlık stilini düzenlemek için tıklayın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255666-236B-4226-92C5-3C1DE783E983}" type="datetime1">
              <a:rPr lang="tr-TR" smtClean="0"/>
              <a:t>27.06.2026</a:t>
            </a:fld>
            <a:endParaRPr lang="tr-T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5B309-C2CE-4D90-B104-F7E98438FC65}" type="slidenum">
              <a:rPr lang="tr-TR" smtClean="0"/>
              <a:t>‹#›</a:t>
            </a:fld>
            <a:endParaRPr lang="tr-TR"/>
          </a:p>
        </p:txBody>
      </p:sp>
      <p:sp>
        <p:nvSpPr>
          <p:cNvPr id="23" name="Dikdörtgen 22">
            <a:extLst>
              <a:ext uri="{FF2B5EF4-FFF2-40B4-BE49-F238E27FC236}">
                <a16:creationId xmlns:a16="http://schemas.microsoft.com/office/drawing/2014/main" id="{68EA19BC-84E2-B20E-D9CA-F6EC07ACDA63}"/>
              </a:ext>
            </a:extLst>
          </p:cNvPr>
          <p:cNvSpPr/>
          <p:nvPr userDrawn="1"/>
        </p:nvSpPr>
        <p:spPr>
          <a:xfrm>
            <a:off x="-1089858" y="27727"/>
            <a:ext cx="849085" cy="466531"/>
          </a:xfrm>
          <a:prstGeom prst="rect">
            <a:avLst/>
          </a:prstGeom>
          <a:solidFill>
            <a:srgbClr val="6292F7"/>
          </a:solidFill>
          <a:ln>
            <a:solidFill>
              <a:srgbClr val="6292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solidFill>
                <a:srgbClr val="6292F7"/>
              </a:solidFill>
            </a:endParaRPr>
          </a:p>
        </p:txBody>
      </p:sp>
      <p:sp>
        <p:nvSpPr>
          <p:cNvPr id="24" name="Dikdörtgen 23">
            <a:extLst>
              <a:ext uri="{FF2B5EF4-FFF2-40B4-BE49-F238E27FC236}">
                <a16:creationId xmlns:a16="http://schemas.microsoft.com/office/drawing/2014/main" id="{1CA6EA86-CEF8-C463-FE7C-0B40F3AFCADF}"/>
              </a:ext>
            </a:extLst>
          </p:cNvPr>
          <p:cNvSpPr/>
          <p:nvPr userDrawn="1"/>
        </p:nvSpPr>
        <p:spPr>
          <a:xfrm>
            <a:off x="-1089859" y="565792"/>
            <a:ext cx="849085" cy="466531"/>
          </a:xfrm>
          <a:prstGeom prst="rect">
            <a:avLst/>
          </a:prstGeom>
          <a:solidFill>
            <a:srgbClr val="7A62E7"/>
          </a:solidFill>
          <a:ln>
            <a:solidFill>
              <a:srgbClr val="7A62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Dikdörtgen 24">
            <a:extLst>
              <a:ext uri="{FF2B5EF4-FFF2-40B4-BE49-F238E27FC236}">
                <a16:creationId xmlns:a16="http://schemas.microsoft.com/office/drawing/2014/main" id="{43F55123-6402-8B8A-CAD4-A9BD906B569D}"/>
              </a:ext>
            </a:extLst>
          </p:cNvPr>
          <p:cNvSpPr/>
          <p:nvPr userDrawn="1"/>
        </p:nvSpPr>
        <p:spPr>
          <a:xfrm>
            <a:off x="-1089859" y="1103857"/>
            <a:ext cx="849085" cy="466531"/>
          </a:xfrm>
          <a:prstGeom prst="rect">
            <a:avLst/>
          </a:prstGeom>
          <a:solidFill>
            <a:srgbClr val="E1257C"/>
          </a:solidFill>
          <a:ln>
            <a:solidFill>
              <a:srgbClr val="E125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6" name="Dikdörtgen 25">
            <a:extLst>
              <a:ext uri="{FF2B5EF4-FFF2-40B4-BE49-F238E27FC236}">
                <a16:creationId xmlns:a16="http://schemas.microsoft.com/office/drawing/2014/main" id="{A45B484E-4836-A2F4-9832-3B0D69CA46A4}"/>
              </a:ext>
            </a:extLst>
          </p:cNvPr>
          <p:cNvSpPr/>
          <p:nvPr userDrawn="1"/>
        </p:nvSpPr>
        <p:spPr>
          <a:xfrm>
            <a:off x="-1089860" y="1643319"/>
            <a:ext cx="849085" cy="466531"/>
          </a:xfrm>
          <a:prstGeom prst="rect">
            <a:avLst/>
          </a:prstGeom>
          <a:solidFill>
            <a:srgbClr val="FF5F2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7" name="Dikdörtgen 26">
            <a:extLst>
              <a:ext uri="{FF2B5EF4-FFF2-40B4-BE49-F238E27FC236}">
                <a16:creationId xmlns:a16="http://schemas.microsoft.com/office/drawing/2014/main" id="{2F4B1A99-F06E-82E8-CD81-123648DC1EBE}"/>
              </a:ext>
            </a:extLst>
          </p:cNvPr>
          <p:cNvSpPr/>
          <p:nvPr userDrawn="1"/>
        </p:nvSpPr>
        <p:spPr>
          <a:xfrm>
            <a:off x="-1089861" y="2181384"/>
            <a:ext cx="849085" cy="466531"/>
          </a:xfrm>
          <a:prstGeom prst="rect">
            <a:avLst/>
          </a:prstGeom>
          <a:solidFill>
            <a:srgbClr val="FFAE3C"/>
          </a:solidFill>
          <a:ln>
            <a:solidFill>
              <a:srgbClr val="FFAE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 name="Dikdörtgen 6">
            <a:extLst>
              <a:ext uri="{FF2B5EF4-FFF2-40B4-BE49-F238E27FC236}">
                <a16:creationId xmlns:a16="http://schemas.microsoft.com/office/drawing/2014/main" id="{7A4F6B98-E975-0A4F-B04B-5F3FD87BA154}"/>
              </a:ext>
            </a:extLst>
          </p:cNvPr>
          <p:cNvSpPr/>
          <p:nvPr userDrawn="1"/>
        </p:nvSpPr>
        <p:spPr>
          <a:xfrm>
            <a:off x="-2067758" y="27727"/>
            <a:ext cx="849085" cy="466531"/>
          </a:xfrm>
          <a:prstGeom prst="rect">
            <a:avLst/>
          </a:prstGeom>
          <a:solidFill>
            <a:srgbClr val="C4D7FC"/>
          </a:solidFill>
          <a:ln>
            <a:solidFill>
              <a:srgbClr val="6292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solidFill>
                <a:srgbClr val="6292F7"/>
              </a:solidFill>
            </a:endParaRPr>
          </a:p>
        </p:txBody>
      </p:sp>
      <p:sp>
        <p:nvSpPr>
          <p:cNvPr id="8" name="Dikdörtgen 7">
            <a:extLst>
              <a:ext uri="{FF2B5EF4-FFF2-40B4-BE49-F238E27FC236}">
                <a16:creationId xmlns:a16="http://schemas.microsoft.com/office/drawing/2014/main" id="{3E3FD0C4-2418-8E58-968D-B3352EDC4962}"/>
              </a:ext>
            </a:extLst>
          </p:cNvPr>
          <p:cNvSpPr/>
          <p:nvPr userDrawn="1"/>
        </p:nvSpPr>
        <p:spPr>
          <a:xfrm>
            <a:off x="-2067759" y="565792"/>
            <a:ext cx="849085" cy="466531"/>
          </a:xfrm>
          <a:prstGeom prst="rect">
            <a:avLst/>
          </a:prstGeom>
          <a:solidFill>
            <a:srgbClr val="DAD3F9"/>
          </a:solidFill>
          <a:ln>
            <a:solidFill>
              <a:srgbClr val="7A62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Dikdörtgen 8">
            <a:extLst>
              <a:ext uri="{FF2B5EF4-FFF2-40B4-BE49-F238E27FC236}">
                <a16:creationId xmlns:a16="http://schemas.microsoft.com/office/drawing/2014/main" id="{EF99CE5C-B9DD-70C9-7D13-418B7A165D7F}"/>
              </a:ext>
            </a:extLst>
          </p:cNvPr>
          <p:cNvSpPr/>
          <p:nvPr userDrawn="1"/>
        </p:nvSpPr>
        <p:spPr>
          <a:xfrm>
            <a:off x="-2067759" y="1103857"/>
            <a:ext cx="849085" cy="466531"/>
          </a:xfrm>
          <a:prstGeom prst="rect">
            <a:avLst/>
          </a:prstGeom>
          <a:solidFill>
            <a:srgbClr val="F9D3E4"/>
          </a:solidFill>
          <a:ln>
            <a:solidFill>
              <a:srgbClr val="E125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Dikdörtgen 9">
            <a:extLst>
              <a:ext uri="{FF2B5EF4-FFF2-40B4-BE49-F238E27FC236}">
                <a16:creationId xmlns:a16="http://schemas.microsoft.com/office/drawing/2014/main" id="{2188929A-C5F3-4188-7020-EB1FFA19992C}"/>
              </a:ext>
            </a:extLst>
          </p:cNvPr>
          <p:cNvSpPr/>
          <p:nvPr userDrawn="1"/>
        </p:nvSpPr>
        <p:spPr>
          <a:xfrm>
            <a:off x="-2067760" y="1643319"/>
            <a:ext cx="849085" cy="466531"/>
          </a:xfrm>
          <a:prstGeom prst="rect">
            <a:avLst/>
          </a:prstGeom>
          <a:solidFill>
            <a:srgbClr val="FFE0D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1" name="Dikdörtgen 10">
            <a:extLst>
              <a:ext uri="{FF2B5EF4-FFF2-40B4-BE49-F238E27FC236}">
                <a16:creationId xmlns:a16="http://schemas.microsoft.com/office/drawing/2014/main" id="{A6E8508F-0BC5-6B63-2377-26895A041F3E}"/>
              </a:ext>
            </a:extLst>
          </p:cNvPr>
          <p:cNvSpPr/>
          <p:nvPr userDrawn="1"/>
        </p:nvSpPr>
        <p:spPr>
          <a:xfrm>
            <a:off x="-2067761" y="2181384"/>
            <a:ext cx="849085" cy="466531"/>
          </a:xfrm>
          <a:prstGeom prst="rect">
            <a:avLst/>
          </a:prstGeom>
          <a:solidFill>
            <a:srgbClr val="FFEBCD"/>
          </a:solidFill>
          <a:ln>
            <a:solidFill>
              <a:srgbClr val="FFAE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Dikdörtgen 18">
            <a:extLst>
              <a:ext uri="{FF2B5EF4-FFF2-40B4-BE49-F238E27FC236}">
                <a16:creationId xmlns:a16="http://schemas.microsoft.com/office/drawing/2014/main" id="{EACC24E1-3D4E-7201-E434-FBF75F2CE77F}"/>
              </a:ext>
            </a:extLst>
          </p:cNvPr>
          <p:cNvSpPr/>
          <p:nvPr userDrawn="1"/>
        </p:nvSpPr>
        <p:spPr>
          <a:xfrm>
            <a:off x="-1089858" y="2827758"/>
            <a:ext cx="849085" cy="466531"/>
          </a:xfrm>
          <a:prstGeom prst="rect">
            <a:avLst/>
          </a:prstGeom>
          <a:solidFill>
            <a:srgbClr val="316CE3"/>
          </a:solidFill>
          <a:ln>
            <a:solidFill>
              <a:srgbClr val="6292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solidFill>
                <a:srgbClr val="6292F7"/>
              </a:solidFill>
            </a:endParaRPr>
          </a:p>
        </p:txBody>
      </p:sp>
      <p:sp>
        <p:nvSpPr>
          <p:cNvPr id="20" name="Dikdörtgen 19">
            <a:extLst>
              <a:ext uri="{FF2B5EF4-FFF2-40B4-BE49-F238E27FC236}">
                <a16:creationId xmlns:a16="http://schemas.microsoft.com/office/drawing/2014/main" id="{45B9A5FD-9A57-5F6B-EF78-3522196A3F17}"/>
              </a:ext>
            </a:extLst>
          </p:cNvPr>
          <p:cNvSpPr/>
          <p:nvPr userDrawn="1"/>
        </p:nvSpPr>
        <p:spPr>
          <a:xfrm>
            <a:off x="-1089859" y="3365823"/>
            <a:ext cx="849085" cy="466531"/>
          </a:xfrm>
          <a:prstGeom prst="rect">
            <a:avLst/>
          </a:prstGeom>
          <a:solidFill>
            <a:srgbClr val="6D40DC"/>
          </a:solidFill>
          <a:ln>
            <a:solidFill>
              <a:srgbClr val="7A62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20">
            <a:extLst>
              <a:ext uri="{FF2B5EF4-FFF2-40B4-BE49-F238E27FC236}">
                <a16:creationId xmlns:a16="http://schemas.microsoft.com/office/drawing/2014/main" id="{757EAE82-DA6F-8200-93B7-2D9FECEAD20F}"/>
              </a:ext>
            </a:extLst>
          </p:cNvPr>
          <p:cNvSpPr/>
          <p:nvPr userDrawn="1"/>
        </p:nvSpPr>
        <p:spPr>
          <a:xfrm>
            <a:off x="-1089859" y="3903888"/>
            <a:ext cx="849085" cy="466531"/>
          </a:xfrm>
          <a:prstGeom prst="rect">
            <a:avLst/>
          </a:prstGeom>
          <a:solidFill>
            <a:srgbClr val="B3195F"/>
          </a:solidFill>
          <a:ln>
            <a:solidFill>
              <a:srgbClr val="E125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A0108268-F182-A605-81F2-7244B77BDE3C}"/>
              </a:ext>
            </a:extLst>
          </p:cNvPr>
          <p:cNvSpPr/>
          <p:nvPr userDrawn="1"/>
        </p:nvSpPr>
        <p:spPr>
          <a:xfrm>
            <a:off x="-1089860" y="4443350"/>
            <a:ext cx="849085" cy="466531"/>
          </a:xfrm>
          <a:prstGeom prst="rect">
            <a:avLst/>
          </a:prstGeom>
          <a:solidFill>
            <a:srgbClr val="F23F00"/>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8" name="Dikdörtgen 27">
            <a:extLst>
              <a:ext uri="{FF2B5EF4-FFF2-40B4-BE49-F238E27FC236}">
                <a16:creationId xmlns:a16="http://schemas.microsoft.com/office/drawing/2014/main" id="{4C75A030-42E4-77C7-5F87-BBC2F3410A37}"/>
              </a:ext>
            </a:extLst>
          </p:cNvPr>
          <p:cNvSpPr/>
          <p:nvPr userDrawn="1"/>
        </p:nvSpPr>
        <p:spPr>
          <a:xfrm>
            <a:off x="-1089861" y="4981415"/>
            <a:ext cx="849085" cy="466531"/>
          </a:xfrm>
          <a:prstGeom prst="rect">
            <a:avLst/>
          </a:prstGeom>
          <a:solidFill>
            <a:srgbClr val="E28700"/>
          </a:solidFill>
          <a:ln>
            <a:solidFill>
              <a:srgbClr val="FFAE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3589152295"/>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5"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4" r:id="rId13"/>
    <p:sldLayoutId id="214748367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bwMode="auto">
          <a:xfrm>
            <a:off x="228600" y="152400"/>
            <a:ext cx="86106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123" name="Rectangle 1027"/>
          <p:cNvSpPr>
            <a:spLocks noGrp="1" noChangeArrowheads="1"/>
          </p:cNvSpPr>
          <p:nvPr>
            <p:ph type="body" idx="1"/>
          </p:nvPr>
        </p:nvSpPr>
        <p:spPr bwMode="auto">
          <a:xfrm>
            <a:off x="228600" y="1371600"/>
            <a:ext cx="8610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endParaRPr lang="en-US" altLang="en-US"/>
          </a:p>
        </p:txBody>
      </p:sp>
      <p:sp>
        <p:nvSpPr>
          <p:cNvPr id="100358" name="Rectangle 1030"/>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pitchFamily="18" charset="0"/>
              </a:defRPr>
            </a:lvl1pPr>
          </a:lstStyle>
          <a:p>
            <a:fld id="{6F400BD0-49BF-48FC-8114-37C1D4F5AB3D}" type="slidenum">
              <a:rPr lang="en-US" altLang="en-US"/>
              <a:pPr/>
              <a:t>‹#›</a:t>
            </a:fld>
            <a:endParaRPr lang="en-US" altLang="en-US"/>
          </a:p>
        </p:txBody>
      </p:sp>
      <p:sp>
        <p:nvSpPr>
          <p:cNvPr id="100360" name="Line 1032"/>
          <p:cNvSpPr>
            <a:spLocks noChangeShapeType="1"/>
          </p:cNvSpPr>
          <p:nvPr/>
        </p:nvSpPr>
        <p:spPr bwMode="auto">
          <a:xfrm>
            <a:off x="228600" y="6381328"/>
            <a:ext cx="8610600" cy="0"/>
          </a:xfrm>
          <a:prstGeom prst="line">
            <a:avLst/>
          </a:prstGeom>
          <a:noFill/>
          <a:ln w="19050">
            <a:solidFill>
              <a:schemeClr val="accent1"/>
            </a:solidFill>
            <a:round/>
            <a:headEnd/>
            <a:tailEnd/>
          </a:ln>
          <a:effectLst/>
        </p:spPr>
        <p:txBody>
          <a:bodyPr/>
          <a:lstStyle/>
          <a:p>
            <a:pPr>
              <a:defRPr/>
            </a:pPr>
            <a:endParaRPr lang="en-US"/>
          </a:p>
        </p:txBody>
      </p:sp>
      <p:sp>
        <p:nvSpPr>
          <p:cNvPr id="100361" name="Line 1033"/>
          <p:cNvSpPr>
            <a:spLocks noChangeShapeType="1"/>
          </p:cNvSpPr>
          <p:nvPr/>
        </p:nvSpPr>
        <p:spPr bwMode="auto">
          <a:xfrm>
            <a:off x="228600" y="914400"/>
            <a:ext cx="8610600" cy="0"/>
          </a:xfrm>
          <a:prstGeom prst="line">
            <a:avLst/>
          </a:prstGeom>
          <a:noFill/>
          <a:ln w="19050">
            <a:solidFill>
              <a:schemeClr val="accent1"/>
            </a:solidFill>
            <a:round/>
            <a:headEnd/>
            <a:tailEnd/>
          </a:ln>
          <a:effectLst/>
        </p:spPr>
        <p:txBody>
          <a:bodyPr/>
          <a:lstStyle/>
          <a:p>
            <a:pPr>
              <a:defRPr/>
            </a:pPr>
            <a:endParaRPr lang="en-US"/>
          </a:p>
        </p:txBody>
      </p:sp>
      <p:pic>
        <p:nvPicPr>
          <p:cNvPr id="8" name="Picture 7" descr="safari.png"/>
          <p:cNvPicPr>
            <a:picLocks noChangeAspect="1"/>
          </p:cNvPicPr>
          <p:nvPr userDrawn="1"/>
        </p:nvPicPr>
        <p:blipFill>
          <a:blip r:embed="rId3" cstate="print"/>
          <a:stretch>
            <a:fillRect/>
          </a:stretch>
        </p:blipFill>
        <p:spPr>
          <a:xfrm>
            <a:off x="179512" y="6453336"/>
            <a:ext cx="1080120" cy="312522"/>
          </a:xfrm>
          <a:prstGeom prst="rect">
            <a:avLst/>
          </a:prstGeom>
        </p:spPr>
      </p:pic>
    </p:spTree>
    <p:extLst>
      <p:ext uri="{BB962C8B-B14F-4D97-AF65-F5344CB8AC3E}">
        <p14:creationId xmlns:p14="http://schemas.microsoft.com/office/powerpoint/2010/main" val="3595546466"/>
      </p:ext>
    </p:extLst>
  </p:cSld>
  <p:clrMap bg1="lt1" tx1="dk1" bg2="lt2" tx2="dk2" accent1="accent1" accent2="accent2" accent3="accent3" accent4="accent4" accent5="accent5" accent6="accent6" hlink="hlink" folHlink="folHlink"/>
  <p:sldLayoutIdLst>
    <p:sldLayoutId id="2147483678" r:id="rId1"/>
  </p:sldLayoutIdLst>
  <p:transition/>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Garamond" pitchFamily="18" charset="0"/>
        </a:defRPr>
      </a:lvl2pPr>
      <a:lvl3pPr algn="l" rtl="0" eaLnBrk="0" fontAlgn="base" hangingPunct="0">
        <a:spcBef>
          <a:spcPct val="0"/>
        </a:spcBef>
        <a:spcAft>
          <a:spcPct val="0"/>
        </a:spcAft>
        <a:defRPr sz="4000">
          <a:solidFill>
            <a:schemeClr val="tx2"/>
          </a:solidFill>
          <a:latin typeface="Garamond" pitchFamily="18" charset="0"/>
        </a:defRPr>
      </a:lvl3pPr>
      <a:lvl4pPr algn="l" rtl="0" eaLnBrk="0" fontAlgn="base" hangingPunct="0">
        <a:spcBef>
          <a:spcPct val="0"/>
        </a:spcBef>
        <a:spcAft>
          <a:spcPct val="0"/>
        </a:spcAft>
        <a:defRPr sz="4000">
          <a:solidFill>
            <a:schemeClr val="tx2"/>
          </a:solidFill>
          <a:latin typeface="Garamond" pitchFamily="18" charset="0"/>
        </a:defRPr>
      </a:lvl4pPr>
      <a:lvl5pPr algn="l" rtl="0" eaLnBrk="0" fontAlgn="base" hangingPunct="0">
        <a:spcBef>
          <a:spcPct val="0"/>
        </a:spcBef>
        <a:spcAft>
          <a:spcPct val="0"/>
        </a:spcAft>
        <a:defRPr sz="4000">
          <a:solidFill>
            <a:schemeClr val="tx2"/>
          </a:solidFill>
          <a:latin typeface="Garamond" pitchFamily="18"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CMU-SAFARI/Cleaning-up-the-Mes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github.com/CMU-SAFARI/ramulator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github.com/CMU-SAFARI/ramulator2/tree/mes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CMU-SAFARI/ramulator2/tree/mes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CMU-SAFARI/ramulator2/tree/mes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github.com/CMU-SAFARI/DAMOV"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arxiv.org/pdf/2510.15744"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CMU-SAFARI/Cleaning-up-the-Mess" TargetMode="External"/><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CMU-SAFARI/Cleaning-up-the-Mes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3.emf"/><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2308.11030" TargetMode="External"/><Relationship Id="rId2" Type="http://schemas.openxmlformats.org/officeDocument/2006/relationships/hyperlink" Target="https://people.inf.ethz.ch/omutlu/pub/Ramulator2_arxiv23.pdf" TargetMode="External"/><Relationship Id="rId1" Type="http://schemas.openxmlformats.org/officeDocument/2006/relationships/slideLayout" Target="../slideLayouts/slideLayout2.xml"/><Relationship Id="rId6" Type="http://schemas.openxmlformats.org/officeDocument/2006/relationships/hyperlink" Target="https://arxiv.org/pdf/2308.11030.pdf" TargetMode="External"/><Relationship Id="rId5" Type="http://schemas.openxmlformats.org/officeDocument/2006/relationships/image" Target="../media/image19.png"/><Relationship Id="rId4" Type="http://schemas.openxmlformats.org/officeDocument/2006/relationships/hyperlink" Target="https://github.com/CMU-SAFARI/ramulator2"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ramsec.ethz.ch/" TargetMode="External"/><Relationship Id="rId2" Type="http://schemas.openxmlformats.org/officeDocument/2006/relationships/hyperlink" Target="https://arxiv.org/pdf/2406.19094" TargetMode="External"/><Relationship Id="rId1" Type="http://schemas.openxmlformats.org/officeDocument/2006/relationships/slideLayout" Target="../slideLayouts/slideLayout2.xml"/><Relationship Id="rId5" Type="http://schemas.openxmlformats.org/officeDocument/2006/relationships/hyperlink" Target="https://github.com/CMU-SAFARI/ramulator2" TargetMode="Externa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arxiv.org/pdf/2502.12650"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arxiv.org/pdf/2502.12650"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hyperlink" Target="https://github.com/CMU-SAFARI/LeakyHammer" TargetMode="External"/><Relationship Id="rId4" Type="http://schemas.openxmlformats.org/officeDocument/2006/relationships/hyperlink" Target="https://arxiv.org/pdf/2503.1789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8.png"/><Relationship Id="rId7" Type="http://schemas.openxmlformats.org/officeDocument/2006/relationships/image" Target="../media/image31.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jpeg"/><Relationship Id="rId4" Type="http://schemas.microsoft.com/office/2007/relationships/hdphoto" Target="../media/hdphoto1.wdp"/><Relationship Id="rId9" Type="http://schemas.openxmlformats.org/officeDocument/2006/relationships/image" Target="../media/image33.sv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9.jpe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4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7.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8.svg"/><Relationship Id="rId4" Type="http://schemas.openxmlformats.org/officeDocument/2006/relationships/image" Target="../media/image29.jpe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2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emf"/><Relationship Id="rId7" Type="http://schemas.openxmlformats.org/officeDocument/2006/relationships/image" Target="../media/image44.svg"/><Relationship Id="rId2" Type="http://schemas.openxmlformats.org/officeDocument/2006/relationships/oleObject" Target="../embeddings/oleObject1.bin"/><Relationship Id="rId1" Type="http://schemas.openxmlformats.org/officeDocument/2006/relationships/slideLayout" Target="../slideLayouts/slideLayout3.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github.com/CMU-SAFARI/LeakyHammer"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5.svg"/><Relationship Id="rId4" Type="http://schemas.openxmlformats.org/officeDocument/2006/relationships/image" Target="../media/image29.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8.svg"/></Relationships>
</file>

<file path=ppt/slides/_rels/slide6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9.svg"/><Relationship Id="rId4" Type="http://schemas.openxmlformats.org/officeDocument/2006/relationships/image" Target="../media/image48.svg"/></Relationships>
</file>

<file path=ppt/slides/_rels/slide66.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67.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9.svg"/><Relationship Id="rId4" Type="http://schemas.openxmlformats.org/officeDocument/2006/relationships/image" Target="../media/image48.svg"/></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54.svg"/></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44.svg"/><Relationship Id="rId4" Type="http://schemas.openxmlformats.org/officeDocument/2006/relationships/image" Target="../media/image47.svg"/></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44.svg"/><Relationship Id="rId4" Type="http://schemas.openxmlformats.org/officeDocument/2006/relationships/image" Target="../media/image47.svg"/></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56.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44.svg"/><Relationship Id="rId4" Type="http://schemas.openxmlformats.org/officeDocument/2006/relationships/image" Target="../media/image47.svg"/></Relationships>
</file>

<file path=ppt/slides/_rels/slide7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7.svg"/><Relationship Id="rId7" Type="http://schemas.openxmlformats.org/officeDocument/2006/relationships/image" Target="../media/image54.sv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44.svg"/><Relationship Id="rId4" Type="http://schemas.openxmlformats.org/officeDocument/2006/relationships/image" Target="../media/image36.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github.com/CMU-SAFARI/LeakyHammer" TargetMode="External"/><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svg"/><Relationship Id="rId7"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9.png"/><Relationship Id="rId10" Type="http://schemas.openxmlformats.org/officeDocument/2006/relationships/image" Target="../media/image61.png"/><Relationship Id="rId4" Type="http://schemas.openxmlformats.org/officeDocument/2006/relationships/image" Target="../media/image3.emf"/><Relationship Id="rId9" Type="http://schemas.openxmlformats.org/officeDocument/2006/relationships/image" Target="../media/image60.png"/></Relationships>
</file>

<file path=ppt/slides/_rels/slide8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emf"/><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6.png"/><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9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95.xml.rels><?xml version="1.0" encoding="UTF-8" standalone="yes"?>
<Relationships xmlns="http://schemas.openxmlformats.org/package/2006/relationships"><Relationship Id="rId3" Type="http://schemas.openxmlformats.org/officeDocument/2006/relationships/hyperlink" Target="https://github.com/CMU-SAFARI/ramulator2/tree/v2.1"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9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65D7-D2F9-E6DB-09DE-DC737542374A}"/>
            </a:ext>
          </a:extLst>
        </p:cNvPr>
        <p:cNvGrpSpPr/>
        <p:nvPr/>
      </p:nvGrpSpPr>
      <p:grpSpPr>
        <a:xfrm>
          <a:off x="0" y="0"/>
          <a:ext cx="0" cy="0"/>
          <a:chOff x="0" y="0"/>
          <a:chExt cx="0" cy="0"/>
        </a:xfrm>
      </p:grpSpPr>
      <p:sp>
        <p:nvSpPr>
          <p:cNvPr id="104" name="Title 1">
            <a:extLst>
              <a:ext uri="{FF2B5EF4-FFF2-40B4-BE49-F238E27FC236}">
                <a16:creationId xmlns:a16="http://schemas.microsoft.com/office/drawing/2014/main" id="{160C4220-9E2E-8E3F-72A9-D1F22DB065FB}"/>
              </a:ext>
            </a:extLst>
          </p:cNvPr>
          <p:cNvSpPr txBox="1">
            <a:spLocks/>
          </p:cNvSpPr>
          <p:nvPr/>
        </p:nvSpPr>
        <p:spPr>
          <a:xfrm>
            <a:off x="0" y="-1"/>
            <a:ext cx="9144000" cy="3689131"/>
          </a:xfrm>
          <a:prstGeom prst="rect">
            <a:avLst/>
          </a:prstGeom>
          <a:solidFill>
            <a:srgbClr val="316CE3"/>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6600" b="1" dirty="0">
              <a:solidFill>
                <a:srgbClr val="70AD47"/>
              </a:solidFill>
            </a:endParaRPr>
          </a:p>
        </p:txBody>
      </p:sp>
      <p:sp>
        <p:nvSpPr>
          <p:cNvPr id="102" name="Title 1">
            <a:extLst>
              <a:ext uri="{FF2B5EF4-FFF2-40B4-BE49-F238E27FC236}">
                <a16:creationId xmlns:a16="http://schemas.microsoft.com/office/drawing/2014/main" id="{0763AE77-852A-1A7D-ECB6-9D272D19A817}"/>
              </a:ext>
            </a:extLst>
          </p:cNvPr>
          <p:cNvSpPr>
            <a:spLocks noGrp="1"/>
          </p:cNvSpPr>
          <p:nvPr>
            <p:ph type="ctrTitle"/>
          </p:nvPr>
        </p:nvSpPr>
        <p:spPr>
          <a:xfrm>
            <a:off x="685800" y="1097854"/>
            <a:ext cx="7772400" cy="2387600"/>
          </a:xfrm>
          <a:prstGeom prst="rect">
            <a:avLst/>
          </a:prstGeom>
          <a:noFill/>
        </p:spPr>
        <p:txBody>
          <a:bodyPr anchor="ctr">
            <a:noAutofit/>
          </a:bodyPr>
          <a:lstStyle/>
          <a:p>
            <a:pPr algn="ctr">
              <a:lnSpc>
                <a:spcPct val="100000"/>
              </a:lnSpc>
            </a:pPr>
            <a:r>
              <a:rPr lang="en-US" sz="6600" b="1" dirty="0" err="1">
                <a:solidFill>
                  <a:schemeClr val="bg1"/>
                </a:solidFill>
              </a:rPr>
              <a:t>Ramulator</a:t>
            </a:r>
            <a:r>
              <a:rPr lang="en-US" sz="6600" b="1" dirty="0">
                <a:solidFill>
                  <a:schemeClr val="bg1"/>
                </a:solidFill>
              </a:rPr>
              <a:t>:</a:t>
            </a:r>
            <a:br>
              <a:rPr lang="en-US" sz="6600" b="1" dirty="0">
                <a:solidFill>
                  <a:schemeClr val="bg1"/>
                </a:solidFill>
              </a:rPr>
            </a:br>
            <a:r>
              <a:rPr lang="en-US" sz="6600" b="1" dirty="0">
                <a:solidFill>
                  <a:schemeClr val="bg1"/>
                </a:solidFill>
              </a:rPr>
              <a:t>Research Highlights</a:t>
            </a:r>
            <a:endParaRPr lang="en-US" sz="6600" b="1" dirty="0">
              <a:solidFill>
                <a:schemeClr val="bg1"/>
              </a:solidFill>
              <a:cs typeface="Cambria"/>
            </a:endParaRPr>
          </a:p>
        </p:txBody>
      </p:sp>
      <p:sp>
        <p:nvSpPr>
          <p:cNvPr id="103" name="Subtitle 2">
            <a:extLst>
              <a:ext uri="{FF2B5EF4-FFF2-40B4-BE49-F238E27FC236}">
                <a16:creationId xmlns:a16="http://schemas.microsoft.com/office/drawing/2014/main" id="{053C8A8E-2DD3-CB03-6219-8167687BC0C6}"/>
              </a:ext>
            </a:extLst>
          </p:cNvPr>
          <p:cNvSpPr>
            <a:spLocks noGrp="1"/>
          </p:cNvSpPr>
          <p:nvPr>
            <p:ph type="subTitle" idx="1"/>
          </p:nvPr>
        </p:nvSpPr>
        <p:spPr>
          <a:xfrm>
            <a:off x="1143000" y="3979309"/>
            <a:ext cx="6858000" cy="1655762"/>
          </a:xfrm>
          <a:prstGeom prst="rect">
            <a:avLst/>
          </a:prstGeom>
        </p:spPr>
        <p:txBody>
          <a:bodyPr anchor="ctr">
            <a:noAutofit/>
          </a:bodyPr>
          <a:lstStyle/>
          <a:p>
            <a:pPr marL="0" indent="0" algn="ctr">
              <a:buNone/>
            </a:pPr>
            <a:r>
              <a:rPr lang="en-US" b="1" dirty="0">
                <a:latin typeface="+mj-lt"/>
                <a:cs typeface="Cambria"/>
              </a:rPr>
              <a:t>Nisa </a:t>
            </a:r>
            <a:r>
              <a:rPr lang="en-US" b="1" dirty="0" err="1">
                <a:latin typeface="+mj-lt"/>
                <a:cs typeface="Cambria"/>
              </a:rPr>
              <a:t>Bostanc</a:t>
            </a:r>
            <a:r>
              <a:rPr lang="tr-TR" b="1" dirty="0">
                <a:latin typeface="+mj-lt"/>
                <a:cs typeface="Cambria"/>
              </a:rPr>
              <a:t>ı</a:t>
            </a:r>
            <a:br>
              <a:rPr lang="en-US" dirty="0">
                <a:latin typeface="+mj-lt"/>
                <a:cs typeface="Cambria"/>
              </a:rPr>
            </a:br>
            <a:br>
              <a:rPr lang="en-US" dirty="0">
                <a:solidFill>
                  <a:schemeClr val="tx1">
                    <a:lumMod val="50000"/>
                    <a:lumOff val="50000"/>
                  </a:schemeClr>
                </a:solidFill>
                <a:latin typeface="+mj-lt"/>
                <a:cs typeface="Cambria"/>
              </a:rPr>
            </a:br>
            <a:r>
              <a:rPr lang="en-US" dirty="0">
                <a:solidFill>
                  <a:schemeClr val="tx1">
                    <a:lumMod val="50000"/>
                    <a:lumOff val="50000"/>
                  </a:schemeClr>
                </a:solidFill>
                <a:latin typeface="+mj-lt"/>
                <a:cs typeface="Cambria"/>
              </a:rPr>
              <a:t>27.06.2026</a:t>
            </a:r>
            <a:br>
              <a:rPr lang="en-US" dirty="0">
                <a:solidFill>
                  <a:schemeClr val="tx1">
                    <a:lumMod val="50000"/>
                    <a:lumOff val="50000"/>
                  </a:schemeClr>
                </a:solidFill>
                <a:latin typeface="+mj-lt"/>
                <a:cs typeface="Cambria"/>
              </a:rPr>
            </a:br>
            <a:r>
              <a:rPr lang="en-US" dirty="0">
                <a:solidFill>
                  <a:schemeClr val="tx1">
                    <a:lumMod val="50000"/>
                    <a:lumOff val="50000"/>
                  </a:schemeClr>
                </a:solidFill>
                <a:latin typeface="+mj-lt"/>
                <a:cs typeface="Cambria"/>
              </a:rPr>
              <a:t>R&amp;DB Tutorial at ISCA’26</a:t>
            </a:r>
          </a:p>
        </p:txBody>
      </p:sp>
      <p:pic>
        <p:nvPicPr>
          <p:cNvPr id="3" name="Graphic 2">
            <a:extLst>
              <a:ext uri="{FF2B5EF4-FFF2-40B4-BE49-F238E27FC236}">
                <a16:creationId xmlns:a16="http://schemas.microsoft.com/office/drawing/2014/main" id="{7DAD0E2E-F619-F097-2DCF-D3A3BD4B9B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4556" y="6128926"/>
            <a:ext cx="2176678" cy="418752"/>
          </a:xfrm>
          <a:prstGeom prst="rect">
            <a:avLst/>
          </a:prstGeom>
        </p:spPr>
      </p:pic>
      <p:pic>
        <p:nvPicPr>
          <p:cNvPr id="10" name="Picture 9">
            <a:extLst>
              <a:ext uri="{FF2B5EF4-FFF2-40B4-BE49-F238E27FC236}">
                <a16:creationId xmlns:a16="http://schemas.microsoft.com/office/drawing/2014/main" id="{41A70F5A-8170-C499-0AF4-95D399E40EC6}"/>
              </a:ext>
            </a:extLst>
          </p:cNvPr>
          <p:cNvPicPr>
            <a:picLocks noChangeAspect="1"/>
          </p:cNvPicPr>
          <p:nvPr userDrawn="1"/>
        </p:nvPicPr>
        <p:blipFill rotWithShape="1">
          <a:blip r:embed="rId4"/>
          <a:srcRect l="11820" t="33599" r="12247" b="30996"/>
          <a:stretch/>
        </p:blipFill>
        <p:spPr>
          <a:xfrm>
            <a:off x="6111979" y="6090478"/>
            <a:ext cx="2657465" cy="457200"/>
          </a:xfrm>
          <a:prstGeom prst="rect">
            <a:avLst/>
          </a:prstGeom>
        </p:spPr>
      </p:pic>
    </p:spTree>
    <p:extLst>
      <p:ext uri="{BB962C8B-B14F-4D97-AF65-F5344CB8AC3E}">
        <p14:creationId xmlns:p14="http://schemas.microsoft.com/office/powerpoint/2010/main" val="2681477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65D7-D2F9-E6DB-09DE-DC737542374A}"/>
            </a:ext>
          </a:extLst>
        </p:cNvPr>
        <p:cNvGrpSpPr/>
        <p:nvPr/>
      </p:nvGrpSpPr>
      <p:grpSpPr>
        <a:xfrm>
          <a:off x="0" y="0"/>
          <a:ext cx="0" cy="0"/>
          <a:chOff x="0" y="0"/>
          <a:chExt cx="0" cy="0"/>
        </a:xfrm>
      </p:grpSpPr>
      <p:sp>
        <p:nvSpPr>
          <p:cNvPr id="104" name="Title 1">
            <a:extLst>
              <a:ext uri="{FF2B5EF4-FFF2-40B4-BE49-F238E27FC236}">
                <a16:creationId xmlns:a16="http://schemas.microsoft.com/office/drawing/2014/main" id="{160C4220-9E2E-8E3F-72A9-D1F22DB065FB}"/>
              </a:ext>
            </a:extLst>
          </p:cNvPr>
          <p:cNvSpPr txBox="1">
            <a:spLocks/>
          </p:cNvSpPr>
          <p:nvPr/>
        </p:nvSpPr>
        <p:spPr>
          <a:xfrm>
            <a:off x="0" y="-1"/>
            <a:ext cx="9144000" cy="3979309"/>
          </a:xfrm>
          <a:prstGeom prst="rect">
            <a:avLst/>
          </a:prstGeom>
          <a:solidFill>
            <a:srgbClr val="CFDEFD"/>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6600" b="1">
              <a:solidFill>
                <a:srgbClr val="70AD47"/>
              </a:solidFill>
            </a:endParaRPr>
          </a:p>
        </p:txBody>
      </p:sp>
      <p:pic>
        <p:nvPicPr>
          <p:cNvPr id="2" name="Picture 1" descr="A red circle with white text&#10;&#10;AI-generated content may be incorrect.">
            <a:extLst>
              <a:ext uri="{FF2B5EF4-FFF2-40B4-BE49-F238E27FC236}">
                <a16:creationId xmlns:a16="http://schemas.microsoft.com/office/drawing/2014/main" id="{ADAB0EE9-DA8A-A6E2-1FFB-587FD6A03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7104" y="139787"/>
            <a:ext cx="984643" cy="979434"/>
          </a:xfrm>
          <a:prstGeom prst="rect">
            <a:avLst/>
          </a:prstGeom>
        </p:spPr>
      </p:pic>
      <p:pic>
        <p:nvPicPr>
          <p:cNvPr id="4" name="Picture 3"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B04C5653-1997-C854-14EA-F21C3C0657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5376" y="139787"/>
            <a:ext cx="984643" cy="979434"/>
          </a:xfrm>
          <a:prstGeom prst="rect">
            <a:avLst/>
          </a:prstGeom>
        </p:spPr>
      </p:pic>
      <p:pic>
        <p:nvPicPr>
          <p:cNvPr id="5" name="Picture 4" descr="A blue circle with white text&#10;&#10;AI-generated content may be incorrect.">
            <a:extLst>
              <a:ext uri="{FF2B5EF4-FFF2-40B4-BE49-F238E27FC236}">
                <a16:creationId xmlns:a16="http://schemas.microsoft.com/office/drawing/2014/main" id="{6208498F-21D9-4239-8704-9C4F1AD389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8833" y="139787"/>
            <a:ext cx="984643" cy="979434"/>
          </a:xfrm>
          <a:prstGeom prst="rect">
            <a:avLst/>
          </a:prstGeom>
        </p:spPr>
      </p:pic>
      <p:sp>
        <p:nvSpPr>
          <p:cNvPr id="102" name="Title 1">
            <a:extLst>
              <a:ext uri="{FF2B5EF4-FFF2-40B4-BE49-F238E27FC236}">
                <a16:creationId xmlns:a16="http://schemas.microsoft.com/office/drawing/2014/main" id="{0763AE77-852A-1A7D-ECB6-9D272D19A817}"/>
              </a:ext>
            </a:extLst>
          </p:cNvPr>
          <p:cNvSpPr>
            <a:spLocks noGrp="1"/>
          </p:cNvSpPr>
          <p:nvPr>
            <p:ph type="ctrTitle"/>
          </p:nvPr>
        </p:nvSpPr>
        <p:spPr>
          <a:xfrm>
            <a:off x="374556" y="1549927"/>
            <a:ext cx="8394888" cy="2387600"/>
          </a:xfrm>
          <a:prstGeom prst="rect">
            <a:avLst/>
          </a:prstGeom>
          <a:noFill/>
        </p:spPr>
        <p:txBody>
          <a:bodyPr anchor="ctr">
            <a:noAutofit/>
          </a:bodyPr>
          <a:lstStyle/>
          <a:p>
            <a:pPr algn="ctr">
              <a:lnSpc>
                <a:spcPct val="75000"/>
              </a:lnSpc>
            </a:pPr>
            <a:r>
              <a:rPr lang="en-US" b="1">
                <a:solidFill>
                  <a:srgbClr val="DC5F0B"/>
                </a:solidFill>
              </a:rPr>
              <a:t>Cleaning up the Mess</a:t>
            </a:r>
            <a:br>
              <a:rPr lang="en-US" sz="5400" b="1">
                <a:solidFill>
                  <a:srgbClr val="DC5F0B"/>
                </a:solidFill>
              </a:rPr>
            </a:br>
            <a:br>
              <a:rPr lang="en-US" sz="1000" b="1">
                <a:solidFill>
                  <a:srgbClr val="DC5F0B"/>
                </a:solidFill>
              </a:rPr>
            </a:br>
            <a:r>
              <a:rPr lang="en-US" sz="3600" b="1" spc="100"/>
              <a:t>Re-Evaluating the Real-System</a:t>
            </a:r>
            <a:br>
              <a:rPr lang="en-US" sz="3600" b="1" spc="100"/>
            </a:br>
            <a:r>
              <a:rPr lang="en-US" sz="3600" b="1" spc="100"/>
              <a:t>Modeling Accuracy of </a:t>
            </a:r>
            <a:r>
              <a:rPr lang="en-US" sz="3600" b="1" spc="100" err="1"/>
              <a:t>Ramulator</a:t>
            </a:r>
            <a:r>
              <a:rPr lang="en-US" sz="3600" b="1" spc="100"/>
              <a:t> 2.0</a:t>
            </a:r>
            <a:endParaRPr lang="en-US" sz="4800" b="1" spc="100">
              <a:cs typeface="Cambria"/>
            </a:endParaRPr>
          </a:p>
        </p:txBody>
      </p:sp>
      <p:sp>
        <p:nvSpPr>
          <p:cNvPr id="103" name="Subtitle 2">
            <a:extLst>
              <a:ext uri="{FF2B5EF4-FFF2-40B4-BE49-F238E27FC236}">
                <a16:creationId xmlns:a16="http://schemas.microsoft.com/office/drawing/2014/main" id="{053C8A8E-2DD3-CB03-6219-8167687BC0C6}"/>
              </a:ext>
            </a:extLst>
          </p:cNvPr>
          <p:cNvSpPr>
            <a:spLocks noGrp="1"/>
          </p:cNvSpPr>
          <p:nvPr>
            <p:ph type="subTitle" idx="1"/>
          </p:nvPr>
        </p:nvSpPr>
        <p:spPr>
          <a:xfrm>
            <a:off x="374556" y="4100370"/>
            <a:ext cx="8394888" cy="1907493"/>
          </a:xfrm>
          <a:prstGeom prst="rect">
            <a:avLst/>
          </a:prstGeom>
        </p:spPr>
        <p:txBody>
          <a:bodyPr anchor="ctr">
            <a:noAutofit/>
          </a:bodyPr>
          <a:lstStyle/>
          <a:p>
            <a:pPr marL="0" indent="0" algn="ctr">
              <a:lnSpc>
                <a:spcPct val="100000"/>
              </a:lnSpc>
              <a:buNone/>
            </a:pPr>
            <a:r>
              <a:rPr lang="en-US">
                <a:latin typeface="+mj-lt"/>
                <a:cs typeface="Cambria"/>
              </a:rPr>
              <a:t>F. Nisa </a:t>
            </a:r>
            <a:r>
              <a:rPr lang="en-US" err="1">
                <a:latin typeface="+mj-lt"/>
                <a:cs typeface="Cambria"/>
              </a:rPr>
              <a:t>Bostanc</a:t>
            </a:r>
            <a:r>
              <a:rPr lang="tr-TR">
                <a:latin typeface="+mj-lt"/>
                <a:cs typeface="Cambria"/>
              </a:rPr>
              <a:t>ı</a:t>
            </a:r>
            <a:r>
              <a:rPr lang="en-US">
                <a:latin typeface="+mj-lt"/>
                <a:cs typeface="Cambria"/>
              </a:rPr>
              <a:t>*	</a:t>
            </a:r>
            <a:r>
              <a:rPr lang="en-US" err="1">
                <a:latin typeface="+mj-lt"/>
                <a:cs typeface="Cambria"/>
              </a:rPr>
              <a:t>Haocong</a:t>
            </a:r>
            <a:r>
              <a:rPr lang="en-US">
                <a:latin typeface="+mj-lt"/>
                <a:cs typeface="Cambria"/>
              </a:rPr>
              <a:t> Luo*		</a:t>
            </a:r>
            <a:r>
              <a:rPr lang="en-US" err="1">
                <a:solidFill>
                  <a:schemeClr val="bg2">
                    <a:lumMod val="50000"/>
                  </a:schemeClr>
                </a:solidFill>
                <a:latin typeface="+mj-lt"/>
                <a:cs typeface="Cambria"/>
              </a:rPr>
              <a:t>Ataberk</a:t>
            </a:r>
            <a:r>
              <a:rPr lang="en-US">
                <a:solidFill>
                  <a:schemeClr val="bg2">
                    <a:lumMod val="50000"/>
                  </a:schemeClr>
                </a:solidFill>
                <a:latin typeface="+mj-lt"/>
                <a:cs typeface="Cambria"/>
              </a:rPr>
              <a:t> Olgun*</a:t>
            </a:r>
            <a:br>
              <a:rPr lang="en-US">
                <a:solidFill>
                  <a:schemeClr val="bg2">
                    <a:lumMod val="50000"/>
                  </a:schemeClr>
                </a:solidFill>
                <a:latin typeface="+mj-lt"/>
                <a:cs typeface="Cambria"/>
              </a:rPr>
            </a:br>
            <a:r>
              <a:rPr lang="en-US">
                <a:solidFill>
                  <a:schemeClr val="bg2">
                    <a:lumMod val="50000"/>
                  </a:schemeClr>
                </a:solidFill>
                <a:latin typeface="+mj-lt"/>
                <a:cs typeface="Cambria"/>
              </a:rPr>
              <a:t>Maria </a:t>
            </a:r>
            <a:r>
              <a:rPr lang="en-US" err="1">
                <a:solidFill>
                  <a:schemeClr val="bg2">
                    <a:lumMod val="50000"/>
                  </a:schemeClr>
                </a:solidFill>
                <a:latin typeface="+mj-lt"/>
                <a:cs typeface="Cambria"/>
              </a:rPr>
              <a:t>Makeenkova</a:t>
            </a:r>
            <a:r>
              <a:rPr lang="en-US">
                <a:solidFill>
                  <a:schemeClr val="bg2">
                    <a:lumMod val="50000"/>
                  </a:schemeClr>
                </a:solidFill>
                <a:latin typeface="+mj-lt"/>
                <a:cs typeface="Cambria"/>
              </a:rPr>
              <a:t>	Geraldo F. de Oliveira</a:t>
            </a:r>
            <a:br>
              <a:rPr lang="en-US">
                <a:solidFill>
                  <a:schemeClr val="bg2">
                    <a:lumMod val="50000"/>
                  </a:schemeClr>
                </a:solidFill>
                <a:latin typeface="+mj-lt"/>
                <a:cs typeface="Cambria"/>
              </a:rPr>
            </a:br>
            <a:r>
              <a:rPr lang="en-US">
                <a:solidFill>
                  <a:schemeClr val="bg2">
                    <a:lumMod val="50000"/>
                  </a:schemeClr>
                </a:solidFill>
                <a:latin typeface="+mj-lt"/>
                <a:cs typeface="Cambria"/>
              </a:rPr>
              <a:t>A. Giray Ya</a:t>
            </a:r>
            <a:r>
              <a:rPr lang="tr-TR" err="1">
                <a:solidFill>
                  <a:schemeClr val="bg2">
                    <a:lumMod val="50000"/>
                  </a:schemeClr>
                </a:solidFill>
                <a:latin typeface="+mj-lt"/>
                <a:cs typeface="Cambria"/>
              </a:rPr>
              <a:t>ğlıkçı</a:t>
            </a:r>
            <a:r>
              <a:rPr lang="en-US">
                <a:solidFill>
                  <a:schemeClr val="bg2">
                    <a:lumMod val="50000"/>
                  </a:schemeClr>
                </a:solidFill>
                <a:latin typeface="+mj-lt"/>
                <a:cs typeface="Cambria"/>
              </a:rPr>
              <a:t>	Onur Mutlu</a:t>
            </a:r>
            <a:br>
              <a:rPr lang="en-US">
                <a:solidFill>
                  <a:schemeClr val="bg2">
                    <a:lumMod val="50000"/>
                  </a:schemeClr>
                </a:solidFill>
                <a:latin typeface="+mj-lt"/>
                <a:cs typeface="Cambria"/>
              </a:rPr>
            </a:br>
            <a:br>
              <a:rPr lang="en-US" sz="1000">
                <a:solidFill>
                  <a:schemeClr val="bg2">
                    <a:lumMod val="50000"/>
                  </a:schemeClr>
                </a:solidFill>
                <a:latin typeface="+mj-lt"/>
                <a:cs typeface="Cambria"/>
              </a:rPr>
            </a:br>
            <a:r>
              <a:rPr lang="en-US" sz="1800">
                <a:solidFill>
                  <a:schemeClr val="bg2">
                    <a:lumMod val="75000"/>
                  </a:schemeClr>
                </a:solidFill>
                <a:latin typeface="+mj-lt"/>
                <a:cs typeface="Cambria"/>
              </a:rPr>
              <a:t>* Equal Contribution</a:t>
            </a:r>
          </a:p>
        </p:txBody>
      </p:sp>
      <p:pic>
        <p:nvPicPr>
          <p:cNvPr id="3" name="Graphic 2">
            <a:extLst>
              <a:ext uri="{FF2B5EF4-FFF2-40B4-BE49-F238E27FC236}">
                <a16:creationId xmlns:a16="http://schemas.microsoft.com/office/drawing/2014/main" id="{7DAD0E2E-F619-F097-2DCF-D3A3BD4B9B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556" y="6128926"/>
            <a:ext cx="2176678" cy="418752"/>
          </a:xfrm>
          <a:prstGeom prst="rect">
            <a:avLst/>
          </a:prstGeom>
        </p:spPr>
      </p:pic>
      <p:pic>
        <p:nvPicPr>
          <p:cNvPr id="10" name="Picture 9">
            <a:extLst>
              <a:ext uri="{FF2B5EF4-FFF2-40B4-BE49-F238E27FC236}">
                <a16:creationId xmlns:a16="http://schemas.microsoft.com/office/drawing/2014/main" id="{41A70F5A-8170-C499-0AF4-95D399E40EC6}"/>
              </a:ext>
            </a:extLst>
          </p:cNvPr>
          <p:cNvPicPr>
            <a:picLocks noChangeAspect="1"/>
          </p:cNvPicPr>
          <p:nvPr userDrawn="1"/>
        </p:nvPicPr>
        <p:blipFill rotWithShape="1">
          <a:blip r:embed="rId7"/>
          <a:srcRect l="11820" t="33599" r="12247" b="30996"/>
          <a:stretch/>
        </p:blipFill>
        <p:spPr>
          <a:xfrm>
            <a:off x="6111979" y="6090478"/>
            <a:ext cx="2657465" cy="457200"/>
          </a:xfrm>
          <a:prstGeom prst="rect">
            <a:avLst/>
          </a:prstGeom>
        </p:spPr>
      </p:pic>
    </p:spTree>
    <p:extLst>
      <p:ext uri="{BB962C8B-B14F-4D97-AF65-F5344CB8AC3E}">
        <p14:creationId xmlns:p14="http://schemas.microsoft.com/office/powerpoint/2010/main" val="711724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8C53B-8D7C-9F69-B652-762A19351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A39ED-E056-56E9-EF5A-E442466943E7}"/>
              </a:ext>
            </a:extLst>
          </p:cNvPr>
          <p:cNvSpPr>
            <a:spLocks noGrp="1"/>
          </p:cNvSpPr>
          <p:nvPr>
            <p:ph type="title"/>
          </p:nvPr>
        </p:nvSpPr>
        <p:spPr/>
        <p:txBody>
          <a:bodyPr/>
          <a:lstStyle/>
          <a:p>
            <a:r>
              <a:rPr lang="en-US"/>
              <a:t>DRAM and Memory System Simulation</a:t>
            </a:r>
          </a:p>
        </p:txBody>
      </p:sp>
      <p:sp>
        <p:nvSpPr>
          <p:cNvPr id="3" name="Content Placeholder 2">
            <a:extLst>
              <a:ext uri="{FF2B5EF4-FFF2-40B4-BE49-F238E27FC236}">
                <a16:creationId xmlns:a16="http://schemas.microsoft.com/office/drawing/2014/main" id="{13DAC5F7-99F0-E7F8-6D90-721C46ADA3F2}"/>
              </a:ext>
            </a:extLst>
          </p:cNvPr>
          <p:cNvSpPr>
            <a:spLocks noGrp="1"/>
          </p:cNvSpPr>
          <p:nvPr>
            <p:ph idx="1"/>
          </p:nvPr>
        </p:nvSpPr>
        <p:spPr>
          <a:xfrm>
            <a:off x="-1" y="1069726"/>
            <a:ext cx="9143999" cy="5538892"/>
          </a:xfrm>
        </p:spPr>
        <p:txBody>
          <a:bodyPr>
            <a:normAutofit lnSpcReduction="10000"/>
          </a:bodyPr>
          <a:lstStyle/>
          <a:p>
            <a:r>
              <a:rPr lang="en-US"/>
              <a:t>Cycle-level DRAM simulators provide </a:t>
            </a:r>
            <a:r>
              <a:rPr lang="en-US" b="1">
                <a:solidFill>
                  <a:srgbClr val="F23F00"/>
                </a:solidFill>
              </a:rPr>
              <a:t>accurate</a:t>
            </a:r>
            <a:r>
              <a:rPr lang="en-US"/>
              <a:t> and </a:t>
            </a:r>
            <a:br>
              <a:rPr lang="en-US"/>
            </a:br>
            <a:r>
              <a:rPr lang="en-US" b="1">
                <a:solidFill>
                  <a:srgbClr val="F23F00"/>
                </a:solidFill>
              </a:rPr>
              <a:t>flexible</a:t>
            </a:r>
            <a:r>
              <a:rPr lang="en-US">
                <a:solidFill>
                  <a:srgbClr val="F23F00"/>
                </a:solidFill>
              </a:rPr>
              <a:t> </a:t>
            </a:r>
            <a:r>
              <a:rPr lang="en-US" b="1">
                <a:solidFill>
                  <a:srgbClr val="F23F00"/>
                </a:solidFill>
              </a:rPr>
              <a:t>models</a:t>
            </a:r>
            <a:r>
              <a:rPr lang="en-US">
                <a:solidFill>
                  <a:srgbClr val="F23F00"/>
                </a:solidFill>
              </a:rPr>
              <a:t> </a:t>
            </a:r>
            <a:r>
              <a:rPr lang="en-US"/>
              <a:t>for DRAM and memory controller operations</a:t>
            </a:r>
          </a:p>
          <a:p>
            <a:endParaRPr lang="en-US" sz="1600"/>
          </a:p>
          <a:p>
            <a:r>
              <a:rPr lang="en-US"/>
              <a:t>Enable research on </a:t>
            </a:r>
            <a:r>
              <a:rPr lang="en-US" b="1">
                <a:solidFill>
                  <a:srgbClr val="548235"/>
                </a:solidFill>
              </a:rPr>
              <a:t>current</a:t>
            </a:r>
            <a:r>
              <a:rPr lang="en-US">
                <a:solidFill>
                  <a:srgbClr val="548235"/>
                </a:solidFill>
              </a:rPr>
              <a:t> </a:t>
            </a:r>
            <a:r>
              <a:rPr lang="en-US"/>
              <a:t>and </a:t>
            </a:r>
            <a:r>
              <a:rPr lang="en-US" b="1">
                <a:solidFill>
                  <a:srgbClr val="548235"/>
                </a:solidFill>
              </a:rPr>
              <a:t>future memory systems</a:t>
            </a:r>
          </a:p>
          <a:p>
            <a:endParaRPr lang="en-US">
              <a:solidFill>
                <a:srgbClr val="548235"/>
              </a:solidFill>
            </a:endParaRPr>
          </a:p>
          <a:p>
            <a:endParaRPr lang="en-US">
              <a:solidFill>
                <a:srgbClr val="548235"/>
              </a:solidFill>
            </a:endParaRPr>
          </a:p>
          <a:p>
            <a:endParaRPr lang="en-US">
              <a:solidFill>
                <a:srgbClr val="548235"/>
              </a:solidFill>
            </a:endParaRPr>
          </a:p>
          <a:p>
            <a:endParaRPr lang="en-US"/>
          </a:p>
          <a:p>
            <a:endParaRPr lang="en-US" sz="3600"/>
          </a:p>
          <a:p>
            <a:r>
              <a:rPr lang="en-US"/>
              <a:t>Critical for </a:t>
            </a:r>
            <a:r>
              <a:rPr lang="en-US" b="1">
                <a:solidFill>
                  <a:schemeClr val="accent6">
                    <a:lumMod val="75000"/>
                  </a:schemeClr>
                </a:solidFill>
              </a:rPr>
              <a:t>improving</a:t>
            </a:r>
            <a:r>
              <a:rPr lang="en-US"/>
              <a:t> the </a:t>
            </a:r>
            <a:r>
              <a:rPr lang="en-US" b="1">
                <a:solidFill>
                  <a:schemeClr val="accent6">
                    <a:lumMod val="75000"/>
                  </a:schemeClr>
                </a:solidFill>
              </a:rPr>
              <a:t>performance, efficiency,</a:t>
            </a:r>
            <a:br>
              <a:rPr lang="en-US" b="1">
                <a:solidFill>
                  <a:schemeClr val="accent6">
                    <a:lumMod val="75000"/>
                  </a:schemeClr>
                </a:solidFill>
              </a:rPr>
            </a:br>
            <a:r>
              <a:rPr lang="en-US" b="1">
                <a:solidFill>
                  <a:schemeClr val="accent6">
                    <a:lumMod val="75000"/>
                  </a:schemeClr>
                </a:solidFill>
              </a:rPr>
              <a:t>and robustness (security, safety, reliability) </a:t>
            </a:r>
            <a:r>
              <a:rPr lang="en-US"/>
              <a:t>of </a:t>
            </a:r>
            <a:br>
              <a:rPr lang="en-US"/>
            </a:br>
            <a:r>
              <a:rPr lang="en-US"/>
              <a:t>memory systems</a:t>
            </a:r>
          </a:p>
        </p:txBody>
      </p:sp>
      <p:sp>
        <p:nvSpPr>
          <p:cNvPr id="4" name="Slide Number Placeholder 3">
            <a:extLst>
              <a:ext uri="{FF2B5EF4-FFF2-40B4-BE49-F238E27FC236}">
                <a16:creationId xmlns:a16="http://schemas.microsoft.com/office/drawing/2014/main" id="{0F1796EA-9DB5-E857-9587-3BD021557B02}"/>
              </a:ext>
            </a:extLst>
          </p:cNvPr>
          <p:cNvSpPr>
            <a:spLocks noGrp="1"/>
          </p:cNvSpPr>
          <p:nvPr>
            <p:ph type="sldNum" sz="quarter" idx="12"/>
          </p:nvPr>
        </p:nvSpPr>
        <p:spPr/>
        <p:txBody>
          <a:bodyPr/>
          <a:lstStyle/>
          <a:p>
            <a:fld id="{CBE5B309-C2CE-4D90-B104-F7E98438FC65}" type="slidenum">
              <a:rPr lang="tr-TR" smtClean="0"/>
              <a:pPr/>
              <a:t>3</a:t>
            </a:fld>
            <a:endParaRPr lang="tr-TR"/>
          </a:p>
        </p:txBody>
      </p:sp>
      <p:grpSp>
        <p:nvGrpSpPr>
          <p:cNvPr id="17" name="Group 16">
            <a:extLst>
              <a:ext uri="{FF2B5EF4-FFF2-40B4-BE49-F238E27FC236}">
                <a16:creationId xmlns:a16="http://schemas.microsoft.com/office/drawing/2014/main" id="{2ED002D8-8D76-D257-C513-057E2FEA2391}"/>
              </a:ext>
            </a:extLst>
          </p:cNvPr>
          <p:cNvGrpSpPr/>
          <p:nvPr/>
        </p:nvGrpSpPr>
        <p:grpSpPr>
          <a:xfrm>
            <a:off x="494305" y="2814476"/>
            <a:ext cx="2529443" cy="2077417"/>
            <a:chOff x="259081" y="2814476"/>
            <a:chExt cx="2529443" cy="2077417"/>
          </a:xfrm>
        </p:grpSpPr>
        <p:sp>
          <p:nvSpPr>
            <p:cNvPr id="8" name="TextBox 7">
              <a:extLst>
                <a:ext uri="{FF2B5EF4-FFF2-40B4-BE49-F238E27FC236}">
                  <a16:creationId xmlns:a16="http://schemas.microsoft.com/office/drawing/2014/main" id="{981B8565-0FEC-987D-D8F0-0E40D9A17D56}"/>
                </a:ext>
              </a:extLst>
            </p:cNvPr>
            <p:cNvSpPr txBox="1"/>
            <p:nvPr/>
          </p:nvSpPr>
          <p:spPr>
            <a:xfrm>
              <a:off x="259081" y="4184007"/>
              <a:ext cx="2529443" cy="707886"/>
            </a:xfrm>
            <a:prstGeom prst="rect">
              <a:avLst/>
            </a:prstGeom>
            <a:noFill/>
          </p:spPr>
          <p:txBody>
            <a:bodyPr wrap="square" rtlCol="0">
              <a:spAutoFit/>
            </a:bodyPr>
            <a:lstStyle/>
            <a:p>
              <a:pPr algn="ctr"/>
              <a:r>
                <a:rPr lang="en-US" sz="2000" b="1">
                  <a:solidFill>
                    <a:srgbClr val="F23F00"/>
                  </a:solidFill>
                  <a:latin typeface="+mj-lt"/>
                </a:rPr>
                <a:t>DRAM performance and latency</a:t>
              </a:r>
            </a:p>
          </p:txBody>
        </p:sp>
        <p:pic>
          <p:nvPicPr>
            <p:cNvPr id="16" name="Picture 15">
              <a:extLst>
                <a:ext uri="{FF2B5EF4-FFF2-40B4-BE49-F238E27FC236}">
                  <a16:creationId xmlns:a16="http://schemas.microsoft.com/office/drawing/2014/main" id="{1038788D-8244-1908-8DC2-B00A6629C4B6}"/>
                </a:ext>
              </a:extLst>
            </p:cNvPr>
            <p:cNvPicPr>
              <a:picLocks noChangeAspect="1"/>
            </p:cNvPicPr>
            <p:nvPr/>
          </p:nvPicPr>
          <p:blipFill>
            <a:blip r:embed="rId3">
              <a:extLst>
                <a:ext uri="{28A0092B-C50C-407E-A947-70E740481C1C}">
                  <a14:useLocalDpi xmlns:a14="http://schemas.microsoft.com/office/drawing/2010/main" val="0"/>
                </a:ext>
              </a:extLst>
            </a:blip>
            <a:srcRect l="8127" t="18393" r="52273" b="24627"/>
            <a:stretch>
              <a:fillRect/>
            </a:stretch>
          </p:blipFill>
          <p:spPr>
            <a:xfrm>
              <a:off x="809946" y="2814476"/>
              <a:ext cx="1427711" cy="1369531"/>
            </a:xfrm>
            <a:prstGeom prst="rect">
              <a:avLst/>
            </a:prstGeom>
          </p:spPr>
        </p:pic>
      </p:grpSp>
      <p:grpSp>
        <p:nvGrpSpPr>
          <p:cNvPr id="15" name="Group 14">
            <a:extLst>
              <a:ext uri="{FF2B5EF4-FFF2-40B4-BE49-F238E27FC236}">
                <a16:creationId xmlns:a16="http://schemas.microsoft.com/office/drawing/2014/main" id="{5E32100F-66CC-F7BE-19C6-4E38D131296C}"/>
              </a:ext>
            </a:extLst>
          </p:cNvPr>
          <p:cNvGrpSpPr/>
          <p:nvPr/>
        </p:nvGrpSpPr>
        <p:grpSpPr>
          <a:xfrm>
            <a:off x="3307279" y="2824979"/>
            <a:ext cx="2529443" cy="2066914"/>
            <a:chOff x="3307279" y="2824979"/>
            <a:chExt cx="2529443" cy="2066914"/>
          </a:xfrm>
        </p:grpSpPr>
        <p:sp>
          <p:nvSpPr>
            <p:cNvPr id="10" name="TextBox 9">
              <a:extLst>
                <a:ext uri="{FF2B5EF4-FFF2-40B4-BE49-F238E27FC236}">
                  <a16:creationId xmlns:a16="http://schemas.microsoft.com/office/drawing/2014/main" id="{519ABE3C-C528-F1FE-0F42-16EDAC2F8649}"/>
                </a:ext>
              </a:extLst>
            </p:cNvPr>
            <p:cNvSpPr txBox="1"/>
            <p:nvPr/>
          </p:nvSpPr>
          <p:spPr>
            <a:xfrm>
              <a:off x="3307279" y="4184007"/>
              <a:ext cx="2529443" cy="707886"/>
            </a:xfrm>
            <a:prstGeom prst="rect">
              <a:avLst/>
            </a:prstGeom>
            <a:noFill/>
          </p:spPr>
          <p:txBody>
            <a:bodyPr wrap="square" rtlCol="0">
              <a:spAutoFit/>
            </a:bodyPr>
            <a:lstStyle/>
            <a:p>
              <a:pPr algn="ctr"/>
              <a:r>
                <a:rPr lang="en-US" sz="2000" b="1">
                  <a:solidFill>
                    <a:srgbClr val="F23F00"/>
                  </a:solidFill>
                  <a:latin typeface="+mj-lt"/>
                </a:rPr>
                <a:t>Solutions for robustness issues</a:t>
              </a:r>
            </a:p>
          </p:txBody>
        </p:sp>
        <p:pic>
          <p:nvPicPr>
            <p:cNvPr id="18" name="Picture 17">
              <a:extLst>
                <a:ext uri="{FF2B5EF4-FFF2-40B4-BE49-F238E27FC236}">
                  <a16:creationId xmlns:a16="http://schemas.microsoft.com/office/drawing/2014/main" id="{0594071B-DD25-A679-C7AD-6A6592F5EF83}"/>
                </a:ext>
              </a:extLst>
            </p:cNvPr>
            <p:cNvPicPr>
              <a:picLocks noChangeAspect="1"/>
            </p:cNvPicPr>
            <p:nvPr/>
          </p:nvPicPr>
          <p:blipFill>
            <a:blip r:embed="rId3">
              <a:extLst>
                <a:ext uri="{28A0092B-C50C-407E-A947-70E740481C1C}">
                  <a14:useLocalDpi xmlns:a14="http://schemas.microsoft.com/office/drawing/2010/main" val="0"/>
                </a:ext>
              </a:extLst>
            </a:blip>
            <a:srcRect l="54935" t="19173" r="7756" b="26003"/>
            <a:stretch>
              <a:fillRect/>
            </a:stretch>
          </p:blipFill>
          <p:spPr>
            <a:xfrm>
              <a:off x="3901421" y="2824979"/>
              <a:ext cx="1341153" cy="1313901"/>
            </a:xfrm>
            <a:prstGeom prst="rect">
              <a:avLst/>
            </a:prstGeom>
          </p:spPr>
        </p:pic>
      </p:grpSp>
      <p:grpSp>
        <p:nvGrpSpPr>
          <p:cNvPr id="14" name="Group 13">
            <a:extLst>
              <a:ext uri="{FF2B5EF4-FFF2-40B4-BE49-F238E27FC236}">
                <a16:creationId xmlns:a16="http://schemas.microsoft.com/office/drawing/2014/main" id="{ABEE3B7F-342A-0092-631F-0FFD6A3F603E}"/>
              </a:ext>
            </a:extLst>
          </p:cNvPr>
          <p:cNvGrpSpPr/>
          <p:nvPr/>
        </p:nvGrpSpPr>
        <p:grpSpPr>
          <a:xfrm>
            <a:off x="6181716" y="2824978"/>
            <a:ext cx="2529443" cy="2066915"/>
            <a:chOff x="6355476" y="2824978"/>
            <a:chExt cx="2529443" cy="2066915"/>
          </a:xfrm>
        </p:grpSpPr>
        <p:sp>
          <p:nvSpPr>
            <p:cNvPr id="9" name="TextBox 8">
              <a:extLst>
                <a:ext uri="{FF2B5EF4-FFF2-40B4-BE49-F238E27FC236}">
                  <a16:creationId xmlns:a16="http://schemas.microsoft.com/office/drawing/2014/main" id="{961E03F3-5DF6-7562-820F-CBF1EFB4F02A}"/>
                </a:ext>
              </a:extLst>
            </p:cNvPr>
            <p:cNvSpPr txBox="1"/>
            <p:nvPr/>
          </p:nvSpPr>
          <p:spPr>
            <a:xfrm>
              <a:off x="6355476" y="4184007"/>
              <a:ext cx="2529443" cy="707886"/>
            </a:xfrm>
            <a:prstGeom prst="rect">
              <a:avLst/>
            </a:prstGeom>
            <a:noFill/>
          </p:spPr>
          <p:txBody>
            <a:bodyPr wrap="square" rtlCol="0">
              <a:spAutoFit/>
            </a:bodyPr>
            <a:lstStyle/>
            <a:p>
              <a:pPr algn="ctr"/>
              <a:r>
                <a:rPr lang="en-US" sz="2000" b="1">
                  <a:solidFill>
                    <a:srgbClr val="F23F00"/>
                  </a:solidFill>
                  <a:latin typeface="+mj-lt"/>
                </a:rPr>
                <a:t>Emerging architectures</a:t>
              </a:r>
            </a:p>
          </p:txBody>
        </p:sp>
        <p:pic>
          <p:nvPicPr>
            <p:cNvPr id="13" name="Picture 12">
              <a:extLst>
                <a:ext uri="{FF2B5EF4-FFF2-40B4-BE49-F238E27FC236}">
                  <a16:creationId xmlns:a16="http://schemas.microsoft.com/office/drawing/2014/main" id="{EA0A0BBA-E0F8-7E0B-8FD5-2AC63582A0B2}"/>
                </a:ext>
              </a:extLst>
            </p:cNvPr>
            <p:cNvPicPr>
              <a:picLocks noChangeAspect="1"/>
            </p:cNvPicPr>
            <p:nvPr/>
          </p:nvPicPr>
          <p:blipFill>
            <a:blip r:embed="rId4">
              <a:extLst>
                <a:ext uri="{28A0092B-C50C-407E-A947-70E740481C1C}">
                  <a14:useLocalDpi xmlns:a14="http://schemas.microsoft.com/office/drawing/2010/main" val="0"/>
                </a:ext>
              </a:extLst>
            </a:blip>
            <a:srcRect l="4167" t="2500" r="3704" b="4970"/>
            <a:stretch>
              <a:fillRect/>
            </a:stretch>
          </p:blipFill>
          <p:spPr>
            <a:xfrm>
              <a:off x="6964586" y="2824978"/>
              <a:ext cx="1312003" cy="1317709"/>
            </a:xfrm>
            <a:prstGeom prst="ellipse">
              <a:avLst/>
            </a:prstGeom>
          </p:spPr>
        </p:pic>
      </p:grpSp>
    </p:spTree>
    <p:extLst>
      <p:ext uri="{BB962C8B-B14F-4D97-AF65-F5344CB8AC3E}">
        <p14:creationId xmlns:p14="http://schemas.microsoft.com/office/powerpoint/2010/main" val="73372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E9DC-7523-C579-F353-87650ADC383B}"/>
              </a:ext>
            </a:extLst>
          </p:cNvPr>
          <p:cNvSpPr>
            <a:spLocks noGrp="1"/>
          </p:cNvSpPr>
          <p:nvPr>
            <p:ph type="title"/>
          </p:nvPr>
        </p:nvSpPr>
        <p:spPr/>
        <p:txBody>
          <a:bodyPr/>
          <a:lstStyle/>
          <a:p>
            <a:r>
              <a:rPr lang="en-US" spc="-100"/>
              <a:t>Mess: A MICRO'24 Best Paper Runner-Up</a:t>
            </a:r>
          </a:p>
        </p:txBody>
      </p:sp>
      <p:sp>
        <p:nvSpPr>
          <p:cNvPr id="4" name="Slide Number Placeholder 3">
            <a:extLst>
              <a:ext uri="{FF2B5EF4-FFF2-40B4-BE49-F238E27FC236}">
                <a16:creationId xmlns:a16="http://schemas.microsoft.com/office/drawing/2014/main" id="{B62A6FCB-25AF-665A-B248-286EEB88F8E6}"/>
              </a:ext>
            </a:extLst>
          </p:cNvPr>
          <p:cNvSpPr>
            <a:spLocks noGrp="1"/>
          </p:cNvSpPr>
          <p:nvPr>
            <p:ph type="sldNum" sz="quarter" idx="12"/>
          </p:nvPr>
        </p:nvSpPr>
        <p:spPr/>
        <p:txBody>
          <a:bodyPr/>
          <a:lstStyle/>
          <a:p>
            <a:fld id="{CBE5B309-C2CE-4D90-B104-F7E98438FC65}" type="slidenum">
              <a:rPr lang="tr-TR" smtClean="0"/>
              <a:pPr/>
              <a:t>4</a:t>
            </a:fld>
            <a:endParaRPr lang="tr-TR"/>
          </a:p>
        </p:txBody>
      </p:sp>
      <p:sp>
        <p:nvSpPr>
          <p:cNvPr id="15" name="Rectangle 14">
            <a:extLst>
              <a:ext uri="{FF2B5EF4-FFF2-40B4-BE49-F238E27FC236}">
                <a16:creationId xmlns:a16="http://schemas.microsoft.com/office/drawing/2014/main" id="{54FD5012-ED67-F260-733E-607D66E410C7}"/>
              </a:ext>
            </a:extLst>
          </p:cNvPr>
          <p:cNvSpPr/>
          <p:nvPr/>
        </p:nvSpPr>
        <p:spPr>
          <a:xfrm>
            <a:off x="5763250" y="2337321"/>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96916390-1A53-71A5-8F9D-62487E91BC6A}"/>
              </a:ext>
            </a:extLst>
          </p:cNvPr>
          <p:cNvSpPr>
            <a:spLocks noGrp="1"/>
          </p:cNvSpPr>
          <p:nvPr>
            <p:ph idx="1"/>
          </p:nvPr>
        </p:nvSpPr>
        <p:spPr>
          <a:xfrm>
            <a:off x="-1" y="987087"/>
            <a:ext cx="9143999" cy="5258070"/>
          </a:xfrm>
        </p:spPr>
        <p:txBody>
          <a:bodyPr>
            <a:normAutofit/>
          </a:bodyPr>
          <a:lstStyle/>
          <a:p>
            <a:r>
              <a:rPr lang="en-GB" sz="2400" b="1" i="1"/>
              <a:t>"A Mess of Memory System Benchmarking, Simulation</a:t>
            </a:r>
            <a:br>
              <a:rPr lang="en-GB" sz="2400" b="1" i="1"/>
            </a:br>
            <a:r>
              <a:rPr lang="en-GB" sz="2400" b="1" i="1"/>
              <a:t>and Application Profiling", </a:t>
            </a:r>
            <a:r>
              <a:rPr lang="en-GB" sz="2400"/>
              <a:t>MICRO'24</a:t>
            </a:r>
          </a:p>
          <a:p>
            <a:pPr lvl="1">
              <a:buClr>
                <a:schemeClr val="tx1"/>
              </a:buClr>
            </a:pPr>
            <a:r>
              <a:rPr lang="en-GB" b="1">
                <a:solidFill>
                  <a:srgbClr val="FF5F25"/>
                </a:solidFill>
              </a:rPr>
              <a:t>A best paper runner-up </a:t>
            </a:r>
            <a:r>
              <a:rPr lang="en-GB"/>
              <a:t>with </a:t>
            </a:r>
            <a:r>
              <a:rPr lang="en-GB" b="1">
                <a:solidFill>
                  <a:srgbClr val="FF5F25"/>
                </a:solidFill>
              </a:rPr>
              <a:t>all 3 artifact badges</a:t>
            </a:r>
            <a:r>
              <a:rPr lang="en-GB" b="1" i="1">
                <a:solidFill>
                  <a:srgbClr val="FF5F25"/>
                </a:solidFill>
              </a:rPr>
              <a:t> </a:t>
            </a:r>
            <a:br>
              <a:rPr lang="en-GB" b="1" i="1">
                <a:solidFill>
                  <a:srgbClr val="FF5F25"/>
                </a:solidFill>
              </a:rPr>
            </a:br>
            <a:r>
              <a:rPr lang="en-GB"/>
              <a:t>(including </a:t>
            </a:r>
            <a:r>
              <a:rPr lang="en-GB" i="1"/>
              <a:t>"Reproducible"</a:t>
            </a:r>
            <a:r>
              <a:rPr lang="en-GB"/>
              <a:t>)</a:t>
            </a:r>
          </a:p>
          <a:p>
            <a:pPr>
              <a:buClr>
                <a:schemeClr val="tx1"/>
              </a:buClr>
            </a:pPr>
            <a:endParaRPr lang="en-GB" sz="2400" spc="-70"/>
          </a:p>
          <a:p>
            <a:r>
              <a:rPr lang="en-US" sz="2400"/>
              <a:t>Proposes </a:t>
            </a:r>
            <a:r>
              <a:rPr lang="en-US" sz="2400" b="1"/>
              <a:t>a new benchmark</a:t>
            </a:r>
            <a:r>
              <a:rPr lang="en-US" sz="2400"/>
              <a:t> to evaluate </a:t>
            </a:r>
            <a:r>
              <a:rPr lang="en-US" sz="2400" b="1"/>
              <a:t>the real</a:t>
            </a:r>
            <a:r>
              <a:rPr lang="en-US" sz="2400"/>
              <a:t> and </a:t>
            </a:r>
            <a:r>
              <a:rPr lang="en-US" sz="2400" b="1"/>
              <a:t>simulated memory system performance</a:t>
            </a:r>
          </a:p>
          <a:p>
            <a:endParaRPr lang="en-US" sz="2400" b="1"/>
          </a:p>
          <a:p>
            <a:r>
              <a:rPr lang="en-US" sz="2400"/>
              <a:t>Makes </a:t>
            </a:r>
            <a:r>
              <a:rPr lang="en-US" sz="2400" b="1">
                <a:solidFill>
                  <a:srgbClr val="FF5F25"/>
                </a:solidFill>
              </a:rPr>
              <a:t>strong negative claims </a:t>
            </a:r>
            <a:r>
              <a:rPr lang="en-US" sz="2400"/>
              <a:t>about two of our simulation infrastructures, </a:t>
            </a:r>
            <a:r>
              <a:rPr lang="en-US" sz="2400" err="1"/>
              <a:t>Ramulator</a:t>
            </a:r>
            <a:r>
              <a:rPr lang="en-US" sz="2400"/>
              <a:t> 2.0 and DAMOV, </a:t>
            </a:r>
            <a:br>
              <a:rPr lang="en-US" sz="2400"/>
            </a:br>
            <a:r>
              <a:rPr lang="en-US" sz="2400"/>
              <a:t>and shows </a:t>
            </a:r>
            <a:r>
              <a:rPr lang="en-US" sz="2400" b="1">
                <a:solidFill>
                  <a:srgbClr val="FF5F25"/>
                </a:solidFill>
              </a:rPr>
              <a:t>unexpected results</a:t>
            </a:r>
          </a:p>
          <a:p>
            <a:pPr lvl="1"/>
            <a:r>
              <a:rPr lang="en-US"/>
              <a:t>Contending that they </a:t>
            </a:r>
            <a:r>
              <a:rPr lang="en-US" i="1"/>
              <a:t>"poorly resemble the actual system performance"</a:t>
            </a:r>
          </a:p>
        </p:txBody>
      </p:sp>
    </p:spTree>
    <p:extLst>
      <p:ext uri="{BB962C8B-B14F-4D97-AF65-F5344CB8AC3E}">
        <p14:creationId xmlns:p14="http://schemas.microsoft.com/office/powerpoint/2010/main" val="83101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7783E-6F2B-070E-534E-755251C92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AC799-CACB-F9F7-B275-7CC4AE50A616}"/>
              </a:ext>
            </a:extLst>
          </p:cNvPr>
          <p:cNvSpPr>
            <a:spLocks noGrp="1"/>
          </p:cNvSpPr>
          <p:nvPr>
            <p:ph type="title"/>
          </p:nvPr>
        </p:nvSpPr>
        <p:spPr/>
        <p:txBody>
          <a:bodyPr/>
          <a:lstStyle/>
          <a:p>
            <a:r>
              <a:rPr lang="en-US"/>
              <a:t>Cleaning up the Mess</a:t>
            </a:r>
          </a:p>
        </p:txBody>
      </p:sp>
      <p:sp>
        <p:nvSpPr>
          <p:cNvPr id="4" name="Slide Number Placeholder 3">
            <a:extLst>
              <a:ext uri="{FF2B5EF4-FFF2-40B4-BE49-F238E27FC236}">
                <a16:creationId xmlns:a16="http://schemas.microsoft.com/office/drawing/2014/main" id="{8DF09BAA-5326-2B6D-6B0E-08165E310EED}"/>
              </a:ext>
            </a:extLst>
          </p:cNvPr>
          <p:cNvSpPr>
            <a:spLocks noGrp="1"/>
          </p:cNvSpPr>
          <p:nvPr>
            <p:ph type="sldNum" sz="quarter" idx="12"/>
          </p:nvPr>
        </p:nvSpPr>
        <p:spPr/>
        <p:txBody>
          <a:bodyPr/>
          <a:lstStyle/>
          <a:p>
            <a:fld id="{CBE5B309-C2CE-4D90-B104-F7E98438FC65}" type="slidenum">
              <a:rPr lang="tr-TR" smtClean="0"/>
              <a:pPr/>
              <a:t>5</a:t>
            </a:fld>
            <a:endParaRPr lang="tr-TR"/>
          </a:p>
        </p:txBody>
      </p:sp>
      <p:sp>
        <p:nvSpPr>
          <p:cNvPr id="15" name="Rectangle 14">
            <a:extLst>
              <a:ext uri="{FF2B5EF4-FFF2-40B4-BE49-F238E27FC236}">
                <a16:creationId xmlns:a16="http://schemas.microsoft.com/office/drawing/2014/main" id="{2B97EF6B-F189-03C3-0D8D-0E22B911F29D}"/>
              </a:ext>
            </a:extLst>
          </p:cNvPr>
          <p:cNvSpPr/>
          <p:nvPr/>
        </p:nvSpPr>
        <p:spPr>
          <a:xfrm>
            <a:off x="5763250" y="2337321"/>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AA30B448-1FFC-D7D0-B486-A7D1598ECA7D}"/>
              </a:ext>
            </a:extLst>
          </p:cNvPr>
          <p:cNvSpPr>
            <a:spLocks noGrp="1"/>
          </p:cNvSpPr>
          <p:nvPr>
            <p:ph idx="1"/>
          </p:nvPr>
        </p:nvSpPr>
        <p:spPr>
          <a:xfrm>
            <a:off x="-1" y="931025"/>
            <a:ext cx="9143999" cy="5314132"/>
          </a:xfrm>
        </p:spPr>
        <p:txBody>
          <a:bodyPr>
            <a:normAutofit/>
          </a:bodyPr>
          <a:lstStyle/>
          <a:p>
            <a:endParaRPr lang="en-US" sz="2200" i="1"/>
          </a:p>
        </p:txBody>
      </p:sp>
      <p:sp>
        <p:nvSpPr>
          <p:cNvPr id="6" name="Content Placeholder 2">
            <a:extLst>
              <a:ext uri="{FF2B5EF4-FFF2-40B4-BE49-F238E27FC236}">
                <a16:creationId xmlns:a16="http://schemas.microsoft.com/office/drawing/2014/main" id="{D9254E85-A4A5-3CBD-7AF6-DD3F403DE4D2}"/>
              </a:ext>
            </a:extLst>
          </p:cNvPr>
          <p:cNvSpPr txBox="1">
            <a:spLocks/>
          </p:cNvSpPr>
          <p:nvPr/>
        </p:nvSpPr>
        <p:spPr>
          <a:xfrm>
            <a:off x="0" y="1385574"/>
            <a:ext cx="9144000" cy="1285872"/>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a:solidFill>
                  <a:srgbClr val="F23F00"/>
                </a:solidFill>
                <a:latin typeface="+mj-lt"/>
              </a:rPr>
              <a:t>We demonstrate that </a:t>
            </a:r>
            <a:r>
              <a:rPr lang="en-GB" sz="2400" b="1">
                <a:solidFill>
                  <a:srgbClr val="F23F00"/>
                </a:solidFill>
                <a:latin typeface="+mj-lt"/>
              </a:rPr>
              <a:t>these claims and results are incorrect </a:t>
            </a:r>
            <a:br>
              <a:rPr lang="en-GB" sz="2400">
                <a:solidFill>
                  <a:srgbClr val="F23F00"/>
                </a:solidFill>
                <a:latin typeface="+mj-lt"/>
              </a:rPr>
            </a:br>
            <a:r>
              <a:rPr lang="en-GB" sz="2400">
                <a:solidFill>
                  <a:srgbClr val="F23F00"/>
                </a:solidFill>
                <a:latin typeface="+mj-lt"/>
              </a:rPr>
              <a:t>and are due to </a:t>
            </a:r>
            <a:r>
              <a:rPr lang="en-GB" sz="2400" b="1">
                <a:solidFill>
                  <a:srgbClr val="F23F00"/>
                </a:solidFill>
                <a:latin typeface="+mj-lt"/>
              </a:rPr>
              <a:t>configuration</a:t>
            </a:r>
            <a:r>
              <a:rPr lang="en-GB" sz="2400">
                <a:solidFill>
                  <a:srgbClr val="F23F00"/>
                </a:solidFill>
                <a:latin typeface="+mj-lt"/>
              </a:rPr>
              <a:t> and </a:t>
            </a:r>
            <a:r>
              <a:rPr lang="en-GB" sz="2400" b="1">
                <a:solidFill>
                  <a:srgbClr val="F23F00"/>
                </a:solidFill>
                <a:latin typeface="+mj-lt"/>
              </a:rPr>
              <a:t>simulator usage errors </a:t>
            </a:r>
            <a:br>
              <a:rPr lang="en-GB" sz="2400">
                <a:solidFill>
                  <a:srgbClr val="F23F00"/>
                </a:solidFill>
                <a:latin typeface="+mj-lt"/>
              </a:rPr>
            </a:br>
            <a:r>
              <a:rPr lang="en-GB" sz="2400">
                <a:solidFill>
                  <a:srgbClr val="F23F00"/>
                </a:solidFill>
                <a:latin typeface="+mj-lt"/>
              </a:rPr>
              <a:t>made in the Mess paper</a:t>
            </a:r>
            <a:endParaRPr lang="en-US" sz="2400">
              <a:solidFill>
                <a:srgbClr val="F23F00"/>
              </a:solidFill>
              <a:latin typeface="+mj-lt"/>
            </a:endParaRPr>
          </a:p>
        </p:txBody>
      </p:sp>
      <p:sp>
        <p:nvSpPr>
          <p:cNvPr id="3" name="Content Placeholder 2">
            <a:extLst>
              <a:ext uri="{FF2B5EF4-FFF2-40B4-BE49-F238E27FC236}">
                <a16:creationId xmlns:a16="http://schemas.microsoft.com/office/drawing/2014/main" id="{ED48F820-7E13-A663-D618-36190EABFD44}"/>
              </a:ext>
            </a:extLst>
          </p:cNvPr>
          <p:cNvSpPr txBox="1">
            <a:spLocks/>
          </p:cNvSpPr>
          <p:nvPr/>
        </p:nvSpPr>
        <p:spPr>
          <a:xfrm>
            <a:off x="-240" y="3150353"/>
            <a:ext cx="9144000" cy="1285872"/>
          </a:xfrm>
          <a:prstGeom prst="rect">
            <a:avLst/>
          </a:prstGeom>
          <a:solidFill>
            <a:srgbClr val="E3DEFA"/>
          </a:solidFill>
          <a:ln w="28575">
            <a:solidFill>
              <a:srgbClr val="6D40DC"/>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a:solidFill>
                  <a:srgbClr val="6D40DC"/>
                </a:solidFill>
                <a:latin typeface="+mj-lt"/>
              </a:rPr>
              <a:t>We describe </a:t>
            </a:r>
            <a:r>
              <a:rPr lang="en-GB" sz="2400" b="1">
                <a:solidFill>
                  <a:srgbClr val="6D40DC"/>
                </a:solidFill>
                <a:latin typeface="+mj-lt"/>
              </a:rPr>
              <a:t>four best practices </a:t>
            </a:r>
            <a:br>
              <a:rPr lang="en-GB" sz="2400">
                <a:solidFill>
                  <a:srgbClr val="6D40DC"/>
                </a:solidFill>
                <a:latin typeface="+mj-lt"/>
              </a:rPr>
            </a:br>
            <a:r>
              <a:rPr lang="en-GB" sz="2400">
                <a:solidFill>
                  <a:srgbClr val="6D40DC"/>
                </a:solidFill>
                <a:latin typeface="+mj-lt"/>
              </a:rPr>
              <a:t>to aid users and developers of simulation tools</a:t>
            </a:r>
            <a:endParaRPr lang="en-US" sz="2400">
              <a:solidFill>
                <a:srgbClr val="6D40DC"/>
              </a:solidFill>
              <a:latin typeface="+mj-lt"/>
            </a:endParaRPr>
          </a:p>
        </p:txBody>
      </p:sp>
      <p:sp>
        <p:nvSpPr>
          <p:cNvPr id="9" name="Content Placeholder 2">
            <a:extLst>
              <a:ext uri="{FF2B5EF4-FFF2-40B4-BE49-F238E27FC236}">
                <a16:creationId xmlns:a16="http://schemas.microsoft.com/office/drawing/2014/main" id="{EE764A39-06C4-3AF6-23B5-FF9EDF962B6B}"/>
              </a:ext>
            </a:extLst>
          </p:cNvPr>
          <p:cNvSpPr txBox="1">
            <a:spLocks/>
          </p:cNvSpPr>
          <p:nvPr/>
        </p:nvSpPr>
        <p:spPr>
          <a:xfrm>
            <a:off x="-240" y="4915132"/>
            <a:ext cx="9144000" cy="1285872"/>
          </a:xfrm>
          <a:prstGeom prst="rect">
            <a:avLst/>
          </a:prstGeom>
          <a:solidFill>
            <a:schemeClr val="bg1">
              <a:lumMod val="95000"/>
            </a:schemeClr>
          </a:solidFill>
          <a:ln w="28575">
            <a:solidFill>
              <a:schemeClr val="tx1">
                <a:lumMod val="65000"/>
                <a:lumOff val="35000"/>
              </a:schemeClr>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a:latin typeface="+mj-lt"/>
              </a:rPr>
              <a:t>To facilitate transparency and reproducibility, </a:t>
            </a:r>
            <a:br>
              <a:rPr lang="en-GB" sz="2400">
                <a:latin typeface="+mj-lt"/>
              </a:rPr>
            </a:br>
            <a:r>
              <a:rPr lang="en-GB" sz="2400">
                <a:latin typeface="+mj-lt"/>
              </a:rPr>
              <a:t>we </a:t>
            </a:r>
            <a:r>
              <a:rPr lang="en-GB" sz="2400" b="1">
                <a:latin typeface="+mj-lt"/>
              </a:rPr>
              <a:t>open source all our code </a:t>
            </a:r>
            <a:r>
              <a:rPr lang="en-GB" sz="2400">
                <a:latin typeface="+mj-lt"/>
              </a:rPr>
              <a:t>and </a:t>
            </a:r>
            <a:r>
              <a:rPr lang="en-GB" sz="2400" b="1">
                <a:latin typeface="+mj-lt"/>
              </a:rPr>
              <a:t>results</a:t>
            </a:r>
            <a:r>
              <a:rPr lang="en-GB" sz="2400">
                <a:latin typeface="+mj-lt"/>
              </a:rPr>
              <a:t>: </a:t>
            </a:r>
            <a:br>
              <a:rPr lang="en-GB" sz="2400">
                <a:latin typeface="+mj-lt"/>
              </a:rPr>
            </a:br>
            <a:r>
              <a:rPr lang="en-GB" sz="2400">
                <a:latin typeface="+mj-lt"/>
                <a:hlinkClick r:id="rId3"/>
              </a:rPr>
              <a:t>https://github.com/CMU-SAFARI/Cleaning-up-the-Mess</a:t>
            </a:r>
            <a:endParaRPr lang="en-GB" sz="2400">
              <a:latin typeface="+mj-lt"/>
            </a:endParaRPr>
          </a:p>
        </p:txBody>
      </p:sp>
    </p:spTree>
    <p:extLst>
      <p:ext uri="{BB962C8B-B14F-4D97-AF65-F5344CB8AC3E}">
        <p14:creationId xmlns:p14="http://schemas.microsoft.com/office/powerpoint/2010/main" val="244395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A162-5EA2-E04F-1073-0210EE2D38CE}"/>
              </a:ext>
            </a:extLst>
          </p:cNvPr>
          <p:cNvSpPr>
            <a:spLocks noGrp="1"/>
          </p:cNvSpPr>
          <p:nvPr>
            <p:ph type="title"/>
          </p:nvPr>
        </p:nvSpPr>
        <p:spPr/>
        <p:txBody>
          <a:bodyPr/>
          <a:lstStyle/>
          <a:p>
            <a:r>
              <a:rPr lang="en-US"/>
              <a:t>Cleaning up the Mess</a:t>
            </a:r>
          </a:p>
        </p:txBody>
      </p:sp>
      <p:sp>
        <p:nvSpPr>
          <p:cNvPr id="4" name="Slide Number Placeholder 3">
            <a:extLst>
              <a:ext uri="{FF2B5EF4-FFF2-40B4-BE49-F238E27FC236}">
                <a16:creationId xmlns:a16="http://schemas.microsoft.com/office/drawing/2014/main" id="{EF735D8F-CCCA-0F67-3A30-6955C191B8AD}"/>
              </a:ext>
            </a:extLst>
          </p:cNvPr>
          <p:cNvSpPr>
            <a:spLocks noGrp="1"/>
          </p:cNvSpPr>
          <p:nvPr>
            <p:ph type="sldNum" sz="quarter" idx="12"/>
          </p:nvPr>
        </p:nvSpPr>
        <p:spPr/>
        <p:txBody>
          <a:bodyPr/>
          <a:lstStyle/>
          <a:p>
            <a:fld id="{CBE5B309-C2CE-4D90-B104-F7E98438FC65}" type="slidenum">
              <a:rPr lang="tr-TR" smtClean="0"/>
              <a:pPr/>
              <a:t>6</a:t>
            </a:fld>
            <a:endParaRPr lang="tr-TR"/>
          </a:p>
        </p:txBody>
      </p:sp>
      <p:sp>
        <p:nvSpPr>
          <p:cNvPr id="5" name="Rectangle: Rounded Corners 4">
            <a:extLst>
              <a:ext uri="{FF2B5EF4-FFF2-40B4-BE49-F238E27FC236}">
                <a16:creationId xmlns:a16="http://schemas.microsoft.com/office/drawing/2014/main" id="{13EC3FBD-17C8-0CB9-8D40-5B78D66CCD93}"/>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mj-lt"/>
              </a:rPr>
              <a:t>Analysis of the Evaluation of </a:t>
            </a:r>
            <a:r>
              <a:rPr lang="en-US" sz="3200" b="1" err="1">
                <a:solidFill>
                  <a:srgbClr val="D67F00"/>
                </a:solidFill>
                <a:latin typeface="+mj-lt"/>
              </a:rPr>
              <a:t>Ramulator</a:t>
            </a:r>
            <a:r>
              <a:rPr lang="en-US" sz="3200" b="1">
                <a:solidFill>
                  <a:srgbClr val="D67F00"/>
                </a:solidFill>
                <a:latin typeface="+mj-lt"/>
              </a:rPr>
              <a:t> 2.0</a:t>
            </a:r>
            <a:br>
              <a:rPr lang="en-US" sz="3200" b="1">
                <a:solidFill>
                  <a:srgbClr val="D67F00"/>
                </a:solidFill>
                <a:latin typeface="+mj-lt"/>
              </a:rPr>
            </a:br>
            <a:r>
              <a:rPr lang="en-US" sz="3200" b="1">
                <a:solidFill>
                  <a:srgbClr val="D67F00"/>
                </a:solidFill>
                <a:latin typeface="+mj-lt"/>
              </a:rPr>
              <a:t>in the Mess Paper</a:t>
            </a:r>
          </a:p>
        </p:txBody>
      </p:sp>
      <p:sp>
        <p:nvSpPr>
          <p:cNvPr id="6" name="Rectangle: Rounded Corners 5">
            <a:extLst>
              <a:ext uri="{FF2B5EF4-FFF2-40B4-BE49-F238E27FC236}">
                <a16:creationId xmlns:a16="http://schemas.microsoft.com/office/drawing/2014/main" id="{BDC05C6C-E89E-4305-A65B-6ECB4A89ED18}"/>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mj-lt"/>
              </a:rPr>
              <a:t>Analysis of the Evaluation of DAMOV </a:t>
            </a:r>
            <a:br>
              <a:rPr lang="en-US" sz="3200" b="1">
                <a:latin typeface="+mj-lt"/>
              </a:rPr>
            </a:br>
            <a:r>
              <a:rPr lang="en-US" sz="3200" b="1">
                <a:solidFill>
                  <a:srgbClr val="D67F00"/>
                </a:solidFill>
                <a:latin typeface="+mj-lt"/>
              </a:rPr>
              <a:t>in the Mess Paper</a:t>
            </a:r>
          </a:p>
        </p:txBody>
      </p:sp>
      <p:sp>
        <p:nvSpPr>
          <p:cNvPr id="7" name="Rectangle: Rounded Corners 6">
            <a:extLst>
              <a:ext uri="{FF2B5EF4-FFF2-40B4-BE49-F238E27FC236}">
                <a16:creationId xmlns:a16="http://schemas.microsoft.com/office/drawing/2014/main" id="{5B99D81A-4214-C983-43F0-CF819A0A1C77}"/>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err="1">
                <a:solidFill>
                  <a:srgbClr val="D67F00"/>
                </a:solidFill>
                <a:latin typeface="+mj-lt"/>
              </a:rPr>
              <a:t>Ramulator</a:t>
            </a:r>
            <a:r>
              <a:rPr lang="en-US" sz="3200" b="1">
                <a:solidFill>
                  <a:srgbClr val="D67F00"/>
                </a:solidFill>
                <a:latin typeface="+mj-lt"/>
              </a:rPr>
              <a:t> 2.0 and DAMOV Best Practices</a:t>
            </a:r>
          </a:p>
        </p:txBody>
      </p:sp>
      <p:sp>
        <p:nvSpPr>
          <p:cNvPr id="9" name="Rectangle 8">
            <a:extLst>
              <a:ext uri="{FF2B5EF4-FFF2-40B4-BE49-F238E27FC236}">
                <a16:creationId xmlns:a16="http://schemas.microsoft.com/office/drawing/2014/main" id="{D8EAF572-050E-5A96-662E-0B7C319DA563}"/>
              </a:ext>
            </a:extLst>
          </p:cNvPr>
          <p:cNvSpPr/>
          <p:nvPr/>
        </p:nvSpPr>
        <p:spPr>
          <a:xfrm>
            <a:off x="246867" y="2838438"/>
            <a:ext cx="8649325" cy="3329199"/>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52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0C55A8-F7CF-4984-A1C7-0D1BFCF0D12E}"/>
              </a:ext>
            </a:extLst>
          </p:cNvPr>
          <p:cNvSpPr>
            <a:spLocks noGrp="1"/>
          </p:cNvSpPr>
          <p:nvPr>
            <p:ph type="title"/>
          </p:nvPr>
        </p:nvSpPr>
        <p:spPr/>
        <p:txBody>
          <a:bodyPr>
            <a:noAutofit/>
          </a:bodyPr>
          <a:lstStyle/>
          <a:p>
            <a:r>
              <a:rPr lang="en-US" sz="3200" err="1"/>
              <a:t>Ramulator</a:t>
            </a:r>
            <a:r>
              <a:rPr lang="en-US" sz="3200"/>
              <a:t> 2.0: A Modern, Modular, and Extensible DRAM Simulator</a:t>
            </a:r>
            <a:endParaRPr lang="tr-TR" sz="3200"/>
          </a:p>
        </p:txBody>
      </p:sp>
      <p:sp>
        <p:nvSpPr>
          <p:cNvPr id="3" name="İçerik Yer Tutucusu 2">
            <a:extLst>
              <a:ext uri="{FF2B5EF4-FFF2-40B4-BE49-F238E27FC236}">
                <a16:creationId xmlns:a16="http://schemas.microsoft.com/office/drawing/2014/main" id="{E754E5C6-8092-46E1-A98C-201D5F079040}"/>
              </a:ext>
            </a:extLst>
          </p:cNvPr>
          <p:cNvSpPr>
            <a:spLocks noGrp="1"/>
          </p:cNvSpPr>
          <p:nvPr>
            <p:ph idx="1"/>
          </p:nvPr>
        </p:nvSpPr>
        <p:spPr/>
        <p:txBody>
          <a:bodyPr>
            <a:noAutofit/>
          </a:bodyPr>
          <a:lstStyle/>
          <a:p>
            <a:pPr>
              <a:lnSpc>
                <a:spcPct val="100000"/>
              </a:lnSpc>
              <a:spcBef>
                <a:spcPts val="0"/>
              </a:spcBef>
              <a:buClr>
                <a:schemeClr val="tx1"/>
              </a:buClr>
            </a:pPr>
            <a:r>
              <a:rPr lang="en-US" sz="2400" b="1" err="1"/>
              <a:t>Ramulator</a:t>
            </a:r>
            <a:r>
              <a:rPr lang="en-US" sz="2400" b="1"/>
              <a:t> 2.0</a:t>
            </a:r>
            <a:r>
              <a:rPr lang="en-US" sz="2400">
                <a:solidFill>
                  <a:schemeClr val="tx1">
                    <a:lumMod val="65000"/>
                    <a:lumOff val="35000"/>
                  </a:schemeClr>
                </a:solidFill>
                <a:cs typeface="Arial"/>
              </a:rPr>
              <a:t> </a:t>
            </a:r>
            <a:r>
              <a:rPr lang="en-US" sz="1400">
                <a:solidFill>
                  <a:schemeClr val="tx1">
                    <a:lumMod val="65000"/>
                    <a:lumOff val="35000"/>
                  </a:schemeClr>
                </a:solidFill>
                <a:cs typeface="Arial"/>
              </a:rPr>
              <a:t>[Luo+, CAL'24]</a:t>
            </a:r>
            <a:r>
              <a:rPr lang="en-US" sz="2400"/>
              <a:t> models a wide range of </a:t>
            </a:r>
            <a:r>
              <a:rPr lang="en-US" sz="2400" b="1">
                <a:solidFill>
                  <a:srgbClr val="F23F00"/>
                </a:solidFill>
              </a:rPr>
              <a:t>DRAM standards </a:t>
            </a:r>
            <a:br>
              <a:rPr lang="en-US" sz="2400" b="1">
                <a:solidFill>
                  <a:srgbClr val="F23F00"/>
                </a:solidFill>
              </a:rPr>
            </a:br>
            <a:r>
              <a:rPr lang="en-US" sz="2400"/>
              <a:t>and </a:t>
            </a:r>
            <a:r>
              <a:rPr lang="en-US" sz="2400" b="1">
                <a:solidFill>
                  <a:srgbClr val="F23F00"/>
                </a:solidFill>
              </a:rPr>
              <a:t>memory controller functionalities</a:t>
            </a:r>
          </a:p>
          <a:p>
            <a:pPr lvl="1">
              <a:lnSpc>
                <a:spcPct val="100000"/>
              </a:lnSpc>
              <a:spcBef>
                <a:spcPts val="0"/>
              </a:spcBef>
              <a:buClr>
                <a:schemeClr val="tx1"/>
              </a:buClr>
            </a:pPr>
            <a:r>
              <a:rPr lang="en-US" b="1">
                <a:solidFill>
                  <a:srgbClr val="F23F00"/>
                </a:solidFill>
              </a:rPr>
              <a:t>Modular and extensible </a:t>
            </a:r>
            <a:r>
              <a:rPr lang="en-US"/>
              <a:t>software architecture</a:t>
            </a:r>
          </a:p>
          <a:p>
            <a:pPr lvl="1">
              <a:lnSpc>
                <a:spcPct val="100000"/>
              </a:lnSpc>
              <a:spcBef>
                <a:spcPts val="0"/>
              </a:spcBef>
              <a:buClr>
                <a:schemeClr val="tx1"/>
              </a:buClr>
            </a:pPr>
            <a:endParaRPr lang="en-US" sz="1000">
              <a:solidFill>
                <a:srgbClr val="C00000"/>
              </a:solidFill>
            </a:endParaRPr>
          </a:p>
          <a:p>
            <a:pPr>
              <a:lnSpc>
                <a:spcPct val="100000"/>
              </a:lnSpc>
              <a:spcBef>
                <a:spcPts val="0"/>
              </a:spcBef>
              <a:buClr>
                <a:schemeClr val="tx1"/>
              </a:buClr>
            </a:pPr>
            <a:r>
              <a:rPr lang="en-US" sz="2400"/>
              <a:t>Enables </a:t>
            </a:r>
            <a:r>
              <a:rPr lang="en-US" sz="2400" b="1">
                <a:solidFill>
                  <a:srgbClr val="F23F00"/>
                </a:solidFill>
              </a:rPr>
              <a:t>fine-grained modeling </a:t>
            </a:r>
            <a:r>
              <a:rPr lang="en-US" sz="2400"/>
              <a:t>of DRAM operation (cycle-level)</a:t>
            </a:r>
          </a:p>
          <a:p>
            <a:pPr>
              <a:lnSpc>
                <a:spcPct val="100000"/>
              </a:lnSpc>
              <a:spcBef>
                <a:spcPts val="0"/>
              </a:spcBef>
            </a:pPr>
            <a:r>
              <a:rPr lang="en-US" sz="2400"/>
              <a:t>Used in a wide range of research works</a:t>
            </a:r>
          </a:p>
        </p:txBody>
      </p:sp>
      <p:sp>
        <p:nvSpPr>
          <p:cNvPr id="4" name="Slide Number Placeholder 3">
            <a:extLst>
              <a:ext uri="{FF2B5EF4-FFF2-40B4-BE49-F238E27FC236}">
                <a16:creationId xmlns:a16="http://schemas.microsoft.com/office/drawing/2014/main" id="{8F84E8AF-23DB-AE33-F69D-58517A423859}"/>
              </a:ext>
            </a:extLst>
          </p:cNvPr>
          <p:cNvSpPr>
            <a:spLocks noGrp="1"/>
          </p:cNvSpPr>
          <p:nvPr>
            <p:ph type="sldNum" sz="quarter" idx="12"/>
          </p:nvPr>
        </p:nvSpPr>
        <p:spPr/>
        <p:txBody>
          <a:bodyPr/>
          <a:lstStyle/>
          <a:p>
            <a:fld id="{CBE5B309-C2CE-4D90-B104-F7E98438FC65}" type="slidenum">
              <a:rPr lang="tr-TR" smtClean="0"/>
              <a:pPr/>
              <a:t>7</a:t>
            </a:fld>
            <a:endParaRPr lang="tr-TR"/>
          </a:p>
        </p:txBody>
      </p:sp>
      <p:pic>
        <p:nvPicPr>
          <p:cNvPr id="7" name="Picture 6">
            <a:extLst>
              <a:ext uri="{FF2B5EF4-FFF2-40B4-BE49-F238E27FC236}">
                <a16:creationId xmlns:a16="http://schemas.microsoft.com/office/drawing/2014/main" id="{08B1971C-CFD6-5843-1FF3-7E12D2B6F4EB}"/>
              </a:ext>
            </a:extLst>
          </p:cNvPr>
          <p:cNvPicPr>
            <a:picLocks noChangeAspect="1"/>
          </p:cNvPicPr>
          <p:nvPr/>
        </p:nvPicPr>
        <p:blipFill>
          <a:blip r:embed="rId3"/>
          <a:srcRect b="18677"/>
          <a:stretch>
            <a:fillRect/>
          </a:stretch>
        </p:blipFill>
        <p:spPr>
          <a:xfrm>
            <a:off x="446924" y="3276476"/>
            <a:ext cx="8250148" cy="28750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C433BA3E-E44F-4A49-5DFC-09B65AF2CEF3}"/>
              </a:ext>
            </a:extLst>
          </p:cNvPr>
          <p:cNvSpPr txBox="1"/>
          <p:nvPr/>
        </p:nvSpPr>
        <p:spPr>
          <a:xfrm>
            <a:off x="1800689" y="6340273"/>
            <a:ext cx="6349429" cy="461665"/>
          </a:xfrm>
          <a:prstGeom prst="rect">
            <a:avLst/>
          </a:prstGeom>
          <a:noFill/>
        </p:spPr>
        <p:txBody>
          <a:bodyPr wrap="square" rtlCol="0">
            <a:spAutoFit/>
          </a:bodyPr>
          <a:lstStyle/>
          <a:p>
            <a:pPr algn="ctr"/>
            <a:r>
              <a:rPr lang="en-US" sz="2400">
                <a:latin typeface="+mj-lt"/>
                <a:hlinkClick r:id="rId4"/>
              </a:rPr>
              <a:t>https://github.com/CMU-SAFARI/ramulator2</a:t>
            </a:r>
            <a:endParaRPr lang="en-US" sz="2400">
              <a:latin typeface="+mj-lt"/>
            </a:endParaRPr>
          </a:p>
        </p:txBody>
      </p:sp>
    </p:spTree>
    <p:extLst>
      <p:ext uri="{BB962C8B-B14F-4D97-AF65-F5344CB8AC3E}">
        <p14:creationId xmlns:p14="http://schemas.microsoft.com/office/powerpoint/2010/main" val="223975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11BC-ED36-CA5D-00ED-1DF64D82E743}"/>
              </a:ext>
            </a:extLst>
          </p:cNvPr>
          <p:cNvSpPr>
            <a:spLocks noGrp="1"/>
          </p:cNvSpPr>
          <p:nvPr>
            <p:ph type="title"/>
          </p:nvPr>
        </p:nvSpPr>
        <p:spPr/>
        <p:txBody>
          <a:bodyPr/>
          <a:lstStyle/>
          <a:p>
            <a:r>
              <a:rPr lang="en-US" sz="3200">
                <a:ea typeface="Calibri"/>
                <a:cs typeface="Calibri"/>
              </a:rPr>
              <a:t>High-Level Memory System </a:t>
            </a:r>
            <a:br>
              <a:rPr lang="en-US" sz="3200">
                <a:ea typeface="Calibri"/>
                <a:cs typeface="Calibri"/>
              </a:rPr>
            </a:br>
            <a:r>
              <a:rPr lang="en-US" sz="3200">
                <a:ea typeface="Calibri"/>
                <a:cs typeface="Calibri"/>
              </a:rPr>
              <a:t>Performance Evaluation &amp; Reasoning</a:t>
            </a:r>
          </a:p>
        </p:txBody>
      </p:sp>
      <p:sp>
        <p:nvSpPr>
          <p:cNvPr id="3" name="Content Placeholder 2">
            <a:extLst>
              <a:ext uri="{FF2B5EF4-FFF2-40B4-BE49-F238E27FC236}">
                <a16:creationId xmlns:a16="http://schemas.microsoft.com/office/drawing/2014/main" id="{B2AB2404-61DD-401B-607F-CCCEDBDAE9B4}"/>
              </a:ext>
            </a:extLst>
          </p:cNvPr>
          <p:cNvSpPr>
            <a:spLocks noGrp="1"/>
          </p:cNvSpPr>
          <p:nvPr>
            <p:ph idx="1"/>
          </p:nvPr>
        </p:nvSpPr>
        <p:spPr>
          <a:xfrm>
            <a:off x="-1" y="931024"/>
            <a:ext cx="9143999" cy="5688215"/>
          </a:xfrm>
        </p:spPr>
        <p:txBody>
          <a:bodyPr vert="horz" lIns="91440" tIns="45720" rIns="91440" bIns="45720" rtlCol="0" anchor="t">
            <a:normAutofit lnSpcReduction="10000"/>
          </a:bodyPr>
          <a:lstStyle/>
          <a:p>
            <a:pPr marL="285750" indent="-285750"/>
            <a:r>
              <a:rPr lang="en-US" sz="2400" b="1"/>
              <a:t>The Mess benchmark </a:t>
            </a:r>
            <a:r>
              <a:rPr lang="en-US" sz="2400"/>
              <a:t>aims to characterize a memory system</a:t>
            </a:r>
            <a:br>
              <a:rPr lang="en-US" sz="2400"/>
            </a:br>
            <a:r>
              <a:rPr lang="en-US" sz="2400"/>
              <a:t>based on a set of </a:t>
            </a:r>
            <a:r>
              <a:rPr lang="en-US" sz="2400" i="1"/>
              <a:t>latency-throughput ("used bandwidth") curves</a:t>
            </a:r>
          </a:p>
          <a:p>
            <a:pPr marL="285750" indent="-285750"/>
            <a:endParaRPr lang="en-US" sz="2400"/>
          </a:p>
          <a:p>
            <a:pPr marL="285750" indent="-285750"/>
            <a:endParaRPr lang="en-US" sz="2400"/>
          </a:p>
          <a:p>
            <a:pPr marL="285750" indent="-285750"/>
            <a:endParaRPr lang="en-US" sz="2400"/>
          </a:p>
          <a:p>
            <a:pPr marL="285750" indent="-285750"/>
            <a:endParaRPr lang="en-US" sz="2400"/>
          </a:p>
          <a:p>
            <a:pPr marL="285750" indent="-285750"/>
            <a:endParaRPr lang="en-US" sz="2400"/>
          </a:p>
          <a:p>
            <a:pPr marL="285750" indent="-285750"/>
            <a:endParaRPr lang="en-US" sz="2400"/>
          </a:p>
          <a:p>
            <a:pPr marL="285750" indent="-285750"/>
            <a:endParaRPr lang="en-US" sz="2400"/>
          </a:p>
          <a:p>
            <a:pPr marL="285750" indent="-285750"/>
            <a:r>
              <a:rPr lang="en-US" sz="2400"/>
              <a:t>Consists of two concurrently running workloads: </a:t>
            </a:r>
            <a:br>
              <a:rPr lang="en-US" sz="2400"/>
            </a:br>
            <a:r>
              <a:rPr lang="en-US" sz="2400" i="1"/>
              <a:t>Streaming </a:t>
            </a:r>
            <a:r>
              <a:rPr lang="en-US" sz="2400"/>
              <a:t>and </a:t>
            </a:r>
            <a:r>
              <a:rPr lang="en-US" sz="2400" i="1"/>
              <a:t>Pointer-Chasing </a:t>
            </a:r>
            <a:r>
              <a:rPr lang="en-US" sz="2400"/>
              <a:t>patterns</a:t>
            </a:r>
          </a:p>
          <a:p>
            <a:pPr marL="742950" lvl="1" indent="-285750">
              <a:buClr>
                <a:schemeClr val="tx1"/>
              </a:buClr>
            </a:pPr>
            <a:r>
              <a:rPr lang="en-US" b="1">
                <a:solidFill>
                  <a:srgbClr val="E28700"/>
                </a:solidFill>
              </a:rPr>
              <a:t>Varies the memory intensity </a:t>
            </a:r>
            <a:r>
              <a:rPr lang="en-US"/>
              <a:t>using NOPs between requests</a:t>
            </a:r>
          </a:p>
          <a:p>
            <a:pPr marL="742950" lvl="1" indent="-285750"/>
            <a:r>
              <a:rPr lang="en-US"/>
              <a:t>Evaluates </a:t>
            </a:r>
            <a:r>
              <a:rPr lang="en-US" b="1">
                <a:gradFill>
                  <a:gsLst>
                    <a:gs pos="86000">
                      <a:srgbClr val="316CE3"/>
                    </a:gs>
                    <a:gs pos="52000">
                      <a:srgbClr val="842E60"/>
                    </a:gs>
                    <a:gs pos="19000">
                      <a:srgbClr val="C00000"/>
                    </a:gs>
                  </a:gsLst>
                  <a:lin ang="0" scaled="0"/>
                </a:gradFill>
              </a:rPr>
              <a:t>a sweep of read/write intensities </a:t>
            </a:r>
            <a:endParaRPr lang="en-US">
              <a:gradFill>
                <a:gsLst>
                  <a:gs pos="30000">
                    <a:srgbClr val="316CE3"/>
                  </a:gs>
                  <a:gs pos="56000">
                    <a:srgbClr val="842E60"/>
                  </a:gs>
                  <a:gs pos="79000">
                    <a:srgbClr val="C00000"/>
                  </a:gs>
                </a:gsLst>
                <a:lin ang="0" scaled="0"/>
              </a:gradFill>
            </a:endParaRPr>
          </a:p>
          <a:p>
            <a:pPr marL="742950" lvl="1" indent="-285750"/>
            <a:r>
              <a:rPr lang="en-US"/>
              <a:t>(from </a:t>
            </a:r>
            <a:r>
              <a:rPr lang="en-US" b="1">
                <a:solidFill>
                  <a:srgbClr val="C00000"/>
                </a:solidFill>
              </a:rPr>
              <a:t>50%</a:t>
            </a:r>
            <a:r>
              <a:rPr lang="en-US">
                <a:solidFill>
                  <a:srgbClr val="C00000"/>
                </a:solidFill>
              </a:rPr>
              <a:t> </a:t>
            </a:r>
            <a:r>
              <a:rPr lang="en-US"/>
              <a:t>to </a:t>
            </a:r>
            <a:r>
              <a:rPr lang="en-US" b="1">
                <a:solidFill>
                  <a:srgbClr val="316CE3"/>
                </a:solidFill>
              </a:rPr>
              <a:t>100%</a:t>
            </a:r>
            <a:r>
              <a:rPr lang="en-US"/>
              <a:t> reads)</a:t>
            </a:r>
          </a:p>
          <a:p>
            <a:endParaRPr lang="en-US"/>
          </a:p>
        </p:txBody>
      </p:sp>
      <p:sp>
        <p:nvSpPr>
          <p:cNvPr id="4" name="Slide Number Placeholder 3">
            <a:extLst>
              <a:ext uri="{FF2B5EF4-FFF2-40B4-BE49-F238E27FC236}">
                <a16:creationId xmlns:a16="http://schemas.microsoft.com/office/drawing/2014/main" id="{280C17CE-52AA-31D8-BBBC-159D36F3B86A}"/>
              </a:ext>
            </a:extLst>
          </p:cNvPr>
          <p:cNvSpPr>
            <a:spLocks noGrp="1"/>
          </p:cNvSpPr>
          <p:nvPr>
            <p:ph type="sldNum" sz="quarter" idx="12"/>
          </p:nvPr>
        </p:nvSpPr>
        <p:spPr/>
        <p:txBody>
          <a:bodyPr/>
          <a:lstStyle/>
          <a:p>
            <a:fld id="{CBE5B309-C2CE-4D90-B104-F7E98438FC65}" type="slidenum">
              <a:rPr lang="tr-TR" smtClean="0"/>
              <a:pPr/>
              <a:t>8</a:t>
            </a:fld>
            <a:endParaRPr lang="tr-TR"/>
          </a:p>
        </p:txBody>
      </p:sp>
      <p:pic>
        <p:nvPicPr>
          <p:cNvPr id="7" name="Content Placeholder 11" descr="A blue and black text&#10;&#10;AI-generated content may be incorrect.">
            <a:extLst>
              <a:ext uri="{FF2B5EF4-FFF2-40B4-BE49-F238E27FC236}">
                <a16:creationId xmlns:a16="http://schemas.microsoft.com/office/drawing/2014/main" id="{8C7EA3F2-82DD-6BB2-BE41-2A0701DEAAD5}"/>
              </a:ext>
            </a:extLst>
          </p:cNvPr>
          <p:cNvPicPr>
            <a:picLocks noChangeAspect="1"/>
          </p:cNvPicPr>
          <p:nvPr/>
        </p:nvPicPr>
        <p:blipFill>
          <a:blip r:embed="rId3">
            <a:extLst>
              <a:ext uri="{28A0092B-C50C-407E-A947-70E740481C1C}">
                <a14:useLocalDpi xmlns:a14="http://schemas.microsoft.com/office/drawing/2010/main" val="0"/>
              </a:ext>
            </a:extLst>
          </a:blip>
          <a:srcRect l="32582" t="16711" r="34911"/>
          <a:stretch>
            <a:fillRect/>
          </a:stretch>
        </p:blipFill>
        <p:spPr>
          <a:xfrm>
            <a:off x="1949763" y="1707715"/>
            <a:ext cx="5015326" cy="2772918"/>
          </a:xfrm>
          <a:prstGeom prst="rect">
            <a:avLst/>
          </a:prstGeom>
        </p:spPr>
      </p:pic>
      <p:sp>
        <p:nvSpPr>
          <p:cNvPr id="8" name="Rectangle 7">
            <a:extLst>
              <a:ext uri="{FF2B5EF4-FFF2-40B4-BE49-F238E27FC236}">
                <a16:creationId xmlns:a16="http://schemas.microsoft.com/office/drawing/2014/main" id="{B1AD1A4F-DA1C-DFB0-B387-E4F2156CDDBA}"/>
              </a:ext>
            </a:extLst>
          </p:cNvPr>
          <p:cNvSpPr/>
          <p:nvPr/>
        </p:nvSpPr>
        <p:spPr>
          <a:xfrm>
            <a:off x="2639707" y="1928991"/>
            <a:ext cx="3985260" cy="1961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54261196-BC12-827C-D6F7-2FC846489FA2}"/>
              </a:ext>
            </a:extLst>
          </p:cNvPr>
          <p:cNvCxnSpPr>
            <a:cxnSpLocks/>
          </p:cNvCxnSpPr>
          <p:nvPr/>
        </p:nvCxnSpPr>
        <p:spPr>
          <a:xfrm>
            <a:off x="2614083" y="3728687"/>
            <a:ext cx="416984"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7FEBFD48-2C05-9AEA-F44D-87BC37E71F6F}"/>
              </a:ext>
            </a:extLst>
          </p:cNvPr>
          <p:cNvSpPr/>
          <p:nvPr/>
        </p:nvSpPr>
        <p:spPr>
          <a:xfrm>
            <a:off x="3188199" y="2272445"/>
            <a:ext cx="2979717" cy="1450873"/>
          </a:xfrm>
          <a:custGeom>
            <a:avLst/>
            <a:gdLst>
              <a:gd name="connsiteX0" fmla="*/ 0 w 2720340"/>
              <a:gd name="connsiteY0" fmla="*/ 1272540 h 1272540"/>
              <a:gd name="connsiteX1" fmla="*/ 1546860 w 2720340"/>
              <a:gd name="connsiteY1" fmla="*/ 1200150 h 1272540"/>
              <a:gd name="connsiteX2" fmla="*/ 2240280 w 2720340"/>
              <a:gd name="connsiteY2" fmla="*/ 1002030 h 1272540"/>
              <a:gd name="connsiteX3" fmla="*/ 2613660 w 2720340"/>
              <a:gd name="connsiteY3" fmla="*/ 464820 h 1272540"/>
              <a:gd name="connsiteX4" fmla="*/ 2720340 w 272034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0340" h="1272540">
                <a:moveTo>
                  <a:pt x="0" y="1272540"/>
                </a:moveTo>
                <a:cubicBezTo>
                  <a:pt x="586740" y="1258887"/>
                  <a:pt x="1173480" y="1245235"/>
                  <a:pt x="1546860" y="1200150"/>
                </a:cubicBezTo>
                <a:cubicBezTo>
                  <a:pt x="1920240" y="1155065"/>
                  <a:pt x="2062480" y="1124585"/>
                  <a:pt x="2240280" y="1002030"/>
                </a:cubicBezTo>
                <a:cubicBezTo>
                  <a:pt x="2418080" y="879475"/>
                  <a:pt x="2533650" y="631825"/>
                  <a:pt x="2613660" y="464820"/>
                </a:cubicBezTo>
                <a:cubicBezTo>
                  <a:pt x="2693670" y="297815"/>
                  <a:pt x="2707005" y="148907"/>
                  <a:pt x="2720340" y="0"/>
                </a:cubicBezTo>
              </a:path>
            </a:pathLst>
          </a:custGeom>
          <a:noFill/>
          <a:ln w="76200">
            <a:solidFill>
              <a:srgbClr val="316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22C13BD-8D8D-CB79-4D68-DFC072B7D8B1}"/>
              </a:ext>
            </a:extLst>
          </p:cNvPr>
          <p:cNvCxnSpPr>
            <a:cxnSpLocks/>
          </p:cNvCxnSpPr>
          <p:nvPr/>
        </p:nvCxnSpPr>
        <p:spPr>
          <a:xfrm>
            <a:off x="3129817" y="3820424"/>
            <a:ext cx="0" cy="110227"/>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25DF7E1-7188-B7FD-919A-FFAF7EF33936}"/>
              </a:ext>
            </a:extLst>
          </p:cNvPr>
          <p:cNvGrpSpPr/>
          <p:nvPr/>
        </p:nvGrpSpPr>
        <p:grpSpPr>
          <a:xfrm>
            <a:off x="2821259" y="2202752"/>
            <a:ext cx="3051810" cy="1230630"/>
            <a:chOff x="2688436" y="3203769"/>
            <a:chExt cx="3051810" cy="1230630"/>
          </a:xfrm>
        </p:grpSpPr>
        <p:cxnSp>
          <p:nvCxnSpPr>
            <p:cNvPr id="11" name="Straight Arrow Connector 10">
              <a:extLst>
                <a:ext uri="{FF2B5EF4-FFF2-40B4-BE49-F238E27FC236}">
                  <a16:creationId xmlns:a16="http://schemas.microsoft.com/office/drawing/2014/main" id="{D89031BA-CC69-D42E-A942-8267FEF6BC90}"/>
                </a:ext>
              </a:extLst>
            </p:cNvPr>
            <p:cNvCxnSpPr>
              <a:cxnSpLocks/>
            </p:cNvCxnSpPr>
            <p:nvPr/>
          </p:nvCxnSpPr>
          <p:spPr>
            <a:xfrm flipV="1">
              <a:off x="3013710" y="3203769"/>
              <a:ext cx="2708910" cy="1230630"/>
            </a:xfrm>
            <a:prstGeom prst="straightConnector1">
              <a:avLst/>
            </a:prstGeom>
            <a:ln w="76200">
              <a:solidFill>
                <a:srgbClr val="E287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8BEBC66-A65C-CF93-E016-EB9E550720B6}"/>
                </a:ext>
              </a:extLst>
            </p:cNvPr>
            <p:cNvSpPr txBox="1"/>
            <p:nvPr/>
          </p:nvSpPr>
          <p:spPr>
            <a:xfrm rot="20118121">
              <a:off x="2688436" y="3444384"/>
              <a:ext cx="3051810" cy="369332"/>
            </a:xfrm>
            <a:prstGeom prst="rect">
              <a:avLst/>
            </a:prstGeom>
            <a:noFill/>
          </p:spPr>
          <p:txBody>
            <a:bodyPr wrap="square" rtlCol="0">
              <a:spAutoFit/>
            </a:bodyPr>
            <a:lstStyle/>
            <a:p>
              <a:r>
                <a:rPr lang="en-US">
                  <a:solidFill>
                    <a:srgbClr val="E28700"/>
                  </a:solidFill>
                </a:rPr>
                <a:t>increasing memory intensity</a:t>
              </a:r>
            </a:p>
          </p:txBody>
        </p:sp>
      </p:grpSp>
      <p:sp>
        <p:nvSpPr>
          <p:cNvPr id="13" name="Freeform: Shape 12">
            <a:extLst>
              <a:ext uri="{FF2B5EF4-FFF2-40B4-BE49-F238E27FC236}">
                <a16:creationId xmlns:a16="http://schemas.microsoft.com/office/drawing/2014/main" id="{24CBD95F-B729-18FF-7788-28E9AD85857B}"/>
              </a:ext>
            </a:extLst>
          </p:cNvPr>
          <p:cNvSpPr/>
          <p:nvPr/>
        </p:nvSpPr>
        <p:spPr>
          <a:xfrm>
            <a:off x="3237973" y="2272445"/>
            <a:ext cx="2773436" cy="1450873"/>
          </a:xfrm>
          <a:custGeom>
            <a:avLst/>
            <a:gdLst>
              <a:gd name="connsiteX0" fmla="*/ 0 w 2720340"/>
              <a:gd name="connsiteY0" fmla="*/ 1272540 h 1272540"/>
              <a:gd name="connsiteX1" fmla="*/ 1546860 w 2720340"/>
              <a:gd name="connsiteY1" fmla="*/ 1200150 h 1272540"/>
              <a:gd name="connsiteX2" fmla="*/ 2240280 w 2720340"/>
              <a:gd name="connsiteY2" fmla="*/ 1002030 h 1272540"/>
              <a:gd name="connsiteX3" fmla="*/ 2613660 w 2720340"/>
              <a:gd name="connsiteY3" fmla="*/ 464820 h 1272540"/>
              <a:gd name="connsiteX4" fmla="*/ 2720340 w 272034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0340" h="1272540">
                <a:moveTo>
                  <a:pt x="0" y="1272540"/>
                </a:moveTo>
                <a:cubicBezTo>
                  <a:pt x="586740" y="1258887"/>
                  <a:pt x="1173480" y="1245235"/>
                  <a:pt x="1546860" y="1200150"/>
                </a:cubicBezTo>
                <a:cubicBezTo>
                  <a:pt x="1920240" y="1155065"/>
                  <a:pt x="2062480" y="1124585"/>
                  <a:pt x="2240280" y="1002030"/>
                </a:cubicBezTo>
                <a:cubicBezTo>
                  <a:pt x="2418080" y="879475"/>
                  <a:pt x="2533650" y="631825"/>
                  <a:pt x="2613660" y="464820"/>
                </a:cubicBezTo>
                <a:cubicBezTo>
                  <a:pt x="2693670" y="297815"/>
                  <a:pt x="2707005" y="148907"/>
                  <a:pt x="2720340" y="0"/>
                </a:cubicBezTo>
              </a:path>
            </a:pathLst>
          </a:custGeom>
          <a:noFill/>
          <a:ln w="76200">
            <a:solidFill>
              <a:srgbClr val="6545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B2E0266A-801F-DFE7-3DB1-9F70B9BCF5C0}"/>
              </a:ext>
            </a:extLst>
          </p:cNvPr>
          <p:cNvSpPr/>
          <p:nvPr/>
        </p:nvSpPr>
        <p:spPr>
          <a:xfrm>
            <a:off x="3188199" y="2272445"/>
            <a:ext cx="2679298" cy="1450873"/>
          </a:xfrm>
          <a:custGeom>
            <a:avLst/>
            <a:gdLst>
              <a:gd name="connsiteX0" fmla="*/ 0 w 2720340"/>
              <a:gd name="connsiteY0" fmla="*/ 1272540 h 1272540"/>
              <a:gd name="connsiteX1" fmla="*/ 1546860 w 2720340"/>
              <a:gd name="connsiteY1" fmla="*/ 1200150 h 1272540"/>
              <a:gd name="connsiteX2" fmla="*/ 2240280 w 2720340"/>
              <a:gd name="connsiteY2" fmla="*/ 1002030 h 1272540"/>
              <a:gd name="connsiteX3" fmla="*/ 2613660 w 2720340"/>
              <a:gd name="connsiteY3" fmla="*/ 464820 h 1272540"/>
              <a:gd name="connsiteX4" fmla="*/ 2720340 w 272034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0340" h="1272540">
                <a:moveTo>
                  <a:pt x="0" y="1272540"/>
                </a:moveTo>
                <a:cubicBezTo>
                  <a:pt x="586740" y="1258887"/>
                  <a:pt x="1173480" y="1245235"/>
                  <a:pt x="1546860" y="1200150"/>
                </a:cubicBezTo>
                <a:cubicBezTo>
                  <a:pt x="1920240" y="1155065"/>
                  <a:pt x="2062480" y="1124585"/>
                  <a:pt x="2240280" y="1002030"/>
                </a:cubicBezTo>
                <a:cubicBezTo>
                  <a:pt x="2418080" y="879475"/>
                  <a:pt x="2533650" y="631825"/>
                  <a:pt x="2613660" y="464820"/>
                </a:cubicBezTo>
                <a:cubicBezTo>
                  <a:pt x="2693670" y="297815"/>
                  <a:pt x="2707005" y="148907"/>
                  <a:pt x="2720340" y="0"/>
                </a:cubicBezTo>
              </a:path>
            </a:pathLst>
          </a:cu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6BDF3E9-A7FD-704D-2009-3661FA23F71C}"/>
              </a:ext>
            </a:extLst>
          </p:cNvPr>
          <p:cNvSpPr/>
          <p:nvPr/>
        </p:nvSpPr>
        <p:spPr>
          <a:xfrm>
            <a:off x="3046548" y="3645418"/>
            <a:ext cx="166538" cy="1665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1FB60F6F-07B7-F9CC-D1D7-08AF0710AF21}"/>
              </a:ext>
            </a:extLst>
          </p:cNvPr>
          <p:cNvGrpSpPr/>
          <p:nvPr/>
        </p:nvGrpSpPr>
        <p:grpSpPr>
          <a:xfrm>
            <a:off x="1298575" y="3801533"/>
            <a:ext cx="1745192" cy="647783"/>
            <a:chOff x="1298575" y="3801533"/>
            <a:chExt cx="1745192" cy="647783"/>
          </a:xfrm>
        </p:grpSpPr>
        <p:sp>
          <p:nvSpPr>
            <p:cNvPr id="35" name="TextBox 34">
              <a:extLst>
                <a:ext uri="{FF2B5EF4-FFF2-40B4-BE49-F238E27FC236}">
                  <a16:creationId xmlns:a16="http://schemas.microsoft.com/office/drawing/2014/main" id="{7AA8A6CA-D307-9B5B-537B-79D96A784BB1}"/>
                </a:ext>
              </a:extLst>
            </p:cNvPr>
            <p:cNvSpPr txBox="1"/>
            <p:nvPr/>
          </p:nvSpPr>
          <p:spPr>
            <a:xfrm>
              <a:off x="1298575" y="4049206"/>
              <a:ext cx="1524000" cy="400110"/>
            </a:xfrm>
            <a:prstGeom prst="rect">
              <a:avLst/>
            </a:prstGeom>
            <a:noFill/>
          </p:spPr>
          <p:txBody>
            <a:bodyPr wrap="square" rtlCol="0">
              <a:spAutoFit/>
            </a:bodyPr>
            <a:lstStyle/>
            <a:p>
              <a:r>
                <a:rPr lang="en-US" sz="2000" i="1">
                  <a:latin typeface="+mj-lt"/>
                </a:rPr>
                <a:t>1 experiment</a:t>
              </a:r>
            </a:p>
          </p:txBody>
        </p:sp>
        <p:sp>
          <p:nvSpPr>
            <p:cNvPr id="38" name="Freeform: Shape 37">
              <a:extLst>
                <a:ext uri="{FF2B5EF4-FFF2-40B4-BE49-F238E27FC236}">
                  <a16:creationId xmlns:a16="http://schemas.microsoft.com/office/drawing/2014/main" id="{612FFDB2-9D37-DD6C-C35E-AF37E644F6E4}"/>
                </a:ext>
              </a:extLst>
            </p:cNvPr>
            <p:cNvSpPr/>
            <p:nvPr/>
          </p:nvSpPr>
          <p:spPr>
            <a:xfrm>
              <a:off x="2815167" y="3801533"/>
              <a:ext cx="228600" cy="389467"/>
            </a:xfrm>
            <a:custGeom>
              <a:avLst/>
              <a:gdLst>
                <a:gd name="csX0" fmla="*/ 228600 w 228600"/>
                <a:gd name="csY0" fmla="*/ 0 h 389467"/>
                <a:gd name="csX1" fmla="*/ 152400 w 228600"/>
                <a:gd name="csY1" fmla="*/ 177800 h 389467"/>
                <a:gd name="csX2" fmla="*/ 0 w 228600"/>
                <a:gd name="csY2" fmla="*/ 389467 h 389467"/>
              </a:gdLst>
              <a:ahLst/>
              <a:cxnLst>
                <a:cxn ang="0">
                  <a:pos x="csX0" y="csY0"/>
                </a:cxn>
                <a:cxn ang="0">
                  <a:pos x="csX1" y="csY1"/>
                </a:cxn>
                <a:cxn ang="0">
                  <a:pos x="csX2" y="csY2"/>
                </a:cxn>
              </a:cxnLst>
              <a:rect l="l" t="t" r="r" b="b"/>
              <a:pathLst>
                <a:path w="228600" h="389467">
                  <a:moveTo>
                    <a:pt x="228600" y="0"/>
                  </a:moveTo>
                  <a:cubicBezTo>
                    <a:pt x="209550" y="56444"/>
                    <a:pt x="190500" y="112889"/>
                    <a:pt x="152400" y="177800"/>
                  </a:cubicBezTo>
                  <a:cubicBezTo>
                    <a:pt x="114300" y="242711"/>
                    <a:pt x="57150" y="316089"/>
                    <a:pt x="0" y="389467"/>
                  </a:cubicBezTo>
                </a:path>
              </a:pathLst>
            </a:custGeom>
            <a:noFill/>
            <a:ln w="19050">
              <a:solidFill>
                <a:schemeClr val="tx1"/>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4A9D35A-17FA-B065-7F08-C500B7F85607}"/>
              </a:ext>
            </a:extLst>
          </p:cNvPr>
          <p:cNvGrpSpPr/>
          <p:nvPr/>
        </p:nvGrpSpPr>
        <p:grpSpPr>
          <a:xfrm>
            <a:off x="2017689" y="1585705"/>
            <a:ext cx="4436411" cy="2734453"/>
            <a:chOff x="2017689" y="1585705"/>
            <a:chExt cx="4436411" cy="2734453"/>
          </a:xfrm>
        </p:grpSpPr>
        <p:sp>
          <p:nvSpPr>
            <p:cNvPr id="5" name="Rectangle 4">
              <a:extLst>
                <a:ext uri="{FF2B5EF4-FFF2-40B4-BE49-F238E27FC236}">
                  <a16:creationId xmlns:a16="http://schemas.microsoft.com/office/drawing/2014/main" id="{BEE1A607-1DB7-0C6B-87D0-48CEF9FC3EC3}"/>
                </a:ext>
              </a:extLst>
            </p:cNvPr>
            <p:cNvSpPr/>
            <p:nvPr/>
          </p:nvSpPr>
          <p:spPr>
            <a:xfrm>
              <a:off x="3036765" y="4113914"/>
              <a:ext cx="3417335" cy="2062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mj-lt"/>
                </a:rPr>
                <a:t>Used Memory Bandwidth (GB/s)</a:t>
              </a:r>
            </a:p>
          </p:txBody>
        </p:sp>
        <p:sp>
          <p:nvSpPr>
            <p:cNvPr id="6" name="Rectangle 5">
              <a:extLst>
                <a:ext uri="{FF2B5EF4-FFF2-40B4-BE49-F238E27FC236}">
                  <a16:creationId xmlns:a16="http://schemas.microsoft.com/office/drawing/2014/main" id="{9FBA6F0A-6967-F876-1071-897B691A8B4C}"/>
                </a:ext>
              </a:extLst>
            </p:cNvPr>
            <p:cNvSpPr/>
            <p:nvPr/>
          </p:nvSpPr>
          <p:spPr>
            <a:xfrm rot="16200000">
              <a:off x="871760" y="2731634"/>
              <a:ext cx="2567495" cy="2756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mj-lt"/>
                </a:rPr>
                <a:t>Memory Access Latency (ns)</a:t>
              </a:r>
            </a:p>
          </p:txBody>
        </p:sp>
      </p:grpSp>
      <p:sp>
        <p:nvSpPr>
          <p:cNvPr id="17" name="TextBox 16">
            <a:extLst>
              <a:ext uri="{FF2B5EF4-FFF2-40B4-BE49-F238E27FC236}">
                <a16:creationId xmlns:a16="http://schemas.microsoft.com/office/drawing/2014/main" id="{642D03D8-66D8-8207-2CF4-3A8271E973F9}"/>
              </a:ext>
            </a:extLst>
          </p:cNvPr>
          <p:cNvSpPr txBox="1"/>
          <p:nvPr/>
        </p:nvSpPr>
        <p:spPr>
          <a:xfrm rot="17359697">
            <a:off x="5357193" y="2508530"/>
            <a:ext cx="624251" cy="338554"/>
          </a:xfrm>
          <a:prstGeom prst="rect">
            <a:avLst/>
          </a:prstGeom>
          <a:noFill/>
        </p:spPr>
        <p:txBody>
          <a:bodyPr wrap="square" rtlCol="0">
            <a:spAutoFit/>
          </a:bodyPr>
          <a:lstStyle/>
          <a:p>
            <a:r>
              <a:rPr lang="en-US" sz="1600" b="1">
                <a:ln w="3175">
                  <a:noFill/>
                </a:ln>
                <a:solidFill>
                  <a:srgbClr val="C00000"/>
                </a:solidFill>
                <a:latin typeface="+mj-lt"/>
              </a:rPr>
              <a:t>50%</a:t>
            </a:r>
          </a:p>
        </p:txBody>
      </p:sp>
      <p:sp>
        <p:nvSpPr>
          <p:cNvPr id="20" name="TextBox 19">
            <a:extLst>
              <a:ext uri="{FF2B5EF4-FFF2-40B4-BE49-F238E27FC236}">
                <a16:creationId xmlns:a16="http://schemas.microsoft.com/office/drawing/2014/main" id="{07E2B041-8DC4-D07A-9A38-82578708A875}"/>
              </a:ext>
            </a:extLst>
          </p:cNvPr>
          <p:cNvSpPr txBox="1"/>
          <p:nvPr/>
        </p:nvSpPr>
        <p:spPr>
          <a:xfrm rot="17359697">
            <a:off x="5834173" y="2652984"/>
            <a:ext cx="688872" cy="338554"/>
          </a:xfrm>
          <a:prstGeom prst="rect">
            <a:avLst/>
          </a:prstGeom>
          <a:noFill/>
        </p:spPr>
        <p:txBody>
          <a:bodyPr wrap="square" rtlCol="0">
            <a:spAutoFit/>
          </a:bodyPr>
          <a:lstStyle/>
          <a:p>
            <a:r>
              <a:rPr lang="en-US" sz="1600" b="1">
                <a:ln w="3175">
                  <a:noFill/>
                </a:ln>
                <a:solidFill>
                  <a:srgbClr val="316CE3"/>
                </a:solidFill>
                <a:latin typeface="+mj-lt"/>
              </a:rPr>
              <a:t>100%</a:t>
            </a:r>
          </a:p>
        </p:txBody>
      </p:sp>
    </p:spTree>
    <p:extLst>
      <p:ext uri="{BB962C8B-B14F-4D97-AF65-F5344CB8AC3E}">
        <p14:creationId xmlns:p14="http://schemas.microsoft.com/office/powerpoint/2010/main" val="306121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right)">
                                      <p:cBhvr>
                                        <p:cTn id="29" dur="35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up)">
                                      <p:cBhvr>
                                        <p:cTn id="34" dur="35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40"/>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8"/>
                                        </p:tgtEl>
                                        <p:attrNameLst>
                                          <p:attrName>style.visibility</p:attrName>
                                        </p:attrNameLst>
                                      </p:cBhvr>
                                      <p:to>
                                        <p:strVal val="hidden"/>
                                      </p:to>
                                    </p:set>
                                  </p:childTnLst>
                                </p:cTn>
                              </p:par>
                            </p:childTnLst>
                          </p:cTn>
                        </p:par>
                        <p:par>
                          <p:cTn id="45" fill="hold">
                            <p:stCondLst>
                              <p:cond delay="0"/>
                            </p:stCondLst>
                            <p:childTnLst>
                              <p:par>
                                <p:cTn id="46" presetID="0" presetClass="path" presetSubtype="0" accel="50000" decel="50000" fill="hold" grpId="1" nodeType="afterEffect">
                                  <p:stCondLst>
                                    <p:cond delay="0"/>
                                  </p:stCondLst>
                                  <p:childTnLst>
                                    <p:animMotion origin="layout" path="M -1.11111E-6 4.07407E-6 L -1.11111E-6 0.00023 L 0.02379 4.07407E-6 L 0.11493 -0.00649 L 0.18056 -0.01158 L 0.23351 -0.02107 L 0.26788 -0.03843 L 0.29011 -0.06459 L 0.30851 -0.10417 L 0.32274 -0.1463 L 0.32778 -0.16991 L 0.33212 -0.21204 " pathEditMode="relative" rAng="0" ptsTypes="AAAAAAAAAAAA">
                                      <p:cBhvr>
                                        <p:cTn id="47" dur="2000" fill="hold"/>
                                        <p:tgtEl>
                                          <p:spTgt spid="15"/>
                                        </p:tgtEl>
                                        <p:attrNameLst>
                                          <p:attrName>ppt_x</p:attrName>
                                          <p:attrName>ppt_y</p:attrName>
                                        </p:attrNameLst>
                                      </p:cBhvr>
                                      <p:rCtr x="16597" y="-10602"/>
                                    </p:animMotion>
                                  </p:childTnLst>
                                </p:cTn>
                              </p:par>
                              <p:par>
                                <p:cTn id="48" presetID="22" presetClass="entr" presetSubtype="4" fill="hold" grpId="0" nodeType="withEffect">
                                  <p:stCondLst>
                                    <p:cond delay="80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1100"/>
                                        <p:tgtEl>
                                          <p:spTgt spid="9"/>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childTnLst>
                                </p:cTn>
                              </p:par>
                              <p:par>
                                <p:cTn id="59" presetID="1" presetClass="exit" presetSubtype="0" fill="hold" grpId="2" nodeType="withEffect">
                                  <p:stCondLst>
                                    <p:cond delay="0"/>
                                  </p:stCondLst>
                                  <p:childTnLst>
                                    <p:set>
                                      <p:cBhvr>
                                        <p:cTn id="60" dur="1" fill="hold">
                                          <p:stCondLst>
                                            <p:cond delay="0"/>
                                          </p:stCondLst>
                                        </p:cTn>
                                        <p:tgtEl>
                                          <p:spTgt spid="15"/>
                                        </p:tgtEl>
                                        <p:attrNameLst>
                                          <p:attrName>style.visibility</p:attrName>
                                        </p:attrNameLst>
                                      </p:cBhvr>
                                      <p:to>
                                        <p:strVal val="hidden"/>
                                      </p:to>
                                    </p:set>
                                  </p:childTnLst>
                                </p:cTn>
                              </p:par>
                            </p:childTnLst>
                          </p:cTn>
                        </p:par>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5" grpId="0" animBg="1"/>
      <p:bldP spid="15" grpId="1" animBg="1"/>
      <p:bldP spid="15" grpId="2" animBg="1"/>
      <p:bldP spid="17"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62A59-6E62-C20A-A9C1-E045147DA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98707-7CEC-DD28-6826-DAED0A4FBA41}"/>
              </a:ext>
            </a:extLst>
          </p:cNvPr>
          <p:cNvSpPr>
            <a:spLocks noGrp="1"/>
          </p:cNvSpPr>
          <p:nvPr>
            <p:ph type="title"/>
          </p:nvPr>
        </p:nvSpPr>
        <p:spPr>
          <a:xfrm>
            <a:off x="53179" y="56062"/>
            <a:ext cx="9044949" cy="931025"/>
          </a:xfrm>
        </p:spPr>
        <p:txBody>
          <a:bodyPr/>
          <a:lstStyle/>
          <a:p>
            <a:r>
              <a:rPr lang="en-US"/>
              <a:t>The Mess Paper's Evaluation of </a:t>
            </a:r>
            <a:r>
              <a:rPr lang="en-US" err="1"/>
              <a:t>Ramulator</a:t>
            </a:r>
            <a:r>
              <a:rPr lang="en-US"/>
              <a:t> 2.0</a:t>
            </a:r>
          </a:p>
        </p:txBody>
      </p:sp>
      <p:sp>
        <p:nvSpPr>
          <p:cNvPr id="4" name="Slide Number Placeholder 3">
            <a:extLst>
              <a:ext uri="{FF2B5EF4-FFF2-40B4-BE49-F238E27FC236}">
                <a16:creationId xmlns:a16="http://schemas.microsoft.com/office/drawing/2014/main" id="{202BA070-FD74-95C3-56EB-CA53C40AD6B4}"/>
              </a:ext>
            </a:extLst>
          </p:cNvPr>
          <p:cNvSpPr>
            <a:spLocks noGrp="1"/>
          </p:cNvSpPr>
          <p:nvPr>
            <p:ph type="sldNum" sz="quarter" idx="12"/>
          </p:nvPr>
        </p:nvSpPr>
        <p:spPr/>
        <p:txBody>
          <a:bodyPr/>
          <a:lstStyle/>
          <a:p>
            <a:fld id="{CBE5B309-C2CE-4D90-B104-F7E98438FC65}" type="slidenum">
              <a:rPr lang="tr-TR" smtClean="0"/>
              <a:pPr/>
              <a:t>9</a:t>
            </a:fld>
            <a:endParaRPr lang="tr-TR"/>
          </a:p>
        </p:txBody>
      </p:sp>
      <p:pic>
        <p:nvPicPr>
          <p:cNvPr id="12" name="Content Placeholder 11" descr="A blue and black text&#10;&#10;AI-generated content may be incorrect.">
            <a:extLst>
              <a:ext uri="{FF2B5EF4-FFF2-40B4-BE49-F238E27FC236}">
                <a16:creationId xmlns:a16="http://schemas.microsoft.com/office/drawing/2014/main" id="{9AB62C75-E787-AD46-5C7E-E572855C7D0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2582" r="34911"/>
          <a:stretch>
            <a:fillRect/>
          </a:stretch>
        </p:blipFill>
        <p:spPr>
          <a:xfrm>
            <a:off x="144594" y="1137069"/>
            <a:ext cx="4572000" cy="3034972"/>
          </a:xfrm>
        </p:spPr>
      </p:pic>
      <p:pic>
        <p:nvPicPr>
          <p:cNvPr id="13" name="Content Placeholder 11" descr="A blue and black text&#10;&#10;AI-generated content may be incorrect.">
            <a:extLst>
              <a:ext uri="{FF2B5EF4-FFF2-40B4-BE49-F238E27FC236}">
                <a16:creationId xmlns:a16="http://schemas.microsoft.com/office/drawing/2014/main" id="{1055147B-38D0-886C-91D4-A86CFC0CD6B5}"/>
              </a:ext>
            </a:extLst>
          </p:cNvPr>
          <p:cNvPicPr>
            <a:picLocks noChangeAspect="1"/>
          </p:cNvPicPr>
          <p:nvPr/>
        </p:nvPicPr>
        <p:blipFill>
          <a:blip r:embed="rId3">
            <a:extLst>
              <a:ext uri="{28A0092B-C50C-407E-A947-70E740481C1C}">
                <a14:useLocalDpi xmlns:a14="http://schemas.microsoft.com/office/drawing/2010/main" val="0"/>
              </a:ext>
            </a:extLst>
          </a:blip>
          <a:srcRect r="68347"/>
          <a:stretch>
            <a:fillRect/>
          </a:stretch>
        </p:blipFill>
        <p:spPr>
          <a:xfrm>
            <a:off x="4541787" y="1137069"/>
            <a:ext cx="4451882" cy="3034972"/>
          </a:xfrm>
          <a:prstGeom prst="rect">
            <a:avLst/>
          </a:prstGeom>
        </p:spPr>
      </p:pic>
      <p:sp>
        <p:nvSpPr>
          <p:cNvPr id="14" name="Rectangle 13">
            <a:extLst>
              <a:ext uri="{FF2B5EF4-FFF2-40B4-BE49-F238E27FC236}">
                <a16:creationId xmlns:a16="http://schemas.microsoft.com/office/drawing/2014/main" id="{5AA94AFA-2956-B2D8-B7C0-691260F789F9}"/>
              </a:ext>
            </a:extLst>
          </p:cNvPr>
          <p:cNvSpPr/>
          <p:nvPr/>
        </p:nvSpPr>
        <p:spPr>
          <a:xfrm>
            <a:off x="1511065" y="1151537"/>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B83ADA-5B16-BD4C-BCAB-A47335DB962F}"/>
              </a:ext>
            </a:extLst>
          </p:cNvPr>
          <p:cNvSpPr/>
          <p:nvPr/>
        </p:nvSpPr>
        <p:spPr>
          <a:xfrm>
            <a:off x="5763250" y="1151537"/>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83908CF7-6B36-A879-78CC-91DAC1FADD92}"/>
              </a:ext>
            </a:extLst>
          </p:cNvPr>
          <p:cNvSpPr txBox="1">
            <a:spLocks/>
          </p:cNvSpPr>
          <p:nvPr/>
        </p:nvSpPr>
        <p:spPr>
          <a:xfrm>
            <a:off x="0" y="5445033"/>
            <a:ext cx="9144000" cy="830996"/>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err="1">
                <a:solidFill>
                  <a:srgbClr val="F23F00"/>
                </a:solidFill>
                <a:latin typeface="+mj-lt"/>
              </a:rPr>
              <a:t>Ramulator</a:t>
            </a:r>
            <a:r>
              <a:rPr lang="en-GB" sz="2400">
                <a:solidFill>
                  <a:srgbClr val="F23F00"/>
                </a:solidFill>
                <a:latin typeface="+mj-lt"/>
              </a:rPr>
              <a:t> 2.0 simulation results in the Mess paper are </a:t>
            </a:r>
            <a:r>
              <a:rPr lang="en-GB" sz="2400" b="1">
                <a:solidFill>
                  <a:srgbClr val="F23F00"/>
                </a:solidFill>
                <a:latin typeface="+mj-lt"/>
              </a:rPr>
              <a:t>incorrect</a:t>
            </a:r>
            <a:r>
              <a:rPr lang="en-GB" sz="2400">
                <a:solidFill>
                  <a:srgbClr val="F23F00"/>
                </a:solidFill>
                <a:latin typeface="+mj-lt"/>
              </a:rPr>
              <a:t> </a:t>
            </a:r>
            <a:br>
              <a:rPr lang="en-GB" sz="2400">
                <a:solidFill>
                  <a:srgbClr val="F23F00"/>
                </a:solidFill>
                <a:latin typeface="+mj-lt"/>
              </a:rPr>
            </a:br>
            <a:r>
              <a:rPr lang="en-GB" sz="2400">
                <a:solidFill>
                  <a:srgbClr val="F23F00"/>
                </a:solidFill>
                <a:latin typeface="+mj-lt"/>
              </a:rPr>
              <a:t>and, at the time of the publication of the Mess paper, </a:t>
            </a:r>
            <a:r>
              <a:rPr lang="en-GB" sz="2400" b="1">
                <a:solidFill>
                  <a:srgbClr val="F23F00"/>
                </a:solidFill>
                <a:latin typeface="+mj-lt"/>
              </a:rPr>
              <a:t>irreproducible</a:t>
            </a:r>
            <a:endParaRPr lang="en-US" sz="2400" b="1">
              <a:solidFill>
                <a:srgbClr val="F23F00"/>
              </a:solidFill>
              <a:latin typeface="+mj-lt"/>
            </a:endParaRPr>
          </a:p>
        </p:txBody>
      </p:sp>
      <p:sp>
        <p:nvSpPr>
          <p:cNvPr id="3" name="TextBox 2">
            <a:extLst>
              <a:ext uri="{FF2B5EF4-FFF2-40B4-BE49-F238E27FC236}">
                <a16:creationId xmlns:a16="http://schemas.microsoft.com/office/drawing/2014/main" id="{BD784916-D005-DF22-BDCA-66F6993DC4D9}"/>
              </a:ext>
            </a:extLst>
          </p:cNvPr>
          <p:cNvSpPr txBox="1"/>
          <p:nvPr/>
        </p:nvSpPr>
        <p:spPr>
          <a:xfrm>
            <a:off x="-57159" y="4369380"/>
            <a:ext cx="8894618" cy="830997"/>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mj-lt"/>
              </a:rPr>
              <a:t>Contending that </a:t>
            </a:r>
            <a:r>
              <a:rPr lang="en-US" sz="2400" err="1">
                <a:latin typeface="+mj-lt"/>
              </a:rPr>
              <a:t>Ramulator</a:t>
            </a:r>
            <a:r>
              <a:rPr lang="en-US" sz="2400">
                <a:latin typeface="+mj-lt"/>
              </a:rPr>
              <a:t> 2.0 </a:t>
            </a:r>
            <a:r>
              <a:rPr lang="en-US" sz="2400" i="1">
                <a:latin typeface="+mj-lt"/>
              </a:rPr>
              <a:t>"poorly resembles </a:t>
            </a:r>
            <a:br>
              <a:rPr lang="en-US" sz="2400" i="1">
                <a:latin typeface="+mj-lt"/>
              </a:rPr>
            </a:br>
            <a:r>
              <a:rPr lang="en-US" sz="2400" i="1">
                <a:latin typeface="+mj-lt"/>
              </a:rPr>
              <a:t>the actual system performance"</a:t>
            </a:r>
            <a:endParaRPr lang="en-US" sz="2400" i="1">
              <a:solidFill>
                <a:srgbClr val="316CE3"/>
              </a:solidFill>
              <a:latin typeface="+mj-lt"/>
            </a:endParaRPr>
          </a:p>
        </p:txBody>
      </p:sp>
      <p:grpSp>
        <p:nvGrpSpPr>
          <p:cNvPr id="10" name="Group 9">
            <a:extLst>
              <a:ext uri="{FF2B5EF4-FFF2-40B4-BE49-F238E27FC236}">
                <a16:creationId xmlns:a16="http://schemas.microsoft.com/office/drawing/2014/main" id="{1691317C-E00F-3905-780A-1A5F55AAE024}"/>
              </a:ext>
            </a:extLst>
          </p:cNvPr>
          <p:cNvGrpSpPr/>
          <p:nvPr/>
        </p:nvGrpSpPr>
        <p:grpSpPr>
          <a:xfrm>
            <a:off x="6593760" y="2805900"/>
            <a:ext cx="2046626" cy="773992"/>
            <a:chOff x="6731508" y="2841460"/>
            <a:chExt cx="2046626" cy="773992"/>
          </a:xfrm>
        </p:grpSpPr>
        <p:sp>
          <p:nvSpPr>
            <p:cNvPr id="5" name="Oval 4">
              <a:extLst>
                <a:ext uri="{FF2B5EF4-FFF2-40B4-BE49-F238E27FC236}">
                  <a16:creationId xmlns:a16="http://schemas.microsoft.com/office/drawing/2014/main" id="{11844B77-F331-2D64-B3F3-7B14ACF74864}"/>
                </a:ext>
              </a:extLst>
            </p:cNvPr>
            <p:cNvSpPr/>
            <p:nvPr/>
          </p:nvSpPr>
          <p:spPr>
            <a:xfrm>
              <a:off x="7584641" y="2841460"/>
              <a:ext cx="340360" cy="340360"/>
            </a:xfrm>
            <a:prstGeom prst="ellipse">
              <a:avLst/>
            </a:prstGeom>
            <a:solidFill>
              <a:srgbClr val="FF5F2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cxnSp>
          <p:nvCxnSpPr>
            <p:cNvPr id="8" name="Straight Arrow Connector 7">
              <a:extLst>
                <a:ext uri="{FF2B5EF4-FFF2-40B4-BE49-F238E27FC236}">
                  <a16:creationId xmlns:a16="http://schemas.microsoft.com/office/drawing/2014/main" id="{A4EF92D4-BC92-1BC2-65B1-67C5377D343C}"/>
                </a:ext>
              </a:extLst>
            </p:cNvPr>
            <p:cNvCxnSpPr>
              <a:cxnSpLocks/>
            </p:cNvCxnSpPr>
            <p:nvPr/>
          </p:nvCxnSpPr>
          <p:spPr>
            <a:xfrm>
              <a:off x="6754061" y="3246120"/>
              <a:ext cx="2001520" cy="0"/>
            </a:xfrm>
            <a:prstGeom prst="straightConnector1">
              <a:avLst/>
            </a:prstGeom>
            <a:ln w="38100">
              <a:solidFill>
                <a:srgbClr val="FF5F25"/>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BD4F6C-FB20-A88E-FA80-B0EE057AEC36}"/>
                </a:ext>
              </a:extLst>
            </p:cNvPr>
            <p:cNvSpPr txBox="1"/>
            <p:nvPr/>
          </p:nvSpPr>
          <p:spPr>
            <a:xfrm>
              <a:off x="6731508" y="3246120"/>
              <a:ext cx="2046626" cy="369332"/>
            </a:xfrm>
            <a:prstGeom prst="rect">
              <a:avLst/>
            </a:prstGeom>
            <a:noFill/>
          </p:spPr>
          <p:txBody>
            <a:bodyPr wrap="square" rtlCol="0">
              <a:spAutoFit/>
            </a:bodyPr>
            <a:lstStyle/>
            <a:p>
              <a:pPr algn="ctr"/>
              <a:r>
                <a:rPr lang="en-US" i="1">
                  <a:solidFill>
                    <a:srgbClr val="F23F00"/>
                  </a:solidFill>
                  <a:latin typeface="+mj-lt"/>
                </a:rPr>
                <a:t>smaller bandwidth</a:t>
              </a:r>
            </a:p>
          </p:txBody>
        </p:sp>
      </p:grpSp>
      <p:grpSp>
        <p:nvGrpSpPr>
          <p:cNvPr id="16" name="Group 15">
            <a:extLst>
              <a:ext uri="{FF2B5EF4-FFF2-40B4-BE49-F238E27FC236}">
                <a16:creationId xmlns:a16="http://schemas.microsoft.com/office/drawing/2014/main" id="{0921BBC8-6010-F416-08FE-EF8EA3F7F529}"/>
              </a:ext>
            </a:extLst>
          </p:cNvPr>
          <p:cNvGrpSpPr/>
          <p:nvPr/>
        </p:nvGrpSpPr>
        <p:grpSpPr>
          <a:xfrm rot="16200000">
            <a:off x="5342564" y="2404126"/>
            <a:ext cx="1011959" cy="1243417"/>
            <a:chOff x="6780190" y="3190066"/>
            <a:chExt cx="1011959" cy="1243417"/>
          </a:xfrm>
        </p:grpSpPr>
        <p:sp>
          <p:nvSpPr>
            <p:cNvPr id="17" name="Oval 16">
              <a:extLst>
                <a:ext uri="{FF2B5EF4-FFF2-40B4-BE49-F238E27FC236}">
                  <a16:creationId xmlns:a16="http://schemas.microsoft.com/office/drawing/2014/main" id="{1CDB116C-4BCB-97CB-5AD8-D658EB439E57}"/>
                </a:ext>
              </a:extLst>
            </p:cNvPr>
            <p:cNvSpPr/>
            <p:nvPr/>
          </p:nvSpPr>
          <p:spPr>
            <a:xfrm rot="5400000">
              <a:off x="7298805" y="3190066"/>
              <a:ext cx="340360" cy="340360"/>
            </a:xfrm>
            <a:prstGeom prst="ellipse">
              <a:avLst/>
            </a:prstGeom>
            <a:solidFill>
              <a:srgbClr val="FF5F2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cxnSp>
          <p:nvCxnSpPr>
            <p:cNvPr id="18" name="Straight Arrow Connector 17">
              <a:extLst>
                <a:ext uri="{FF2B5EF4-FFF2-40B4-BE49-F238E27FC236}">
                  <a16:creationId xmlns:a16="http://schemas.microsoft.com/office/drawing/2014/main" id="{D5605C56-FAFA-7D6C-B5A6-49243EFD642D}"/>
                </a:ext>
              </a:extLst>
            </p:cNvPr>
            <p:cNvCxnSpPr>
              <a:cxnSpLocks/>
            </p:cNvCxnSpPr>
            <p:nvPr/>
          </p:nvCxnSpPr>
          <p:spPr>
            <a:xfrm rot="5400000" flipH="1" flipV="1">
              <a:off x="6915345" y="3127872"/>
              <a:ext cx="2660" cy="272970"/>
            </a:xfrm>
            <a:prstGeom prst="straightConnector1">
              <a:avLst/>
            </a:prstGeom>
            <a:ln w="25400">
              <a:solidFill>
                <a:srgbClr val="FF5F25"/>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F9092C4-EF49-0338-F4FA-246995BBBA7C}"/>
                </a:ext>
              </a:extLst>
            </p:cNvPr>
            <p:cNvSpPr txBox="1"/>
            <p:nvPr/>
          </p:nvSpPr>
          <p:spPr>
            <a:xfrm rot="5400000">
              <a:off x="6988619" y="3629952"/>
              <a:ext cx="960730" cy="646331"/>
            </a:xfrm>
            <a:prstGeom prst="rect">
              <a:avLst/>
            </a:prstGeom>
            <a:noFill/>
          </p:spPr>
          <p:txBody>
            <a:bodyPr wrap="square" rtlCol="0">
              <a:spAutoFit/>
            </a:bodyPr>
            <a:lstStyle/>
            <a:p>
              <a:pPr algn="ctr"/>
              <a:r>
                <a:rPr lang="en-US" i="1">
                  <a:solidFill>
                    <a:srgbClr val="F23F00"/>
                  </a:solidFill>
                  <a:latin typeface="+mj-lt"/>
                </a:rPr>
                <a:t>smaller</a:t>
              </a:r>
            </a:p>
            <a:p>
              <a:pPr algn="ctr"/>
              <a:r>
                <a:rPr lang="en-US" i="1">
                  <a:solidFill>
                    <a:srgbClr val="F23F00"/>
                  </a:solidFill>
                  <a:latin typeface="+mj-lt"/>
                </a:rPr>
                <a:t>latency</a:t>
              </a:r>
            </a:p>
          </p:txBody>
        </p:sp>
      </p:grpSp>
      <p:grpSp>
        <p:nvGrpSpPr>
          <p:cNvPr id="24" name="Group 23">
            <a:extLst>
              <a:ext uri="{FF2B5EF4-FFF2-40B4-BE49-F238E27FC236}">
                <a16:creationId xmlns:a16="http://schemas.microsoft.com/office/drawing/2014/main" id="{5D2A6A1E-950D-CE98-4771-071C82924E25}"/>
              </a:ext>
            </a:extLst>
          </p:cNvPr>
          <p:cNvGrpSpPr/>
          <p:nvPr/>
        </p:nvGrpSpPr>
        <p:grpSpPr>
          <a:xfrm>
            <a:off x="762291" y="3271360"/>
            <a:ext cx="4927357" cy="244034"/>
            <a:chOff x="762291" y="3271360"/>
            <a:chExt cx="4927357" cy="244034"/>
          </a:xfrm>
        </p:grpSpPr>
        <p:cxnSp>
          <p:nvCxnSpPr>
            <p:cNvPr id="21" name="Straight Arrow Connector 20">
              <a:extLst>
                <a:ext uri="{FF2B5EF4-FFF2-40B4-BE49-F238E27FC236}">
                  <a16:creationId xmlns:a16="http://schemas.microsoft.com/office/drawing/2014/main" id="{0D6A78BA-0594-11D3-C161-E20321D40EE3}"/>
                </a:ext>
              </a:extLst>
            </p:cNvPr>
            <p:cNvCxnSpPr/>
            <p:nvPr/>
          </p:nvCxnSpPr>
          <p:spPr>
            <a:xfrm>
              <a:off x="762291" y="3271360"/>
              <a:ext cx="4926439" cy="1886"/>
            </a:xfrm>
            <a:prstGeom prst="straightConnector1">
              <a:avLst/>
            </a:prstGeom>
            <a:ln w="28575">
              <a:solidFill>
                <a:srgbClr val="F23F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7F5E918-623D-2E15-B066-11B867A58CFA}"/>
                </a:ext>
              </a:extLst>
            </p:cNvPr>
            <p:cNvCxnSpPr/>
            <p:nvPr/>
          </p:nvCxnSpPr>
          <p:spPr>
            <a:xfrm flipV="1">
              <a:off x="5150208" y="3512863"/>
              <a:ext cx="539440" cy="2531"/>
            </a:xfrm>
            <a:prstGeom prst="straightConnector1">
              <a:avLst/>
            </a:prstGeom>
            <a:ln w="28575">
              <a:solidFill>
                <a:srgbClr val="F23F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3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22" presetClass="entr" presetSubtype="2"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right)">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7"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D091-F1D7-9F92-446F-1520C9141F6E}"/>
              </a:ext>
            </a:extLst>
          </p:cNvPr>
          <p:cNvSpPr>
            <a:spLocks noGrp="1"/>
          </p:cNvSpPr>
          <p:nvPr>
            <p:ph type="title"/>
          </p:nvPr>
        </p:nvSpPr>
        <p:spPr/>
        <p:txBody>
          <a:bodyPr/>
          <a:lstStyle/>
          <a:p>
            <a:r>
              <a:rPr lang="en-GB" sz="3200"/>
              <a:t>Analysis of the Evaluation of </a:t>
            </a:r>
            <a:r>
              <a:rPr lang="en-GB" sz="3200" err="1"/>
              <a:t>Ramulator</a:t>
            </a:r>
            <a:r>
              <a:rPr lang="en-GB" sz="3200"/>
              <a:t> 2.0</a:t>
            </a:r>
            <a:br>
              <a:rPr lang="en-GB" sz="3200"/>
            </a:br>
            <a:r>
              <a:rPr lang="en-GB" sz="3200"/>
              <a:t>in the Mess Paper</a:t>
            </a:r>
            <a:endParaRPr lang="en-US" sz="3200"/>
          </a:p>
        </p:txBody>
      </p:sp>
      <p:sp>
        <p:nvSpPr>
          <p:cNvPr id="3" name="Content Placeholder 2">
            <a:extLst>
              <a:ext uri="{FF2B5EF4-FFF2-40B4-BE49-F238E27FC236}">
                <a16:creationId xmlns:a16="http://schemas.microsoft.com/office/drawing/2014/main" id="{B6BB3273-A7A2-1D12-B146-17E8CF56651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F6DE9C0-2FDD-D930-E80B-E1437273AA2C}"/>
              </a:ext>
            </a:extLst>
          </p:cNvPr>
          <p:cNvSpPr>
            <a:spLocks noGrp="1"/>
          </p:cNvSpPr>
          <p:nvPr>
            <p:ph type="sldNum" sz="quarter" idx="12"/>
          </p:nvPr>
        </p:nvSpPr>
        <p:spPr/>
        <p:txBody>
          <a:bodyPr/>
          <a:lstStyle/>
          <a:p>
            <a:fld id="{CBE5B309-C2CE-4D90-B104-F7E98438FC65}" type="slidenum">
              <a:rPr lang="tr-TR" smtClean="0"/>
              <a:pPr/>
              <a:t>10</a:t>
            </a:fld>
            <a:endParaRPr lang="tr-TR"/>
          </a:p>
        </p:txBody>
      </p:sp>
      <p:sp>
        <p:nvSpPr>
          <p:cNvPr id="6" name="Rectangle: Rounded Corners 5">
            <a:extLst>
              <a:ext uri="{FF2B5EF4-FFF2-40B4-BE49-F238E27FC236}">
                <a16:creationId xmlns:a16="http://schemas.microsoft.com/office/drawing/2014/main" id="{56E77B85-B04A-B72C-77AA-A2C52E5AC387}"/>
              </a:ext>
            </a:extLst>
          </p:cNvPr>
          <p:cNvSpPr/>
          <p:nvPr/>
        </p:nvSpPr>
        <p:spPr>
          <a:xfrm>
            <a:off x="99051" y="1006818"/>
            <a:ext cx="8894618" cy="1126782"/>
          </a:xfrm>
          <a:prstGeom prst="roundRect">
            <a:avLst>
              <a:gd name="adj" fmla="val 7122"/>
            </a:avLst>
          </a:prstGeom>
          <a:solidFill>
            <a:srgbClr val="FFEBCD"/>
          </a:solidFill>
          <a:ln w="28575">
            <a:solidFill>
              <a:srgbClr val="FFAE3C">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80000"/>
              </a:lnSpc>
            </a:pPr>
            <a:r>
              <a:rPr lang="en-US" sz="2400" b="1">
                <a:solidFill>
                  <a:srgbClr val="E28700"/>
                </a:solidFill>
                <a:latin typeface="+mj-lt"/>
              </a:rPr>
              <a:t>Reproducibility Issues:</a:t>
            </a:r>
          </a:p>
          <a:p>
            <a:r>
              <a:rPr lang="en-US" sz="2000">
                <a:solidFill>
                  <a:srgbClr val="E28700"/>
                </a:solidFill>
                <a:latin typeface="+mj-lt"/>
              </a:rPr>
              <a:t>It was </a:t>
            </a:r>
            <a:r>
              <a:rPr lang="en-US" sz="2000" i="1">
                <a:solidFill>
                  <a:srgbClr val="E28700"/>
                </a:solidFill>
                <a:latin typeface="+mj-lt"/>
              </a:rPr>
              <a:t>not possible</a:t>
            </a:r>
            <a:r>
              <a:rPr lang="en-US" sz="2000">
                <a:solidFill>
                  <a:srgbClr val="E28700"/>
                </a:solidFill>
                <a:latin typeface="+mj-lt"/>
              </a:rPr>
              <a:t> to reproduce </a:t>
            </a:r>
            <a:r>
              <a:rPr lang="en-US" sz="2000" i="1">
                <a:solidFill>
                  <a:srgbClr val="E28700"/>
                </a:solidFill>
                <a:latin typeface="+mj-lt"/>
              </a:rPr>
              <a:t>any </a:t>
            </a:r>
            <a:r>
              <a:rPr lang="en-US" sz="2000" err="1">
                <a:solidFill>
                  <a:srgbClr val="E28700"/>
                </a:solidFill>
                <a:latin typeface="+mj-lt"/>
              </a:rPr>
              <a:t>Ramulator</a:t>
            </a:r>
            <a:r>
              <a:rPr lang="en-US" sz="2000">
                <a:solidFill>
                  <a:srgbClr val="E28700"/>
                </a:solidFill>
                <a:latin typeface="+mj-lt"/>
              </a:rPr>
              <a:t> 2.0 result from the Mess paper artifacts available at the time of publication and artifact evaluation of the paper</a:t>
            </a:r>
          </a:p>
        </p:txBody>
      </p:sp>
      <p:sp>
        <p:nvSpPr>
          <p:cNvPr id="8" name="Rectangle: Rounded Corners 7">
            <a:extLst>
              <a:ext uri="{FF2B5EF4-FFF2-40B4-BE49-F238E27FC236}">
                <a16:creationId xmlns:a16="http://schemas.microsoft.com/office/drawing/2014/main" id="{E8913247-F457-2626-F839-14E24FE570DE}"/>
              </a:ext>
            </a:extLst>
          </p:cNvPr>
          <p:cNvSpPr/>
          <p:nvPr/>
        </p:nvSpPr>
        <p:spPr>
          <a:xfrm>
            <a:off x="99051" y="2018408"/>
            <a:ext cx="8894618" cy="638685"/>
          </a:xfrm>
          <a:prstGeom prst="roundRect">
            <a:avLst>
              <a:gd name="adj" fmla="val 0"/>
            </a:avLst>
          </a:prstGeom>
          <a:solidFill>
            <a:srgbClr val="E28700"/>
          </a:solidFill>
          <a:ln w="19050">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mj-lt"/>
              </a:rPr>
              <a:t>The missing source codes were uploaded to the Mess GitHub repository</a:t>
            </a:r>
            <a:br>
              <a:rPr lang="en-US" sz="2000" b="1" dirty="0">
                <a:solidFill>
                  <a:schemeClr val="bg1"/>
                </a:solidFill>
                <a:latin typeface="+mj-lt"/>
              </a:rPr>
            </a:br>
            <a:r>
              <a:rPr lang="en-US" sz="2000" b="1" dirty="0">
                <a:solidFill>
                  <a:schemeClr val="bg1"/>
                </a:solidFill>
                <a:latin typeface="+mj-lt"/>
              </a:rPr>
              <a:t>10 months after the artifact evaluation badges</a:t>
            </a:r>
            <a:endParaRPr lang="en-US" b="1" dirty="0">
              <a:solidFill>
                <a:schemeClr val="bg1"/>
              </a:solidFill>
              <a:latin typeface="+mj-lt"/>
            </a:endParaRPr>
          </a:p>
        </p:txBody>
      </p:sp>
      <p:sp>
        <p:nvSpPr>
          <p:cNvPr id="10" name="Rectangle: Rounded Corners 9">
            <a:extLst>
              <a:ext uri="{FF2B5EF4-FFF2-40B4-BE49-F238E27FC236}">
                <a16:creationId xmlns:a16="http://schemas.microsoft.com/office/drawing/2014/main" id="{4558E58C-9723-050E-53C5-66E2FAA9F656}"/>
              </a:ext>
            </a:extLst>
          </p:cNvPr>
          <p:cNvSpPr/>
          <p:nvPr/>
        </p:nvSpPr>
        <p:spPr>
          <a:xfrm>
            <a:off x="99051" y="2789080"/>
            <a:ext cx="8894618" cy="1738174"/>
          </a:xfrm>
          <a:prstGeom prst="roundRect">
            <a:avLst>
              <a:gd name="adj" fmla="val 7122"/>
            </a:avLst>
          </a:prstGeom>
          <a:solidFill>
            <a:srgbClr val="FFEDE7"/>
          </a:solidFill>
          <a:ln w="28575">
            <a:solidFill>
              <a:srgbClr val="FF5F2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80000"/>
              </a:lnSpc>
            </a:pPr>
            <a:r>
              <a:rPr lang="en-US" sz="2400" b="1">
                <a:solidFill>
                  <a:srgbClr val="F23F00"/>
                </a:solidFill>
                <a:latin typeface="+mj-lt"/>
              </a:rPr>
              <a:t>Fundamental Configuration Errors:</a:t>
            </a:r>
          </a:p>
          <a:p>
            <a:pPr marL="457200" indent="-457200">
              <a:buAutoNum type="arabicParenR"/>
            </a:pPr>
            <a:r>
              <a:rPr lang="en-US" sz="2000">
                <a:solidFill>
                  <a:srgbClr val="F23F00"/>
                </a:solidFill>
                <a:latin typeface="+mj-lt"/>
              </a:rPr>
              <a:t>The Mess paper effectively compares an </a:t>
            </a:r>
            <a:r>
              <a:rPr lang="en-US" sz="2000" b="1">
                <a:solidFill>
                  <a:srgbClr val="F23F00"/>
                </a:solidFill>
                <a:latin typeface="+mj-lt"/>
              </a:rPr>
              <a:t>8-channel </a:t>
            </a:r>
            <a:r>
              <a:rPr lang="en-US" sz="2000">
                <a:solidFill>
                  <a:srgbClr val="F23F00"/>
                </a:solidFill>
                <a:latin typeface="+mj-lt"/>
              </a:rPr>
              <a:t>DDR5 memory</a:t>
            </a:r>
            <a:br>
              <a:rPr lang="en-US" sz="2000">
                <a:solidFill>
                  <a:srgbClr val="F23F00"/>
                </a:solidFill>
                <a:latin typeface="+mj-lt"/>
              </a:rPr>
            </a:br>
            <a:r>
              <a:rPr lang="en-US" sz="2000">
                <a:solidFill>
                  <a:srgbClr val="F23F00"/>
                </a:solidFill>
                <a:latin typeface="+mj-lt"/>
              </a:rPr>
              <a:t>system in </a:t>
            </a:r>
            <a:r>
              <a:rPr lang="en-US" sz="2000" err="1">
                <a:solidFill>
                  <a:srgbClr val="F23F00"/>
                </a:solidFill>
                <a:latin typeface="+mj-lt"/>
              </a:rPr>
              <a:t>Ramulator</a:t>
            </a:r>
            <a:r>
              <a:rPr lang="en-US" sz="2000">
                <a:solidFill>
                  <a:srgbClr val="F23F00"/>
                </a:solidFill>
                <a:latin typeface="+mj-lt"/>
              </a:rPr>
              <a:t> 2.0 against a </a:t>
            </a:r>
            <a:r>
              <a:rPr lang="en-US" sz="2000" b="1">
                <a:solidFill>
                  <a:srgbClr val="F23F00"/>
                </a:solidFill>
                <a:latin typeface="+mj-lt"/>
              </a:rPr>
              <a:t>16-channel </a:t>
            </a:r>
            <a:r>
              <a:rPr lang="en-US" sz="2000">
                <a:solidFill>
                  <a:srgbClr val="F23F00"/>
                </a:solidFill>
                <a:latin typeface="+mj-lt"/>
              </a:rPr>
              <a:t>real DDR5 memory system </a:t>
            </a:r>
          </a:p>
          <a:p>
            <a:pPr marL="457200" indent="-457200">
              <a:buAutoNum type="arabicParenR"/>
            </a:pPr>
            <a:r>
              <a:rPr lang="en-US" sz="2000">
                <a:solidFill>
                  <a:srgbClr val="F23F00"/>
                </a:solidFill>
                <a:latin typeface="+mj-lt"/>
              </a:rPr>
              <a:t>The Mess paper uses </a:t>
            </a:r>
            <a:r>
              <a:rPr lang="en-US" sz="2000" b="1">
                <a:solidFill>
                  <a:srgbClr val="F23F00"/>
                </a:solidFill>
                <a:latin typeface="+mj-lt"/>
              </a:rPr>
              <a:t>unrealistically low cache latency configurations </a:t>
            </a:r>
            <a:br>
              <a:rPr lang="en-US" sz="2000" b="1">
                <a:solidFill>
                  <a:srgbClr val="F23F00"/>
                </a:solidFill>
                <a:latin typeface="+mj-lt"/>
              </a:rPr>
            </a:br>
            <a:r>
              <a:rPr lang="en-US" sz="2000">
                <a:solidFill>
                  <a:srgbClr val="F23F00"/>
                </a:solidFill>
                <a:latin typeface="+mj-lt"/>
              </a:rPr>
              <a:t>that lead to </a:t>
            </a:r>
            <a:r>
              <a:rPr lang="en-US" sz="2000" b="1">
                <a:solidFill>
                  <a:srgbClr val="F23F00"/>
                </a:solidFill>
                <a:latin typeface="+mj-lt"/>
              </a:rPr>
              <a:t>low memory access latency</a:t>
            </a:r>
          </a:p>
        </p:txBody>
      </p:sp>
      <p:sp>
        <p:nvSpPr>
          <p:cNvPr id="12" name="Rectangle: Rounded Corners 11">
            <a:extLst>
              <a:ext uri="{FF2B5EF4-FFF2-40B4-BE49-F238E27FC236}">
                <a16:creationId xmlns:a16="http://schemas.microsoft.com/office/drawing/2014/main" id="{51795BCD-6583-960F-27B6-07C776F155FF}"/>
              </a:ext>
            </a:extLst>
          </p:cNvPr>
          <p:cNvSpPr/>
          <p:nvPr/>
        </p:nvSpPr>
        <p:spPr>
          <a:xfrm>
            <a:off x="99051" y="4659241"/>
            <a:ext cx="8894618" cy="1639456"/>
          </a:xfrm>
          <a:prstGeom prst="roundRect">
            <a:avLst>
              <a:gd name="adj" fmla="val 7122"/>
            </a:avLst>
          </a:prstGeom>
          <a:solidFill>
            <a:srgbClr val="E9E5FB"/>
          </a:solidFill>
          <a:ln w="28575">
            <a:solidFill>
              <a:srgbClr val="6D40DC">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80000"/>
              </a:lnSpc>
            </a:pPr>
            <a:r>
              <a:rPr lang="en-US" sz="2400" b="1">
                <a:solidFill>
                  <a:srgbClr val="6D40DC"/>
                </a:solidFill>
                <a:latin typeface="+mj-lt"/>
              </a:rPr>
              <a:t>Scholarship Issues:</a:t>
            </a:r>
          </a:p>
          <a:p>
            <a:r>
              <a:rPr lang="en-US" sz="2000">
                <a:solidFill>
                  <a:srgbClr val="6D40DC"/>
                </a:solidFill>
              </a:rPr>
              <a:t>The Mess paper </a:t>
            </a:r>
            <a:r>
              <a:rPr lang="en-US" sz="2000" b="1">
                <a:solidFill>
                  <a:srgbClr val="6D40DC"/>
                </a:solidFill>
              </a:rPr>
              <a:t>does </a:t>
            </a:r>
            <a:r>
              <a:rPr lang="en-US" sz="2000" b="1" i="1">
                <a:solidFill>
                  <a:srgbClr val="6D40DC"/>
                </a:solidFill>
              </a:rPr>
              <a:t>not</a:t>
            </a:r>
            <a:r>
              <a:rPr lang="en-US" sz="2000" b="1">
                <a:solidFill>
                  <a:srgbClr val="6D40DC"/>
                </a:solidFill>
              </a:rPr>
              <a:t> disclose </a:t>
            </a:r>
            <a:br>
              <a:rPr lang="en-US" sz="2000">
                <a:solidFill>
                  <a:srgbClr val="6D40DC"/>
                </a:solidFill>
              </a:rPr>
            </a:br>
            <a:r>
              <a:rPr lang="en-US" sz="2000">
                <a:solidFill>
                  <a:srgbClr val="6D40DC"/>
                </a:solidFill>
              </a:rPr>
              <a:t>1) </a:t>
            </a:r>
            <a:r>
              <a:rPr lang="en-US" sz="2000" b="1">
                <a:solidFill>
                  <a:srgbClr val="6D40DC"/>
                </a:solidFill>
              </a:rPr>
              <a:t>modifications </a:t>
            </a:r>
            <a:r>
              <a:rPr lang="en-US" sz="2000">
                <a:solidFill>
                  <a:srgbClr val="6D40DC"/>
                </a:solidFill>
              </a:rPr>
              <a:t>to the cache latency configurations, and </a:t>
            </a:r>
          </a:p>
          <a:p>
            <a:r>
              <a:rPr lang="en-US" sz="2000">
                <a:solidFill>
                  <a:srgbClr val="6D40DC"/>
                </a:solidFill>
              </a:rPr>
              <a:t>2) </a:t>
            </a:r>
            <a:r>
              <a:rPr lang="en-US" sz="2000" b="1">
                <a:solidFill>
                  <a:srgbClr val="6D40DC"/>
                </a:solidFill>
              </a:rPr>
              <a:t>differences in evaluation methodology </a:t>
            </a:r>
            <a:r>
              <a:rPr lang="en-US" sz="2000">
                <a:solidFill>
                  <a:srgbClr val="6D40DC"/>
                </a:solidFill>
              </a:rPr>
              <a:t>between simulation and </a:t>
            </a:r>
            <a:br>
              <a:rPr lang="en-US" sz="2000">
                <a:solidFill>
                  <a:srgbClr val="6D40DC"/>
                </a:solidFill>
              </a:rPr>
            </a:br>
            <a:r>
              <a:rPr lang="en-US" sz="2000">
                <a:solidFill>
                  <a:srgbClr val="6D40DC"/>
                </a:solidFill>
              </a:rPr>
              <a:t>real system results (identified via email exchange with Mess paper's authors)</a:t>
            </a:r>
            <a:endParaRPr lang="en-US" sz="2000" b="1">
              <a:solidFill>
                <a:srgbClr val="6D40DC"/>
              </a:solidFill>
              <a:latin typeface="+mj-lt"/>
            </a:endParaRPr>
          </a:p>
        </p:txBody>
      </p:sp>
      <p:sp>
        <p:nvSpPr>
          <p:cNvPr id="7" name="TextBox 6">
            <a:extLst>
              <a:ext uri="{FF2B5EF4-FFF2-40B4-BE49-F238E27FC236}">
                <a16:creationId xmlns:a16="http://schemas.microsoft.com/office/drawing/2014/main" id="{A6F6190B-82C8-85AD-284E-6A4472D49446}"/>
              </a:ext>
            </a:extLst>
          </p:cNvPr>
          <p:cNvSpPr txBox="1"/>
          <p:nvPr/>
        </p:nvSpPr>
        <p:spPr>
          <a:xfrm>
            <a:off x="8418870" y="931025"/>
            <a:ext cx="574799" cy="923330"/>
          </a:xfrm>
          <a:prstGeom prst="rect">
            <a:avLst/>
          </a:prstGeom>
          <a:noFill/>
          <a:ln w="28575">
            <a:noFill/>
          </a:ln>
        </p:spPr>
        <p:txBody>
          <a:bodyPr wrap="square" rtlCol="0">
            <a:spAutoFit/>
          </a:bodyPr>
          <a:lstStyle/>
          <a:p>
            <a:pPr algn="ctr"/>
            <a:r>
              <a:rPr lang="en-US" sz="5400">
                <a:solidFill>
                  <a:srgbClr val="FFAE3C">
                    <a:alpha val="80000"/>
                  </a:srgbClr>
                </a:solidFill>
                <a:latin typeface="+mj-lt"/>
              </a:rPr>
              <a:t>1</a:t>
            </a:r>
          </a:p>
        </p:txBody>
      </p:sp>
      <p:sp>
        <p:nvSpPr>
          <p:cNvPr id="11" name="TextBox 10">
            <a:extLst>
              <a:ext uri="{FF2B5EF4-FFF2-40B4-BE49-F238E27FC236}">
                <a16:creationId xmlns:a16="http://schemas.microsoft.com/office/drawing/2014/main" id="{FC57F586-AB1C-3B1F-33D2-535AAD303CAC}"/>
              </a:ext>
            </a:extLst>
          </p:cNvPr>
          <p:cNvSpPr txBox="1"/>
          <p:nvPr/>
        </p:nvSpPr>
        <p:spPr>
          <a:xfrm>
            <a:off x="8418870" y="2729318"/>
            <a:ext cx="574799" cy="923330"/>
          </a:xfrm>
          <a:prstGeom prst="rect">
            <a:avLst/>
          </a:prstGeom>
          <a:noFill/>
          <a:ln w="28575">
            <a:noFill/>
          </a:ln>
        </p:spPr>
        <p:txBody>
          <a:bodyPr wrap="square" rtlCol="0">
            <a:spAutoFit/>
          </a:bodyPr>
          <a:lstStyle/>
          <a:p>
            <a:pPr algn="ctr"/>
            <a:r>
              <a:rPr lang="en-US" sz="5400">
                <a:solidFill>
                  <a:srgbClr val="FF5F25">
                    <a:alpha val="80000"/>
                  </a:srgbClr>
                </a:solidFill>
                <a:latin typeface="+mj-lt"/>
              </a:rPr>
              <a:t>2</a:t>
            </a:r>
          </a:p>
        </p:txBody>
      </p:sp>
      <p:sp>
        <p:nvSpPr>
          <p:cNvPr id="13" name="TextBox 12">
            <a:extLst>
              <a:ext uri="{FF2B5EF4-FFF2-40B4-BE49-F238E27FC236}">
                <a16:creationId xmlns:a16="http://schemas.microsoft.com/office/drawing/2014/main" id="{E9C79CDF-83F4-9018-F2DD-3A2A51791448}"/>
              </a:ext>
            </a:extLst>
          </p:cNvPr>
          <p:cNvSpPr txBox="1"/>
          <p:nvPr/>
        </p:nvSpPr>
        <p:spPr>
          <a:xfrm>
            <a:off x="8395601" y="4587016"/>
            <a:ext cx="574799" cy="923330"/>
          </a:xfrm>
          <a:prstGeom prst="rect">
            <a:avLst/>
          </a:prstGeom>
          <a:noFill/>
          <a:ln w="28575">
            <a:noFill/>
          </a:ln>
        </p:spPr>
        <p:txBody>
          <a:bodyPr wrap="square" rtlCol="0">
            <a:spAutoFit/>
          </a:bodyPr>
          <a:lstStyle/>
          <a:p>
            <a:pPr algn="ctr"/>
            <a:r>
              <a:rPr lang="en-US" sz="5400">
                <a:solidFill>
                  <a:srgbClr val="7A62E7">
                    <a:alpha val="80000"/>
                  </a:srgbClr>
                </a:solidFill>
                <a:latin typeface="+mj-lt"/>
              </a:rPr>
              <a:t>3</a:t>
            </a:r>
          </a:p>
        </p:txBody>
      </p:sp>
    </p:spTree>
    <p:extLst>
      <p:ext uri="{BB962C8B-B14F-4D97-AF65-F5344CB8AC3E}">
        <p14:creationId xmlns:p14="http://schemas.microsoft.com/office/powerpoint/2010/main" val="314907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7" grpId="0"/>
      <p:bldP spid="11"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6D35D-5A26-BE70-A3FD-3D84AE52D18C}"/>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F29D7EC2-B154-9EB0-8422-9C4ACBFA48D8}"/>
              </a:ext>
            </a:extLst>
          </p:cNvPr>
          <p:cNvSpPr>
            <a:spLocks noGrp="1"/>
          </p:cNvSpPr>
          <p:nvPr>
            <p:ph idx="1"/>
          </p:nvPr>
        </p:nvSpPr>
        <p:spPr>
          <a:xfrm>
            <a:off x="-1" y="987087"/>
            <a:ext cx="9143999" cy="5189876"/>
          </a:xfrm>
        </p:spPr>
        <p:txBody>
          <a:bodyPr/>
          <a:lstStyle/>
          <a:p>
            <a:pPr>
              <a:buClr>
                <a:schemeClr val="tx1"/>
              </a:buClr>
            </a:pPr>
            <a:r>
              <a:rPr lang="en-US" b="1">
                <a:solidFill>
                  <a:srgbClr val="F23F00"/>
                </a:solidFill>
              </a:rPr>
              <a:t>The Mess paper's configuration errors </a:t>
            </a:r>
            <a:r>
              <a:rPr lang="en-US"/>
              <a:t>result in </a:t>
            </a:r>
            <a:br>
              <a:rPr lang="en-US"/>
            </a:br>
            <a:r>
              <a:rPr lang="en-US"/>
              <a:t>the claimed </a:t>
            </a:r>
            <a:r>
              <a:rPr lang="en-US" err="1"/>
              <a:t>Ramulator</a:t>
            </a:r>
            <a:r>
              <a:rPr lang="en-US"/>
              <a:t> 2.0 inaccuracies</a:t>
            </a:r>
            <a:endParaRPr lang="en-US" b="1">
              <a:solidFill>
                <a:srgbClr val="F23F00"/>
              </a:solidFill>
            </a:endParaRPr>
          </a:p>
        </p:txBody>
      </p:sp>
      <p:sp>
        <p:nvSpPr>
          <p:cNvPr id="2" name="Title 1">
            <a:extLst>
              <a:ext uri="{FF2B5EF4-FFF2-40B4-BE49-F238E27FC236}">
                <a16:creationId xmlns:a16="http://schemas.microsoft.com/office/drawing/2014/main" id="{5EA3C6AB-C02F-5D49-AE1A-FA1F346C98B9}"/>
              </a:ext>
            </a:extLst>
          </p:cNvPr>
          <p:cNvSpPr>
            <a:spLocks noGrp="1"/>
          </p:cNvSpPr>
          <p:nvPr>
            <p:ph type="title"/>
          </p:nvPr>
        </p:nvSpPr>
        <p:spPr>
          <a:xfrm>
            <a:off x="53179" y="56062"/>
            <a:ext cx="9044949" cy="931025"/>
          </a:xfrm>
        </p:spPr>
        <p:txBody>
          <a:bodyPr/>
          <a:lstStyle/>
          <a:p>
            <a:r>
              <a:rPr lang="en-US"/>
              <a:t>Fundamental Configuration Errors</a:t>
            </a:r>
          </a:p>
        </p:txBody>
      </p:sp>
      <p:sp>
        <p:nvSpPr>
          <p:cNvPr id="4" name="Slide Number Placeholder 3">
            <a:extLst>
              <a:ext uri="{FF2B5EF4-FFF2-40B4-BE49-F238E27FC236}">
                <a16:creationId xmlns:a16="http://schemas.microsoft.com/office/drawing/2014/main" id="{DC656E51-FACA-0079-9123-75C74717A944}"/>
              </a:ext>
            </a:extLst>
          </p:cNvPr>
          <p:cNvSpPr>
            <a:spLocks noGrp="1"/>
          </p:cNvSpPr>
          <p:nvPr>
            <p:ph type="sldNum" sz="quarter" idx="12"/>
          </p:nvPr>
        </p:nvSpPr>
        <p:spPr/>
        <p:txBody>
          <a:bodyPr/>
          <a:lstStyle/>
          <a:p>
            <a:fld id="{CBE5B309-C2CE-4D90-B104-F7E98438FC65}" type="slidenum">
              <a:rPr lang="tr-TR" smtClean="0"/>
              <a:pPr/>
              <a:t>11</a:t>
            </a:fld>
            <a:endParaRPr lang="tr-TR"/>
          </a:p>
        </p:txBody>
      </p:sp>
      <p:sp>
        <p:nvSpPr>
          <p:cNvPr id="14" name="Rectangle 13">
            <a:extLst>
              <a:ext uri="{FF2B5EF4-FFF2-40B4-BE49-F238E27FC236}">
                <a16:creationId xmlns:a16="http://schemas.microsoft.com/office/drawing/2014/main" id="{5ABFB69E-CC23-8FEF-7379-47488DE13CF9}"/>
              </a:ext>
            </a:extLst>
          </p:cNvPr>
          <p:cNvSpPr/>
          <p:nvPr/>
        </p:nvSpPr>
        <p:spPr>
          <a:xfrm>
            <a:off x="1511065" y="1876518"/>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1" descr="A blue and black text&#10;&#10;AI-generated content may be incorrect.">
            <a:extLst>
              <a:ext uri="{FF2B5EF4-FFF2-40B4-BE49-F238E27FC236}">
                <a16:creationId xmlns:a16="http://schemas.microsoft.com/office/drawing/2014/main" id="{CBF00FA1-3AAF-D05F-79BF-AC3F1BC777E5}"/>
              </a:ext>
            </a:extLst>
          </p:cNvPr>
          <p:cNvPicPr>
            <a:picLocks noChangeAspect="1"/>
          </p:cNvPicPr>
          <p:nvPr/>
        </p:nvPicPr>
        <p:blipFill>
          <a:blip r:embed="rId3">
            <a:extLst>
              <a:ext uri="{28A0092B-C50C-407E-A947-70E740481C1C}">
                <a14:useLocalDpi xmlns:a14="http://schemas.microsoft.com/office/drawing/2010/main" val="0"/>
              </a:ext>
            </a:extLst>
          </a:blip>
          <a:srcRect r="68347" b="5333"/>
          <a:stretch>
            <a:fillRect/>
          </a:stretch>
        </p:blipFill>
        <p:spPr>
          <a:xfrm>
            <a:off x="1108097" y="1929784"/>
            <a:ext cx="6927802" cy="4471016"/>
          </a:xfrm>
          <a:prstGeom prst="rect">
            <a:avLst/>
          </a:prstGeom>
        </p:spPr>
      </p:pic>
      <p:sp>
        <p:nvSpPr>
          <p:cNvPr id="15" name="Rectangle 14">
            <a:extLst>
              <a:ext uri="{FF2B5EF4-FFF2-40B4-BE49-F238E27FC236}">
                <a16:creationId xmlns:a16="http://schemas.microsoft.com/office/drawing/2014/main" id="{9BDA41C2-A7BD-B771-E898-4F53844CF49E}"/>
              </a:ext>
            </a:extLst>
          </p:cNvPr>
          <p:cNvSpPr/>
          <p:nvPr/>
        </p:nvSpPr>
        <p:spPr>
          <a:xfrm>
            <a:off x="3008878" y="1952298"/>
            <a:ext cx="621517" cy="3852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DE65E08-18DC-884D-E513-2F8DE6EF950C}"/>
              </a:ext>
            </a:extLst>
          </p:cNvPr>
          <p:cNvGrpSpPr/>
          <p:nvPr/>
        </p:nvGrpSpPr>
        <p:grpSpPr>
          <a:xfrm>
            <a:off x="4301277" y="4526738"/>
            <a:ext cx="3184860" cy="1091377"/>
            <a:chOff x="6731508" y="2841460"/>
            <a:chExt cx="2046626" cy="701331"/>
          </a:xfrm>
        </p:grpSpPr>
        <p:sp>
          <p:nvSpPr>
            <p:cNvPr id="5" name="Oval 4">
              <a:extLst>
                <a:ext uri="{FF2B5EF4-FFF2-40B4-BE49-F238E27FC236}">
                  <a16:creationId xmlns:a16="http://schemas.microsoft.com/office/drawing/2014/main" id="{527B6BD5-27CB-C10D-F81B-F6C8411C6ED5}"/>
                </a:ext>
              </a:extLst>
            </p:cNvPr>
            <p:cNvSpPr/>
            <p:nvPr/>
          </p:nvSpPr>
          <p:spPr>
            <a:xfrm>
              <a:off x="7584641" y="2841460"/>
              <a:ext cx="340360" cy="340360"/>
            </a:xfrm>
            <a:prstGeom prst="ellipse">
              <a:avLst/>
            </a:prstGeom>
            <a:solidFill>
              <a:srgbClr val="FF5F2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t>1</a:t>
              </a:r>
            </a:p>
          </p:txBody>
        </p:sp>
        <p:cxnSp>
          <p:nvCxnSpPr>
            <p:cNvPr id="8" name="Straight Arrow Connector 7">
              <a:extLst>
                <a:ext uri="{FF2B5EF4-FFF2-40B4-BE49-F238E27FC236}">
                  <a16:creationId xmlns:a16="http://schemas.microsoft.com/office/drawing/2014/main" id="{07953332-5263-3E42-C995-D12F9E09AE8B}"/>
                </a:ext>
              </a:extLst>
            </p:cNvPr>
            <p:cNvCxnSpPr>
              <a:cxnSpLocks/>
            </p:cNvCxnSpPr>
            <p:nvPr/>
          </p:nvCxnSpPr>
          <p:spPr>
            <a:xfrm>
              <a:off x="6754061" y="3246120"/>
              <a:ext cx="2001520" cy="0"/>
            </a:xfrm>
            <a:prstGeom prst="straightConnector1">
              <a:avLst/>
            </a:prstGeom>
            <a:ln w="38100">
              <a:solidFill>
                <a:srgbClr val="FF5F25"/>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0B32247-AD59-8667-40D9-1FF7D804160E}"/>
                </a:ext>
              </a:extLst>
            </p:cNvPr>
            <p:cNvSpPr txBox="1"/>
            <p:nvPr/>
          </p:nvSpPr>
          <p:spPr>
            <a:xfrm>
              <a:off x="6731508" y="3246120"/>
              <a:ext cx="2046626" cy="296671"/>
            </a:xfrm>
            <a:prstGeom prst="rect">
              <a:avLst/>
            </a:prstGeom>
            <a:noFill/>
          </p:spPr>
          <p:txBody>
            <a:bodyPr wrap="square" rtlCol="0">
              <a:spAutoFit/>
            </a:bodyPr>
            <a:lstStyle/>
            <a:p>
              <a:pPr algn="ctr"/>
              <a:r>
                <a:rPr lang="en-US" sz="2400" i="1">
                  <a:solidFill>
                    <a:srgbClr val="F23F00"/>
                  </a:solidFill>
                  <a:latin typeface="+mj-lt"/>
                </a:rPr>
                <a:t>smaller bandwidth</a:t>
              </a:r>
            </a:p>
          </p:txBody>
        </p:sp>
      </p:grpSp>
      <p:grpSp>
        <p:nvGrpSpPr>
          <p:cNvPr id="16" name="Group 15">
            <a:extLst>
              <a:ext uri="{FF2B5EF4-FFF2-40B4-BE49-F238E27FC236}">
                <a16:creationId xmlns:a16="http://schemas.microsoft.com/office/drawing/2014/main" id="{FF0D509A-A009-F2CD-3B4E-42CD087F96CD}"/>
              </a:ext>
            </a:extLst>
          </p:cNvPr>
          <p:cNvGrpSpPr/>
          <p:nvPr/>
        </p:nvGrpSpPr>
        <p:grpSpPr>
          <a:xfrm rot="16200000">
            <a:off x="2469191" y="3999316"/>
            <a:ext cx="1243194" cy="1845938"/>
            <a:chOff x="6852482" y="3186008"/>
            <a:chExt cx="798891" cy="1186220"/>
          </a:xfrm>
        </p:grpSpPr>
        <p:sp>
          <p:nvSpPr>
            <p:cNvPr id="17" name="Oval 16">
              <a:extLst>
                <a:ext uri="{FF2B5EF4-FFF2-40B4-BE49-F238E27FC236}">
                  <a16:creationId xmlns:a16="http://schemas.microsoft.com/office/drawing/2014/main" id="{34832D8D-40C6-B1C0-AB01-DEFE204B245D}"/>
                </a:ext>
              </a:extLst>
            </p:cNvPr>
            <p:cNvSpPr/>
            <p:nvPr/>
          </p:nvSpPr>
          <p:spPr>
            <a:xfrm rot="5400000">
              <a:off x="7237315" y="3186008"/>
              <a:ext cx="340360" cy="340360"/>
            </a:xfrm>
            <a:prstGeom prst="ellipse">
              <a:avLst/>
            </a:prstGeom>
            <a:solidFill>
              <a:srgbClr val="FF5F25"/>
            </a:solidFill>
            <a:ln>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t>2</a:t>
              </a:r>
            </a:p>
          </p:txBody>
        </p:sp>
        <p:cxnSp>
          <p:nvCxnSpPr>
            <p:cNvPr id="18" name="Straight Arrow Connector 17">
              <a:extLst>
                <a:ext uri="{FF2B5EF4-FFF2-40B4-BE49-F238E27FC236}">
                  <a16:creationId xmlns:a16="http://schemas.microsoft.com/office/drawing/2014/main" id="{067B5891-5D1C-52C1-889B-695527D5F1A6}"/>
                </a:ext>
              </a:extLst>
            </p:cNvPr>
            <p:cNvCxnSpPr>
              <a:cxnSpLocks/>
            </p:cNvCxnSpPr>
            <p:nvPr/>
          </p:nvCxnSpPr>
          <p:spPr>
            <a:xfrm rot="5400000" flipV="1">
              <a:off x="7009116" y="3055641"/>
              <a:ext cx="0" cy="313267"/>
            </a:xfrm>
            <a:prstGeom prst="straightConnector1">
              <a:avLst/>
            </a:prstGeom>
            <a:ln w="38100">
              <a:solidFill>
                <a:srgbClr val="FF5F25"/>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A13F1CC-AB0F-B2AC-80FB-70A4B20CF5B1}"/>
                </a:ext>
              </a:extLst>
            </p:cNvPr>
            <p:cNvSpPr txBox="1"/>
            <p:nvPr/>
          </p:nvSpPr>
          <p:spPr>
            <a:xfrm rot="5400000">
              <a:off x="6904004" y="3624859"/>
              <a:ext cx="960730" cy="534008"/>
            </a:xfrm>
            <a:prstGeom prst="rect">
              <a:avLst/>
            </a:prstGeom>
            <a:noFill/>
          </p:spPr>
          <p:txBody>
            <a:bodyPr wrap="square" rtlCol="0">
              <a:spAutoFit/>
            </a:bodyPr>
            <a:lstStyle/>
            <a:p>
              <a:pPr algn="ctr"/>
              <a:r>
                <a:rPr lang="en-US" sz="2400" i="1">
                  <a:solidFill>
                    <a:srgbClr val="F23F00"/>
                  </a:solidFill>
                  <a:latin typeface="+mj-lt"/>
                </a:rPr>
                <a:t>smaller</a:t>
              </a:r>
            </a:p>
            <a:p>
              <a:pPr algn="ctr"/>
              <a:r>
                <a:rPr lang="en-US" sz="2400" i="1">
                  <a:solidFill>
                    <a:srgbClr val="F23F00"/>
                  </a:solidFill>
                  <a:latin typeface="+mj-lt"/>
                </a:rPr>
                <a:t>latency</a:t>
              </a:r>
            </a:p>
          </p:txBody>
        </p:sp>
      </p:grpSp>
    </p:spTree>
    <p:extLst>
      <p:ext uri="{BB962C8B-B14F-4D97-AF65-F5344CB8AC3E}">
        <p14:creationId xmlns:p14="http://schemas.microsoft.com/office/powerpoint/2010/main" val="1514193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75968-4E6A-8BF2-7A57-A5965EB60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A1B4E-AF87-8550-C0EF-DE951F9F4899}"/>
              </a:ext>
            </a:extLst>
          </p:cNvPr>
          <p:cNvSpPr>
            <a:spLocks noGrp="1"/>
          </p:cNvSpPr>
          <p:nvPr>
            <p:ph type="title"/>
          </p:nvPr>
        </p:nvSpPr>
        <p:spPr/>
        <p:txBody>
          <a:bodyPr/>
          <a:lstStyle/>
          <a:p>
            <a:r>
              <a:rPr lang="en-US" sz="3200"/>
              <a:t>Fundamental Configuration Errors:</a:t>
            </a:r>
            <a:br>
              <a:rPr lang="en-US" sz="3200"/>
            </a:br>
            <a:r>
              <a:rPr lang="en-US" sz="3200"/>
              <a:t>Smaller Used Bandwidth</a:t>
            </a:r>
          </a:p>
        </p:txBody>
      </p:sp>
      <p:sp>
        <p:nvSpPr>
          <p:cNvPr id="4" name="Slide Number Placeholder 3">
            <a:extLst>
              <a:ext uri="{FF2B5EF4-FFF2-40B4-BE49-F238E27FC236}">
                <a16:creationId xmlns:a16="http://schemas.microsoft.com/office/drawing/2014/main" id="{0B144387-20BB-875E-A934-44393883A52B}"/>
              </a:ext>
            </a:extLst>
          </p:cNvPr>
          <p:cNvSpPr>
            <a:spLocks noGrp="1"/>
          </p:cNvSpPr>
          <p:nvPr>
            <p:ph type="sldNum" sz="quarter" idx="12"/>
          </p:nvPr>
        </p:nvSpPr>
        <p:spPr/>
        <p:txBody>
          <a:bodyPr/>
          <a:lstStyle/>
          <a:p>
            <a:fld id="{CBE5B309-C2CE-4D90-B104-F7E98438FC65}" type="slidenum">
              <a:rPr lang="tr-TR" smtClean="0"/>
              <a:pPr/>
              <a:t>12</a:t>
            </a:fld>
            <a:endParaRPr lang="tr-TR"/>
          </a:p>
        </p:txBody>
      </p:sp>
      <p:sp>
        <p:nvSpPr>
          <p:cNvPr id="24" name="Rectangle 23">
            <a:extLst>
              <a:ext uri="{FF2B5EF4-FFF2-40B4-BE49-F238E27FC236}">
                <a16:creationId xmlns:a16="http://schemas.microsoft.com/office/drawing/2014/main" id="{10AE998F-969A-830D-CAB2-332859E9EE1B}"/>
              </a:ext>
            </a:extLst>
          </p:cNvPr>
          <p:cNvSpPr/>
          <p:nvPr/>
        </p:nvSpPr>
        <p:spPr>
          <a:xfrm>
            <a:off x="99051" y="986209"/>
            <a:ext cx="4358787" cy="883870"/>
          </a:xfrm>
          <a:prstGeom prst="rect">
            <a:avLst/>
          </a:prstGeom>
          <a:solidFill>
            <a:srgbClr val="E28700"/>
          </a:solidFill>
          <a:ln w="28575">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err="1">
                <a:latin typeface="+mj-lt"/>
              </a:rPr>
              <a:t>Ramulator</a:t>
            </a:r>
            <a:r>
              <a:rPr lang="en-US" sz="2400" b="1">
                <a:latin typeface="+mj-lt"/>
              </a:rPr>
              <a:t> 2.0 Configuration </a:t>
            </a:r>
          </a:p>
        </p:txBody>
      </p:sp>
      <p:sp>
        <p:nvSpPr>
          <p:cNvPr id="31" name="Rectangle 30">
            <a:extLst>
              <a:ext uri="{FF2B5EF4-FFF2-40B4-BE49-F238E27FC236}">
                <a16:creationId xmlns:a16="http://schemas.microsoft.com/office/drawing/2014/main" id="{C6841FAA-D8F0-ED82-B2B0-04257EAC3543}"/>
              </a:ext>
            </a:extLst>
          </p:cNvPr>
          <p:cNvSpPr/>
          <p:nvPr/>
        </p:nvSpPr>
        <p:spPr>
          <a:xfrm>
            <a:off x="4633165" y="982681"/>
            <a:ext cx="4358787" cy="883869"/>
          </a:xfrm>
          <a:prstGeom prst="rect">
            <a:avLst/>
          </a:prstGeom>
          <a:solidFill>
            <a:srgbClr val="B3195F"/>
          </a:solidFill>
          <a:ln w="28575">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a:latin typeface="+mj-lt"/>
              </a:rPr>
              <a:t>Real System Configuration</a:t>
            </a:r>
          </a:p>
        </p:txBody>
      </p:sp>
      <p:cxnSp>
        <p:nvCxnSpPr>
          <p:cNvPr id="27" name="Straight Connector 26">
            <a:extLst>
              <a:ext uri="{FF2B5EF4-FFF2-40B4-BE49-F238E27FC236}">
                <a16:creationId xmlns:a16="http://schemas.microsoft.com/office/drawing/2014/main" id="{63B823F8-2F44-6DF2-A51C-D43B987C002E}"/>
              </a:ext>
            </a:extLst>
          </p:cNvPr>
          <p:cNvCxnSpPr>
            <a:cxnSpLocks/>
          </p:cNvCxnSpPr>
          <p:nvPr/>
        </p:nvCxnSpPr>
        <p:spPr>
          <a:xfrm>
            <a:off x="4546360" y="1545937"/>
            <a:ext cx="0" cy="4488693"/>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45CA389B-28A0-B2DA-65AD-4CB0F2902497}"/>
              </a:ext>
            </a:extLst>
          </p:cNvPr>
          <p:cNvSpPr txBox="1"/>
          <p:nvPr/>
        </p:nvSpPr>
        <p:spPr>
          <a:xfrm>
            <a:off x="140282" y="5163905"/>
            <a:ext cx="4276324" cy="707886"/>
          </a:xfrm>
          <a:prstGeom prst="rect">
            <a:avLst/>
          </a:prstGeom>
          <a:noFill/>
        </p:spPr>
        <p:txBody>
          <a:bodyPr wrap="square" rtlCol="0">
            <a:spAutoFit/>
          </a:bodyPr>
          <a:lstStyle/>
          <a:p>
            <a:pPr algn="ctr"/>
            <a:r>
              <a:rPr lang="en-US" sz="4000" b="1">
                <a:solidFill>
                  <a:srgbClr val="E28700"/>
                </a:solidFill>
                <a:latin typeface="+mj-lt"/>
              </a:rPr>
              <a:t>8 DDR5 channels </a:t>
            </a:r>
          </a:p>
        </p:txBody>
      </p:sp>
      <p:sp>
        <p:nvSpPr>
          <p:cNvPr id="84" name="TextBox 83">
            <a:extLst>
              <a:ext uri="{FF2B5EF4-FFF2-40B4-BE49-F238E27FC236}">
                <a16:creationId xmlns:a16="http://schemas.microsoft.com/office/drawing/2014/main" id="{85E952AF-6785-8C46-152B-AA8AF61C503B}"/>
              </a:ext>
            </a:extLst>
          </p:cNvPr>
          <p:cNvSpPr txBox="1"/>
          <p:nvPr/>
        </p:nvSpPr>
        <p:spPr>
          <a:xfrm>
            <a:off x="4715628" y="5163905"/>
            <a:ext cx="4276324" cy="707886"/>
          </a:xfrm>
          <a:prstGeom prst="rect">
            <a:avLst/>
          </a:prstGeom>
          <a:noFill/>
        </p:spPr>
        <p:txBody>
          <a:bodyPr wrap="square" rtlCol="0">
            <a:spAutoFit/>
          </a:bodyPr>
          <a:lstStyle/>
          <a:p>
            <a:pPr algn="ctr"/>
            <a:r>
              <a:rPr lang="en-US" sz="4000" b="1">
                <a:solidFill>
                  <a:srgbClr val="B3195F"/>
                </a:solidFill>
                <a:latin typeface="+mj-lt"/>
              </a:rPr>
              <a:t>16 DDR5 channels </a:t>
            </a:r>
          </a:p>
        </p:txBody>
      </p:sp>
      <p:sp>
        <p:nvSpPr>
          <p:cNvPr id="3" name="TextBox 2">
            <a:extLst>
              <a:ext uri="{FF2B5EF4-FFF2-40B4-BE49-F238E27FC236}">
                <a16:creationId xmlns:a16="http://schemas.microsoft.com/office/drawing/2014/main" id="{01292CAF-FA7B-DE34-B94E-D8FBE855CD99}"/>
              </a:ext>
            </a:extLst>
          </p:cNvPr>
          <p:cNvSpPr txBox="1"/>
          <p:nvPr/>
        </p:nvSpPr>
        <p:spPr>
          <a:xfrm>
            <a:off x="4732424" y="2170023"/>
            <a:ext cx="4276324" cy="707886"/>
          </a:xfrm>
          <a:prstGeom prst="rect">
            <a:avLst/>
          </a:prstGeom>
          <a:noFill/>
        </p:spPr>
        <p:txBody>
          <a:bodyPr wrap="square" rtlCol="0">
            <a:spAutoFit/>
          </a:bodyPr>
          <a:lstStyle/>
          <a:p>
            <a:pPr algn="ctr"/>
            <a:r>
              <a:rPr lang="en-US" sz="4000" b="1">
                <a:solidFill>
                  <a:srgbClr val="B2195F"/>
                </a:solidFill>
                <a:latin typeface="+mj-lt"/>
              </a:rPr>
              <a:t>“8 x DDR5”</a:t>
            </a:r>
          </a:p>
        </p:txBody>
      </p:sp>
      <p:sp>
        <p:nvSpPr>
          <p:cNvPr id="5" name="TextBox 4">
            <a:extLst>
              <a:ext uri="{FF2B5EF4-FFF2-40B4-BE49-F238E27FC236}">
                <a16:creationId xmlns:a16="http://schemas.microsoft.com/office/drawing/2014/main" id="{DB1D357A-5DA3-7333-A519-E253C2FF4D1A}"/>
              </a:ext>
            </a:extLst>
          </p:cNvPr>
          <p:cNvSpPr txBox="1"/>
          <p:nvPr/>
        </p:nvSpPr>
        <p:spPr>
          <a:xfrm>
            <a:off x="160426" y="2170023"/>
            <a:ext cx="4276324" cy="707886"/>
          </a:xfrm>
          <a:prstGeom prst="rect">
            <a:avLst/>
          </a:prstGeom>
          <a:noFill/>
        </p:spPr>
        <p:txBody>
          <a:bodyPr wrap="square" rtlCol="0">
            <a:spAutoFit/>
          </a:bodyPr>
          <a:lstStyle/>
          <a:p>
            <a:pPr algn="ctr"/>
            <a:r>
              <a:rPr lang="en-US" sz="4000" b="1">
                <a:solidFill>
                  <a:srgbClr val="E18600"/>
                </a:solidFill>
                <a:latin typeface="Aptos Mono" panose="020F0502020204030204" pitchFamily="49" charset="0"/>
              </a:rPr>
              <a:t>channel: 8</a:t>
            </a:r>
          </a:p>
        </p:txBody>
      </p:sp>
      <p:pic>
        <p:nvPicPr>
          <p:cNvPr id="1026" name="Picture 2" descr="Micron 32GB DDR5-4800 RDIMM 2Rx8 CL40 | MTC20F2085S1RC48BR | crucial.com">
            <a:extLst>
              <a:ext uri="{FF2B5EF4-FFF2-40B4-BE49-F238E27FC236}">
                <a16:creationId xmlns:a16="http://schemas.microsoft.com/office/drawing/2014/main" id="{7429CEE8-0DCC-22E7-5CE2-27CFDAD84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9322" y="3211083"/>
            <a:ext cx="4024992" cy="94335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D7702D19-CA77-1F86-58C5-2B792A34B55B}"/>
              </a:ext>
            </a:extLst>
          </p:cNvPr>
          <p:cNvGrpSpPr/>
          <p:nvPr/>
        </p:nvGrpSpPr>
        <p:grpSpPr>
          <a:xfrm>
            <a:off x="4907069" y="2751324"/>
            <a:ext cx="4017245" cy="1254604"/>
            <a:chOff x="4907069" y="2751324"/>
            <a:chExt cx="4017245" cy="1254604"/>
          </a:xfrm>
        </p:grpSpPr>
        <p:sp>
          <p:nvSpPr>
            <p:cNvPr id="10" name="Rectangle 9">
              <a:extLst>
                <a:ext uri="{FF2B5EF4-FFF2-40B4-BE49-F238E27FC236}">
                  <a16:creationId xmlns:a16="http://schemas.microsoft.com/office/drawing/2014/main" id="{12F75FD0-E3A7-ACA6-06AD-8720E1823FA2}"/>
                </a:ext>
              </a:extLst>
            </p:cNvPr>
            <p:cNvSpPr/>
            <p:nvPr/>
          </p:nvSpPr>
          <p:spPr>
            <a:xfrm>
              <a:off x="4907069" y="3480487"/>
              <a:ext cx="1883646" cy="525441"/>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TextBox 10">
              <a:extLst>
                <a:ext uri="{FF2B5EF4-FFF2-40B4-BE49-F238E27FC236}">
                  <a16:creationId xmlns:a16="http://schemas.microsoft.com/office/drawing/2014/main" id="{24613407-AB16-1E72-DCDC-564D0FA5D6AF}"/>
                </a:ext>
              </a:extLst>
            </p:cNvPr>
            <p:cNvSpPr txBox="1"/>
            <p:nvPr/>
          </p:nvSpPr>
          <p:spPr>
            <a:xfrm>
              <a:off x="4926102" y="2764515"/>
              <a:ext cx="1864613" cy="523220"/>
            </a:xfrm>
            <a:prstGeom prst="rect">
              <a:avLst/>
            </a:prstGeom>
            <a:noFill/>
          </p:spPr>
          <p:txBody>
            <a:bodyPr wrap="none" rtlCol="0">
              <a:spAutoFit/>
            </a:bodyPr>
            <a:lstStyle/>
            <a:p>
              <a:r>
                <a:rPr lang="en-US" sz="2800" b="1">
                  <a:solidFill>
                    <a:srgbClr val="C00000"/>
                  </a:solidFill>
                </a:rPr>
                <a:t>Channel A</a:t>
              </a:r>
              <a:endParaRPr lang="LID4096" sz="2800" b="1">
                <a:solidFill>
                  <a:srgbClr val="C00000"/>
                </a:solidFill>
              </a:endParaRPr>
            </a:p>
          </p:txBody>
        </p:sp>
        <p:sp>
          <p:nvSpPr>
            <p:cNvPr id="12" name="Rectangle 11">
              <a:extLst>
                <a:ext uri="{FF2B5EF4-FFF2-40B4-BE49-F238E27FC236}">
                  <a16:creationId xmlns:a16="http://schemas.microsoft.com/office/drawing/2014/main" id="{8F60D09A-57F4-CA20-C7B1-91376E89B13A}"/>
                </a:ext>
              </a:extLst>
            </p:cNvPr>
            <p:cNvSpPr/>
            <p:nvPr/>
          </p:nvSpPr>
          <p:spPr>
            <a:xfrm>
              <a:off x="7040668" y="3467296"/>
              <a:ext cx="1883646" cy="525441"/>
            </a:xfrm>
            <a:prstGeom prst="rect">
              <a:avLst/>
            </a:prstGeom>
            <a:noFill/>
            <a:ln w="57150">
              <a:solidFill>
                <a:srgbClr val="316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TextBox 12">
              <a:extLst>
                <a:ext uri="{FF2B5EF4-FFF2-40B4-BE49-F238E27FC236}">
                  <a16:creationId xmlns:a16="http://schemas.microsoft.com/office/drawing/2014/main" id="{44C25916-7C1F-AC04-3558-5C421DB5C54B}"/>
                </a:ext>
              </a:extLst>
            </p:cNvPr>
            <p:cNvSpPr txBox="1"/>
            <p:nvPr/>
          </p:nvSpPr>
          <p:spPr>
            <a:xfrm>
              <a:off x="7059701" y="2751324"/>
              <a:ext cx="1864613" cy="523220"/>
            </a:xfrm>
            <a:prstGeom prst="rect">
              <a:avLst/>
            </a:prstGeom>
            <a:noFill/>
          </p:spPr>
          <p:txBody>
            <a:bodyPr wrap="none" rtlCol="0">
              <a:spAutoFit/>
            </a:bodyPr>
            <a:lstStyle/>
            <a:p>
              <a:r>
                <a:rPr lang="en-US" sz="2800" b="1">
                  <a:solidFill>
                    <a:srgbClr val="316CE3"/>
                  </a:solidFill>
                </a:rPr>
                <a:t>Channel B</a:t>
              </a:r>
              <a:endParaRPr lang="LID4096" sz="2800" b="1">
                <a:solidFill>
                  <a:srgbClr val="316CE3"/>
                </a:solidFill>
              </a:endParaRPr>
            </a:p>
          </p:txBody>
        </p:sp>
      </p:grpSp>
      <p:cxnSp>
        <p:nvCxnSpPr>
          <p:cNvPr id="9" name="Straight Arrow Connector 8">
            <a:extLst>
              <a:ext uri="{FF2B5EF4-FFF2-40B4-BE49-F238E27FC236}">
                <a16:creationId xmlns:a16="http://schemas.microsoft.com/office/drawing/2014/main" id="{3E32A20F-7D16-D108-60C1-5C4C329FED1C}"/>
              </a:ext>
            </a:extLst>
          </p:cNvPr>
          <p:cNvCxnSpPr>
            <a:cxnSpLocks/>
          </p:cNvCxnSpPr>
          <p:nvPr/>
        </p:nvCxnSpPr>
        <p:spPr>
          <a:xfrm>
            <a:off x="2278444" y="2915338"/>
            <a:ext cx="0" cy="2342462"/>
          </a:xfrm>
          <a:prstGeom prst="straightConnector1">
            <a:avLst/>
          </a:prstGeom>
          <a:ln w="101600">
            <a:solidFill>
              <a:srgbClr val="E28700">
                <a:alpha val="7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7EBC60F-929B-96F1-E860-2AA2F43418AA}"/>
              </a:ext>
            </a:extLst>
          </p:cNvPr>
          <p:cNvCxnSpPr>
            <a:cxnSpLocks/>
          </p:cNvCxnSpPr>
          <p:nvPr/>
        </p:nvCxnSpPr>
        <p:spPr>
          <a:xfrm>
            <a:off x="6831694" y="4379333"/>
            <a:ext cx="0" cy="878467"/>
          </a:xfrm>
          <a:prstGeom prst="straightConnector1">
            <a:avLst/>
          </a:prstGeom>
          <a:ln w="101600">
            <a:solidFill>
              <a:srgbClr val="B3195F">
                <a:alpha val="70000"/>
              </a:srgb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8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animBg="1"/>
      <p:bldP spid="79" grpId="0"/>
      <p:bldP spid="84" grpId="0"/>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3913F-F73E-E1C9-8216-DB69A7F5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B48B6-C1A3-BDF7-7F53-CF65488DF1F7}"/>
              </a:ext>
            </a:extLst>
          </p:cNvPr>
          <p:cNvSpPr>
            <a:spLocks noGrp="1"/>
          </p:cNvSpPr>
          <p:nvPr>
            <p:ph type="title"/>
          </p:nvPr>
        </p:nvSpPr>
        <p:spPr/>
        <p:txBody>
          <a:bodyPr/>
          <a:lstStyle/>
          <a:p>
            <a:r>
              <a:rPr lang="en-US" sz="3200"/>
              <a:t>Fundamental Configuration Errors:</a:t>
            </a:r>
            <a:br>
              <a:rPr lang="en-US" sz="3200"/>
            </a:br>
            <a:r>
              <a:rPr lang="en-US" sz="3200"/>
              <a:t>Smaller Used Bandwidth</a:t>
            </a:r>
          </a:p>
        </p:txBody>
      </p:sp>
      <p:sp>
        <p:nvSpPr>
          <p:cNvPr id="6" name="Content Placeholder 5">
            <a:extLst>
              <a:ext uri="{FF2B5EF4-FFF2-40B4-BE49-F238E27FC236}">
                <a16:creationId xmlns:a16="http://schemas.microsoft.com/office/drawing/2014/main" id="{15EF8EA0-14CD-76CF-6064-15590966135A}"/>
              </a:ext>
            </a:extLst>
          </p:cNvPr>
          <p:cNvSpPr>
            <a:spLocks noGrp="1"/>
          </p:cNvSpPr>
          <p:nvPr>
            <p:ph idx="1"/>
          </p:nvPr>
        </p:nvSpPr>
        <p:spPr>
          <a:xfrm>
            <a:off x="-1" y="986209"/>
            <a:ext cx="9143999" cy="1456790"/>
          </a:xfrm>
        </p:spPr>
        <p:txBody>
          <a:bodyPr>
            <a:normAutofit/>
          </a:bodyPr>
          <a:lstStyle/>
          <a:p>
            <a:pPr marL="0" indent="0">
              <a:buNone/>
            </a:pPr>
            <a:endParaRPr lang="en-US" sz="2400"/>
          </a:p>
        </p:txBody>
      </p:sp>
      <p:sp>
        <p:nvSpPr>
          <p:cNvPr id="4" name="Slide Number Placeholder 3">
            <a:extLst>
              <a:ext uri="{FF2B5EF4-FFF2-40B4-BE49-F238E27FC236}">
                <a16:creationId xmlns:a16="http://schemas.microsoft.com/office/drawing/2014/main" id="{04DAFCD9-FA31-297B-D72B-73EFBBF9F269}"/>
              </a:ext>
            </a:extLst>
          </p:cNvPr>
          <p:cNvSpPr>
            <a:spLocks noGrp="1"/>
          </p:cNvSpPr>
          <p:nvPr>
            <p:ph type="sldNum" sz="quarter" idx="12"/>
          </p:nvPr>
        </p:nvSpPr>
        <p:spPr/>
        <p:txBody>
          <a:bodyPr/>
          <a:lstStyle/>
          <a:p>
            <a:fld id="{CBE5B309-C2CE-4D90-B104-F7E98438FC65}" type="slidenum">
              <a:rPr lang="tr-TR" smtClean="0"/>
              <a:pPr/>
              <a:t>13</a:t>
            </a:fld>
            <a:endParaRPr lang="tr-TR"/>
          </a:p>
        </p:txBody>
      </p:sp>
      <p:sp>
        <p:nvSpPr>
          <p:cNvPr id="24" name="Rectangle 23">
            <a:extLst>
              <a:ext uri="{FF2B5EF4-FFF2-40B4-BE49-F238E27FC236}">
                <a16:creationId xmlns:a16="http://schemas.microsoft.com/office/drawing/2014/main" id="{DDDB40D3-8126-11F9-223A-9FC1161B120D}"/>
              </a:ext>
            </a:extLst>
          </p:cNvPr>
          <p:cNvSpPr/>
          <p:nvPr/>
        </p:nvSpPr>
        <p:spPr>
          <a:xfrm>
            <a:off x="99051" y="986209"/>
            <a:ext cx="4358787" cy="883870"/>
          </a:xfrm>
          <a:prstGeom prst="rect">
            <a:avLst/>
          </a:prstGeom>
          <a:solidFill>
            <a:srgbClr val="E28700"/>
          </a:solidFill>
          <a:ln w="28575">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err="1">
                <a:latin typeface="+mj-lt"/>
              </a:rPr>
              <a:t>Ramulator</a:t>
            </a:r>
            <a:r>
              <a:rPr lang="en-US" sz="2400" b="1">
                <a:latin typeface="+mj-lt"/>
              </a:rPr>
              <a:t> 2.0 Configuration </a:t>
            </a:r>
          </a:p>
        </p:txBody>
      </p:sp>
      <p:sp>
        <p:nvSpPr>
          <p:cNvPr id="31" name="Rectangle 30">
            <a:extLst>
              <a:ext uri="{FF2B5EF4-FFF2-40B4-BE49-F238E27FC236}">
                <a16:creationId xmlns:a16="http://schemas.microsoft.com/office/drawing/2014/main" id="{136E25E9-A443-4D98-88E6-8AA2189CD938}"/>
              </a:ext>
            </a:extLst>
          </p:cNvPr>
          <p:cNvSpPr/>
          <p:nvPr/>
        </p:nvSpPr>
        <p:spPr>
          <a:xfrm>
            <a:off x="4633165" y="982681"/>
            <a:ext cx="4358787" cy="883869"/>
          </a:xfrm>
          <a:prstGeom prst="rect">
            <a:avLst/>
          </a:prstGeom>
          <a:solidFill>
            <a:srgbClr val="B3195F"/>
          </a:solidFill>
          <a:ln w="28575">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a:latin typeface="+mj-lt"/>
              </a:rPr>
              <a:t>Real System Configuration</a:t>
            </a:r>
          </a:p>
        </p:txBody>
      </p:sp>
      <p:cxnSp>
        <p:nvCxnSpPr>
          <p:cNvPr id="27" name="Straight Connector 26">
            <a:extLst>
              <a:ext uri="{FF2B5EF4-FFF2-40B4-BE49-F238E27FC236}">
                <a16:creationId xmlns:a16="http://schemas.microsoft.com/office/drawing/2014/main" id="{A10B282B-7C15-F6C3-4F4D-14DFDA7E69E0}"/>
              </a:ext>
            </a:extLst>
          </p:cNvPr>
          <p:cNvCxnSpPr>
            <a:cxnSpLocks/>
          </p:cNvCxnSpPr>
          <p:nvPr/>
        </p:nvCxnSpPr>
        <p:spPr>
          <a:xfrm>
            <a:off x="4546360" y="1545937"/>
            <a:ext cx="0" cy="3725689"/>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966A397-BC53-6FD9-9ACF-5F8395163EDF}"/>
              </a:ext>
            </a:extLst>
          </p:cNvPr>
          <p:cNvSpPr txBox="1"/>
          <p:nvPr/>
        </p:nvSpPr>
        <p:spPr>
          <a:xfrm>
            <a:off x="97334" y="1866550"/>
            <a:ext cx="4367046" cy="523220"/>
          </a:xfrm>
          <a:prstGeom prst="rect">
            <a:avLst/>
          </a:prstGeom>
          <a:noFill/>
        </p:spPr>
        <p:txBody>
          <a:bodyPr wrap="square" rtlCol="0">
            <a:spAutoFit/>
          </a:bodyPr>
          <a:lstStyle/>
          <a:p>
            <a:pPr algn="ctr"/>
            <a:r>
              <a:rPr lang="en-US" sz="2800" b="1">
                <a:solidFill>
                  <a:srgbClr val="E28700"/>
                </a:solidFill>
                <a:latin typeface="+mj-lt"/>
              </a:rPr>
              <a:t>8 DDR5 channels </a:t>
            </a:r>
          </a:p>
        </p:txBody>
      </p:sp>
      <p:sp>
        <p:nvSpPr>
          <p:cNvPr id="84" name="TextBox 83">
            <a:extLst>
              <a:ext uri="{FF2B5EF4-FFF2-40B4-BE49-F238E27FC236}">
                <a16:creationId xmlns:a16="http://schemas.microsoft.com/office/drawing/2014/main" id="{53A42842-7865-15AE-8A83-9D5529D8D1D9}"/>
              </a:ext>
            </a:extLst>
          </p:cNvPr>
          <p:cNvSpPr txBox="1"/>
          <p:nvPr/>
        </p:nvSpPr>
        <p:spPr>
          <a:xfrm>
            <a:off x="4698889" y="1866550"/>
            <a:ext cx="4276324" cy="523220"/>
          </a:xfrm>
          <a:prstGeom prst="rect">
            <a:avLst/>
          </a:prstGeom>
          <a:noFill/>
        </p:spPr>
        <p:txBody>
          <a:bodyPr wrap="square" rtlCol="0">
            <a:spAutoFit/>
          </a:bodyPr>
          <a:lstStyle/>
          <a:p>
            <a:pPr algn="ctr"/>
            <a:r>
              <a:rPr lang="en-US" sz="2800" b="1">
                <a:solidFill>
                  <a:srgbClr val="B3195F"/>
                </a:solidFill>
                <a:latin typeface="+mj-lt"/>
              </a:rPr>
              <a:t>16 DDR5 channels </a:t>
            </a:r>
          </a:p>
        </p:txBody>
      </p:sp>
      <p:grpSp>
        <p:nvGrpSpPr>
          <p:cNvPr id="9" name="Group 8">
            <a:extLst>
              <a:ext uri="{FF2B5EF4-FFF2-40B4-BE49-F238E27FC236}">
                <a16:creationId xmlns:a16="http://schemas.microsoft.com/office/drawing/2014/main" id="{097660DE-022A-229C-1FD2-99F36E9C1FA4}"/>
              </a:ext>
            </a:extLst>
          </p:cNvPr>
          <p:cNvGrpSpPr/>
          <p:nvPr/>
        </p:nvGrpSpPr>
        <p:grpSpPr>
          <a:xfrm>
            <a:off x="4597398" y="2388809"/>
            <a:ext cx="4572000" cy="3034972"/>
            <a:chOff x="4571998" y="1952950"/>
            <a:chExt cx="4572000" cy="3034972"/>
          </a:xfrm>
        </p:grpSpPr>
        <p:pic>
          <p:nvPicPr>
            <p:cNvPr id="14" name="Content Placeholder 11" descr="A blue and black text&#10;&#10;AI-generated content may be incorrect.">
              <a:extLst>
                <a:ext uri="{FF2B5EF4-FFF2-40B4-BE49-F238E27FC236}">
                  <a16:creationId xmlns:a16="http://schemas.microsoft.com/office/drawing/2014/main" id="{D92A441E-EF68-CBB9-3094-4208FA4F3B95}"/>
                </a:ext>
              </a:extLst>
            </p:cNvPr>
            <p:cNvPicPr>
              <a:picLocks noChangeAspect="1"/>
            </p:cNvPicPr>
            <p:nvPr/>
          </p:nvPicPr>
          <p:blipFill>
            <a:blip r:embed="rId3">
              <a:extLst>
                <a:ext uri="{28A0092B-C50C-407E-A947-70E740481C1C}">
                  <a14:useLocalDpi xmlns:a14="http://schemas.microsoft.com/office/drawing/2010/main" val="0"/>
                </a:ext>
              </a:extLst>
            </a:blip>
            <a:srcRect l="32582" r="34911"/>
            <a:stretch>
              <a:fillRect/>
            </a:stretch>
          </p:blipFill>
          <p:spPr>
            <a:xfrm>
              <a:off x="4571998" y="1952950"/>
              <a:ext cx="4572000" cy="3034972"/>
            </a:xfrm>
            <a:prstGeom prst="rect">
              <a:avLst/>
            </a:prstGeom>
          </p:spPr>
        </p:pic>
        <p:sp>
          <p:nvSpPr>
            <p:cNvPr id="16" name="Rectangle 15">
              <a:extLst>
                <a:ext uri="{FF2B5EF4-FFF2-40B4-BE49-F238E27FC236}">
                  <a16:creationId xmlns:a16="http://schemas.microsoft.com/office/drawing/2014/main" id="{F8378BBE-C221-D10F-9F24-BF7E59EEE40E}"/>
                </a:ext>
              </a:extLst>
            </p:cNvPr>
            <p:cNvSpPr/>
            <p:nvPr/>
          </p:nvSpPr>
          <p:spPr>
            <a:xfrm>
              <a:off x="5938469" y="1967418"/>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F05DC99-AFDE-30D5-3F8A-7C825C3359D3}"/>
              </a:ext>
            </a:extLst>
          </p:cNvPr>
          <p:cNvGrpSpPr/>
          <p:nvPr/>
        </p:nvGrpSpPr>
        <p:grpSpPr>
          <a:xfrm>
            <a:off x="81588" y="2403277"/>
            <a:ext cx="4451882" cy="3034972"/>
            <a:chOff x="99051" y="1967418"/>
            <a:chExt cx="4451882" cy="3034972"/>
          </a:xfrm>
        </p:grpSpPr>
        <p:pic>
          <p:nvPicPr>
            <p:cNvPr id="18" name="Content Placeholder 11" descr="A blue and black text&#10;&#10;AI-generated content may be incorrect.">
              <a:extLst>
                <a:ext uri="{FF2B5EF4-FFF2-40B4-BE49-F238E27FC236}">
                  <a16:creationId xmlns:a16="http://schemas.microsoft.com/office/drawing/2014/main" id="{9A5AA4FD-EE3B-5F43-79A2-5188FDE88A31}"/>
                </a:ext>
              </a:extLst>
            </p:cNvPr>
            <p:cNvPicPr>
              <a:picLocks noChangeAspect="1"/>
            </p:cNvPicPr>
            <p:nvPr/>
          </p:nvPicPr>
          <p:blipFill>
            <a:blip r:embed="rId3">
              <a:extLst>
                <a:ext uri="{28A0092B-C50C-407E-A947-70E740481C1C}">
                  <a14:useLocalDpi xmlns:a14="http://schemas.microsoft.com/office/drawing/2010/main" val="0"/>
                </a:ext>
              </a:extLst>
            </a:blip>
            <a:srcRect r="68347"/>
            <a:stretch>
              <a:fillRect/>
            </a:stretch>
          </p:blipFill>
          <p:spPr>
            <a:xfrm>
              <a:off x="99051" y="1967418"/>
              <a:ext cx="4451882" cy="3034972"/>
            </a:xfrm>
            <a:prstGeom prst="rect">
              <a:avLst/>
            </a:prstGeom>
          </p:spPr>
        </p:pic>
        <p:sp>
          <p:nvSpPr>
            <p:cNvPr id="19" name="Rectangle 18">
              <a:extLst>
                <a:ext uri="{FF2B5EF4-FFF2-40B4-BE49-F238E27FC236}">
                  <a16:creationId xmlns:a16="http://schemas.microsoft.com/office/drawing/2014/main" id="{3BF4C980-43E1-5DBA-635F-45F23BDDB706}"/>
                </a:ext>
              </a:extLst>
            </p:cNvPr>
            <p:cNvSpPr/>
            <p:nvPr/>
          </p:nvSpPr>
          <p:spPr>
            <a:xfrm>
              <a:off x="1320514" y="1981886"/>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678EF2B8-27D1-6C1E-9F7B-39083138DD8C}"/>
              </a:ext>
            </a:extLst>
          </p:cNvPr>
          <p:cNvGrpSpPr/>
          <p:nvPr/>
        </p:nvGrpSpPr>
        <p:grpSpPr>
          <a:xfrm>
            <a:off x="2197100" y="3086100"/>
            <a:ext cx="6438900" cy="1816100"/>
            <a:chOff x="2197100" y="3086100"/>
            <a:chExt cx="6438900" cy="1816100"/>
          </a:xfrm>
        </p:grpSpPr>
        <p:cxnSp>
          <p:nvCxnSpPr>
            <p:cNvPr id="21" name="Straight Arrow Connector 20">
              <a:extLst>
                <a:ext uri="{FF2B5EF4-FFF2-40B4-BE49-F238E27FC236}">
                  <a16:creationId xmlns:a16="http://schemas.microsoft.com/office/drawing/2014/main" id="{AC38759D-7A67-40CD-8A19-E509A3A1387F}"/>
                </a:ext>
              </a:extLst>
            </p:cNvPr>
            <p:cNvCxnSpPr>
              <a:cxnSpLocks/>
            </p:cNvCxnSpPr>
            <p:nvPr/>
          </p:nvCxnSpPr>
          <p:spPr>
            <a:xfrm flipH="1">
              <a:off x="2324100" y="4356100"/>
              <a:ext cx="1828800" cy="0"/>
            </a:xfrm>
            <a:prstGeom prst="straightConnector1">
              <a:avLst/>
            </a:prstGeom>
            <a:ln w="101600">
              <a:solidFill>
                <a:srgbClr val="F23F00">
                  <a:alpha val="7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4BB0856-DE59-6800-081E-CB73A3FEAF21}"/>
                </a:ext>
              </a:extLst>
            </p:cNvPr>
            <p:cNvCxnSpPr/>
            <p:nvPr/>
          </p:nvCxnSpPr>
          <p:spPr>
            <a:xfrm>
              <a:off x="86360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49F0D35-F2C3-81E7-5E71-728466C7F0DE}"/>
                </a:ext>
              </a:extLst>
            </p:cNvPr>
            <p:cNvCxnSpPr/>
            <p:nvPr/>
          </p:nvCxnSpPr>
          <p:spPr>
            <a:xfrm>
              <a:off x="21971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E3C9BBAB-065D-CC0D-4CA9-6205E8F865D1}"/>
              </a:ext>
            </a:extLst>
          </p:cNvPr>
          <p:cNvSpPr txBox="1"/>
          <p:nvPr/>
        </p:nvSpPr>
        <p:spPr>
          <a:xfrm>
            <a:off x="181514" y="5271626"/>
            <a:ext cx="8724469" cy="1200329"/>
          </a:xfrm>
          <a:prstGeom prst="rect">
            <a:avLst/>
          </a:prstGeom>
          <a:noFill/>
        </p:spPr>
        <p:txBody>
          <a:bodyPr wrap="square">
            <a:spAutoFit/>
          </a:bodyPr>
          <a:lstStyle/>
          <a:p>
            <a:pPr algn="ctr"/>
            <a:r>
              <a:rPr lang="en-US" sz="2400">
                <a:latin typeface="+mj-lt"/>
              </a:rPr>
              <a:t>The Mess paper </a:t>
            </a:r>
            <a:r>
              <a:rPr lang="en-US" sz="2400" b="1">
                <a:solidFill>
                  <a:srgbClr val="F23F00"/>
                </a:solidFill>
                <a:latin typeface="+mj-lt"/>
              </a:rPr>
              <a:t>incorrectly assumes</a:t>
            </a:r>
            <a:r>
              <a:rPr lang="en-US" sz="2400" b="1">
                <a:latin typeface="+mj-lt"/>
              </a:rPr>
              <a:t> </a:t>
            </a:r>
            <a:r>
              <a:rPr lang="en-US" sz="2400">
                <a:latin typeface="+mj-lt"/>
              </a:rPr>
              <a:t>a DDR5 channel in </a:t>
            </a:r>
            <a:br>
              <a:rPr lang="en-US" sz="2400">
                <a:latin typeface="+mj-lt"/>
              </a:rPr>
            </a:br>
            <a:r>
              <a:rPr lang="en-US" sz="2400" err="1">
                <a:latin typeface="+mj-lt"/>
              </a:rPr>
              <a:t>Ramulator</a:t>
            </a:r>
            <a:r>
              <a:rPr lang="en-US" sz="2400">
                <a:latin typeface="+mj-lt"/>
              </a:rPr>
              <a:t> 2.0 is </a:t>
            </a:r>
            <a:r>
              <a:rPr lang="en-US" sz="2400" b="1">
                <a:solidFill>
                  <a:srgbClr val="F23F00"/>
                </a:solidFill>
                <a:latin typeface="+mj-lt"/>
              </a:rPr>
              <a:t>64-bit</a:t>
            </a:r>
            <a:r>
              <a:rPr lang="en-US" sz="2400" b="1">
                <a:latin typeface="+mj-lt"/>
              </a:rPr>
              <a:t>, </a:t>
            </a:r>
            <a:r>
              <a:rPr lang="en-US" sz="2400">
                <a:latin typeface="+mj-lt"/>
              </a:rPr>
              <a:t>instead of </a:t>
            </a:r>
            <a:r>
              <a:rPr lang="en-US" sz="2400" b="1">
                <a:solidFill>
                  <a:srgbClr val="F23F00"/>
                </a:solidFill>
                <a:latin typeface="+mj-lt"/>
              </a:rPr>
              <a:t>the actual width of 32-bit</a:t>
            </a:r>
            <a:r>
              <a:rPr lang="en-US" sz="2400">
                <a:latin typeface="+mj-lt"/>
              </a:rPr>
              <a:t> </a:t>
            </a:r>
            <a:br>
              <a:rPr lang="en-US" sz="2400">
                <a:latin typeface="+mj-lt"/>
              </a:rPr>
            </a:br>
            <a:r>
              <a:rPr lang="en-US" sz="2400">
                <a:latin typeface="+mj-lt"/>
              </a:rPr>
              <a:t>that is </a:t>
            </a:r>
            <a:r>
              <a:rPr lang="en-US" sz="2400" b="1">
                <a:solidFill>
                  <a:srgbClr val="F23F00"/>
                </a:solidFill>
                <a:latin typeface="+mj-lt"/>
              </a:rPr>
              <a:t>consistent</a:t>
            </a:r>
            <a:r>
              <a:rPr lang="en-US" sz="2400" b="1">
                <a:latin typeface="+mj-lt"/>
              </a:rPr>
              <a:t>  </a:t>
            </a:r>
            <a:r>
              <a:rPr lang="en-US" sz="2400" b="1">
                <a:solidFill>
                  <a:srgbClr val="F23F00"/>
                </a:solidFill>
                <a:latin typeface="+mj-lt"/>
              </a:rPr>
              <a:t>with</a:t>
            </a:r>
            <a:r>
              <a:rPr lang="en-US" sz="2400" b="1">
                <a:latin typeface="+mj-lt"/>
              </a:rPr>
              <a:t> </a:t>
            </a:r>
            <a:r>
              <a:rPr lang="en-US" sz="2400" b="1">
                <a:solidFill>
                  <a:srgbClr val="F23F00"/>
                </a:solidFill>
                <a:latin typeface="+mj-lt"/>
              </a:rPr>
              <a:t>JEDEC DDR5 standards </a:t>
            </a:r>
            <a:r>
              <a:rPr lang="en-US" sz="2400">
                <a:latin typeface="+mj-lt"/>
              </a:rPr>
              <a:t>(JESD79-5)</a:t>
            </a:r>
          </a:p>
        </p:txBody>
      </p:sp>
    </p:spTree>
    <p:extLst>
      <p:ext uri="{BB962C8B-B14F-4D97-AF65-F5344CB8AC3E}">
        <p14:creationId xmlns:p14="http://schemas.microsoft.com/office/powerpoint/2010/main" val="214161533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B0FB6-7CAB-BA2D-E9E0-23D72D05E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05F4E-FC4A-A9AD-598A-FA2CCD1878F5}"/>
              </a:ext>
            </a:extLst>
          </p:cNvPr>
          <p:cNvSpPr>
            <a:spLocks noGrp="1"/>
          </p:cNvSpPr>
          <p:nvPr>
            <p:ph type="title"/>
          </p:nvPr>
        </p:nvSpPr>
        <p:spPr/>
        <p:txBody>
          <a:bodyPr/>
          <a:lstStyle/>
          <a:p>
            <a:r>
              <a:rPr lang="en-US" sz="3200"/>
              <a:t>Fundamental Configuration Errors:</a:t>
            </a:r>
            <a:br>
              <a:rPr lang="en-US" sz="3200"/>
            </a:br>
            <a:r>
              <a:rPr lang="en-US" sz="3200"/>
              <a:t>Smaller Used Bandwidth</a:t>
            </a:r>
          </a:p>
        </p:txBody>
      </p:sp>
      <p:sp>
        <p:nvSpPr>
          <p:cNvPr id="6" name="Content Placeholder 5">
            <a:extLst>
              <a:ext uri="{FF2B5EF4-FFF2-40B4-BE49-F238E27FC236}">
                <a16:creationId xmlns:a16="http://schemas.microsoft.com/office/drawing/2014/main" id="{CC056768-EA91-916F-D159-6D8CD93985E6}"/>
              </a:ext>
            </a:extLst>
          </p:cNvPr>
          <p:cNvSpPr>
            <a:spLocks noGrp="1"/>
          </p:cNvSpPr>
          <p:nvPr>
            <p:ph idx="1"/>
          </p:nvPr>
        </p:nvSpPr>
        <p:spPr>
          <a:xfrm>
            <a:off x="-1" y="986209"/>
            <a:ext cx="9143999" cy="1456790"/>
          </a:xfrm>
        </p:spPr>
        <p:txBody>
          <a:bodyPr>
            <a:normAutofit/>
          </a:bodyPr>
          <a:lstStyle/>
          <a:p>
            <a:pPr marL="0" indent="0">
              <a:buNone/>
            </a:pPr>
            <a:endParaRPr lang="en-US" sz="2400"/>
          </a:p>
        </p:txBody>
      </p:sp>
      <p:sp>
        <p:nvSpPr>
          <p:cNvPr id="4" name="Slide Number Placeholder 3">
            <a:extLst>
              <a:ext uri="{FF2B5EF4-FFF2-40B4-BE49-F238E27FC236}">
                <a16:creationId xmlns:a16="http://schemas.microsoft.com/office/drawing/2014/main" id="{621C8115-E048-740F-5F3C-FC691D996D1E}"/>
              </a:ext>
            </a:extLst>
          </p:cNvPr>
          <p:cNvSpPr>
            <a:spLocks noGrp="1"/>
          </p:cNvSpPr>
          <p:nvPr>
            <p:ph type="sldNum" sz="quarter" idx="12"/>
          </p:nvPr>
        </p:nvSpPr>
        <p:spPr/>
        <p:txBody>
          <a:bodyPr/>
          <a:lstStyle/>
          <a:p>
            <a:fld id="{CBE5B309-C2CE-4D90-B104-F7E98438FC65}" type="slidenum">
              <a:rPr lang="tr-TR" smtClean="0"/>
              <a:pPr/>
              <a:t>14</a:t>
            </a:fld>
            <a:endParaRPr lang="tr-TR"/>
          </a:p>
        </p:txBody>
      </p:sp>
      <p:sp>
        <p:nvSpPr>
          <p:cNvPr id="24" name="Rectangle 23">
            <a:extLst>
              <a:ext uri="{FF2B5EF4-FFF2-40B4-BE49-F238E27FC236}">
                <a16:creationId xmlns:a16="http://schemas.microsoft.com/office/drawing/2014/main" id="{1B9A0C72-4D65-D260-FD91-7B95D7331FBB}"/>
              </a:ext>
            </a:extLst>
          </p:cNvPr>
          <p:cNvSpPr/>
          <p:nvPr/>
        </p:nvSpPr>
        <p:spPr>
          <a:xfrm>
            <a:off x="99051" y="986209"/>
            <a:ext cx="4358787" cy="883870"/>
          </a:xfrm>
          <a:prstGeom prst="rect">
            <a:avLst/>
          </a:prstGeom>
          <a:solidFill>
            <a:srgbClr val="E28700"/>
          </a:solidFill>
          <a:ln w="28575">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a:latin typeface="+mj-lt"/>
              </a:rPr>
              <a:t>Ramulator 2.0 Configuration </a:t>
            </a:r>
          </a:p>
        </p:txBody>
      </p:sp>
      <p:sp>
        <p:nvSpPr>
          <p:cNvPr id="31" name="Rectangle 30">
            <a:extLst>
              <a:ext uri="{FF2B5EF4-FFF2-40B4-BE49-F238E27FC236}">
                <a16:creationId xmlns:a16="http://schemas.microsoft.com/office/drawing/2014/main" id="{C3DAE48E-DC7D-22C8-4BA3-B9735F3B5E5B}"/>
              </a:ext>
            </a:extLst>
          </p:cNvPr>
          <p:cNvSpPr/>
          <p:nvPr/>
        </p:nvSpPr>
        <p:spPr>
          <a:xfrm>
            <a:off x="4633165" y="982681"/>
            <a:ext cx="4358787" cy="883869"/>
          </a:xfrm>
          <a:prstGeom prst="rect">
            <a:avLst/>
          </a:prstGeom>
          <a:solidFill>
            <a:srgbClr val="B3195F"/>
          </a:solidFill>
          <a:ln w="28575">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latin typeface="+mj-lt"/>
              </a:rPr>
              <a:t>Mess Paper’s </a:t>
            </a:r>
            <a:br>
              <a:rPr lang="en-US" sz="2400" b="1">
                <a:latin typeface="+mj-lt"/>
              </a:rPr>
            </a:br>
            <a:r>
              <a:rPr lang="en-US" sz="2400" b="1">
                <a:latin typeface="+mj-lt"/>
              </a:rPr>
              <a:t>Real System Configuration</a:t>
            </a:r>
          </a:p>
        </p:txBody>
      </p:sp>
      <p:cxnSp>
        <p:nvCxnSpPr>
          <p:cNvPr id="27" name="Straight Connector 26">
            <a:extLst>
              <a:ext uri="{FF2B5EF4-FFF2-40B4-BE49-F238E27FC236}">
                <a16:creationId xmlns:a16="http://schemas.microsoft.com/office/drawing/2014/main" id="{A8D786BC-5FCB-D98B-FD1C-74BB257D2E6D}"/>
              </a:ext>
            </a:extLst>
          </p:cNvPr>
          <p:cNvCxnSpPr>
            <a:cxnSpLocks/>
          </p:cNvCxnSpPr>
          <p:nvPr/>
        </p:nvCxnSpPr>
        <p:spPr>
          <a:xfrm>
            <a:off x="4546360" y="1545937"/>
            <a:ext cx="0" cy="3725689"/>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B1F40009-92B8-0EF6-D29A-837AD4BFD402}"/>
              </a:ext>
            </a:extLst>
          </p:cNvPr>
          <p:cNvSpPr txBox="1"/>
          <p:nvPr/>
        </p:nvSpPr>
        <p:spPr>
          <a:xfrm>
            <a:off x="86350" y="1866550"/>
            <a:ext cx="4384187" cy="523220"/>
          </a:xfrm>
          <a:prstGeom prst="rect">
            <a:avLst/>
          </a:prstGeom>
          <a:noFill/>
        </p:spPr>
        <p:txBody>
          <a:bodyPr wrap="square" rtlCol="0">
            <a:spAutoFit/>
          </a:bodyPr>
          <a:lstStyle/>
          <a:p>
            <a:pPr algn="ctr"/>
            <a:r>
              <a:rPr lang="en-US" sz="2800" b="1">
                <a:solidFill>
                  <a:srgbClr val="E28700"/>
                </a:solidFill>
                <a:latin typeface="+mj-lt"/>
              </a:rPr>
              <a:t>8 DDR5 channels </a:t>
            </a:r>
          </a:p>
        </p:txBody>
      </p:sp>
      <p:sp>
        <p:nvSpPr>
          <p:cNvPr id="84" name="TextBox 83">
            <a:extLst>
              <a:ext uri="{FF2B5EF4-FFF2-40B4-BE49-F238E27FC236}">
                <a16:creationId xmlns:a16="http://schemas.microsoft.com/office/drawing/2014/main" id="{35F87D2E-DC7A-419D-3EAA-DF576FFF04CF}"/>
              </a:ext>
            </a:extLst>
          </p:cNvPr>
          <p:cNvSpPr txBox="1"/>
          <p:nvPr/>
        </p:nvSpPr>
        <p:spPr>
          <a:xfrm>
            <a:off x="4698889" y="1866550"/>
            <a:ext cx="4276324" cy="523220"/>
          </a:xfrm>
          <a:prstGeom prst="rect">
            <a:avLst/>
          </a:prstGeom>
          <a:noFill/>
        </p:spPr>
        <p:txBody>
          <a:bodyPr wrap="square" rtlCol="0">
            <a:spAutoFit/>
          </a:bodyPr>
          <a:lstStyle/>
          <a:p>
            <a:pPr algn="ctr"/>
            <a:r>
              <a:rPr lang="en-US" sz="2800" b="1">
                <a:solidFill>
                  <a:srgbClr val="B3195F"/>
                </a:solidFill>
                <a:latin typeface="+mj-lt"/>
              </a:rPr>
              <a:t>16 DDR5 channels </a:t>
            </a:r>
          </a:p>
        </p:txBody>
      </p:sp>
      <p:grpSp>
        <p:nvGrpSpPr>
          <p:cNvPr id="9" name="Group 8">
            <a:extLst>
              <a:ext uri="{FF2B5EF4-FFF2-40B4-BE49-F238E27FC236}">
                <a16:creationId xmlns:a16="http://schemas.microsoft.com/office/drawing/2014/main" id="{BF126698-3AFE-AC3E-0FBA-D0490323D3DA}"/>
              </a:ext>
            </a:extLst>
          </p:cNvPr>
          <p:cNvGrpSpPr/>
          <p:nvPr/>
        </p:nvGrpSpPr>
        <p:grpSpPr>
          <a:xfrm>
            <a:off x="4597398" y="2388809"/>
            <a:ext cx="4572000" cy="3034972"/>
            <a:chOff x="4571998" y="1952950"/>
            <a:chExt cx="4572000" cy="3034972"/>
          </a:xfrm>
        </p:grpSpPr>
        <p:pic>
          <p:nvPicPr>
            <p:cNvPr id="14" name="Content Placeholder 11" descr="A blue and black text&#10;&#10;AI-generated content may be incorrect.">
              <a:extLst>
                <a:ext uri="{FF2B5EF4-FFF2-40B4-BE49-F238E27FC236}">
                  <a16:creationId xmlns:a16="http://schemas.microsoft.com/office/drawing/2014/main" id="{3BB35D14-5C80-5544-0871-A8C800EC638C}"/>
                </a:ext>
              </a:extLst>
            </p:cNvPr>
            <p:cNvPicPr>
              <a:picLocks noChangeAspect="1"/>
            </p:cNvPicPr>
            <p:nvPr/>
          </p:nvPicPr>
          <p:blipFill>
            <a:blip r:embed="rId3">
              <a:extLst>
                <a:ext uri="{28A0092B-C50C-407E-A947-70E740481C1C}">
                  <a14:useLocalDpi xmlns:a14="http://schemas.microsoft.com/office/drawing/2010/main" val="0"/>
                </a:ext>
              </a:extLst>
            </a:blip>
            <a:srcRect l="32582" r="34911"/>
            <a:stretch>
              <a:fillRect/>
            </a:stretch>
          </p:blipFill>
          <p:spPr>
            <a:xfrm>
              <a:off x="4571998" y="1952950"/>
              <a:ext cx="4572000" cy="3034972"/>
            </a:xfrm>
            <a:prstGeom prst="rect">
              <a:avLst/>
            </a:prstGeom>
          </p:spPr>
        </p:pic>
        <p:sp>
          <p:nvSpPr>
            <p:cNvPr id="16" name="Rectangle 15">
              <a:extLst>
                <a:ext uri="{FF2B5EF4-FFF2-40B4-BE49-F238E27FC236}">
                  <a16:creationId xmlns:a16="http://schemas.microsoft.com/office/drawing/2014/main" id="{2A784C06-8E3B-323C-0595-EDCBA31C7BEE}"/>
                </a:ext>
              </a:extLst>
            </p:cNvPr>
            <p:cNvSpPr/>
            <p:nvPr/>
          </p:nvSpPr>
          <p:spPr>
            <a:xfrm>
              <a:off x="5938469" y="1967418"/>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ECFFAB-2F17-1B09-2FDB-9187BE8B710E}"/>
              </a:ext>
            </a:extLst>
          </p:cNvPr>
          <p:cNvGrpSpPr/>
          <p:nvPr/>
        </p:nvGrpSpPr>
        <p:grpSpPr>
          <a:xfrm>
            <a:off x="81588" y="2403277"/>
            <a:ext cx="4451882" cy="3034972"/>
            <a:chOff x="99051" y="1967418"/>
            <a:chExt cx="4451882" cy="3034972"/>
          </a:xfrm>
        </p:grpSpPr>
        <p:pic>
          <p:nvPicPr>
            <p:cNvPr id="18" name="Content Placeholder 11" descr="A blue and black text&#10;&#10;AI-generated content may be incorrect.">
              <a:extLst>
                <a:ext uri="{FF2B5EF4-FFF2-40B4-BE49-F238E27FC236}">
                  <a16:creationId xmlns:a16="http://schemas.microsoft.com/office/drawing/2014/main" id="{2E301435-2145-E11E-BC31-8156028CF964}"/>
                </a:ext>
              </a:extLst>
            </p:cNvPr>
            <p:cNvPicPr>
              <a:picLocks noChangeAspect="1"/>
            </p:cNvPicPr>
            <p:nvPr/>
          </p:nvPicPr>
          <p:blipFill>
            <a:blip r:embed="rId3">
              <a:extLst>
                <a:ext uri="{28A0092B-C50C-407E-A947-70E740481C1C}">
                  <a14:useLocalDpi xmlns:a14="http://schemas.microsoft.com/office/drawing/2010/main" val="0"/>
                </a:ext>
              </a:extLst>
            </a:blip>
            <a:srcRect r="68347"/>
            <a:stretch>
              <a:fillRect/>
            </a:stretch>
          </p:blipFill>
          <p:spPr>
            <a:xfrm>
              <a:off x="99051" y="1967418"/>
              <a:ext cx="4451882" cy="3034972"/>
            </a:xfrm>
            <a:prstGeom prst="rect">
              <a:avLst/>
            </a:prstGeom>
          </p:spPr>
        </p:pic>
        <p:sp>
          <p:nvSpPr>
            <p:cNvPr id="19" name="Rectangle 18">
              <a:extLst>
                <a:ext uri="{FF2B5EF4-FFF2-40B4-BE49-F238E27FC236}">
                  <a16:creationId xmlns:a16="http://schemas.microsoft.com/office/drawing/2014/main" id="{C260AEA6-BA62-0E5D-FA91-14A8AE905DA8}"/>
                </a:ext>
              </a:extLst>
            </p:cNvPr>
            <p:cNvSpPr/>
            <p:nvPr/>
          </p:nvSpPr>
          <p:spPr>
            <a:xfrm>
              <a:off x="1320514" y="1981886"/>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B7AB5A04-19E8-BCAC-77D6-4557A6486F21}"/>
              </a:ext>
            </a:extLst>
          </p:cNvPr>
          <p:cNvGrpSpPr/>
          <p:nvPr/>
        </p:nvGrpSpPr>
        <p:grpSpPr>
          <a:xfrm>
            <a:off x="2197100" y="3086100"/>
            <a:ext cx="6438900" cy="1816100"/>
            <a:chOff x="2197100" y="3086100"/>
            <a:chExt cx="6438900" cy="1816100"/>
          </a:xfrm>
        </p:grpSpPr>
        <p:cxnSp>
          <p:nvCxnSpPr>
            <p:cNvPr id="21" name="Straight Arrow Connector 20">
              <a:extLst>
                <a:ext uri="{FF2B5EF4-FFF2-40B4-BE49-F238E27FC236}">
                  <a16:creationId xmlns:a16="http://schemas.microsoft.com/office/drawing/2014/main" id="{B0B67A2B-3F3D-140B-8B4A-FB55F228DFBF}"/>
                </a:ext>
              </a:extLst>
            </p:cNvPr>
            <p:cNvCxnSpPr>
              <a:cxnSpLocks/>
            </p:cNvCxnSpPr>
            <p:nvPr/>
          </p:nvCxnSpPr>
          <p:spPr>
            <a:xfrm flipH="1">
              <a:off x="2324100" y="4356100"/>
              <a:ext cx="1828800" cy="0"/>
            </a:xfrm>
            <a:prstGeom prst="straightConnector1">
              <a:avLst/>
            </a:prstGeom>
            <a:ln w="101600">
              <a:solidFill>
                <a:srgbClr val="F23F00">
                  <a:alpha val="7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62629AB-BC96-031D-4F30-99F39F0A4CE9}"/>
                </a:ext>
              </a:extLst>
            </p:cNvPr>
            <p:cNvCxnSpPr/>
            <p:nvPr/>
          </p:nvCxnSpPr>
          <p:spPr>
            <a:xfrm>
              <a:off x="86360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40F630-F358-3A7B-9D49-88FD02D802A2}"/>
                </a:ext>
              </a:extLst>
            </p:cNvPr>
            <p:cNvCxnSpPr/>
            <p:nvPr/>
          </p:nvCxnSpPr>
          <p:spPr>
            <a:xfrm>
              <a:off x="21971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A5CDCD9B-333C-D285-89D6-489FC7E53940}"/>
              </a:ext>
            </a:extLst>
          </p:cNvPr>
          <p:cNvSpPr txBox="1"/>
          <p:nvPr/>
        </p:nvSpPr>
        <p:spPr>
          <a:xfrm>
            <a:off x="181514" y="5271626"/>
            <a:ext cx="8724469" cy="1200329"/>
          </a:xfrm>
          <a:prstGeom prst="rect">
            <a:avLst/>
          </a:prstGeom>
          <a:noFill/>
        </p:spPr>
        <p:txBody>
          <a:bodyPr wrap="square">
            <a:spAutoFit/>
          </a:bodyPr>
          <a:lstStyle/>
          <a:p>
            <a:pPr algn="ctr"/>
            <a:r>
              <a:rPr lang="en-US" sz="2400">
                <a:latin typeface="+mj-lt"/>
              </a:rPr>
              <a:t>The Mess paper </a:t>
            </a:r>
            <a:r>
              <a:rPr lang="en-US" sz="2400" b="1">
                <a:solidFill>
                  <a:srgbClr val="F23F00"/>
                </a:solidFill>
                <a:latin typeface="+mj-lt"/>
              </a:rPr>
              <a:t>incorrectly assumes</a:t>
            </a:r>
            <a:r>
              <a:rPr lang="en-US" sz="2400" b="1">
                <a:latin typeface="+mj-lt"/>
              </a:rPr>
              <a:t> </a:t>
            </a:r>
            <a:r>
              <a:rPr lang="en-US" sz="2400">
                <a:latin typeface="+mj-lt"/>
              </a:rPr>
              <a:t>a DDR5 channel in </a:t>
            </a:r>
            <a:br>
              <a:rPr lang="en-US" sz="2400">
                <a:latin typeface="+mj-lt"/>
              </a:rPr>
            </a:br>
            <a:r>
              <a:rPr lang="en-US" sz="2400" err="1">
                <a:latin typeface="+mj-lt"/>
              </a:rPr>
              <a:t>Ramulator</a:t>
            </a:r>
            <a:r>
              <a:rPr lang="en-US" sz="2400">
                <a:latin typeface="+mj-lt"/>
              </a:rPr>
              <a:t> 2.0 is </a:t>
            </a:r>
            <a:r>
              <a:rPr lang="en-US" sz="2400" b="1">
                <a:solidFill>
                  <a:srgbClr val="F23F00"/>
                </a:solidFill>
                <a:latin typeface="+mj-lt"/>
              </a:rPr>
              <a:t>64-bit</a:t>
            </a:r>
            <a:r>
              <a:rPr lang="en-US" sz="2400" b="1">
                <a:latin typeface="+mj-lt"/>
              </a:rPr>
              <a:t>, </a:t>
            </a:r>
            <a:r>
              <a:rPr lang="en-US" sz="2400">
                <a:latin typeface="+mj-lt"/>
              </a:rPr>
              <a:t>instead of </a:t>
            </a:r>
            <a:r>
              <a:rPr lang="en-US" sz="2400" b="1">
                <a:solidFill>
                  <a:srgbClr val="F23F00"/>
                </a:solidFill>
                <a:latin typeface="+mj-lt"/>
              </a:rPr>
              <a:t>the actual width of 32-bit</a:t>
            </a:r>
            <a:r>
              <a:rPr lang="en-US" sz="2400">
                <a:latin typeface="+mj-lt"/>
              </a:rPr>
              <a:t> </a:t>
            </a:r>
            <a:br>
              <a:rPr lang="en-US" sz="2400">
                <a:latin typeface="+mj-lt"/>
              </a:rPr>
            </a:br>
            <a:r>
              <a:rPr lang="en-US" sz="2400">
                <a:latin typeface="+mj-lt"/>
              </a:rPr>
              <a:t>that is </a:t>
            </a:r>
            <a:r>
              <a:rPr lang="en-US" sz="2400" b="1">
                <a:solidFill>
                  <a:srgbClr val="F23F00"/>
                </a:solidFill>
                <a:latin typeface="+mj-lt"/>
              </a:rPr>
              <a:t>consistent</a:t>
            </a:r>
            <a:r>
              <a:rPr lang="en-US" sz="2400" b="1">
                <a:latin typeface="+mj-lt"/>
              </a:rPr>
              <a:t>  </a:t>
            </a:r>
            <a:r>
              <a:rPr lang="en-US" sz="2400" b="1">
                <a:solidFill>
                  <a:srgbClr val="F23F00"/>
                </a:solidFill>
                <a:latin typeface="+mj-lt"/>
              </a:rPr>
              <a:t>with</a:t>
            </a:r>
            <a:r>
              <a:rPr lang="en-US" sz="2400" b="1">
                <a:latin typeface="+mj-lt"/>
              </a:rPr>
              <a:t> </a:t>
            </a:r>
            <a:r>
              <a:rPr lang="en-US" sz="2400" b="1">
                <a:solidFill>
                  <a:srgbClr val="F23F00"/>
                </a:solidFill>
                <a:latin typeface="+mj-lt"/>
              </a:rPr>
              <a:t>JEDEC DDR5 standards </a:t>
            </a:r>
            <a:r>
              <a:rPr lang="en-US" sz="2400">
                <a:latin typeface="+mj-lt"/>
              </a:rPr>
              <a:t>(JESD79-5)</a:t>
            </a:r>
          </a:p>
        </p:txBody>
      </p:sp>
      <p:sp>
        <p:nvSpPr>
          <p:cNvPr id="3" name="Content Placeholder 2">
            <a:extLst>
              <a:ext uri="{FF2B5EF4-FFF2-40B4-BE49-F238E27FC236}">
                <a16:creationId xmlns:a16="http://schemas.microsoft.com/office/drawing/2014/main" id="{C368D629-810A-5563-7EFC-F46F42A99FF5}"/>
              </a:ext>
            </a:extLst>
          </p:cNvPr>
          <p:cNvSpPr txBox="1">
            <a:spLocks/>
          </p:cNvSpPr>
          <p:nvPr/>
        </p:nvSpPr>
        <p:spPr>
          <a:xfrm>
            <a:off x="0" y="5367661"/>
            <a:ext cx="9144000" cy="1008259"/>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spc="-60">
                <a:solidFill>
                  <a:srgbClr val="F23F00"/>
                </a:solidFill>
                <a:latin typeface="+mj-lt"/>
              </a:rPr>
              <a:t>The Mess paper configures Ramulator 2.0 with </a:t>
            </a:r>
            <a:r>
              <a:rPr lang="en-US" sz="2400" b="1" spc="-60">
                <a:solidFill>
                  <a:srgbClr val="F23F00"/>
                </a:solidFill>
                <a:latin typeface="+mj-lt"/>
              </a:rPr>
              <a:t>half the channels </a:t>
            </a:r>
            <a:r>
              <a:rPr lang="en-US" sz="2400" spc="-60">
                <a:solidFill>
                  <a:srgbClr val="F23F00"/>
                </a:solidFill>
                <a:latin typeface="+mj-lt"/>
              </a:rPr>
              <a:t>of </a:t>
            </a:r>
            <a:br>
              <a:rPr lang="en-US" sz="2400" spc="-60">
                <a:solidFill>
                  <a:srgbClr val="F23F00"/>
                </a:solidFill>
                <a:latin typeface="+mj-lt"/>
              </a:rPr>
            </a:br>
            <a:r>
              <a:rPr lang="en-US" sz="2400" spc="-60">
                <a:solidFill>
                  <a:srgbClr val="F23F00"/>
                </a:solidFill>
                <a:latin typeface="+mj-lt"/>
              </a:rPr>
              <a:t>a real system, and thus, results </a:t>
            </a:r>
            <a:r>
              <a:rPr lang="en-US" sz="2400" b="1" spc="-60">
                <a:solidFill>
                  <a:srgbClr val="F23F00"/>
                </a:solidFill>
                <a:latin typeface="+mj-lt"/>
              </a:rPr>
              <a:t>in smaller used bandwidth</a:t>
            </a:r>
          </a:p>
        </p:txBody>
      </p:sp>
    </p:spTree>
    <p:extLst>
      <p:ext uri="{BB962C8B-B14F-4D97-AF65-F5344CB8AC3E}">
        <p14:creationId xmlns:p14="http://schemas.microsoft.com/office/powerpoint/2010/main" val="3363705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03B1-7324-3FEF-E7ED-118DB0B89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8D8A0-92EC-6FF3-6D7E-102E602ED4F4}"/>
              </a:ext>
            </a:extLst>
          </p:cNvPr>
          <p:cNvSpPr>
            <a:spLocks noGrp="1"/>
          </p:cNvSpPr>
          <p:nvPr>
            <p:ph type="title"/>
          </p:nvPr>
        </p:nvSpPr>
        <p:spPr/>
        <p:txBody>
          <a:bodyPr/>
          <a:lstStyle/>
          <a:p>
            <a:r>
              <a:rPr lang="en-US" sz="3200"/>
              <a:t>Fundamental Configuration Errors:</a:t>
            </a:r>
            <a:br>
              <a:rPr lang="en-US" sz="3200"/>
            </a:br>
            <a:r>
              <a:rPr lang="en-US" sz="3200"/>
              <a:t>Smaller Memory Access Latency</a:t>
            </a:r>
          </a:p>
        </p:txBody>
      </p:sp>
      <p:sp>
        <p:nvSpPr>
          <p:cNvPr id="6" name="Content Placeholder 5">
            <a:extLst>
              <a:ext uri="{FF2B5EF4-FFF2-40B4-BE49-F238E27FC236}">
                <a16:creationId xmlns:a16="http://schemas.microsoft.com/office/drawing/2014/main" id="{C787B683-D07B-2D2A-5490-826013734EF5}"/>
              </a:ext>
            </a:extLst>
          </p:cNvPr>
          <p:cNvSpPr>
            <a:spLocks noGrp="1"/>
          </p:cNvSpPr>
          <p:nvPr>
            <p:ph idx="1"/>
          </p:nvPr>
        </p:nvSpPr>
        <p:spPr>
          <a:xfrm>
            <a:off x="-1" y="1151467"/>
            <a:ext cx="9143999" cy="5260908"/>
          </a:xfrm>
        </p:spPr>
        <p:txBody>
          <a:bodyPr>
            <a:normAutofit/>
          </a:bodyPr>
          <a:lstStyle/>
          <a:p>
            <a:r>
              <a:rPr lang="en-US"/>
              <a:t>The Mess paper's artifact hardcodes</a:t>
            </a:r>
          </a:p>
          <a:p>
            <a:pPr lvl="1"/>
            <a:r>
              <a:rPr lang="en-US" sz="2800"/>
              <a:t>the cache latency as </a:t>
            </a:r>
            <a:r>
              <a:rPr lang="en-US" sz="2800" b="1">
                <a:solidFill>
                  <a:srgbClr val="F23F00"/>
                </a:solidFill>
              </a:rPr>
              <a:t>0 cycles</a:t>
            </a:r>
          </a:p>
          <a:p>
            <a:pPr lvl="1"/>
            <a:r>
              <a:rPr lang="en-US" sz="2800"/>
              <a:t>the number of miss-status holding registers (MSHRs)</a:t>
            </a:r>
            <a:br>
              <a:rPr lang="en-US" sz="2800"/>
            </a:br>
            <a:r>
              <a:rPr lang="en-US" sz="2800"/>
              <a:t>per CPU as </a:t>
            </a:r>
            <a:r>
              <a:rPr lang="en-US" sz="2800" b="1">
                <a:solidFill>
                  <a:srgbClr val="F23F00"/>
                </a:solidFill>
              </a:rPr>
              <a:t>1024</a:t>
            </a:r>
          </a:p>
          <a:p>
            <a:endParaRPr lang="en-US" b="1"/>
          </a:p>
          <a:p>
            <a:r>
              <a:rPr lang="en-US"/>
              <a:t>This leads to significantly smaller DRAM round-trip latency </a:t>
            </a:r>
            <a:br>
              <a:rPr lang="en-US"/>
            </a:br>
            <a:r>
              <a:rPr lang="en-US"/>
              <a:t>and queueing delays, thus </a:t>
            </a:r>
            <a:r>
              <a:rPr lang="en-US" b="1"/>
              <a:t>smaller memory access latency</a:t>
            </a:r>
          </a:p>
        </p:txBody>
      </p:sp>
      <p:sp>
        <p:nvSpPr>
          <p:cNvPr id="4" name="Slide Number Placeholder 3">
            <a:extLst>
              <a:ext uri="{FF2B5EF4-FFF2-40B4-BE49-F238E27FC236}">
                <a16:creationId xmlns:a16="http://schemas.microsoft.com/office/drawing/2014/main" id="{760E3B6A-525E-A63C-0E05-7DC1F51B6D32}"/>
              </a:ext>
            </a:extLst>
          </p:cNvPr>
          <p:cNvSpPr>
            <a:spLocks noGrp="1"/>
          </p:cNvSpPr>
          <p:nvPr>
            <p:ph type="sldNum" sz="quarter" idx="12"/>
          </p:nvPr>
        </p:nvSpPr>
        <p:spPr/>
        <p:txBody>
          <a:bodyPr/>
          <a:lstStyle/>
          <a:p>
            <a:fld id="{CBE5B309-C2CE-4D90-B104-F7E98438FC65}" type="slidenum">
              <a:rPr lang="tr-TR" smtClean="0"/>
              <a:pPr/>
              <a:t>15</a:t>
            </a:fld>
            <a:endParaRPr lang="tr-TR"/>
          </a:p>
        </p:txBody>
      </p:sp>
      <p:sp>
        <p:nvSpPr>
          <p:cNvPr id="40" name="Content Placeholder 2">
            <a:extLst>
              <a:ext uri="{FF2B5EF4-FFF2-40B4-BE49-F238E27FC236}">
                <a16:creationId xmlns:a16="http://schemas.microsoft.com/office/drawing/2014/main" id="{A6B0CAA2-E1AD-C9C7-DDCD-C75FDDB53F0B}"/>
              </a:ext>
            </a:extLst>
          </p:cNvPr>
          <p:cNvSpPr txBox="1">
            <a:spLocks/>
          </p:cNvSpPr>
          <p:nvPr/>
        </p:nvSpPr>
        <p:spPr>
          <a:xfrm>
            <a:off x="0" y="4903743"/>
            <a:ext cx="9144000" cy="1173207"/>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a:solidFill>
                  <a:srgbClr val="F23F00"/>
                </a:solidFill>
                <a:latin typeface="+mj-lt"/>
              </a:rPr>
              <a:t>The Mess paper uses </a:t>
            </a:r>
            <a:r>
              <a:rPr lang="en-GB" sz="2400" b="1">
                <a:solidFill>
                  <a:srgbClr val="F23F00"/>
                </a:solidFill>
                <a:latin typeface="+mj-lt"/>
              </a:rPr>
              <a:t>unrealistically low cache latency configurations </a:t>
            </a:r>
            <a:br>
              <a:rPr lang="en-GB" sz="2400">
                <a:solidFill>
                  <a:srgbClr val="F23F00"/>
                </a:solidFill>
                <a:latin typeface="+mj-lt"/>
              </a:rPr>
            </a:br>
            <a:r>
              <a:rPr lang="en-GB" sz="2400">
                <a:solidFill>
                  <a:srgbClr val="F23F00"/>
                </a:solidFill>
                <a:latin typeface="+mj-lt"/>
              </a:rPr>
              <a:t>resulting in the </a:t>
            </a:r>
            <a:r>
              <a:rPr lang="en-GB" sz="2400" b="1">
                <a:solidFill>
                  <a:srgbClr val="F23F00"/>
                </a:solidFill>
                <a:latin typeface="+mj-lt"/>
              </a:rPr>
              <a:t>low memory access latency </a:t>
            </a:r>
            <a:br>
              <a:rPr lang="en-GB" sz="2400" b="1">
                <a:solidFill>
                  <a:srgbClr val="F23F00"/>
                </a:solidFill>
                <a:latin typeface="+mj-lt"/>
              </a:rPr>
            </a:br>
            <a:r>
              <a:rPr lang="en-GB" sz="2400">
                <a:solidFill>
                  <a:srgbClr val="F23F00"/>
                </a:solidFill>
                <a:latin typeface="+mj-lt"/>
              </a:rPr>
              <a:t>that it attributes to </a:t>
            </a:r>
            <a:r>
              <a:rPr lang="en-GB" sz="2400" err="1">
                <a:solidFill>
                  <a:srgbClr val="F23F00"/>
                </a:solidFill>
                <a:latin typeface="+mj-lt"/>
              </a:rPr>
              <a:t>Ramulator</a:t>
            </a:r>
            <a:r>
              <a:rPr lang="en-GB" sz="2400">
                <a:solidFill>
                  <a:srgbClr val="F23F00"/>
                </a:solidFill>
                <a:latin typeface="+mj-lt"/>
              </a:rPr>
              <a:t> 2.0 </a:t>
            </a:r>
          </a:p>
        </p:txBody>
      </p:sp>
    </p:spTree>
    <p:extLst>
      <p:ext uri="{BB962C8B-B14F-4D97-AF65-F5344CB8AC3E}">
        <p14:creationId xmlns:p14="http://schemas.microsoft.com/office/powerpoint/2010/main" val="136874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9AB25-AC8F-8F49-825A-B17EAFD04BEE}"/>
              </a:ext>
            </a:extLst>
          </p:cNvPr>
          <p:cNvSpPr>
            <a:spLocks noGrp="1"/>
          </p:cNvSpPr>
          <p:nvPr>
            <p:ph type="title"/>
          </p:nvPr>
        </p:nvSpPr>
        <p:spPr/>
        <p:txBody>
          <a:bodyPr/>
          <a:lstStyle/>
          <a:p>
            <a:r>
              <a:rPr lang="en-US"/>
              <a:t>Our Evaluation Methodology</a:t>
            </a:r>
          </a:p>
        </p:txBody>
      </p:sp>
      <p:sp>
        <p:nvSpPr>
          <p:cNvPr id="3" name="Content Placeholder 2">
            <a:extLst>
              <a:ext uri="{FF2B5EF4-FFF2-40B4-BE49-F238E27FC236}">
                <a16:creationId xmlns:a16="http://schemas.microsoft.com/office/drawing/2014/main" id="{C0FFA2D5-5084-4450-3540-CCB6E1964892}"/>
              </a:ext>
            </a:extLst>
          </p:cNvPr>
          <p:cNvSpPr>
            <a:spLocks noGrp="1"/>
          </p:cNvSpPr>
          <p:nvPr>
            <p:ph idx="1"/>
          </p:nvPr>
        </p:nvSpPr>
        <p:spPr>
          <a:xfrm>
            <a:off x="-1" y="1086591"/>
            <a:ext cx="9143999" cy="5090371"/>
          </a:xfrm>
        </p:spPr>
        <p:txBody>
          <a:bodyPr vert="horz" lIns="91440" tIns="45720" rIns="91440" bIns="45720" rtlCol="0" anchor="t">
            <a:normAutofit/>
          </a:bodyPr>
          <a:lstStyle/>
          <a:p>
            <a:r>
              <a:rPr lang="en-US"/>
              <a:t>We </a:t>
            </a:r>
            <a:r>
              <a:rPr lang="en-US" b="1">
                <a:solidFill>
                  <a:srgbClr val="6D40DC"/>
                </a:solidFill>
              </a:rPr>
              <a:t>independently evaluate the Mess benchmark</a:t>
            </a:r>
            <a:br>
              <a:rPr lang="en-US"/>
            </a:br>
            <a:r>
              <a:rPr lang="en-US"/>
              <a:t>by executing the same access pattern</a:t>
            </a:r>
          </a:p>
          <a:p>
            <a:pPr lvl="1"/>
            <a:r>
              <a:rPr lang="en-US" i="1"/>
              <a:t>Streaming </a:t>
            </a:r>
            <a:r>
              <a:rPr lang="en-US"/>
              <a:t>and </a:t>
            </a:r>
            <a:r>
              <a:rPr lang="en-US" i="1"/>
              <a:t>Pointer-Chasing </a:t>
            </a:r>
            <a:r>
              <a:rPr lang="en-US"/>
              <a:t>access patterns</a:t>
            </a:r>
          </a:p>
          <a:p>
            <a:pPr lvl="1"/>
            <a:r>
              <a:rPr lang="en-US"/>
              <a:t>Sweeping memory intensity</a:t>
            </a:r>
          </a:p>
          <a:p>
            <a:pPr lvl="1"/>
            <a:endParaRPr lang="en-US"/>
          </a:p>
          <a:p>
            <a:r>
              <a:rPr lang="en-US"/>
              <a:t>We </a:t>
            </a:r>
            <a:r>
              <a:rPr lang="en-US" b="1">
                <a:solidFill>
                  <a:srgbClr val="316CE3"/>
                </a:solidFill>
              </a:rPr>
              <a:t>correctly configure Ramulator 2.0</a:t>
            </a:r>
          </a:p>
          <a:p>
            <a:pPr lvl="1"/>
            <a:r>
              <a:rPr lang="en-US"/>
              <a:t>Provide the same number of channels as the real system</a:t>
            </a:r>
          </a:p>
          <a:p>
            <a:pPr lvl="1"/>
            <a:r>
              <a:rPr lang="en-US"/>
              <a:t>Evaluate the memory access latency from the memory controller </a:t>
            </a:r>
            <a:br>
              <a:rPr lang="en-US"/>
            </a:br>
            <a:r>
              <a:rPr lang="en-US"/>
              <a:t>to isolate the DDR5 model's simulation accuracy</a:t>
            </a:r>
          </a:p>
        </p:txBody>
      </p:sp>
      <p:sp>
        <p:nvSpPr>
          <p:cNvPr id="4" name="Slide Number Placeholder 3">
            <a:extLst>
              <a:ext uri="{FF2B5EF4-FFF2-40B4-BE49-F238E27FC236}">
                <a16:creationId xmlns:a16="http://schemas.microsoft.com/office/drawing/2014/main" id="{A20DF95C-8A00-CB87-52EA-CCB9BE3F9B3F}"/>
              </a:ext>
            </a:extLst>
          </p:cNvPr>
          <p:cNvSpPr>
            <a:spLocks noGrp="1"/>
          </p:cNvSpPr>
          <p:nvPr>
            <p:ph type="sldNum" sz="quarter" idx="12"/>
          </p:nvPr>
        </p:nvSpPr>
        <p:spPr/>
        <p:txBody>
          <a:bodyPr/>
          <a:lstStyle/>
          <a:p>
            <a:fld id="{CBE5B309-C2CE-4D90-B104-F7E98438FC65}" type="slidenum">
              <a:rPr lang="tr-TR" smtClean="0"/>
              <a:pPr/>
              <a:t>16</a:t>
            </a:fld>
            <a:endParaRPr lang="tr-TR"/>
          </a:p>
        </p:txBody>
      </p:sp>
    </p:spTree>
    <p:extLst>
      <p:ext uri="{BB962C8B-B14F-4D97-AF65-F5344CB8AC3E}">
        <p14:creationId xmlns:p14="http://schemas.microsoft.com/office/powerpoint/2010/main" val="360627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0CDD-E37B-763F-5AE7-8615CE9D4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73418-D967-B984-9136-9F46D5E3C66E}"/>
              </a:ext>
            </a:extLst>
          </p:cNvPr>
          <p:cNvSpPr>
            <a:spLocks noGrp="1"/>
          </p:cNvSpPr>
          <p:nvPr>
            <p:ph type="title"/>
          </p:nvPr>
        </p:nvSpPr>
        <p:spPr/>
        <p:txBody>
          <a:bodyPr/>
          <a:lstStyle/>
          <a:p>
            <a:r>
              <a:rPr lang="en-US"/>
              <a:t>Our Key Results</a:t>
            </a:r>
          </a:p>
        </p:txBody>
      </p:sp>
      <p:sp>
        <p:nvSpPr>
          <p:cNvPr id="4" name="Slide Number Placeholder 3">
            <a:extLst>
              <a:ext uri="{FF2B5EF4-FFF2-40B4-BE49-F238E27FC236}">
                <a16:creationId xmlns:a16="http://schemas.microsoft.com/office/drawing/2014/main" id="{824C8C85-B6CD-B036-C0A7-ABA98C95ED4E}"/>
              </a:ext>
            </a:extLst>
          </p:cNvPr>
          <p:cNvSpPr>
            <a:spLocks noGrp="1"/>
          </p:cNvSpPr>
          <p:nvPr>
            <p:ph type="sldNum" sz="quarter" idx="12"/>
          </p:nvPr>
        </p:nvSpPr>
        <p:spPr/>
        <p:txBody>
          <a:bodyPr/>
          <a:lstStyle/>
          <a:p>
            <a:fld id="{CBE5B309-C2CE-4D90-B104-F7E98438FC65}" type="slidenum">
              <a:rPr lang="tr-TR" smtClean="0"/>
              <a:pPr/>
              <a:t>17</a:t>
            </a:fld>
            <a:endParaRPr lang="tr-TR"/>
          </a:p>
        </p:txBody>
      </p:sp>
      <p:sp>
        <p:nvSpPr>
          <p:cNvPr id="8" name="Content Placeholder 2">
            <a:extLst>
              <a:ext uri="{FF2B5EF4-FFF2-40B4-BE49-F238E27FC236}">
                <a16:creationId xmlns:a16="http://schemas.microsoft.com/office/drawing/2014/main" id="{5881DE95-EB54-2F32-BD77-508A5C6DCB8A}"/>
              </a:ext>
            </a:extLst>
          </p:cNvPr>
          <p:cNvSpPr txBox="1">
            <a:spLocks/>
          </p:cNvSpPr>
          <p:nvPr/>
        </p:nvSpPr>
        <p:spPr>
          <a:xfrm>
            <a:off x="-1" y="5108543"/>
            <a:ext cx="9144000" cy="1148843"/>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2400">
                <a:solidFill>
                  <a:srgbClr val="F23F00"/>
                </a:solidFill>
                <a:latin typeface="+mj-lt"/>
              </a:rPr>
              <a:t>Ramulator 2.0's memory model achieves </a:t>
            </a:r>
            <a:r>
              <a:rPr lang="en-US" sz="2400" b="1">
                <a:solidFill>
                  <a:srgbClr val="F23F00"/>
                </a:solidFill>
                <a:latin typeface="+mj-lt"/>
              </a:rPr>
              <a:t>high used memory bandwidth</a:t>
            </a:r>
            <a:r>
              <a:rPr lang="en-US" sz="2400">
                <a:solidFill>
                  <a:srgbClr val="F23F00"/>
                </a:solidFill>
                <a:latin typeface="+mj-lt"/>
              </a:rPr>
              <a:t>, close to the </a:t>
            </a:r>
            <a:r>
              <a:rPr lang="en-US" sz="2400" b="1">
                <a:solidFill>
                  <a:srgbClr val="F23F00"/>
                </a:solidFill>
                <a:latin typeface="+mj-lt"/>
              </a:rPr>
              <a:t>achievable bandwidth value</a:t>
            </a:r>
            <a:r>
              <a:rPr lang="en-US" sz="2400">
                <a:solidFill>
                  <a:srgbClr val="F23F00"/>
                </a:solidFill>
                <a:latin typeface="+mj-lt"/>
              </a:rPr>
              <a:t>, </a:t>
            </a:r>
            <a:br>
              <a:rPr lang="en-US" sz="2400">
                <a:solidFill>
                  <a:srgbClr val="F23F00"/>
                </a:solidFill>
                <a:latin typeface="+mj-lt"/>
              </a:rPr>
            </a:br>
            <a:r>
              <a:rPr lang="en-US" sz="2400">
                <a:solidFill>
                  <a:srgbClr val="F23F00"/>
                </a:solidFill>
                <a:latin typeface="+mj-lt"/>
              </a:rPr>
              <a:t>as opposed to the claims of the Mess paper</a:t>
            </a:r>
          </a:p>
        </p:txBody>
      </p:sp>
      <p:pic>
        <p:nvPicPr>
          <p:cNvPr id="12" name="Content Placeholder 11" descr="A blue and white graphic&#10;&#10;AI-generated content may be incorrect.">
            <a:extLst>
              <a:ext uri="{FF2B5EF4-FFF2-40B4-BE49-F238E27FC236}">
                <a16:creationId xmlns:a16="http://schemas.microsoft.com/office/drawing/2014/main" id="{A9F7C100-DBA5-BA80-8964-13A3E16C05D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6207" t="11957"/>
          <a:stretch>
            <a:fillRect/>
          </a:stretch>
        </p:blipFill>
        <p:spPr>
          <a:xfrm>
            <a:off x="1289974" y="1191627"/>
            <a:ext cx="6603295" cy="3712376"/>
          </a:xfrm>
        </p:spPr>
      </p:pic>
      <p:sp>
        <p:nvSpPr>
          <p:cNvPr id="13" name="TextBox 12">
            <a:extLst>
              <a:ext uri="{FF2B5EF4-FFF2-40B4-BE49-F238E27FC236}">
                <a16:creationId xmlns:a16="http://schemas.microsoft.com/office/drawing/2014/main" id="{EE698647-CA14-ECAB-591D-6C3BB58F33B6}"/>
              </a:ext>
            </a:extLst>
          </p:cNvPr>
          <p:cNvSpPr txBox="1"/>
          <p:nvPr/>
        </p:nvSpPr>
        <p:spPr>
          <a:xfrm>
            <a:off x="2144110" y="6390562"/>
            <a:ext cx="5749159" cy="369332"/>
          </a:xfrm>
          <a:prstGeom prst="rect">
            <a:avLst/>
          </a:prstGeom>
          <a:noFill/>
        </p:spPr>
        <p:txBody>
          <a:bodyPr wrap="square" rtlCol="0">
            <a:spAutoFit/>
          </a:bodyPr>
          <a:lstStyle/>
          <a:p>
            <a:r>
              <a:rPr lang="en-US">
                <a:hlinkClick r:id="rId4"/>
              </a:rPr>
              <a:t>https://github.com/CMU-SAFARI/ramulator2/tree/mess</a:t>
            </a:r>
            <a:endParaRPr lang="en-US"/>
          </a:p>
        </p:txBody>
      </p:sp>
      <p:sp>
        <p:nvSpPr>
          <p:cNvPr id="3" name="Rectangle 2">
            <a:extLst>
              <a:ext uri="{FF2B5EF4-FFF2-40B4-BE49-F238E27FC236}">
                <a16:creationId xmlns:a16="http://schemas.microsoft.com/office/drawing/2014/main" id="{7CAD14C7-2E04-0A1B-D5F9-A0B11F969711}"/>
              </a:ext>
            </a:extLst>
          </p:cNvPr>
          <p:cNvSpPr/>
          <p:nvPr/>
        </p:nvSpPr>
        <p:spPr>
          <a:xfrm>
            <a:off x="2151550" y="1227820"/>
            <a:ext cx="4547824" cy="699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CA79BA5-17E9-3BB6-2294-4CFA729A2347}"/>
              </a:ext>
            </a:extLst>
          </p:cNvPr>
          <p:cNvSpPr/>
          <p:nvPr/>
        </p:nvSpPr>
        <p:spPr>
          <a:xfrm>
            <a:off x="2139411" y="2101140"/>
            <a:ext cx="4048792" cy="2239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874FF72-A9F2-E9DF-B5FC-020D29A332EF}"/>
              </a:ext>
            </a:extLst>
          </p:cNvPr>
          <p:cNvSpPr/>
          <p:nvPr/>
        </p:nvSpPr>
        <p:spPr>
          <a:xfrm>
            <a:off x="6192902" y="2074740"/>
            <a:ext cx="329113" cy="22834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CD4AB5-44AB-CE5B-12E3-27F1C6091DAB}"/>
              </a:ext>
            </a:extLst>
          </p:cNvPr>
          <p:cNvSpPr/>
          <p:nvPr/>
        </p:nvSpPr>
        <p:spPr>
          <a:xfrm>
            <a:off x="6531413" y="2061295"/>
            <a:ext cx="347402" cy="22834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8E7B2F1-8F75-17B6-52DA-1EFB8735FB11}"/>
              </a:ext>
            </a:extLst>
          </p:cNvPr>
          <p:cNvSpPr/>
          <p:nvPr/>
        </p:nvSpPr>
        <p:spPr>
          <a:xfrm>
            <a:off x="6041052" y="1863748"/>
            <a:ext cx="449213" cy="1510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93B020F-C717-E026-A77B-5B0504BFB801}"/>
              </a:ext>
            </a:extLst>
          </p:cNvPr>
          <p:cNvSpPr/>
          <p:nvPr/>
        </p:nvSpPr>
        <p:spPr>
          <a:xfrm>
            <a:off x="2402332" y="1537568"/>
            <a:ext cx="4164627" cy="272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4E998BA-6291-EEE3-1AEB-48BD8B03F6F7}"/>
              </a:ext>
            </a:extLst>
          </p:cNvPr>
          <p:cNvCxnSpPr>
            <a:cxnSpLocks/>
          </p:cNvCxnSpPr>
          <p:nvPr/>
        </p:nvCxnSpPr>
        <p:spPr>
          <a:xfrm flipH="1">
            <a:off x="6311900" y="1612900"/>
            <a:ext cx="616701" cy="1595967"/>
          </a:xfrm>
          <a:prstGeom prst="straightConnector1">
            <a:avLst/>
          </a:prstGeom>
          <a:ln w="76200">
            <a:solidFill>
              <a:srgbClr val="FF0000">
                <a:alpha val="50000"/>
              </a:srgbClr>
            </a:solidFill>
            <a:tailEnd type="arrow"/>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B873D9D6-F534-6C44-9BD3-3FB6C188A584}"/>
              </a:ext>
            </a:extLst>
          </p:cNvPr>
          <p:cNvSpPr/>
          <p:nvPr/>
        </p:nvSpPr>
        <p:spPr>
          <a:xfrm>
            <a:off x="2298700" y="2349500"/>
            <a:ext cx="3056467" cy="1794933"/>
          </a:xfrm>
          <a:custGeom>
            <a:avLst/>
            <a:gdLst>
              <a:gd name="csX0" fmla="*/ 0 w 3056467"/>
              <a:gd name="csY0" fmla="*/ 1794933 h 1794933"/>
              <a:gd name="csX1" fmla="*/ 1625600 w 3056467"/>
              <a:gd name="csY1" fmla="*/ 1325033 h 1794933"/>
              <a:gd name="csX2" fmla="*/ 2683933 w 3056467"/>
              <a:gd name="csY2" fmla="*/ 850900 h 1794933"/>
              <a:gd name="csX3" fmla="*/ 3056467 w 3056467"/>
              <a:gd name="csY3" fmla="*/ 0 h 1794933"/>
            </a:gdLst>
            <a:ahLst/>
            <a:cxnLst>
              <a:cxn ang="0">
                <a:pos x="csX0" y="csY0"/>
              </a:cxn>
              <a:cxn ang="0">
                <a:pos x="csX1" y="csY1"/>
              </a:cxn>
              <a:cxn ang="0">
                <a:pos x="csX2" y="csY2"/>
              </a:cxn>
              <a:cxn ang="0">
                <a:pos x="csX3" y="csY3"/>
              </a:cxn>
            </a:cxnLst>
            <a:rect l="l" t="t" r="r" b="b"/>
            <a:pathLst>
              <a:path w="3056467" h="1794933">
                <a:moveTo>
                  <a:pt x="0" y="1794933"/>
                </a:moveTo>
                <a:cubicBezTo>
                  <a:pt x="589139" y="1638652"/>
                  <a:pt x="1178278" y="1482372"/>
                  <a:pt x="1625600" y="1325033"/>
                </a:cubicBezTo>
                <a:cubicBezTo>
                  <a:pt x="2072922" y="1167694"/>
                  <a:pt x="2445455" y="1071739"/>
                  <a:pt x="2683933" y="850900"/>
                </a:cubicBezTo>
                <a:cubicBezTo>
                  <a:pt x="2922411" y="630061"/>
                  <a:pt x="2989439" y="315030"/>
                  <a:pt x="3056467" y="0"/>
                </a:cubicBezTo>
              </a:path>
            </a:pathLst>
          </a:custGeom>
          <a:noFill/>
          <a:ln w="76200">
            <a:solidFill>
              <a:srgbClr val="FF0000">
                <a:alpha val="51000"/>
              </a:srgbClr>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11" descr="A blue and white graphic&#10;&#10;AI-generated content may be incorrect.">
            <a:extLst>
              <a:ext uri="{FF2B5EF4-FFF2-40B4-BE49-F238E27FC236}">
                <a16:creationId xmlns:a16="http://schemas.microsoft.com/office/drawing/2014/main" id="{C0D77BD7-9D2D-7073-8FA6-A59843AF8A9D}"/>
              </a:ext>
            </a:extLst>
          </p:cNvPr>
          <p:cNvPicPr>
            <a:picLocks noChangeAspect="1"/>
          </p:cNvPicPr>
          <p:nvPr/>
        </p:nvPicPr>
        <p:blipFill>
          <a:blip r:embed="rId3">
            <a:extLst>
              <a:ext uri="{28A0092B-C50C-407E-A947-70E740481C1C}">
                <a14:useLocalDpi xmlns:a14="http://schemas.microsoft.com/office/drawing/2010/main" val="0"/>
              </a:ext>
            </a:extLst>
          </a:blip>
          <a:srcRect l="66207" t="11957"/>
          <a:stretch>
            <a:fillRect/>
          </a:stretch>
        </p:blipFill>
        <p:spPr>
          <a:xfrm>
            <a:off x="1270352" y="1195008"/>
            <a:ext cx="6603295" cy="3712376"/>
          </a:xfrm>
          <a:prstGeom prst="rect">
            <a:avLst/>
          </a:prstGeom>
        </p:spPr>
      </p:pic>
      <p:sp>
        <p:nvSpPr>
          <p:cNvPr id="14" name="Rectangle 13">
            <a:extLst>
              <a:ext uri="{FF2B5EF4-FFF2-40B4-BE49-F238E27FC236}">
                <a16:creationId xmlns:a16="http://schemas.microsoft.com/office/drawing/2014/main" id="{249AF2AC-F3C6-3EE3-DA06-6D261133F114}"/>
              </a:ext>
            </a:extLst>
          </p:cNvPr>
          <p:cNvSpPr/>
          <p:nvPr/>
        </p:nvSpPr>
        <p:spPr>
          <a:xfrm>
            <a:off x="6479388" y="1882749"/>
            <a:ext cx="449213" cy="1510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858C4C-AEAD-5419-A0D7-ADDAD913AAB0}"/>
              </a:ext>
            </a:extLst>
          </p:cNvPr>
          <p:cNvSpPr/>
          <p:nvPr/>
        </p:nvSpPr>
        <p:spPr>
          <a:xfrm>
            <a:off x="2402332" y="1377863"/>
            <a:ext cx="3390956" cy="156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56379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5" grpId="0" animBg="1"/>
      <p:bldP spid="6" grpId="0" animBg="1"/>
      <p:bldP spid="9" grpId="0" animBg="1"/>
      <p:bldP spid="10" grpId="0" animBg="1"/>
      <p:bldP spid="11" grpId="0" animBg="1"/>
      <p:bldP spid="19" grpId="0" animBg="1"/>
      <p:bldP spid="14"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A5EE-302B-CAD6-0E4E-79530812A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D93DA-D1B4-4E94-06C7-31BE78D37DF5}"/>
              </a:ext>
            </a:extLst>
          </p:cNvPr>
          <p:cNvSpPr>
            <a:spLocks noGrp="1"/>
          </p:cNvSpPr>
          <p:nvPr>
            <p:ph type="title"/>
          </p:nvPr>
        </p:nvSpPr>
        <p:spPr/>
        <p:txBody>
          <a:bodyPr/>
          <a:lstStyle/>
          <a:p>
            <a:r>
              <a:rPr lang="en-US"/>
              <a:t>Our Key Results</a:t>
            </a:r>
          </a:p>
        </p:txBody>
      </p:sp>
      <p:sp>
        <p:nvSpPr>
          <p:cNvPr id="4" name="Slide Number Placeholder 3">
            <a:extLst>
              <a:ext uri="{FF2B5EF4-FFF2-40B4-BE49-F238E27FC236}">
                <a16:creationId xmlns:a16="http://schemas.microsoft.com/office/drawing/2014/main" id="{7C136226-BA58-1D4E-990E-304C4B51CDE4}"/>
              </a:ext>
            </a:extLst>
          </p:cNvPr>
          <p:cNvSpPr>
            <a:spLocks noGrp="1"/>
          </p:cNvSpPr>
          <p:nvPr>
            <p:ph type="sldNum" sz="quarter" idx="12"/>
          </p:nvPr>
        </p:nvSpPr>
        <p:spPr/>
        <p:txBody>
          <a:bodyPr/>
          <a:lstStyle/>
          <a:p>
            <a:fld id="{CBE5B309-C2CE-4D90-B104-F7E98438FC65}" type="slidenum">
              <a:rPr lang="tr-TR" smtClean="0"/>
              <a:pPr/>
              <a:t>18</a:t>
            </a:fld>
            <a:endParaRPr lang="tr-TR"/>
          </a:p>
        </p:txBody>
      </p:sp>
      <p:sp>
        <p:nvSpPr>
          <p:cNvPr id="8" name="Content Placeholder 2">
            <a:extLst>
              <a:ext uri="{FF2B5EF4-FFF2-40B4-BE49-F238E27FC236}">
                <a16:creationId xmlns:a16="http://schemas.microsoft.com/office/drawing/2014/main" id="{BF8EF32F-F1B9-28D8-E75D-62B5065E0BC1}"/>
              </a:ext>
            </a:extLst>
          </p:cNvPr>
          <p:cNvSpPr txBox="1">
            <a:spLocks/>
          </p:cNvSpPr>
          <p:nvPr/>
        </p:nvSpPr>
        <p:spPr>
          <a:xfrm>
            <a:off x="10510" y="5321565"/>
            <a:ext cx="9144000" cy="807740"/>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GB" sz="2400">
                <a:solidFill>
                  <a:srgbClr val="F23F00"/>
                </a:solidFill>
                <a:latin typeface="+mj-lt"/>
              </a:rPr>
              <a:t>The </a:t>
            </a:r>
            <a:r>
              <a:rPr lang="en-GB" sz="2400" b="1">
                <a:solidFill>
                  <a:srgbClr val="F23F00"/>
                </a:solidFill>
                <a:latin typeface="+mj-lt"/>
              </a:rPr>
              <a:t>memory access latency</a:t>
            </a:r>
            <a:r>
              <a:rPr lang="en-GB" sz="2400">
                <a:solidFill>
                  <a:srgbClr val="F23F00"/>
                </a:solidFill>
                <a:latin typeface="+mj-lt"/>
              </a:rPr>
              <a:t> of Ramulator 2.0’s model </a:t>
            </a:r>
            <a:r>
              <a:rPr lang="en-GB" sz="2400" b="1">
                <a:solidFill>
                  <a:srgbClr val="F23F00"/>
                </a:solidFill>
                <a:latin typeface="+mj-lt"/>
              </a:rPr>
              <a:t>increases</a:t>
            </a:r>
            <a:r>
              <a:rPr lang="en-GB" sz="2400">
                <a:solidFill>
                  <a:srgbClr val="F23F00"/>
                </a:solidFill>
                <a:latin typeface="+mj-lt"/>
              </a:rPr>
              <a:t> </a:t>
            </a:r>
            <a:br>
              <a:rPr lang="en-GB" sz="2400">
                <a:solidFill>
                  <a:srgbClr val="F23F00"/>
                </a:solidFill>
                <a:latin typeface="+mj-lt"/>
              </a:rPr>
            </a:br>
            <a:r>
              <a:rPr lang="en-GB" sz="2400">
                <a:solidFill>
                  <a:srgbClr val="F23F00"/>
                </a:solidFill>
                <a:latin typeface="+mj-lt"/>
              </a:rPr>
              <a:t>as the </a:t>
            </a:r>
            <a:r>
              <a:rPr lang="en-GB" sz="2400" b="1">
                <a:solidFill>
                  <a:srgbClr val="F23F00"/>
                </a:solidFill>
                <a:latin typeface="+mj-lt"/>
              </a:rPr>
              <a:t>used memory bandwidth </a:t>
            </a:r>
            <a:r>
              <a:rPr lang="en-GB" sz="2400">
                <a:solidFill>
                  <a:srgbClr val="F23F00"/>
                </a:solidFill>
                <a:latin typeface="+mj-lt"/>
              </a:rPr>
              <a:t>and the </a:t>
            </a:r>
            <a:r>
              <a:rPr lang="en-GB" sz="2400" b="1">
                <a:solidFill>
                  <a:srgbClr val="F23F00"/>
                </a:solidFill>
                <a:latin typeface="+mj-lt"/>
              </a:rPr>
              <a:t>write ratio increases</a:t>
            </a:r>
            <a:endParaRPr lang="en-US" sz="2400" b="1">
              <a:solidFill>
                <a:srgbClr val="F23F00"/>
              </a:solidFill>
              <a:latin typeface="+mj-lt"/>
            </a:endParaRPr>
          </a:p>
        </p:txBody>
      </p:sp>
      <p:sp>
        <p:nvSpPr>
          <p:cNvPr id="13" name="TextBox 12">
            <a:extLst>
              <a:ext uri="{FF2B5EF4-FFF2-40B4-BE49-F238E27FC236}">
                <a16:creationId xmlns:a16="http://schemas.microsoft.com/office/drawing/2014/main" id="{A2E16FD7-CFD4-3AC3-3073-65CFDB1D6EEA}"/>
              </a:ext>
            </a:extLst>
          </p:cNvPr>
          <p:cNvSpPr txBox="1"/>
          <p:nvPr/>
        </p:nvSpPr>
        <p:spPr>
          <a:xfrm>
            <a:off x="2144110" y="6390562"/>
            <a:ext cx="5749159" cy="369332"/>
          </a:xfrm>
          <a:prstGeom prst="rect">
            <a:avLst/>
          </a:prstGeom>
          <a:noFill/>
        </p:spPr>
        <p:txBody>
          <a:bodyPr wrap="square" rtlCol="0">
            <a:spAutoFit/>
          </a:bodyPr>
          <a:lstStyle/>
          <a:p>
            <a:r>
              <a:rPr lang="en-US">
                <a:hlinkClick r:id="rId3"/>
              </a:rPr>
              <a:t>https://github.com/CMU-SAFARI/ramulator2/tree/mess</a:t>
            </a:r>
            <a:endParaRPr lang="en-US"/>
          </a:p>
        </p:txBody>
      </p:sp>
      <p:grpSp>
        <p:nvGrpSpPr>
          <p:cNvPr id="20" name="Group 19">
            <a:extLst>
              <a:ext uri="{FF2B5EF4-FFF2-40B4-BE49-F238E27FC236}">
                <a16:creationId xmlns:a16="http://schemas.microsoft.com/office/drawing/2014/main" id="{9DC3CD93-D1B5-7CB1-199D-1D4B20339D9F}"/>
              </a:ext>
            </a:extLst>
          </p:cNvPr>
          <p:cNvGrpSpPr/>
          <p:nvPr/>
        </p:nvGrpSpPr>
        <p:grpSpPr>
          <a:xfrm>
            <a:off x="1270353" y="1195008"/>
            <a:ext cx="6603295" cy="3712376"/>
            <a:chOff x="1270353" y="1195008"/>
            <a:chExt cx="6603295" cy="3712376"/>
          </a:xfrm>
        </p:grpSpPr>
        <p:pic>
          <p:nvPicPr>
            <p:cNvPr id="18" name="Content Placeholder 11" descr="A blue and white graphic&#10;&#10;AI-generated content may be incorrect.">
              <a:extLst>
                <a:ext uri="{FF2B5EF4-FFF2-40B4-BE49-F238E27FC236}">
                  <a16:creationId xmlns:a16="http://schemas.microsoft.com/office/drawing/2014/main" id="{D4BFC35C-94B4-46B9-7D0B-E62A2F3A4639}"/>
                </a:ext>
              </a:extLst>
            </p:cNvPr>
            <p:cNvPicPr>
              <a:picLocks noChangeAspect="1"/>
            </p:cNvPicPr>
            <p:nvPr/>
          </p:nvPicPr>
          <p:blipFill>
            <a:blip r:embed="rId4">
              <a:extLst>
                <a:ext uri="{28A0092B-C50C-407E-A947-70E740481C1C}">
                  <a14:useLocalDpi xmlns:a14="http://schemas.microsoft.com/office/drawing/2010/main" val="0"/>
                </a:ext>
              </a:extLst>
            </a:blip>
            <a:srcRect l="66207" t="11957"/>
            <a:stretch>
              <a:fillRect/>
            </a:stretch>
          </p:blipFill>
          <p:spPr>
            <a:xfrm>
              <a:off x="1270353" y="1195008"/>
              <a:ext cx="6603295" cy="3712376"/>
            </a:xfrm>
            <a:prstGeom prst="rect">
              <a:avLst/>
            </a:prstGeom>
          </p:spPr>
        </p:pic>
        <p:sp>
          <p:nvSpPr>
            <p:cNvPr id="19" name="Freeform: Shape 18">
              <a:extLst>
                <a:ext uri="{FF2B5EF4-FFF2-40B4-BE49-F238E27FC236}">
                  <a16:creationId xmlns:a16="http://schemas.microsoft.com/office/drawing/2014/main" id="{A40D7CF8-EB27-9921-CEBF-90EB04A4E2DF}"/>
                </a:ext>
              </a:extLst>
            </p:cNvPr>
            <p:cNvSpPr/>
            <p:nvPr/>
          </p:nvSpPr>
          <p:spPr>
            <a:xfrm>
              <a:off x="2298700" y="2349500"/>
              <a:ext cx="3056467" cy="1794933"/>
            </a:xfrm>
            <a:custGeom>
              <a:avLst/>
              <a:gdLst>
                <a:gd name="csX0" fmla="*/ 0 w 3056467"/>
                <a:gd name="csY0" fmla="*/ 1794933 h 1794933"/>
                <a:gd name="csX1" fmla="*/ 1625600 w 3056467"/>
                <a:gd name="csY1" fmla="*/ 1325033 h 1794933"/>
                <a:gd name="csX2" fmla="*/ 2683933 w 3056467"/>
                <a:gd name="csY2" fmla="*/ 850900 h 1794933"/>
                <a:gd name="csX3" fmla="*/ 3056467 w 3056467"/>
                <a:gd name="csY3" fmla="*/ 0 h 1794933"/>
              </a:gdLst>
              <a:ahLst/>
              <a:cxnLst>
                <a:cxn ang="0">
                  <a:pos x="csX0" y="csY0"/>
                </a:cxn>
                <a:cxn ang="0">
                  <a:pos x="csX1" y="csY1"/>
                </a:cxn>
                <a:cxn ang="0">
                  <a:pos x="csX2" y="csY2"/>
                </a:cxn>
                <a:cxn ang="0">
                  <a:pos x="csX3" y="csY3"/>
                </a:cxn>
              </a:cxnLst>
              <a:rect l="l" t="t" r="r" b="b"/>
              <a:pathLst>
                <a:path w="3056467" h="1794933">
                  <a:moveTo>
                    <a:pt x="0" y="1794933"/>
                  </a:moveTo>
                  <a:cubicBezTo>
                    <a:pt x="589139" y="1638652"/>
                    <a:pt x="1178278" y="1482372"/>
                    <a:pt x="1625600" y="1325033"/>
                  </a:cubicBezTo>
                  <a:cubicBezTo>
                    <a:pt x="2072922" y="1167694"/>
                    <a:pt x="2445455" y="1071739"/>
                    <a:pt x="2683933" y="850900"/>
                  </a:cubicBezTo>
                  <a:cubicBezTo>
                    <a:pt x="2922411" y="630061"/>
                    <a:pt x="2989439" y="315030"/>
                    <a:pt x="3056467" y="0"/>
                  </a:cubicBezTo>
                </a:path>
              </a:pathLst>
            </a:custGeom>
            <a:noFill/>
            <a:ln w="76200">
              <a:solidFill>
                <a:srgbClr val="FF0000">
                  <a:alpha val="51000"/>
                </a:srgbClr>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1945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0BB7-4709-76C7-916D-4D086695C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D0161-F653-841E-34C6-6D5311935A27}"/>
              </a:ext>
            </a:extLst>
          </p:cNvPr>
          <p:cNvSpPr>
            <a:spLocks noGrp="1"/>
          </p:cNvSpPr>
          <p:nvPr>
            <p:ph type="title"/>
          </p:nvPr>
        </p:nvSpPr>
        <p:spPr/>
        <p:txBody>
          <a:bodyPr/>
          <a:lstStyle/>
          <a:p>
            <a:r>
              <a:rPr lang="en-US"/>
              <a:t>Our Key Results</a:t>
            </a:r>
          </a:p>
        </p:txBody>
      </p:sp>
      <p:sp>
        <p:nvSpPr>
          <p:cNvPr id="4" name="Slide Number Placeholder 3">
            <a:extLst>
              <a:ext uri="{FF2B5EF4-FFF2-40B4-BE49-F238E27FC236}">
                <a16:creationId xmlns:a16="http://schemas.microsoft.com/office/drawing/2014/main" id="{E04D2929-8E7F-6BF8-4905-AB89B0CF1A13}"/>
              </a:ext>
            </a:extLst>
          </p:cNvPr>
          <p:cNvSpPr>
            <a:spLocks noGrp="1"/>
          </p:cNvSpPr>
          <p:nvPr>
            <p:ph type="sldNum" sz="quarter" idx="12"/>
          </p:nvPr>
        </p:nvSpPr>
        <p:spPr/>
        <p:txBody>
          <a:bodyPr/>
          <a:lstStyle/>
          <a:p>
            <a:fld id="{CBE5B309-C2CE-4D90-B104-F7E98438FC65}" type="slidenum">
              <a:rPr lang="tr-TR" smtClean="0"/>
              <a:pPr/>
              <a:t>19</a:t>
            </a:fld>
            <a:endParaRPr lang="tr-TR"/>
          </a:p>
        </p:txBody>
      </p:sp>
      <p:sp>
        <p:nvSpPr>
          <p:cNvPr id="8" name="Content Placeholder 2">
            <a:extLst>
              <a:ext uri="{FF2B5EF4-FFF2-40B4-BE49-F238E27FC236}">
                <a16:creationId xmlns:a16="http://schemas.microsoft.com/office/drawing/2014/main" id="{0107E623-50A6-CD57-D629-6B541EC2FDD9}"/>
              </a:ext>
            </a:extLst>
          </p:cNvPr>
          <p:cNvSpPr txBox="1">
            <a:spLocks/>
          </p:cNvSpPr>
          <p:nvPr/>
        </p:nvSpPr>
        <p:spPr>
          <a:xfrm>
            <a:off x="10510" y="5321565"/>
            <a:ext cx="9144000" cy="807740"/>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GB" sz="2400">
                <a:solidFill>
                  <a:srgbClr val="F23F00"/>
                </a:solidFill>
                <a:latin typeface="+mj-lt"/>
              </a:rPr>
              <a:t>When </a:t>
            </a:r>
            <a:r>
              <a:rPr lang="en-GB" sz="2400" b="1">
                <a:solidFill>
                  <a:srgbClr val="F23F00"/>
                </a:solidFill>
                <a:latin typeface="+mj-lt"/>
              </a:rPr>
              <a:t>correctly configured</a:t>
            </a:r>
            <a:r>
              <a:rPr lang="en-GB" sz="2400">
                <a:solidFill>
                  <a:srgbClr val="F23F00"/>
                </a:solidFill>
                <a:latin typeface="+mj-lt"/>
              </a:rPr>
              <a:t>, Ramulator 2.0’s simulated memory system performance </a:t>
            </a:r>
            <a:r>
              <a:rPr lang="en-GB" sz="2400" b="1">
                <a:solidFill>
                  <a:srgbClr val="F23F00"/>
                </a:solidFill>
                <a:latin typeface="+mj-lt"/>
              </a:rPr>
              <a:t>resembles real system characteristics</a:t>
            </a:r>
            <a:endParaRPr lang="en-US" sz="2400" b="1">
              <a:solidFill>
                <a:srgbClr val="F23F00"/>
              </a:solidFill>
              <a:latin typeface="+mj-lt"/>
            </a:endParaRPr>
          </a:p>
        </p:txBody>
      </p:sp>
      <p:sp>
        <p:nvSpPr>
          <p:cNvPr id="13" name="TextBox 12">
            <a:extLst>
              <a:ext uri="{FF2B5EF4-FFF2-40B4-BE49-F238E27FC236}">
                <a16:creationId xmlns:a16="http://schemas.microsoft.com/office/drawing/2014/main" id="{C9A9DDD4-D8E0-9567-A09C-BBCB2AED112D}"/>
              </a:ext>
            </a:extLst>
          </p:cNvPr>
          <p:cNvSpPr txBox="1"/>
          <p:nvPr/>
        </p:nvSpPr>
        <p:spPr>
          <a:xfrm>
            <a:off x="2144110" y="6390562"/>
            <a:ext cx="5749159" cy="369332"/>
          </a:xfrm>
          <a:prstGeom prst="rect">
            <a:avLst/>
          </a:prstGeom>
          <a:noFill/>
        </p:spPr>
        <p:txBody>
          <a:bodyPr wrap="square" rtlCol="0">
            <a:spAutoFit/>
          </a:bodyPr>
          <a:lstStyle/>
          <a:p>
            <a:r>
              <a:rPr lang="en-US">
                <a:hlinkClick r:id="rId3"/>
              </a:rPr>
              <a:t>https://github.com/CMU-SAFARI/ramulator2/tree/mess</a:t>
            </a:r>
            <a:endParaRPr lang="en-US"/>
          </a:p>
        </p:txBody>
      </p:sp>
      <p:sp>
        <p:nvSpPr>
          <p:cNvPr id="3" name="Rectangle 2">
            <a:extLst>
              <a:ext uri="{FF2B5EF4-FFF2-40B4-BE49-F238E27FC236}">
                <a16:creationId xmlns:a16="http://schemas.microsoft.com/office/drawing/2014/main" id="{0B720105-67E6-63A1-A624-167DDB631205}"/>
              </a:ext>
            </a:extLst>
          </p:cNvPr>
          <p:cNvSpPr/>
          <p:nvPr/>
        </p:nvSpPr>
        <p:spPr>
          <a:xfrm>
            <a:off x="2151550" y="1227820"/>
            <a:ext cx="4547824" cy="699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ED406D-69B4-B700-30FF-959E634B82C4}"/>
              </a:ext>
            </a:extLst>
          </p:cNvPr>
          <p:cNvSpPr/>
          <p:nvPr/>
        </p:nvSpPr>
        <p:spPr>
          <a:xfrm>
            <a:off x="6041052" y="1863748"/>
            <a:ext cx="449213" cy="1510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0B3AC4B-1C11-A523-D197-BF4DD2014124}"/>
              </a:ext>
            </a:extLst>
          </p:cNvPr>
          <p:cNvSpPr/>
          <p:nvPr/>
        </p:nvSpPr>
        <p:spPr>
          <a:xfrm>
            <a:off x="2402332" y="1537568"/>
            <a:ext cx="4164627" cy="2727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98D0C39-A8B8-3CEF-DEF7-B589DAE7C835}"/>
              </a:ext>
            </a:extLst>
          </p:cNvPr>
          <p:cNvGrpSpPr/>
          <p:nvPr/>
        </p:nvGrpSpPr>
        <p:grpSpPr>
          <a:xfrm>
            <a:off x="1270353" y="1195008"/>
            <a:ext cx="6603295" cy="3712376"/>
            <a:chOff x="1270353" y="1195008"/>
            <a:chExt cx="6603295" cy="3712376"/>
          </a:xfrm>
        </p:grpSpPr>
        <p:grpSp>
          <p:nvGrpSpPr>
            <p:cNvPr id="20" name="Group 19">
              <a:extLst>
                <a:ext uri="{FF2B5EF4-FFF2-40B4-BE49-F238E27FC236}">
                  <a16:creationId xmlns:a16="http://schemas.microsoft.com/office/drawing/2014/main" id="{F1FEBBF1-FF66-CE15-7EA4-C380ED25E656}"/>
                </a:ext>
              </a:extLst>
            </p:cNvPr>
            <p:cNvGrpSpPr/>
            <p:nvPr/>
          </p:nvGrpSpPr>
          <p:grpSpPr>
            <a:xfrm>
              <a:off x="1270353" y="1195008"/>
              <a:ext cx="6603295" cy="3712376"/>
              <a:chOff x="1270353" y="1195008"/>
              <a:chExt cx="6603295" cy="3712376"/>
            </a:xfrm>
          </p:grpSpPr>
          <p:pic>
            <p:nvPicPr>
              <p:cNvPr id="21" name="Content Placeholder 11" descr="A blue and white graphic&#10;&#10;AI-generated content may be incorrect.">
                <a:extLst>
                  <a:ext uri="{FF2B5EF4-FFF2-40B4-BE49-F238E27FC236}">
                    <a16:creationId xmlns:a16="http://schemas.microsoft.com/office/drawing/2014/main" id="{0A9E6254-130C-2AF8-B567-6A5D6E88ECFF}"/>
                  </a:ext>
                </a:extLst>
              </p:cNvPr>
              <p:cNvPicPr>
                <a:picLocks noChangeAspect="1"/>
              </p:cNvPicPr>
              <p:nvPr/>
            </p:nvPicPr>
            <p:blipFill>
              <a:blip r:embed="rId4">
                <a:extLst>
                  <a:ext uri="{28A0092B-C50C-407E-A947-70E740481C1C}">
                    <a14:useLocalDpi xmlns:a14="http://schemas.microsoft.com/office/drawing/2010/main" val="0"/>
                  </a:ext>
                </a:extLst>
              </a:blip>
              <a:srcRect l="66207" t="11957"/>
              <a:stretch>
                <a:fillRect/>
              </a:stretch>
            </p:blipFill>
            <p:spPr>
              <a:xfrm>
                <a:off x="1270353" y="1195008"/>
                <a:ext cx="6603295" cy="3712376"/>
              </a:xfrm>
              <a:prstGeom prst="rect">
                <a:avLst/>
              </a:prstGeom>
            </p:spPr>
          </p:pic>
          <p:sp>
            <p:nvSpPr>
              <p:cNvPr id="22" name="Freeform: Shape 21">
                <a:extLst>
                  <a:ext uri="{FF2B5EF4-FFF2-40B4-BE49-F238E27FC236}">
                    <a16:creationId xmlns:a16="http://schemas.microsoft.com/office/drawing/2014/main" id="{A170FED5-1F8C-C76B-4D0C-DEB6E700DB74}"/>
                  </a:ext>
                </a:extLst>
              </p:cNvPr>
              <p:cNvSpPr/>
              <p:nvPr/>
            </p:nvSpPr>
            <p:spPr>
              <a:xfrm>
                <a:off x="2298700" y="2349500"/>
                <a:ext cx="3056467" cy="1794933"/>
              </a:xfrm>
              <a:custGeom>
                <a:avLst/>
                <a:gdLst>
                  <a:gd name="csX0" fmla="*/ 0 w 3056467"/>
                  <a:gd name="csY0" fmla="*/ 1794933 h 1794933"/>
                  <a:gd name="csX1" fmla="*/ 1625600 w 3056467"/>
                  <a:gd name="csY1" fmla="*/ 1325033 h 1794933"/>
                  <a:gd name="csX2" fmla="*/ 2683933 w 3056467"/>
                  <a:gd name="csY2" fmla="*/ 850900 h 1794933"/>
                  <a:gd name="csX3" fmla="*/ 3056467 w 3056467"/>
                  <a:gd name="csY3" fmla="*/ 0 h 1794933"/>
                </a:gdLst>
                <a:ahLst/>
                <a:cxnLst>
                  <a:cxn ang="0">
                    <a:pos x="csX0" y="csY0"/>
                  </a:cxn>
                  <a:cxn ang="0">
                    <a:pos x="csX1" y="csY1"/>
                  </a:cxn>
                  <a:cxn ang="0">
                    <a:pos x="csX2" y="csY2"/>
                  </a:cxn>
                  <a:cxn ang="0">
                    <a:pos x="csX3" y="csY3"/>
                  </a:cxn>
                </a:cxnLst>
                <a:rect l="l" t="t" r="r" b="b"/>
                <a:pathLst>
                  <a:path w="3056467" h="1794933">
                    <a:moveTo>
                      <a:pt x="0" y="1794933"/>
                    </a:moveTo>
                    <a:cubicBezTo>
                      <a:pt x="589139" y="1638652"/>
                      <a:pt x="1178278" y="1482372"/>
                      <a:pt x="1625600" y="1325033"/>
                    </a:cubicBezTo>
                    <a:cubicBezTo>
                      <a:pt x="2072922" y="1167694"/>
                      <a:pt x="2445455" y="1071739"/>
                      <a:pt x="2683933" y="850900"/>
                    </a:cubicBezTo>
                    <a:cubicBezTo>
                      <a:pt x="2922411" y="630061"/>
                      <a:pt x="2989439" y="315030"/>
                      <a:pt x="3056467" y="0"/>
                    </a:cubicBezTo>
                  </a:path>
                </a:pathLst>
              </a:custGeom>
              <a:noFill/>
              <a:ln w="76200">
                <a:solidFill>
                  <a:srgbClr val="FF0000">
                    <a:alpha val="51000"/>
                  </a:srgbClr>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3" name="Straight Arrow Connector 22">
              <a:extLst>
                <a:ext uri="{FF2B5EF4-FFF2-40B4-BE49-F238E27FC236}">
                  <a16:creationId xmlns:a16="http://schemas.microsoft.com/office/drawing/2014/main" id="{23605769-4899-8F8C-643E-5993161E906F}"/>
                </a:ext>
              </a:extLst>
            </p:cNvPr>
            <p:cNvCxnSpPr>
              <a:cxnSpLocks/>
            </p:cNvCxnSpPr>
            <p:nvPr/>
          </p:nvCxnSpPr>
          <p:spPr>
            <a:xfrm flipH="1">
              <a:off x="6311900" y="1612900"/>
              <a:ext cx="616701" cy="1595967"/>
            </a:xfrm>
            <a:prstGeom prst="straightConnector1">
              <a:avLst/>
            </a:prstGeom>
            <a:ln w="76200">
              <a:solidFill>
                <a:srgbClr val="FF0000">
                  <a:alpha val="50000"/>
                </a:srgb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1604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D362-A196-FEF4-6B6B-03D813384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1BF54-7B35-B191-FC4E-1262C099CB33}"/>
              </a:ext>
            </a:extLst>
          </p:cNvPr>
          <p:cNvSpPr>
            <a:spLocks noGrp="1"/>
          </p:cNvSpPr>
          <p:nvPr>
            <p:ph type="title"/>
          </p:nvPr>
        </p:nvSpPr>
        <p:spPr/>
        <p:txBody>
          <a:bodyPr/>
          <a:lstStyle/>
          <a:p>
            <a:r>
              <a:rPr lang="en-US"/>
              <a:t>Cleaning up the Mess</a:t>
            </a:r>
          </a:p>
        </p:txBody>
      </p:sp>
      <p:sp>
        <p:nvSpPr>
          <p:cNvPr id="4" name="Slide Number Placeholder 3">
            <a:extLst>
              <a:ext uri="{FF2B5EF4-FFF2-40B4-BE49-F238E27FC236}">
                <a16:creationId xmlns:a16="http://schemas.microsoft.com/office/drawing/2014/main" id="{87C9C20B-6D71-EB80-5137-9A82D07694CF}"/>
              </a:ext>
            </a:extLst>
          </p:cNvPr>
          <p:cNvSpPr>
            <a:spLocks noGrp="1"/>
          </p:cNvSpPr>
          <p:nvPr>
            <p:ph type="sldNum" sz="quarter" idx="12"/>
          </p:nvPr>
        </p:nvSpPr>
        <p:spPr/>
        <p:txBody>
          <a:bodyPr/>
          <a:lstStyle/>
          <a:p>
            <a:fld id="{CBE5B309-C2CE-4D90-B104-F7E98438FC65}" type="slidenum">
              <a:rPr lang="tr-TR" smtClean="0"/>
              <a:pPr/>
              <a:t>20</a:t>
            </a:fld>
            <a:endParaRPr lang="tr-TR"/>
          </a:p>
        </p:txBody>
      </p:sp>
      <p:sp>
        <p:nvSpPr>
          <p:cNvPr id="5" name="Rectangle: Rounded Corners 4">
            <a:extLst>
              <a:ext uri="{FF2B5EF4-FFF2-40B4-BE49-F238E27FC236}">
                <a16:creationId xmlns:a16="http://schemas.microsoft.com/office/drawing/2014/main" id="{E0FB7724-6F89-2730-62DE-59A7F069AE2A}"/>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mj-lt"/>
              </a:rPr>
              <a:t>Analysis of the Evaluation of </a:t>
            </a:r>
            <a:r>
              <a:rPr lang="en-US" sz="3200" b="1" err="1">
                <a:solidFill>
                  <a:srgbClr val="D67F00"/>
                </a:solidFill>
                <a:latin typeface="+mj-lt"/>
              </a:rPr>
              <a:t>Ramulator</a:t>
            </a:r>
            <a:r>
              <a:rPr lang="en-US" sz="3200" b="1">
                <a:solidFill>
                  <a:srgbClr val="D67F00"/>
                </a:solidFill>
                <a:latin typeface="+mj-lt"/>
              </a:rPr>
              <a:t> 2.0</a:t>
            </a:r>
            <a:br>
              <a:rPr lang="en-US" sz="3200" b="1">
                <a:solidFill>
                  <a:srgbClr val="D67F00"/>
                </a:solidFill>
                <a:latin typeface="+mj-lt"/>
              </a:rPr>
            </a:br>
            <a:r>
              <a:rPr lang="en-US" sz="3200" b="1">
                <a:solidFill>
                  <a:srgbClr val="D67F00"/>
                </a:solidFill>
                <a:latin typeface="+mj-lt"/>
              </a:rPr>
              <a:t>in the Mess Paper</a:t>
            </a:r>
          </a:p>
        </p:txBody>
      </p:sp>
      <p:sp>
        <p:nvSpPr>
          <p:cNvPr id="6" name="Rectangle: Rounded Corners 5">
            <a:extLst>
              <a:ext uri="{FF2B5EF4-FFF2-40B4-BE49-F238E27FC236}">
                <a16:creationId xmlns:a16="http://schemas.microsoft.com/office/drawing/2014/main" id="{83560796-2A27-D8EB-0C1E-A0A9524C0933}"/>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mj-lt"/>
              </a:rPr>
              <a:t>Analysis of the Evaluation of DAMOV </a:t>
            </a:r>
            <a:br>
              <a:rPr lang="en-US" sz="3200" b="1">
                <a:latin typeface="+mj-lt"/>
              </a:rPr>
            </a:br>
            <a:r>
              <a:rPr lang="en-US" sz="3200" b="1">
                <a:solidFill>
                  <a:srgbClr val="D67F00"/>
                </a:solidFill>
                <a:latin typeface="+mj-lt"/>
              </a:rPr>
              <a:t>in the Mess Paper</a:t>
            </a:r>
          </a:p>
        </p:txBody>
      </p:sp>
      <p:sp>
        <p:nvSpPr>
          <p:cNvPr id="7" name="Rectangle: Rounded Corners 6">
            <a:extLst>
              <a:ext uri="{FF2B5EF4-FFF2-40B4-BE49-F238E27FC236}">
                <a16:creationId xmlns:a16="http://schemas.microsoft.com/office/drawing/2014/main" id="{E555F522-623D-C1E1-83E5-31E69F9E4AF6}"/>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err="1">
                <a:solidFill>
                  <a:srgbClr val="D67F00"/>
                </a:solidFill>
                <a:latin typeface="+mj-lt"/>
              </a:rPr>
              <a:t>Ramulator</a:t>
            </a:r>
            <a:r>
              <a:rPr lang="en-US" sz="3200" b="1">
                <a:solidFill>
                  <a:srgbClr val="D67F00"/>
                </a:solidFill>
                <a:latin typeface="+mj-lt"/>
              </a:rPr>
              <a:t> 2.0 and DAMOV Best Practices</a:t>
            </a:r>
          </a:p>
        </p:txBody>
      </p:sp>
      <p:sp>
        <p:nvSpPr>
          <p:cNvPr id="9" name="Rectangle 8">
            <a:extLst>
              <a:ext uri="{FF2B5EF4-FFF2-40B4-BE49-F238E27FC236}">
                <a16:creationId xmlns:a16="http://schemas.microsoft.com/office/drawing/2014/main" id="{B7EB1208-7895-FE10-C711-B23E9D9BE57F}"/>
              </a:ext>
            </a:extLst>
          </p:cNvPr>
          <p:cNvSpPr/>
          <p:nvPr/>
        </p:nvSpPr>
        <p:spPr>
          <a:xfrm flipV="1">
            <a:off x="147115" y="1182392"/>
            <a:ext cx="8737803" cy="1608561"/>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5A187FB-1C55-CC03-9C57-4940E7393079}"/>
              </a:ext>
            </a:extLst>
          </p:cNvPr>
          <p:cNvSpPr/>
          <p:nvPr/>
        </p:nvSpPr>
        <p:spPr>
          <a:xfrm flipV="1">
            <a:off x="147114" y="4540736"/>
            <a:ext cx="8645169" cy="1608561"/>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705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4429-6F9B-F513-29D9-B02EB2F32843}"/>
              </a:ext>
            </a:extLst>
          </p:cNvPr>
          <p:cNvSpPr>
            <a:spLocks noGrp="1"/>
          </p:cNvSpPr>
          <p:nvPr>
            <p:ph type="title"/>
          </p:nvPr>
        </p:nvSpPr>
        <p:spPr/>
        <p:txBody>
          <a:bodyPr/>
          <a:lstStyle/>
          <a:p>
            <a:r>
              <a:rPr lang="en-US"/>
              <a:t>DAMOV: A Simulation Framework for </a:t>
            </a:r>
            <a:r>
              <a:rPr lang="en-US" err="1"/>
              <a:t>PiM</a:t>
            </a:r>
          </a:p>
        </p:txBody>
      </p:sp>
      <p:sp>
        <p:nvSpPr>
          <p:cNvPr id="3" name="Content Placeholder 2">
            <a:extLst>
              <a:ext uri="{FF2B5EF4-FFF2-40B4-BE49-F238E27FC236}">
                <a16:creationId xmlns:a16="http://schemas.microsoft.com/office/drawing/2014/main" id="{3ACFF618-7B6D-8142-2FBA-263E10B41983}"/>
              </a:ext>
            </a:extLst>
          </p:cNvPr>
          <p:cNvSpPr>
            <a:spLocks noGrp="1"/>
          </p:cNvSpPr>
          <p:nvPr>
            <p:ph idx="1"/>
          </p:nvPr>
        </p:nvSpPr>
        <p:spPr/>
        <p:txBody>
          <a:bodyPr vert="horz" lIns="91440" tIns="45720" rIns="91440" bIns="45720" rtlCol="0" anchor="t">
            <a:normAutofit/>
          </a:bodyPr>
          <a:lstStyle/>
          <a:p>
            <a:r>
              <a:rPr lang="en-US"/>
              <a:t>DAMOV integrates ZSim</a:t>
            </a:r>
            <a:r>
              <a:rPr lang="en-US">
                <a:solidFill>
                  <a:srgbClr val="FF0000"/>
                </a:solidFill>
              </a:rPr>
              <a:t> </a:t>
            </a:r>
            <a:r>
              <a:rPr lang="en-US" sz="1400">
                <a:solidFill>
                  <a:schemeClr val="tx1">
                    <a:lumMod val="65000"/>
                    <a:lumOff val="35000"/>
                  </a:schemeClr>
                </a:solidFill>
              </a:rPr>
              <a:t>[</a:t>
            </a:r>
            <a:r>
              <a:rPr lang="en-US" sz="1400">
                <a:solidFill>
                  <a:schemeClr val="tx1">
                    <a:lumMod val="65000"/>
                    <a:lumOff val="35000"/>
                  </a:schemeClr>
                </a:solidFill>
                <a:ea typeface="+mj-lt"/>
                <a:cs typeface="+mj-lt"/>
              </a:rPr>
              <a:t>Sanchez</a:t>
            </a:r>
            <a:r>
              <a:rPr lang="en-US" sz="1400">
                <a:solidFill>
                  <a:schemeClr val="tx1">
                    <a:lumMod val="65000"/>
                    <a:lumOff val="35000"/>
                  </a:schemeClr>
                </a:solidFill>
              </a:rPr>
              <a:t>+, ISCA'13]</a:t>
            </a:r>
            <a:r>
              <a:rPr lang="en-US">
                <a:solidFill>
                  <a:srgbClr val="FF0000"/>
                </a:solidFill>
              </a:rPr>
              <a:t> </a:t>
            </a:r>
            <a:r>
              <a:rPr lang="en-US"/>
              <a:t>with </a:t>
            </a:r>
            <a:r>
              <a:rPr lang="en-US" err="1"/>
              <a:t>Ramulator</a:t>
            </a:r>
            <a:r>
              <a:rPr lang="en-US"/>
              <a:t> </a:t>
            </a:r>
            <a:r>
              <a:rPr lang="en-US" sz="1400">
                <a:solidFill>
                  <a:schemeClr val="tx1">
                    <a:lumMod val="65000"/>
                    <a:lumOff val="35000"/>
                  </a:schemeClr>
                </a:solidFill>
                <a:latin typeface="Aptos Display"/>
                <a:cs typeface="Arial"/>
              </a:rPr>
              <a:t>[Kim+, CAL'15]</a:t>
            </a:r>
            <a:endParaRPr lang="en-US">
              <a:solidFill>
                <a:schemeClr val="tx1">
                  <a:lumMod val="65000"/>
                  <a:lumOff val="35000"/>
                </a:schemeClr>
              </a:solidFill>
            </a:endParaRPr>
          </a:p>
          <a:p>
            <a:pPr lvl="1"/>
            <a:r>
              <a:rPr lang="en-US"/>
              <a:t>Enables evaluating </a:t>
            </a:r>
            <a:r>
              <a:rPr lang="en-US">
                <a:solidFill>
                  <a:srgbClr val="316CE3"/>
                </a:solidFill>
              </a:rPr>
              <a:t>emerging</a:t>
            </a:r>
            <a:r>
              <a:rPr lang="en-US"/>
              <a:t> </a:t>
            </a:r>
            <a:r>
              <a:rPr lang="en-US">
                <a:solidFill>
                  <a:srgbClr val="316CE3"/>
                </a:solidFill>
              </a:rPr>
              <a:t>processing-in-memory architectures</a:t>
            </a:r>
            <a:r>
              <a:rPr lang="en-US"/>
              <a:t> </a:t>
            </a:r>
            <a:br>
              <a:rPr lang="en-US"/>
            </a:br>
            <a:endParaRPr lang="en-US">
              <a:solidFill>
                <a:srgbClr val="316CE3"/>
              </a:solidFill>
            </a:endParaRPr>
          </a:p>
        </p:txBody>
      </p:sp>
      <p:sp>
        <p:nvSpPr>
          <p:cNvPr id="4" name="Slide Number Placeholder 3">
            <a:extLst>
              <a:ext uri="{FF2B5EF4-FFF2-40B4-BE49-F238E27FC236}">
                <a16:creationId xmlns:a16="http://schemas.microsoft.com/office/drawing/2014/main" id="{7FF9480A-D940-3856-CD80-64A28A1E2158}"/>
              </a:ext>
            </a:extLst>
          </p:cNvPr>
          <p:cNvSpPr>
            <a:spLocks noGrp="1"/>
          </p:cNvSpPr>
          <p:nvPr>
            <p:ph type="sldNum" sz="quarter" idx="12"/>
          </p:nvPr>
        </p:nvSpPr>
        <p:spPr/>
        <p:txBody>
          <a:bodyPr/>
          <a:lstStyle/>
          <a:p>
            <a:fld id="{CBE5B309-C2CE-4D90-B104-F7E98438FC65}" type="slidenum">
              <a:rPr lang="tr-TR" smtClean="0"/>
              <a:pPr/>
              <a:t>21</a:t>
            </a:fld>
            <a:endParaRPr lang="tr-TR"/>
          </a:p>
        </p:txBody>
      </p:sp>
      <p:pic>
        <p:nvPicPr>
          <p:cNvPr id="7" name="Picture 6">
            <a:extLst>
              <a:ext uri="{FF2B5EF4-FFF2-40B4-BE49-F238E27FC236}">
                <a16:creationId xmlns:a16="http://schemas.microsoft.com/office/drawing/2014/main" id="{F8BF6F23-A394-4DD3-8C52-5C733C7EEFD6}"/>
              </a:ext>
            </a:extLst>
          </p:cNvPr>
          <p:cNvPicPr>
            <a:picLocks noChangeAspect="1"/>
          </p:cNvPicPr>
          <p:nvPr/>
        </p:nvPicPr>
        <p:blipFill>
          <a:blip r:embed="rId3"/>
          <a:stretch>
            <a:fillRect/>
          </a:stretch>
        </p:blipFill>
        <p:spPr>
          <a:xfrm>
            <a:off x="1114746" y="2033004"/>
            <a:ext cx="7006975" cy="3512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DE742688-8186-3478-E60A-6BF8AECE8656}"/>
              </a:ext>
            </a:extLst>
          </p:cNvPr>
          <p:cNvSpPr txBox="1"/>
          <p:nvPr/>
        </p:nvSpPr>
        <p:spPr>
          <a:xfrm>
            <a:off x="1356189" y="5800352"/>
            <a:ext cx="6349429" cy="461665"/>
          </a:xfrm>
          <a:prstGeom prst="rect">
            <a:avLst/>
          </a:prstGeom>
          <a:noFill/>
        </p:spPr>
        <p:txBody>
          <a:bodyPr wrap="square" rtlCol="0">
            <a:spAutoFit/>
          </a:bodyPr>
          <a:lstStyle/>
          <a:p>
            <a:pPr algn="ctr"/>
            <a:r>
              <a:rPr lang="en-US" sz="2400">
                <a:latin typeface="+mj-lt"/>
                <a:hlinkClick r:id="rId4"/>
              </a:rPr>
              <a:t>https://github.com/CMU-SAFARI/DAMOV</a:t>
            </a:r>
            <a:endParaRPr lang="en-US" sz="2400">
              <a:latin typeface="+mj-lt"/>
            </a:endParaRPr>
          </a:p>
        </p:txBody>
      </p:sp>
    </p:spTree>
    <p:extLst>
      <p:ext uri="{BB962C8B-B14F-4D97-AF65-F5344CB8AC3E}">
        <p14:creationId xmlns:p14="http://schemas.microsoft.com/office/powerpoint/2010/main" val="1032737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00BB-133C-8D81-A690-0CC4D3C78584}"/>
              </a:ext>
            </a:extLst>
          </p:cNvPr>
          <p:cNvSpPr>
            <a:spLocks noGrp="1"/>
          </p:cNvSpPr>
          <p:nvPr>
            <p:ph type="title"/>
          </p:nvPr>
        </p:nvSpPr>
        <p:spPr/>
        <p:txBody>
          <a:bodyPr/>
          <a:lstStyle/>
          <a:p>
            <a:r>
              <a:rPr lang="en-US"/>
              <a:t>The Mess Paper's Evaluation of DAMOV</a:t>
            </a:r>
          </a:p>
        </p:txBody>
      </p:sp>
      <p:pic>
        <p:nvPicPr>
          <p:cNvPr id="6" name="Content Placeholder 5">
            <a:extLst>
              <a:ext uri="{FF2B5EF4-FFF2-40B4-BE49-F238E27FC236}">
                <a16:creationId xmlns:a16="http://schemas.microsoft.com/office/drawing/2014/main" id="{379DC4A2-D9CE-863E-241E-0313A099343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740" t="3868" r="50054" b="65146"/>
          <a:stretch>
            <a:fillRect/>
          </a:stretch>
        </p:blipFill>
        <p:spPr>
          <a:xfrm>
            <a:off x="99051" y="1940545"/>
            <a:ext cx="4349320" cy="2788072"/>
          </a:xfrm>
          <a:prstGeom prst="rect">
            <a:avLst/>
          </a:prstGeom>
        </p:spPr>
      </p:pic>
      <p:sp>
        <p:nvSpPr>
          <p:cNvPr id="4" name="Slide Number Placeholder 3">
            <a:extLst>
              <a:ext uri="{FF2B5EF4-FFF2-40B4-BE49-F238E27FC236}">
                <a16:creationId xmlns:a16="http://schemas.microsoft.com/office/drawing/2014/main" id="{5509761F-94E3-7C35-A759-00C6E1DF6FB1}"/>
              </a:ext>
            </a:extLst>
          </p:cNvPr>
          <p:cNvSpPr>
            <a:spLocks noGrp="1"/>
          </p:cNvSpPr>
          <p:nvPr>
            <p:ph type="sldNum" sz="quarter" idx="12"/>
          </p:nvPr>
        </p:nvSpPr>
        <p:spPr/>
        <p:txBody>
          <a:bodyPr/>
          <a:lstStyle/>
          <a:p>
            <a:fld id="{CBE5B309-C2CE-4D90-B104-F7E98438FC65}" type="slidenum">
              <a:rPr lang="tr-TR" smtClean="0"/>
              <a:pPr/>
              <a:t>22</a:t>
            </a:fld>
            <a:endParaRPr lang="tr-TR"/>
          </a:p>
        </p:txBody>
      </p:sp>
      <p:sp>
        <p:nvSpPr>
          <p:cNvPr id="7" name="TextBox 6">
            <a:extLst>
              <a:ext uri="{FF2B5EF4-FFF2-40B4-BE49-F238E27FC236}">
                <a16:creationId xmlns:a16="http://schemas.microsoft.com/office/drawing/2014/main" id="{FC5767FF-86D8-7809-132B-863191E4FDAD}"/>
              </a:ext>
            </a:extLst>
          </p:cNvPr>
          <p:cNvSpPr txBox="1"/>
          <p:nvPr/>
        </p:nvSpPr>
        <p:spPr>
          <a:xfrm>
            <a:off x="99051" y="1375815"/>
            <a:ext cx="4349320" cy="707886"/>
          </a:xfrm>
          <a:prstGeom prst="rect">
            <a:avLst/>
          </a:prstGeom>
          <a:noFill/>
        </p:spPr>
        <p:txBody>
          <a:bodyPr wrap="square" rtlCol="0">
            <a:spAutoFit/>
          </a:bodyPr>
          <a:lstStyle/>
          <a:p>
            <a:pPr algn="ctr"/>
            <a:r>
              <a:rPr lang="en-US" sz="2000">
                <a:latin typeface="+mj-lt"/>
              </a:rPr>
              <a:t>Mess Real System </a:t>
            </a:r>
            <a:br>
              <a:rPr lang="en-US" sz="2000">
                <a:latin typeface="+mj-lt"/>
              </a:rPr>
            </a:br>
            <a:r>
              <a:rPr lang="en-US" sz="2000">
                <a:latin typeface="+mj-lt"/>
              </a:rPr>
              <a:t>(claimed by the Mess paper)</a:t>
            </a:r>
          </a:p>
        </p:txBody>
      </p:sp>
      <p:grpSp>
        <p:nvGrpSpPr>
          <p:cNvPr id="5" name="Group 4">
            <a:extLst>
              <a:ext uri="{FF2B5EF4-FFF2-40B4-BE49-F238E27FC236}">
                <a16:creationId xmlns:a16="http://schemas.microsoft.com/office/drawing/2014/main" id="{FC6AB50E-2BE3-8252-D5F1-EBE65B6D8D9C}"/>
              </a:ext>
            </a:extLst>
          </p:cNvPr>
          <p:cNvGrpSpPr/>
          <p:nvPr/>
        </p:nvGrpSpPr>
        <p:grpSpPr>
          <a:xfrm>
            <a:off x="4777047" y="1375815"/>
            <a:ext cx="4366953" cy="3262490"/>
            <a:chOff x="4777047" y="1375815"/>
            <a:chExt cx="4366953" cy="3262490"/>
          </a:xfrm>
        </p:grpSpPr>
        <p:pic>
          <p:nvPicPr>
            <p:cNvPr id="9" name="Picture 8">
              <a:extLst>
                <a:ext uri="{FF2B5EF4-FFF2-40B4-BE49-F238E27FC236}">
                  <a16:creationId xmlns:a16="http://schemas.microsoft.com/office/drawing/2014/main" id="{4FFA9100-9DD6-0AD2-2868-3AE73B3CA3A3}"/>
                </a:ext>
              </a:extLst>
            </p:cNvPr>
            <p:cNvPicPr>
              <a:picLocks noChangeAspect="1"/>
            </p:cNvPicPr>
            <p:nvPr/>
          </p:nvPicPr>
          <p:blipFill>
            <a:blip r:embed="rId3">
              <a:extLst>
                <a:ext uri="{28A0092B-C50C-407E-A947-70E740481C1C}">
                  <a14:useLocalDpi xmlns:a14="http://schemas.microsoft.com/office/drawing/2010/main" val="0"/>
                </a:ext>
              </a:extLst>
            </a:blip>
            <a:srcRect l="50000" t="68642"/>
            <a:stretch>
              <a:fillRect/>
            </a:stretch>
          </p:blipFill>
          <p:spPr>
            <a:xfrm>
              <a:off x="4777047" y="1850233"/>
              <a:ext cx="4366953" cy="2788072"/>
            </a:xfrm>
            <a:prstGeom prst="rect">
              <a:avLst/>
            </a:prstGeom>
          </p:spPr>
        </p:pic>
        <p:sp>
          <p:nvSpPr>
            <p:cNvPr id="10" name="TextBox 9">
              <a:extLst>
                <a:ext uri="{FF2B5EF4-FFF2-40B4-BE49-F238E27FC236}">
                  <a16:creationId xmlns:a16="http://schemas.microsoft.com/office/drawing/2014/main" id="{8E5C023F-FF2C-561C-29A8-E25A181950FC}"/>
                </a:ext>
              </a:extLst>
            </p:cNvPr>
            <p:cNvSpPr txBox="1"/>
            <p:nvPr/>
          </p:nvSpPr>
          <p:spPr>
            <a:xfrm>
              <a:off x="4777047" y="1375815"/>
              <a:ext cx="4349320" cy="707886"/>
            </a:xfrm>
            <a:prstGeom prst="rect">
              <a:avLst/>
            </a:prstGeom>
            <a:noFill/>
          </p:spPr>
          <p:txBody>
            <a:bodyPr wrap="square" rtlCol="0">
              <a:spAutoFit/>
            </a:bodyPr>
            <a:lstStyle/>
            <a:p>
              <a:pPr algn="ctr"/>
              <a:r>
                <a:rPr lang="en-US" sz="2000">
                  <a:latin typeface="+mj-lt"/>
                </a:rPr>
                <a:t>Mess DAMOV</a:t>
              </a:r>
              <a:br>
                <a:rPr lang="en-US" sz="2000">
                  <a:latin typeface="+mj-lt"/>
                </a:rPr>
              </a:br>
              <a:r>
                <a:rPr lang="en-US" sz="2000">
                  <a:latin typeface="+mj-lt"/>
                </a:rPr>
                <a:t>(claimed by the Mess paper)</a:t>
              </a:r>
            </a:p>
          </p:txBody>
        </p:sp>
      </p:grpSp>
      <p:sp>
        <p:nvSpPr>
          <p:cNvPr id="11" name="Content Placeholder 2">
            <a:extLst>
              <a:ext uri="{FF2B5EF4-FFF2-40B4-BE49-F238E27FC236}">
                <a16:creationId xmlns:a16="http://schemas.microsoft.com/office/drawing/2014/main" id="{6C2B51D9-472E-3877-CDEE-CC1F0E53EE6B}"/>
              </a:ext>
            </a:extLst>
          </p:cNvPr>
          <p:cNvSpPr txBox="1">
            <a:spLocks/>
          </p:cNvSpPr>
          <p:nvPr/>
        </p:nvSpPr>
        <p:spPr>
          <a:xfrm>
            <a:off x="0" y="5297454"/>
            <a:ext cx="9144000" cy="830996"/>
          </a:xfrm>
          <a:prstGeom prst="rect">
            <a:avLst/>
          </a:prstGeom>
          <a:solidFill>
            <a:srgbClr val="FFEDE7"/>
          </a:solidFill>
          <a:ln w="28575">
            <a:solidFill>
              <a:srgbClr val="F23F00"/>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a:solidFill>
                  <a:srgbClr val="F23F00"/>
                </a:solidFill>
                <a:latin typeface="+mj-lt"/>
              </a:rPr>
              <a:t>DAMOV results in the Mess paper </a:t>
            </a:r>
            <a:r>
              <a:rPr lang="en-GB" sz="2400" b="1">
                <a:solidFill>
                  <a:srgbClr val="F23F00"/>
                </a:solidFill>
                <a:latin typeface="+mj-lt"/>
              </a:rPr>
              <a:t>use incorrect simulation statistics </a:t>
            </a:r>
            <a:br>
              <a:rPr lang="en-GB" sz="2400" b="1">
                <a:solidFill>
                  <a:srgbClr val="F23F00"/>
                </a:solidFill>
                <a:latin typeface="+mj-lt"/>
              </a:rPr>
            </a:br>
            <a:r>
              <a:rPr lang="en-GB" sz="2400">
                <a:solidFill>
                  <a:srgbClr val="F23F00"/>
                </a:solidFill>
                <a:latin typeface="+mj-lt"/>
              </a:rPr>
              <a:t>that are unrelated to the simulated DRAM performance</a:t>
            </a:r>
            <a:endParaRPr lang="en-US" sz="2400">
              <a:solidFill>
                <a:srgbClr val="F23F00"/>
              </a:solidFill>
              <a:latin typeface="+mj-lt"/>
            </a:endParaRPr>
          </a:p>
        </p:txBody>
      </p:sp>
      <p:grpSp>
        <p:nvGrpSpPr>
          <p:cNvPr id="3" name="Group 2">
            <a:extLst>
              <a:ext uri="{FF2B5EF4-FFF2-40B4-BE49-F238E27FC236}">
                <a16:creationId xmlns:a16="http://schemas.microsoft.com/office/drawing/2014/main" id="{86666E59-AC77-FB11-841D-D83D11CFA91A}"/>
              </a:ext>
            </a:extLst>
          </p:cNvPr>
          <p:cNvGrpSpPr/>
          <p:nvPr/>
        </p:nvGrpSpPr>
        <p:grpSpPr>
          <a:xfrm>
            <a:off x="5486400" y="3244269"/>
            <a:ext cx="3153986" cy="400110"/>
            <a:chOff x="5624148" y="2872537"/>
            <a:chExt cx="3153986" cy="400110"/>
          </a:xfrm>
        </p:grpSpPr>
        <p:cxnSp>
          <p:nvCxnSpPr>
            <p:cNvPr id="8" name="Straight Arrow Connector 7">
              <a:extLst>
                <a:ext uri="{FF2B5EF4-FFF2-40B4-BE49-F238E27FC236}">
                  <a16:creationId xmlns:a16="http://schemas.microsoft.com/office/drawing/2014/main" id="{6631E7A6-6AD2-6638-149E-E9F56846EDE4}"/>
                </a:ext>
              </a:extLst>
            </p:cNvPr>
            <p:cNvCxnSpPr>
              <a:cxnSpLocks/>
            </p:cNvCxnSpPr>
            <p:nvPr/>
          </p:nvCxnSpPr>
          <p:spPr>
            <a:xfrm>
              <a:off x="5624148" y="3246120"/>
              <a:ext cx="3131433" cy="0"/>
            </a:xfrm>
            <a:prstGeom prst="straightConnector1">
              <a:avLst/>
            </a:prstGeom>
            <a:ln w="28575">
              <a:solidFill>
                <a:srgbClr val="FF5F25"/>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70BA47F-B92D-8685-3107-98A59DF50C04}"/>
                </a:ext>
              </a:extLst>
            </p:cNvPr>
            <p:cNvSpPr txBox="1"/>
            <p:nvPr/>
          </p:nvSpPr>
          <p:spPr>
            <a:xfrm>
              <a:off x="5646701" y="2872537"/>
              <a:ext cx="3131433" cy="400110"/>
            </a:xfrm>
            <a:prstGeom prst="rect">
              <a:avLst/>
            </a:prstGeom>
            <a:noFill/>
          </p:spPr>
          <p:txBody>
            <a:bodyPr wrap="square" rtlCol="0">
              <a:spAutoFit/>
            </a:bodyPr>
            <a:lstStyle/>
            <a:p>
              <a:pPr algn="ctr"/>
              <a:r>
                <a:rPr lang="en-US" sz="2000" i="1">
                  <a:solidFill>
                    <a:srgbClr val="F23F00"/>
                  </a:solidFill>
                  <a:latin typeface="+mj-lt"/>
                </a:rPr>
                <a:t>constant latency</a:t>
              </a:r>
            </a:p>
          </p:txBody>
        </p:sp>
      </p:grpSp>
    </p:spTree>
    <p:extLst>
      <p:ext uri="{BB962C8B-B14F-4D97-AF65-F5344CB8AC3E}">
        <p14:creationId xmlns:p14="http://schemas.microsoft.com/office/powerpoint/2010/main" val="344456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54B34-264D-B651-3369-DBA51F67B9C5}"/>
              </a:ext>
            </a:extLst>
          </p:cNvPr>
          <p:cNvSpPr>
            <a:spLocks noGrp="1"/>
          </p:cNvSpPr>
          <p:nvPr>
            <p:ph type="title"/>
          </p:nvPr>
        </p:nvSpPr>
        <p:spPr/>
        <p:txBody>
          <a:bodyPr/>
          <a:lstStyle/>
          <a:p>
            <a:r>
              <a:rPr lang="en-GB" sz="3200"/>
              <a:t>Analysis of the Evaluation of DAMOV</a:t>
            </a:r>
            <a:br>
              <a:rPr lang="en-GB" sz="3200"/>
            </a:br>
            <a:r>
              <a:rPr lang="en-GB" sz="3200"/>
              <a:t>in the Mess Paper</a:t>
            </a:r>
            <a:endParaRPr lang="en-US" sz="3200"/>
          </a:p>
        </p:txBody>
      </p:sp>
      <p:sp>
        <p:nvSpPr>
          <p:cNvPr id="3" name="Content Placeholder 2">
            <a:extLst>
              <a:ext uri="{FF2B5EF4-FFF2-40B4-BE49-F238E27FC236}">
                <a16:creationId xmlns:a16="http://schemas.microsoft.com/office/drawing/2014/main" id="{19E9956A-3742-CDF3-69F1-DE4B193ECD4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8A5DE93-26F5-D06A-C390-82013C2BB994}"/>
              </a:ext>
            </a:extLst>
          </p:cNvPr>
          <p:cNvSpPr>
            <a:spLocks noGrp="1"/>
          </p:cNvSpPr>
          <p:nvPr>
            <p:ph type="sldNum" sz="quarter" idx="12"/>
          </p:nvPr>
        </p:nvSpPr>
        <p:spPr/>
        <p:txBody>
          <a:bodyPr/>
          <a:lstStyle/>
          <a:p>
            <a:fld id="{CBE5B309-C2CE-4D90-B104-F7E98438FC65}" type="slidenum">
              <a:rPr lang="tr-TR" smtClean="0"/>
              <a:pPr/>
              <a:t>23</a:t>
            </a:fld>
            <a:endParaRPr lang="tr-TR"/>
          </a:p>
        </p:txBody>
      </p:sp>
      <p:sp>
        <p:nvSpPr>
          <p:cNvPr id="7" name="Rectangle: Rounded Corners 6">
            <a:extLst>
              <a:ext uri="{FF2B5EF4-FFF2-40B4-BE49-F238E27FC236}">
                <a16:creationId xmlns:a16="http://schemas.microsoft.com/office/drawing/2014/main" id="{FAFC5AE4-833A-FA38-E15F-D5EB19CAA082}"/>
              </a:ext>
            </a:extLst>
          </p:cNvPr>
          <p:cNvSpPr/>
          <p:nvPr/>
        </p:nvSpPr>
        <p:spPr>
          <a:xfrm>
            <a:off x="99051" y="5039191"/>
            <a:ext cx="8894618" cy="1135434"/>
          </a:xfrm>
          <a:prstGeom prst="roundRect">
            <a:avLst>
              <a:gd name="adj" fmla="val 0"/>
            </a:avLst>
          </a:prstGeom>
          <a:solidFill>
            <a:srgbClr val="E28700"/>
          </a:solidFill>
          <a:ln w="19050">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mj-lt"/>
              </a:rPr>
              <a:t>We independently evaluate DAMOV by executing the Mess benchmark</a:t>
            </a:r>
            <a:br>
              <a:rPr lang="en-US" sz="2000" b="1">
                <a:solidFill>
                  <a:schemeClr val="bg1"/>
                </a:solidFill>
                <a:latin typeface="+mj-lt"/>
              </a:rPr>
            </a:br>
            <a:r>
              <a:rPr lang="en-US" sz="2000" b="1">
                <a:solidFill>
                  <a:schemeClr val="bg1"/>
                </a:solidFill>
                <a:latin typeface="+mj-lt"/>
              </a:rPr>
              <a:t>and adding missing pieces to the artifact in a best-guess manner </a:t>
            </a:r>
            <a:br>
              <a:rPr lang="en-US" sz="2000" b="1">
                <a:solidFill>
                  <a:schemeClr val="bg1"/>
                </a:solidFill>
                <a:latin typeface="+mj-lt"/>
              </a:rPr>
            </a:br>
            <a:r>
              <a:rPr lang="en-US" sz="2000" b="1">
                <a:solidFill>
                  <a:schemeClr val="bg1"/>
                </a:solidFill>
                <a:latin typeface="+mj-lt"/>
              </a:rPr>
              <a:t>and measure the </a:t>
            </a:r>
            <a:r>
              <a:rPr lang="en-GB" sz="2000" b="1">
                <a:solidFill>
                  <a:schemeClr val="bg1"/>
                </a:solidFill>
                <a:latin typeface="+mj-lt"/>
              </a:rPr>
              <a:t>used bandwidth statistics reported by Ramulator</a:t>
            </a:r>
          </a:p>
        </p:txBody>
      </p:sp>
      <p:grpSp>
        <p:nvGrpSpPr>
          <p:cNvPr id="14" name="Group 13">
            <a:extLst>
              <a:ext uri="{FF2B5EF4-FFF2-40B4-BE49-F238E27FC236}">
                <a16:creationId xmlns:a16="http://schemas.microsoft.com/office/drawing/2014/main" id="{B31BEB5D-3D0D-0922-6EB6-DA7EB827A2B9}"/>
              </a:ext>
            </a:extLst>
          </p:cNvPr>
          <p:cNvGrpSpPr/>
          <p:nvPr/>
        </p:nvGrpSpPr>
        <p:grpSpPr>
          <a:xfrm>
            <a:off x="99051" y="1093190"/>
            <a:ext cx="8894618" cy="1801718"/>
            <a:chOff x="99051" y="1093190"/>
            <a:chExt cx="8894618" cy="1801718"/>
          </a:xfrm>
        </p:grpSpPr>
        <p:sp>
          <p:nvSpPr>
            <p:cNvPr id="5" name="Rectangle: Rounded Corners 4">
              <a:extLst>
                <a:ext uri="{FF2B5EF4-FFF2-40B4-BE49-F238E27FC236}">
                  <a16:creationId xmlns:a16="http://schemas.microsoft.com/office/drawing/2014/main" id="{645540D1-5369-B6B5-6998-FF14F9269CC7}"/>
                </a:ext>
              </a:extLst>
            </p:cNvPr>
            <p:cNvSpPr/>
            <p:nvPr/>
          </p:nvSpPr>
          <p:spPr>
            <a:xfrm>
              <a:off x="99051" y="1093190"/>
              <a:ext cx="8894618" cy="1801718"/>
            </a:xfrm>
            <a:prstGeom prst="roundRect">
              <a:avLst>
                <a:gd name="adj" fmla="val 7122"/>
              </a:avLst>
            </a:prstGeom>
            <a:solidFill>
              <a:srgbClr val="FFEBCD"/>
            </a:solidFill>
            <a:ln w="57150">
              <a:solidFill>
                <a:srgbClr val="FFAE3C">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80000"/>
                </a:lnSpc>
              </a:pPr>
              <a:endParaRPr lang="en-US"/>
            </a:p>
          </p:txBody>
        </p:sp>
        <p:sp>
          <p:nvSpPr>
            <p:cNvPr id="9" name="TextBox 8">
              <a:extLst>
                <a:ext uri="{FF2B5EF4-FFF2-40B4-BE49-F238E27FC236}">
                  <a16:creationId xmlns:a16="http://schemas.microsoft.com/office/drawing/2014/main" id="{FEF71E00-1125-1A8B-7907-C9EFB6E759D3}"/>
                </a:ext>
              </a:extLst>
            </p:cNvPr>
            <p:cNvSpPr txBox="1"/>
            <p:nvPr/>
          </p:nvSpPr>
          <p:spPr>
            <a:xfrm>
              <a:off x="754833" y="1182005"/>
              <a:ext cx="8238836" cy="1618905"/>
            </a:xfrm>
            <a:prstGeom prst="rect">
              <a:avLst/>
            </a:prstGeom>
            <a:noFill/>
          </p:spPr>
          <p:txBody>
            <a:bodyPr wrap="square">
              <a:spAutoFit/>
            </a:bodyPr>
            <a:lstStyle/>
            <a:p>
              <a:pPr>
                <a:lnSpc>
                  <a:spcPct val="80000"/>
                </a:lnSpc>
              </a:pPr>
              <a:r>
                <a:rPr lang="en-US" sz="2400" b="1">
                  <a:solidFill>
                    <a:srgbClr val="E28700"/>
                  </a:solidFill>
                  <a:latin typeface="+mj-lt"/>
                </a:rPr>
                <a:t>Reproducibility Issues:</a:t>
              </a:r>
            </a:p>
            <a:p>
              <a:r>
                <a:rPr lang="en-US" sz="2000">
                  <a:solidFill>
                    <a:srgbClr val="E28700"/>
                  </a:solidFill>
                  <a:latin typeface="+mj-lt"/>
                </a:rPr>
                <a:t>We could not reproduce any DAMOV results in the Mess paper, using the Mess paper's artifact due to:</a:t>
              </a:r>
            </a:p>
            <a:p>
              <a:pPr marL="457200" indent="-457200">
                <a:buFont typeface="+mj-lt"/>
                <a:buAutoNum type="alphaLcParenR"/>
              </a:pPr>
              <a:r>
                <a:rPr lang="en-US" sz="2000">
                  <a:solidFill>
                    <a:srgbClr val="E28700"/>
                  </a:solidFill>
                  <a:latin typeface="+mj-lt"/>
                </a:rPr>
                <a:t>​</a:t>
              </a:r>
              <a:r>
                <a:rPr lang="en-US" sz="2000" b="1">
                  <a:solidFill>
                    <a:srgbClr val="E28700"/>
                  </a:solidFill>
                  <a:latin typeface="+mj-lt"/>
                </a:rPr>
                <a:t>Missing source code and configurations </a:t>
              </a:r>
              <a:r>
                <a:rPr lang="en-US" sz="2000">
                  <a:solidFill>
                    <a:srgbClr val="E28700"/>
                  </a:solidFill>
                  <a:latin typeface="+mj-lt"/>
                </a:rPr>
                <a:t>of Ramulator</a:t>
              </a:r>
            </a:p>
            <a:p>
              <a:pPr marL="457200" indent="-457200">
                <a:buFont typeface="+mj-lt"/>
                <a:buAutoNum type="alphaLcParenR"/>
              </a:pPr>
              <a:r>
                <a:rPr lang="en-US" sz="2000">
                  <a:solidFill>
                    <a:srgbClr val="E28700"/>
                  </a:solidFill>
                  <a:latin typeface="+mj-lt"/>
                </a:rPr>
                <a:t>Rigid </a:t>
              </a:r>
              <a:r>
                <a:rPr lang="en-US" sz="2000" b="1">
                  <a:solidFill>
                    <a:srgbClr val="E28700"/>
                  </a:solidFill>
                  <a:latin typeface="+mj-lt"/>
                </a:rPr>
                <a:t>assertion failure</a:t>
              </a:r>
              <a:r>
                <a:rPr lang="en-US" sz="2000">
                  <a:solidFill>
                    <a:srgbClr val="E28700"/>
                  </a:solidFill>
                  <a:latin typeface="+mj-lt"/>
                </a:rPr>
                <a:t> according to the </a:t>
              </a:r>
              <a:r>
                <a:rPr lang="en-US" sz="2000" err="1">
                  <a:solidFill>
                    <a:srgbClr val="E28700"/>
                  </a:solidFill>
                  <a:latin typeface="+mj-lt"/>
                </a:rPr>
                <a:t>ZSim</a:t>
              </a:r>
              <a:r>
                <a:rPr lang="en-US" sz="2000">
                  <a:solidFill>
                    <a:srgbClr val="E28700"/>
                  </a:solidFill>
                  <a:latin typeface="+mj-lt"/>
                </a:rPr>
                <a:t> configurations</a:t>
              </a:r>
              <a:endParaRPr lang="en-US" sz="2000"/>
            </a:p>
          </p:txBody>
        </p:sp>
        <p:sp>
          <p:nvSpPr>
            <p:cNvPr id="12" name="TextBox 11">
              <a:extLst>
                <a:ext uri="{FF2B5EF4-FFF2-40B4-BE49-F238E27FC236}">
                  <a16:creationId xmlns:a16="http://schemas.microsoft.com/office/drawing/2014/main" id="{7EF00839-07A1-06FA-9EDD-D01FDAD4EE54}"/>
                </a:ext>
              </a:extLst>
            </p:cNvPr>
            <p:cNvSpPr txBox="1"/>
            <p:nvPr/>
          </p:nvSpPr>
          <p:spPr>
            <a:xfrm>
              <a:off x="180034" y="1511082"/>
              <a:ext cx="574799" cy="923330"/>
            </a:xfrm>
            <a:prstGeom prst="rect">
              <a:avLst/>
            </a:prstGeom>
            <a:noFill/>
            <a:ln w="28575">
              <a:noFill/>
            </a:ln>
          </p:spPr>
          <p:txBody>
            <a:bodyPr wrap="square" rtlCol="0">
              <a:spAutoFit/>
            </a:bodyPr>
            <a:lstStyle/>
            <a:p>
              <a:pPr algn="ctr"/>
              <a:r>
                <a:rPr lang="en-US" sz="5400">
                  <a:solidFill>
                    <a:srgbClr val="FFAE3C">
                      <a:alpha val="80000"/>
                    </a:srgbClr>
                  </a:solidFill>
                  <a:latin typeface="+mj-lt"/>
                </a:rPr>
                <a:t>1</a:t>
              </a:r>
            </a:p>
          </p:txBody>
        </p:sp>
      </p:grpSp>
      <p:grpSp>
        <p:nvGrpSpPr>
          <p:cNvPr id="15" name="Group 14">
            <a:extLst>
              <a:ext uri="{FF2B5EF4-FFF2-40B4-BE49-F238E27FC236}">
                <a16:creationId xmlns:a16="http://schemas.microsoft.com/office/drawing/2014/main" id="{0E94C2F6-C962-9FB4-1E0A-7F4165766D87}"/>
              </a:ext>
            </a:extLst>
          </p:cNvPr>
          <p:cNvGrpSpPr/>
          <p:nvPr/>
        </p:nvGrpSpPr>
        <p:grpSpPr>
          <a:xfrm>
            <a:off x="99051" y="3089826"/>
            <a:ext cx="8894618" cy="1754446"/>
            <a:chOff x="99051" y="3089826"/>
            <a:chExt cx="8894618" cy="1754446"/>
          </a:xfrm>
        </p:grpSpPr>
        <p:sp>
          <p:nvSpPr>
            <p:cNvPr id="6" name="Rectangle: Rounded Corners 5">
              <a:extLst>
                <a:ext uri="{FF2B5EF4-FFF2-40B4-BE49-F238E27FC236}">
                  <a16:creationId xmlns:a16="http://schemas.microsoft.com/office/drawing/2014/main" id="{2C99FF9B-7FE5-BCC9-0F7F-9CF5E183B6E1}"/>
                </a:ext>
              </a:extLst>
            </p:cNvPr>
            <p:cNvSpPr/>
            <p:nvPr/>
          </p:nvSpPr>
          <p:spPr>
            <a:xfrm>
              <a:off x="99051" y="3089826"/>
              <a:ext cx="8894618" cy="1754446"/>
            </a:xfrm>
            <a:prstGeom prst="roundRect">
              <a:avLst>
                <a:gd name="adj" fmla="val 7122"/>
              </a:avLst>
            </a:prstGeom>
            <a:solidFill>
              <a:srgbClr val="FFEDE7"/>
            </a:solidFill>
            <a:ln w="57150">
              <a:solidFill>
                <a:srgbClr val="FF5F2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80000"/>
                </a:lnSpc>
              </a:pPr>
              <a:endParaRPr lang="en-US" sz="2000">
                <a:solidFill>
                  <a:srgbClr val="F23F00"/>
                </a:solidFill>
                <a:latin typeface="+mj-lt"/>
              </a:endParaRPr>
            </a:p>
          </p:txBody>
        </p:sp>
        <p:sp>
          <p:nvSpPr>
            <p:cNvPr id="11" name="TextBox 10">
              <a:extLst>
                <a:ext uri="{FF2B5EF4-FFF2-40B4-BE49-F238E27FC236}">
                  <a16:creationId xmlns:a16="http://schemas.microsoft.com/office/drawing/2014/main" id="{6100AD42-8DCE-73BB-69B7-00DC00F69A53}"/>
                </a:ext>
              </a:extLst>
            </p:cNvPr>
            <p:cNvSpPr txBox="1"/>
            <p:nvPr/>
          </p:nvSpPr>
          <p:spPr>
            <a:xfrm>
              <a:off x="754833" y="3174972"/>
              <a:ext cx="8238836" cy="1618905"/>
            </a:xfrm>
            <a:prstGeom prst="rect">
              <a:avLst/>
            </a:prstGeom>
            <a:noFill/>
          </p:spPr>
          <p:txBody>
            <a:bodyPr wrap="square">
              <a:spAutoFit/>
            </a:bodyPr>
            <a:lstStyle/>
            <a:p>
              <a:pPr>
                <a:lnSpc>
                  <a:spcPct val="80000"/>
                </a:lnSpc>
              </a:pPr>
              <a:r>
                <a:rPr lang="en-US" sz="2400" b="1">
                  <a:solidFill>
                    <a:srgbClr val="F23F00"/>
                  </a:solidFill>
                  <a:latin typeface="+mj-lt"/>
                </a:rPr>
                <a:t>Technical Simulator Usage Errors:</a:t>
              </a:r>
            </a:p>
            <a:p>
              <a:pPr marL="457200" indent="-457200">
                <a:buFont typeface="+mj-lt"/>
                <a:buAutoNum type="alphaLcParenR"/>
              </a:pPr>
              <a:r>
                <a:rPr lang="en-US" sz="2000">
                  <a:solidFill>
                    <a:srgbClr val="F23F00"/>
                  </a:solidFill>
                  <a:latin typeface="+mj-lt"/>
                </a:rPr>
                <a:t>Uses two </a:t>
              </a:r>
              <a:r>
                <a:rPr lang="en-US" sz="2000" err="1">
                  <a:solidFill>
                    <a:srgbClr val="F23F00"/>
                  </a:solidFill>
                  <a:latin typeface="+mj-lt"/>
                </a:rPr>
                <a:t>ZSim</a:t>
              </a:r>
              <a:r>
                <a:rPr lang="en-US" sz="2000">
                  <a:solidFill>
                    <a:srgbClr val="F23F00"/>
                  </a:solidFill>
                  <a:latin typeface="+mj-lt"/>
                </a:rPr>
                <a:t> statistics for DRAM latency: </a:t>
              </a:r>
              <a:r>
                <a:rPr lang="en-US" sz="2000" b="1" err="1">
                  <a:solidFill>
                    <a:srgbClr val="F23F00"/>
                  </a:solidFill>
                  <a:latin typeface="+mj-lt"/>
                </a:rPr>
                <a:t>latGETnl</a:t>
              </a:r>
              <a:r>
                <a:rPr lang="en-US" sz="2000">
                  <a:solidFill>
                    <a:srgbClr val="F23F00"/>
                  </a:solidFill>
                  <a:latin typeface="+mj-lt"/>
                </a:rPr>
                <a:t> and </a:t>
              </a:r>
              <a:r>
                <a:rPr lang="en-US" sz="2000" b="1" err="1">
                  <a:solidFill>
                    <a:srgbClr val="F23F00"/>
                  </a:solidFill>
                  <a:latin typeface="+mj-lt"/>
                </a:rPr>
                <a:t>mGETs</a:t>
              </a:r>
              <a:r>
                <a:rPr lang="en-US" sz="2000">
                  <a:solidFill>
                    <a:srgbClr val="F23F00"/>
                  </a:solidFill>
                  <a:latin typeface="+mj-lt"/>
                </a:rPr>
                <a:t> </a:t>
              </a:r>
              <a:br>
                <a:rPr lang="en-US" sz="2000">
                  <a:solidFill>
                    <a:srgbClr val="F23F00"/>
                  </a:solidFill>
                  <a:latin typeface="+mj-lt"/>
                </a:rPr>
              </a:br>
              <a:r>
                <a:rPr lang="en-US" sz="2000">
                  <a:solidFill>
                    <a:srgbClr val="F23F00"/>
                  </a:solidFill>
                  <a:latin typeface="+mj-lt"/>
                </a:rPr>
                <a:t>from the L1-D cache</a:t>
              </a:r>
            </a:p>
            <a:p>
              <a:pPr marL="457200" indent="-457200">
                <a:buFont typeface="+mj-lt"/>
                <a:buAutoNum type="alphaLcParenR"/>
              </a:pPr>
              <a:r>
                <a:rPr lang="en-US" sz="2000">
                  <a:solidFill>
                    <a:srgbClr val="F23F00"/>
                  </a:solidFill>
                  <a:latin typeface="+mj-lt"/>
                </a:rPr>
                <a:t>These statistics are </a:t>
              </a:r>
              <a:r>
                <a:rPr lang="en-US" sz="2000" b="1">
                  <a:solidFill>
                    <a:srgbClr val="F23F00"/>
                  </a:solidFill>
                  <a:latin typeface="+mj-lt"/>
                </a:rPr>
                <a:t>not Ramulator statistics</a:t>
              </a:r>
              <a:r>
                <a:rPr lang="en-US" sz="2000">
                  <a:solidFill>
                    <a:srgbClr val="F23F00"/>
                  </a:solidFill>
                  <a:latin typeface="+mj-lt"/>
                </a:rPr>
                <a:t> and </a:t>
              </a:r>
              <a:br>
                <a:rPr lang="en-US" sz="2000">
                  <a:solidFill>
                    <a:srgbClr val="F23F00"/>
                  </a:solidFill>
                  <a:latin typeface="+mj-lt"/>
                </a:rPr>
              </a:br>
              <a:r>
                <a:rPr lang="en-US" sz="2000" b="1">
                  <a:solidFill>
                    <a:srgbClr val="F23F00"/>
                  </a:solidFill>
                  <a:latin typeface="+mj-lt"/>
                </a:rPr>
                <a:t>does not reflect simulated DRAM latency</a:t>
              </a:r>
              <a:r>
                <a:rPr lang="en-US" sz="2000">
                  <a:solidFill>
                    <a:srgbClr val="F23F00"/>
                  </a:solidFill>
                  <a:latin typeface="+mj-lt"/>
                </a:rPr>
                <a:t> from Ramulator </a:t>
              </a:r>
            </a:p>
          </p:txBody>
        </p:sp>
        <p:sp>
          <p:nvSpPr>
            <p:cNvPr id="13" name="TextBox 12">
              <a:extLst>
                <a:ext uri="{FF2B5EF4-FFF2-40B4-BE49-F238E27FC236}">
                  <a16:creationId xmlns:a16="http://schemas.microsoft.com/office/drawing/2014/main" id="{8C60D3F6-C90D-37EF-1A41-306E025D458B}"/>
                </a:ext>
              </a:extLst>
            </p:cNvPr>
            <p:cNvSpPr txBox="1"/>
            <p:nvPr/>
          </p:nvSpPr>
          <p:spPr>
            <a:xfrm>
              <a:off x="180033" y="3506342"/>
              <a:ext cx="574799" cy="923330"/>
            </a:xfrm>
            <a:prstGeom prst="rect">
              <a:avLst/>
            </a:prstGeom>
            <a:noFill/>
            <a:ln w="28575">
              <a:noFill/>
            </a:ln>
          </p:spPr>
          <p:txBody>
            <a:bodyPr wrap="square" rtlCol="0">
              <a:spAutoFit/>
            </a:bodyPr>
            <a:lstStyle/>
            <a:p>
              <a:pPr algn="ctr"/>
              <a:r>
                <a:rPr lang="en-US" sz="5400">
                  <a:solidFill>
                    <a:srgbClr val="FF5F25">
                      <a:alpha val="80000"/>
                    </a:srgbClr>
                  </a:solidFill>
                  <a:latin typeface="+mj-lt"/>
                </a:rPr>
                <a:t>2</a:t>
              </a:r>
            </a:p>
          </p:txBody>
        </p:sp>
      </p:grpSp>
    </p:spTree>
    <p:extLst>
      <p:ext uri="{BB962C8B-B14F-4D97-AF65-F5344CB8AC3E}">
        <p14:creationId xmlns:p14="http://schemas.microsoft.com/office/powerpoint/2010/main" val="65339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A54B-E5F8-A030-5B0D-FA9F0BE61034}"/>
              </a:ext>
            </a:extLst>
          </p:cNvPr>
          <p:cNvSpPr>
            <a:spLocks noGrp="1"/>
          </p:cNvSpPr>
          <p:nvPr>
            <p:ph type="title"/>
          </p:nvPr>
        </p:nvSpPr>
        <p:spPr/>
        <p:txBody>
          <a:bodyPr/>
          <a:lstStyle/>
          <a:p>
            <a:r>
              <a:rPr lang="en-US"/>
              <a:t>Our Key DAMOV Results</a:t>
            </a:r>
          </a:p>
        </p:txBody>
      </p:sp>
      <p:sp>
        <p:nvSpPr>
          <p:cNvPr id="4" name="Slide Number Placeholder 3">
            <a:extLst>
              <a:ext uri="{FF2B5EF4-FFF2-40B4-BE49-F238E27FC236}">
                <a16:creationId xmlns:a16="http://schemas.microsoft.com/office/drawing/2014/main" id="{0DE2A2D1-9069-71B7-A411-5C57061DE82A}"/>
              </a:ext>
            </a:extLst>
          </p:cNvPr>
          <p:cNvSpPr>
            <a:spLocks noGrp="1"/>
          </p:cNvSpPr>
          <p:nvPr>
            <p:ph type="sldNum" sz="quarter" idx="12"/>
          </p:nvPr>
        </p:nvSpPr>
        <p:spPr/>
        <p:txBody>
          <a:bodyPr/>
          <a:lstStyle/>
          <a:p>
            <a:fld id="{CBE5B309-C2CE-4D90-B104-F7E98438FC65}" type="slidenum">
              <a:rPr lang="tr-TR" smtClean="0"/>
              <a:pPr/>
              <a:t>24</a:t>
            </a:fld>
            <a:endParaRPr lang="tr-TR"/>
          </a:p>
        </p:txBody>
      </p:sp>
      <p:sp>
        <p:nvSpPr>
          <p:cNvPr id="10" name="Content Placeholder 9">
            <a:extLst>
              <a:ext uri="{FF2B5EF4-FFF2-40B4-BE49-F238E27FC236}">
                <a16:creationId xmlns:a16="http://schemas.microsoft.com/office/drawing/2014/main" id="{3E17223C-B126-DB96-FE59-360753E58237}"/>
              </a:ext>
            </a:extLst>
          </p:cNvPr>
          <p:cNvSpPr>
            <a:spLocks noGrp="1"/>
          </p:cNvSpPr>
          <p:nvPr>
            <p:ph idx="1"/>
          </p:nvPr>
        </p:nvSpPr>
        <p:spPr/>
        <p:txBody>
          <a:bodyPr>
            <a:normAutofit/>
          </a:bodyPr>
          <a:lstStyle/>
          <a:p>
            <a:endParaRPr lang="en-US" sz="2400"/>
          </a:p>
        </p:txBody>
      </p:sp>
      <p:pic>
        <p:nvPicPr>
          <p:cNvPr id="12" name="Picture 11">
            <a:extLst>
              <a:ext uri="{FF2B5EF4-FFF2-40B4-BE49-F238E27FC236}">
                <a16:creationId xmlns:a16="http://schemas.microsoft.com/office/drawing/2014/main" id="{B91FA2AF-AEA2-8BE0-47D3-CA4617592C66}"/>
              </a:ext>
            </a:extLst>
          </p:cNvPr>
          <p:cNvPicPr>
            <a:picLocks noChangeAspect="1"/>
          </p:cNvPicPr>
          <p:nvPr/>
        </p:nvPicPr>
        <p:blipFill>
          <a:blip r:embed="rId3">
            <a:extLst>
              <a:ext uri="{28A0092B-C50C-407E-A947-70E740481C1C}">
                <a14:useLocalDpi xmlns:a14="http://schemas.microsoft.com/office/drawing/2010/main" val="0"/>
              </a:ext>
            </a:extLst>
          </a:blip>
          <a:srcRect t="7084"/>
          <a:stretch>
            <a:fillRect/>
          </a:stretch>
        </p:blipFill>
        <p:spPr>
          <a:xfrm>
            <a:off x="940970" y="1182518"/>
            <a:ext cx="7503626" cy="4183264"/>
          </a:xfrm>
          <a:prstGeom prst="rect">
            <a:avLst/>
          </a:prstGeom>
        </p:spPr>
      </p:pic>
      <p:sp>
        <p:nvSpPr>
          <p:cNvPr id="13" name="Content Placeholder 2">
            <a:extLst>
              <a:ext uri="{FF2B5EF4-FFF2-40B4-BE49-F238E27FC236}">
                <a16:creationId xmlns:a16="http://schemas.microsoft.com/office/drawing/2014/main" id="{176E7029-F7C6-EC78-C2BB-1770E40392C7}"/>
              </a:ext>
            </a:extLst>
          </p:cNvPr>
          <p:cNvSpPr txBox="1">
            <a:spLocks/>
          </p:cNvSpPr>
          <p:nvPr/>
        </p:nvSpPr>
        <p:spPr>
          <a:xfrm>
            <a:off x="-8540" y="5427864"/>
            <a:ext cx="9144000" cy="807740"/>
          </a:xfrm>
          <a:prstGeom prst="rect">
            <a:avLst/>
          </a:prstGeom>
          <a:solidFill>
            <a:srgbClr val="FFEDE7"/>
          </a:solidFill>
          <a:ln w="28575">
            <a:solidFill>
              <a:srgbClr val="F23F00"/>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GB" sz="2400">
                <a:solidFill>
                  <a:srgbClr val="F23F00"/>
                </a:solidFill>
                <a:latin typeface="+mj-lt"/>
              </a:rPr>
              <a:t>When correct statistics are used, DAMOV's memory access latency</a:t>
            </a:r>
            <a:br>
              <a:rPr lang="en-GB" sz="2400">
                <a:solidFill>
                  <a:srgbClr val="F23F00"/>
                </a:solidFill>
                <a:latin typeface="+mj-lt"/>
              </a:rPr>
            </a:br>
            <a:r>
              <a:rPr lang="en-GB" sz="2400">
                <a:solidFill>
                  <a:srgbClr val="F23F00"/>
                </a:solidFill>
                <a:latin typeface="+mj-lt"/>
              </a:rPr>
              <a:t> is </a:t>
            </a:r>
            <a:r>
              <a:rPr lang="en-GB" sz="2400" b="1" i="1">
                <a:solidFill>
                  <a:srgbClr val="F23F00"/>
                </a:solidFill>
                <a:latin typeface="+mj-lt"/>
              </a:rPr>
              <a:t>not </a:t>
            </a:r>
            <a:r>
              <a:rPr lang="en-GB" sz="2400" b="1">
                <a:solidFill>
                  <a:srgbClr val="F23F00"/>
                </a:solidFill>
                <a:latin typeface="+mj-lt"/>
              </a:rPr>
              <a:t>constant</a:t>
            </a:r>
            <a:r>
              <a:rPr lang="en-GB" sz="2400">
                <a:solidFill>
                  <a:srgbClr val="F23F00"/>
                </a:solidFill>
                <a:latin typeface="+mj-lt"/>
              </a:rPr>
              <a:t>,</a:t>
            </a:r>
            <a:r>
              <a:rPr lang="en-GB" sz="2400" b="1">
                <a:solidFill>
                  <a:srgbClr val="F23F00"/>
                </a:solidFill>
                <a:latin typeface="+mj-lt"/>
              </a:rPr>
              <a:t> </a:t>
            </a:r>
            <a:r>
              <a:rPr lang="en-GB" sz="2400">
                <a:solidFill>
                  <a:srgbClr val="F23F00"/>
                </a:solidFill>
                <a:latin typeface="+mj-lt"/>
              </a:rPr>
              <a:t>in contrast to the claims of the Mess paper</a:t>
            </a:r>
            <a:endParaRPr lang="en-US" sz="2400">
              <a:solidFill>
                <a:srgbClr val="F23F00"/>
              </a:solidFill>
              <a:latin typeface="+mj-lt"/>
            </a:endParaRPr>
          </a:p>
        </p:txBody>
      </p:sp>
    </p:spTree>
    <p:extLst>
      <p:ext uri="{BB962C8B-B14F-4D97-AF65-F5344CB8AC3E}">
        <p14:creationId xmlns:p14="http://schemas.microsoft.com/office/powerpoint/2010/main" val="366231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2070-39B3-242E-AD9E-EED6EE526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E3D20-9EE3-8E84-2382-FD5F0A9ECAA9}"/>
              </a:ext>
            </a:extLst>
          </p:cNvPr>
          <p:cNvSpPr>
            <a:spLocks noGrp="1"/>
          </p:cNvSpPr>
          <p:nvPr>
            <p:ph type="title"/>
          </p:nvPr>
        </p:nvSpPr>
        <p:spPr/>
        <p:txBody>
          <a:bodyPr/>
          <a:lstStyle/>
          <a:p>
            <a:r>
              <a:rPr lang="en-US"/>
              <a:t>More in the Paper</a:t>
            </a:r>
          </a:p>
        </p:txBody>
      </p:sp>
      <p:sp>
        <p:nvSpPr>
          <p:cNvPr id="4" name="Slide Number Placeholder 3">
            <a:extLst>
              <a:ext uri="{FF2B5EF4-FFF2-40B4-BE49-F238E27FC236}">
                <a16:creationId xmlns:a16="http://schemas.microsoft.com/office/drawing/2014/main" id="{07FAD2E0-FC60-99BA-7EE7-66139B570B48}"/>
              </a:ext>
            </a:extLst>
          </p:cNvPr>
          <p:cNvSpPr>
            <a:spLocks noGrp="1"/>
          </p:cNvSpPr>
          <p:nvPr>
            <p:ph type="sldNum" sz="quarter" idx="12"/>
          </p:nvPr>
        </p:nvSpPr>
        <p:spPr/>
        <p:txBody>
          <a:bodyPr/>
          <a:lstStyle/>
          <a:p>
            <a:fld id="{CBE5B309-C2CE-4D90-B104-F7E98438FC65}" type="slidenum">
              <a:rPr lang="tr-TR" smtClean="0"/>
              <a:pPr/>
              <a:t>25</a:t>
            </a:fld>
            <a:endParaRPr lang="tr-TR"/>
          </a:p>
        </p:txBody>
      </p:sp>
      <p:sp>
        <p:nvSpPr>
          <p:cNvPr id="5" name="Content Placeholder 4">
            <a:extLst>
              <a:ext uri="{FF2B5EF4-FFF2-40B4-BE49-F238E27FC236}">
                <a16:creationId xmlns:a16="http://schemas.microsoft.com/office/drawing/2014/main" id="{370874E2-8725-F2BC-7FF9-8ECED58B09D2}"/>
              </a:ext>
            </a:extLst>
          </p:cNvPr>
          <p:cNvSpPr>
            <a:spLocks noGrp="1"/>
          </p:cNvSpPr>
          <p:nvPr>
            <p:ph idx="1"/>
          </p:nvPr>
        </p:nvSpPr>
        <p:spPr>
          <a:xfrm>
            <a:off x="19002" y="5755279"/>
            <a:ext cx="9143999" cy="543990"/>
          </a:xfrm>
        </p:spPr>
        <p:txBody>
          <a:bodyPr>
            <a:normAutofit/>
          </a:bodyPr>
          <a:lstStyle/>
          <a:p>
            <a:pPr marL="0" indent="0" algn="ctr">
              <a:buNone/>
            </a:pPr>
            <a:r>
              <a:rPr lang="en-US" sz="3200">
                <a:hlinkClick r:id="rId3"/>
              </a:rPr>
              <a:t>https://arxiv.org/pdf/2510.15744</a:t>
            </a:r>
            <a:endParaRPr lang="en-US" sz="3200"/>
          </a:p>
        </p:txBody>
      </p:sp>
      <p:pic>
        <p:nvPicPr>
          <p:cNvPr id="7" name="Picture 6">
            <a:extLst>
              <a:ext uri="{FF2B5EF4-FFF2-40B4-BE49-F238E27FC236}">
                <a16:creationId xmlns:a16="http://schemas.microsoft.com/office/drawing/2014/main" id="{FE0307C7-730F-291D-ED83-B08A40E5B8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336" y="1549818"/>
            <a:ext cx="8805333" cy="38361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B68A46AE-D734-E574-6790-46C1E925347B}"/>
              </a:ext>
            </a:extLst>
          </p:cNvPr>
          <p:cNvSpPr txBox="1"/>
          <p:nvPr/>
        </p:nvSpPr>
        <p:spPr>
          <a:xfrm>
            <a:off x="7008341" y="5385947"/>
            <a:ext cx="3264089" cy="369332"/>
          </a:xfrm>
          <a:prstGeom prst="rect">
            <a:avLst/>
          </a:prstGeom>
          <a:noFill/>
        </p:spPr>
        <p:txBody>
          <a:bodyPr wrap="square" rtlCol="0">
            <a:spAutoFit/>
          </a:bodyPr>
          <a:lstStyle/>
          <a:p>
            <a:r>
              <a:rPr lang="en-US" i="1">
                <a:solidFill>
                  <a:schemeClr val="tx1">
                    <a:lumMod val="50000"/>
                    <a:lumOff val="50000"/>
                  </a:schemeClr>
                </a:solidFill>
                <a:latin typeface="+mj-lt"/>
              </a:rPr>
              <a:t>* Equal contribution</a:t>
            </a:r>
          </a:p>
        </p:txBody>
      </p:sp>
    </p:spTree>
    <p:extLst>
      <p:ext uri="{BB962C8B-B14F-4D97-AF65-F5344CB8AC3E}">
        <p14:creationId xmlns:p14="http://schemas.microsoft.com/office/powerpoint/2010/main" val="271522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296A-5EF6-E408-BC23-A4BBD5C8D061}"/>
              </a:ext>
            </a:extLst>
          </p:cNvPr>
          <p:cNvSpPr>
            <a:spLocks noGrp="1"/>
          </p:cNvSpPr>
          <p:nvPr>
            <p:ph type="title"/>
          </p:nvPr>
        </p:nvSpPr>
        <p:spPr/>
        <p:txBody>
          <a:bodyPr/>
          <a:lstStyle/>
          <a:p>
            <a:r>
              <a:rPr lang="en-US"/>
              <a:t>Cleaning up the Mess is Open Source</a:t>
            </a:r>
          </a:p>
        </p:txBody>
      </p:sp>
      <p:sp>
        <p:nvSpPr>
          <p:cNvPr id="4" name="Slide Number Placeholder 3">
            <a:extLst>
              <a:ext uri="{FF2B5EF4-FFF2-40B4-BE49-F238E27FC236}">
                <a16:creationId xmlns:a16="http://schemas.microsoft.com/office/drawing/2014/main" id="{9C9528C3-3000-0E43-18E8-28D6B80DF197}"/>
              </a:ext>
            </a:extLst>
          </p:cNvPr>
          <p:cNvSpPr>
            <a:spLocks noGrp="1"/>
          </p:cNvSpPr>
          <p:nvPr>
            <p:ph type="sldNum" sz="quarter" idx="12"/>
          </p:nvPr>
        </p:nvSpPr>
        <p:spPr/>
        <p:txBody>
          <a:bodyPr/>
          <a:lstStyle/>
          <a:p>
            <a:fld id="{CBE5B309-C2CE-4D90-B104-F7E98438FC65}" type="slidenum">
              <a:rPr lang="tr-TR" smtClean="0"/>
              <a:pPr/>
              <a:t>26</a:t>
            </a:fld>
            <a:endParaRPr lang="tr-TR"/>
          </a:p>
        </p:txBody>
      </p:sp>
      <p:sp>
        <p:nvSpPr>
          <p:cNvPr id="9" name="Content Placeholder 4">
            <a:extLst>
              <a:ext uri="{FF2B5EF4-FFF2-40B4-BE49-F238E27FC236}">
                <a16:creationId xmlns:a16="http://schemas.microsoft.com/office/drawing/2014/main" id="{2C8948DF-EC0C-9497-F435-F43601FA31C5}"/>
              </a:ext>
            </a:extLst>
          </p:cNvPr>
          <p:cNvSpPr txBox="1">
            <a:spLocks/>
          </p:cNvSpPr>
          <p:nvPr/>
        </p:nvSpPr>
        <p:spPr>
          <a:xfrm>
            <a:off x="192241" y="5888507"/>
            <a:ext cx="9143999" cy="54399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a:hlinkClick r:id="rId3"/>
              </a:rPr>
              <a:t>https://github.com/CMU-SAFARI/Cleaning-up-the-Mess</a:t>
            </a:r>
            <a:endParaRPr lang="en-US" sz="3200"/>
          </a:p>
        </p:txBody>
      </p:sp>
      <p:grpSp>
        <p:nvGrpSpPr>
          <p:cNvPr id="16" name="Group 15">
            <a:extLst>
              <a:ext uri="{FF2B5EF4-FFF2-40B4-BE49-F238E27FC236}">
                <a16:creationId xmlns:a16="http://schemas.microsoft.com/office/drawing/2014/main" id="{D6685A90-A398-C8E0-8101-F81B299DAFCA}"/>
              </a:ext>
            </a:extLst>
          </p:cNvPr>
          <p:cNvGrpSpPr/>
          <p:nvPr/>
        </p:nvGrpSpPr>
        <p:grpSpPr>
          <a:xfrm>
            <a:off x="2033126" y="1343545"/>
            <a:ext cx="6607260" cy="4247658"/>
            <a:chOff x="1" y="1303056"/>
            <a:chExt cx="6804079" cy="4374188"/>
          </a:xfrm>
        </p:grpSpPr>
        <p:pic>
          <p:nvPicPr>
            <p:cNvPr id="12" name="Picture 11">
              <a:extLst>
                <a:ext uri="{FF2B5EF4-FFF2-40B4-BE49-F238E27FC236}">
                  <a16:creationId xmlns:a16="http://schemas.microsoft.com/office/drawing/2014/main" id="{F84B2398-E795-F148-BF11-D3F0D0562913}"/>
                </a:ext>
              </a:extLst>
            </p:cNvPr>
            <p:cNvPicPr>
              <a:picLocks noChangeAspect="1"/>
            </p:cNvPicPr>
            <p:nvPr/>
          </p:nvPicPr>
          <p:blipFill>
            <a:blip r:embed="rId4"/>
            <a:srcRect r="25590"/>
            <a:stretch>
              <a:fillRect/>
            </a:stretch>
          </p:blipFill>
          <p:spPr>
            <a:xfrm>
              <a:off x="1" y="1303056"/>
              <a:ext cx="6804079" cy="43741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Rectangle 12">
              <a:extLst>
                <a:ext uri="{FF2B5EF4-FFF2-40B4-BE49-F238E27FC236}">
                  <a16:creationId xmlns:a16="http://schemas.microsoft.com/office/drawing/2014/main" id="{F522179E-286E-D7CF-4F71-92EE9F65B74A}"/>
                </a:ext>
              </a:extLst>
            </p:cNvPr>
            <p:cNvSpPr/>
            <p:nvPr/>
          </p:nvSpPr>
          <p:spPr>
            <a:xfrm>
              <a:off x="1947553" y="1306286"/>
              <a:ext cx="682831" cy="249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6581C3D-E167-BCBE-1BA7-AD0A26F3DC49}"/>
                </a:ext>
              </a:extLst>
            </p:cNvPr>
            <p:cNvSpPr/>
            <p:nvPr/>
          </p:nvSpPr>
          <p:spPr>
            <a:xfrm>
              <a:off x="6036966" y="1306286"/>
              <a:ext cx="767114" cy="2770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039D7726-44F4-22A7-6878-F9E56843AE3D}"/>
              </a:ext>
            </a:extLst>
          </p:cNvPr>
          <p:cNvGrpSpPr/>
          <p:nvPr/>
        </p:nvGrpSpPr>
        <p:grpSpPr>
          <a:xfrm>
            <a:off x="403514" y="1343320"/>
            <a:ext cx="1368009" cy="4247220"/>
            <a:chOff x="7331999" y="1343320"/>
            <a:chExt cx="1368009" cy="4247220"/>
          </a:xfrm>
        </p:grpSpPr>
        <p:pic>
          <p:nvPicPr>
            <p:cNvPr id="5" name="Picture 4" descr="A red circle with white text&#10;&#10;AI-generated content may be incorrect.">
              <a:extLst>
                <a:ext uri="{FF2B5EF4-FFF2-40B4-BE49-F238E27FC236}">
                  <a16:creationId xmlns:a16="http://schemas.microsoft.com/office/drawing/2014/main" id="{2B6892E9-8979-1092-7086-E748B62E1F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2000" y="2786545"/>
              <a:ext cx="1368007" cy="1360770"/>
            </a:xfrm>
            <a:prstGeom prst="rect">
              <a:avLst/>
            </a:prstGeom>
          </p:spPr>
        </p:pic>
        <p:pic>
          <p:nvPicPr>
            <p:cNvPr id="7" name="Picture 6"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6106C0A7-9390-EA85-D894-63885DF324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31999" y="1343320"/>
              <a:ext cx="1368007" cy="1360770"/>
            </a:xfrm>
            <a:prstGeom prst="rect">
              <a:avLst/>
            </a:prstGeom>
          </p:spPr>
        </p:pic>
        <p:pic>
          <p:nvPicPr>
            <p:cNvPr id="10" name="Picture 9" descr="A blue circle with white text&#10;&#10;AI-generated content may be incorrect.">
              <a:extLst>
                <a:ext uri="{FF2B5EF4-FFF2-40B4-BE49-F238E27FC236}">
                  <a16:creationId xmlns:a16="http://schemas.microsoft.com/office/drawing/2014/main" id="{B06C406B-00A3-C9BB-D586-F78D13AFED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32001" y="4229770"/>
              <a:ext cx="1368007" cy="1360770"/>
            </a:xfrm>
            <a:prstGeom prst="rect">
              <a:avLst/>
            </a:prstGeom>
          </p:spPr>
        </p:pic>
      </p:grpSp>
    </p:spTree>
    <p:extLst>
      <p:ext uri="{BB962C8B-B14F-4D97-AF65-F5344CB8AC3E}">
        <p14:creationId xmlns:p14="http://schemas.microsoft.com/office/powerpoint/2010/main" val="204527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8A5DD-A56D-B8F4-0CB5-E941D1C80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7A4AA-8E39-DD5C-0461-D18F3B977EB1}"/>
              </a:ext>
            </a:extLst>
          </p:cNvPr>
          <p:cNvSpPr>
            <a:spLocks noGrp="1"/>
          </p:cNvSpPr>
          <p:nvPr>
            <p:ph type="title"/>
          </p:nvPr>
        </p:nvSpPr>
        <p:spPr/>
        <p:txBody>
          <a:bodyPr/>
          <a:lstStyle/>
          <a:p>
            <a:r>
              <a:rPr lang="en-US"/>
              <a:t>Cleaning up the Mess</a:t>
            </a:r>
          </a:p>
        </p:txBody>
      </p:sp>
      <p:sp>
        <p:nvSpPr>
          <p:cNvPr id="4" name="Slide Number Placeholder 3">
            <a:extLst>
              <a:ext uri="{FF2B5EF4-FFF2-40B4-BE49-F238E27FC236}">
                <a16:creationId xmlns:a16="http://schemas.microsoft.com/office/drawing/2014/main" id="{613200A6-0894-927E-53FC-CF2C5A678726}"/>
              </a:ext>
            </a:extLst>
          </p:cNvPr>
          <p:cNvSpPr>
            <a:spLocks noGrp="1"/>
          </p:cNvSpPr>
          <p:nvPr>
            <p:ph type="sldNum" sz="quarter" idx="12"/>
          </p:nvPr>
        </p:nvSpPr>
        <p:spPr/>
        <p:txBody>
          <a:bodyPr/>
          <a:lstStyle/>
          <a:p>
            <a:fld id="{CBE5B309-C2CE-4D90-B104-F7E98438FC65}" type="slidenum">
              <a:rPr lang="tr-TR" smtClean="0"/>
              <a:pPr/>
              <a:t>27</a:t>
            </a:fld>
            <a:endParaRPr lang="tr-TR"/>
          </a:p>
        </p:txBody>
      </p:sp>
      <p:sp>
        <p:nvSpPr>
          <p:cNvPr id="5" name="Rectangle: Rounded Corners 4">
            <a:extLst>
              <a:ext uri="{FF2B5EF4-FFF2-40B4-BE49-F238E27FC236}">
                <a16:creationId xmlns:a16="http://schemas.microsoft.com/office/drawing/2014/main" id="{23CAE000-CD9B-3065-E810-8105E4449244}"/>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Aptos Display"/>
                <a:ea typeface="Calibri"/>
                <a:cs typeface="Calibri"/>
              </a:rPr>
              <a:t>Analysis of the Evaluation of </a:t>
            </a:r>
            <a:r>
              <a:rPr lang="en-US" sz="3200" b="1" err="1">
                <a:solidFill>
                  <a:srgbClr val="D67F00"/>
                </a:solidFill>
                <a:latin typeface="Aptos Display"/>
                <a:ea typeface="Calibri"/>
                <a:cs typeface="Calibri"/>
              </a:rPr>
              <a:t>Ramulator</a:t>
            </a:r>
            <a:r>
              <a:rPr lang="en-US" sz="3200" b="1">
                <a:solidFill>
                  <a:srgbClr val="D67F00"/>
                </a:solidFill>
                <a:latin typeface="Aptos Display"/>
                <a:ea typeface="Calibri"/>
                <a:cs typeface="Calibri"/>
              </a:rPr>
              <a:t> 2.0</a:t>
            </a:r>
            <a:br>
              <a:rPr lang="en-US" sz="3200" b="1">
                <a:solidFill>
                  <a:srgbClr val="D67F00"/>
                </a:solidFill>
                <a:latin typeface="Aptos Display"/>
                <a:ea typeface="Calibri"/>
                <a:cs typeface="Calibri"/>
              </a:rPr>
            </a:br>
            <a:r>
              <a:rPr lang="en-US" sz="3200" b="1">
                <a:solidFill>
                  <a:srgbClr val="D67F00"/>
                </a:solidFill>
                <a:latin typeface="Aptos Display"/>
                <a:ea typeface="Calibri"/>
                <a:cs typeface="Calibri"/>
              </a:rPr>
              <a:t>in the Mess Paper</a:t>
            </a:r>
            <a:endParaRPr lang="en-US" sz="3200" b="1">
              <a:solidFill>
                <a:srgbClr val="D67F00"/>
              </a:solidFill>
              <a:latin typeface="+mj-lt"/>
            </a:endParaRPr>
          </a:p>
        </p:txBody>
      </p:sp>
      <p:sp>
        <p:nvSpPr>
          <p:cNvPr id="6" name="Rectangle: Rounded Corners 5">
            <a:extLst>
              <a:ext uri="{FF2B5EF4-FFF2-40B4-BE49-F238E27FC236}">
                <a16:creationId xmlns:a16="http://schemas.microsoft.com/office/drawing/2014/main" id="{85B27F2D-A47B-CFC9-47A3-64DDF95ACBBC}"/>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a:solidFill>
                  <a:srgbClr val="D67F00"/>
                </a:solidFill>
                <a:latin typeface="+mj-lt"/>
              </a:rPr>
              <a:t>Analysis of the Evaluation of DAMOV </a:t>
            </a:r>
            <a:br>
              <a:rPr lang="en-US" sz="3200" b="1">
                <a:latin typeface="+mj-lt"/>
              </a:rPr>
            </a:br>
            <a:r>
              <a:rPr lang="en-US" sz="3200" b="1">
                <a:solidFill>
                  <a:srgbClr val="D67F00"/>
                </a:solidFill>
                <a:latin typeface="+mj-lt"/>
              </a:rPr>
              <a:t>in the Mess Paper</a:t>
            </a:r>
          </a:p>
        </p:txBody>
      </p:sp>
      <p:sp>
        <p:nvSpPr>
          <p:cNvPr id="7" name="Rectangle: Rounded Corners 6">
            <a:extLst>
              <a:ext uri="{FF2B5EF4-FFF2-40B4-BE49-F238E27FC236}">
                <a16:creationId xmlns:a16="http://schemas.microsoft.com/office/drawing/2014/main" id="{95BF90EA-B766-2661-5CF6-0BAB1C3FE841}"/>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tIns="45720" rIns="91440" bIns="45720" rtlCol="0" anchor="ctr"/>
          <a:lstStyle/>
          <a:p>
            <a:r>
              <a:rPr lang="en-US" sz="3200" b="1" err="1">
                <a:solidFill>
                  <a:srgbClr val="D67F00"/>
                </a:solidFill>
                <a:latin typeface="+mj-lt"/>
              </a:rPr>
              <a:t>Ramulator</a:t>
            </a:r>
            <a:r>
              <a:rPr lang="en-US" sz="3200" b="1">
                <a:solidFill>
                  <a:srgbClr val="D67F00"/>
                </a:solidFill>
                <a:latin typeface="+mj-lt"/>
              </a:rPr>
              <a:t> 2.0 and DAMOV Best Practices</a:t>
            </a:r>
          </a:p>
        </p:txBody>
      </p:sp>
      <p:sp>
        <p:nvSpPr>
          <p:cNvPr id="9" name="Rectangle 8">
            <a:extLst>
              <a:ext uri="{FF2B5EF4-FFF2-40B4-BE49-F238E27FC236}">
                <a16:creationId xmlns:a16="http://schemas.microsoft.com/office/drawing/2014/main" id="{CD63D088-7A7C-155E-0AF4-3496B28E687C}"/>
              </a:ext>
            </a:extLst>
          </p:cNvPr>
          <p:cNvSpPr/>
          <p:nvPr/>
        </p:nvSpPr>
        <p:spPr>
          <a:xfrm flipV="1">
            <a:off x="142958" y="1115891"/>
            <a:ext cx="8645168" cy="1608561"/>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AC0BC71-37D4-7B74-5B5A-EDF0F9087287}"/>
              </a:ext>
            </a:extLst>
          </p:cNvPr>
          <p:cNvSpPr/>
          <p:nvPr/>
        </p:nvSpPr>
        <p:spPr>
          <a:xfrm flipV="1">
            <a:off x="142957" y="2861565"/>
            <a:ext cx="8645169" cy="1608561"/>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9002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AF681-B6B9-F597-9952-A196A665B266}"/>
              </a:ext>
            </a:extLst>
          </p:cNvPr>
          <p:cNvSpPr>
            <a:spLocks noGrp="1"/>
          </p:cNvSpPr>
          <p:nvPr>
            <p:ph type="title"/>
          </p:nvPr>
        </p:nvSpPr>
        <p:spPr/>
        <p:txBody>
          <a:bodyPr/>
          <a:lstStyle/>
          <a:p>
            <a:r>
              <a:rPr lang="en-US" err="1"/>
              <a:t>Ramulator</a:t>
            </a:r>
            <a:r>
              <a:rPr lang="en-US"/>
              <a:t> 2.0 and DAMOV Best Practices</a:t>
            </a:r>
          </a:p>
        </p:txBody>
      </p:sp>
      <p:sp>
        <p:nvSpPr>
          <p:cNvPr id="4" name="Slide Number Placeholder 3">
            <a:extLst>
              <a:ext uri="{FF2B5EF4-FFF2-40B4-BE49-F238E27FC236}">
                <a16:creationId xmlns:a16="http://schemas.microsoft.com/office/drawing/2014/main" id="{31E62847-00D3-6CC2-367E-6A763B8BE812}"/>
              </a:ext>
            </a:extLst>
          </p:cNvPr>
          <p:cNvSpPr>
            <a:spLocks noGrp="1"/>
          </p:cNvSpPr>
          <p:nvPr>
            <p:ph type="sldNum" sz="quarter" idx="12"/>
          </p:nvPr>
        </p:nvSpPr>
        <p:spPr/>
        <p:txBody>
          <a:bodyPr/>
          <a:lstStyle/>
          <a:p>
            <a:fld id="{CBE5B309-C2CE-4D90-B104-F7E98438FC65}" type="slidenum">
              <a:rPr lang="tr-TR" smtClean="0"/>
              <a:pPr/>
              <a:t>28</a:t>
            </a:fld>
            <a:endParaRPr lang="tr-TR"/>
          </a:p>
        </p:txBody>
      </p:sp>
      <p:grpSp>
        <p:nvGrpSpPr>
          <p:cNvPr id="24" name="Group 23">
            <a:extLst>
              <a:ext uri="{FF2B5EF4-FFF2-40B4-BE49-F238E27FC236}">
                <a16:creationId xmlns:a16="http://schemas.microsoft.com/office/drawing/2014/main" id="{CB12B9B8-94E6-4067-0CE7-0F71E85E37D3}"/>
              </a:ext>
            </a:extLst>
          </p:cNvPr>
          <p:cNvGrpSpPr/>
          <p:nvPr/>
        </p:nvGrpSpPr>
        <p:grpSpPr>
          <a:xfrm>
            <a:off x="124691" y="1096840"/>
            <a:ext cx="8894618" cy="1200329"/>
            <a:chOff x="124691" y="1096840"/>
            <a:chExt cx="8894618" cy="1200329"/>
          </a:xfrm>
        </p:grpSpPr>
        <p:grpSp>
          <p:nvGrpSpPr>
            <p:cNvPr id="9" name="Group 8">
              <a:extLst>
                <a:ext uri="{FF2B5EF4-FFF2-40B4-BE49-F238E27FC236}">
                  <a16:creationId xmlns:a16="http://schemas.microsoft.com/office/drawing/2014/main" id="{83D85FEB-6209-7F28-9B04-E8C3EC9AEB3E}"/>
                </a:ext>
              </a:extLst>
            </p:cNvPr>
            <p:cNvGrpSpPr/>
            <p:nvPr/>
          </p:nvGrpSpPr>
          <p:grpSpPr>
            <a:xfrm>
              <a:off x="124691" y="1111550"/>
              <a:ext cx="8894618" cy="1170910"/>
              <a:chOff x="99051" y="1284270"/>
              <a:chExt cx="8894618" cy="1170910"/>
            </a:xfrm>
          </p:grpSpPr>
          <p:sp>
            <p:nvSpPr>
              <p:cNvPr id="7" name="Rectangle: Rounded Corners 6">
                <a:extLst>
                  <a:ext uri="{FF2B5EF4-FFF2-40B4-BE49-F238E27FC236}">
                    <a16:creationId xmlns:a16="http://schemas.microsoft.com/office/drawing/2014/main" id="{B425B586-CC95-0BDC-2D64-BD78A72F123F}"/>
                  </a:ext>
                </a:extLst>
              </p:cNvPr>
              <p:cNvSpPr/>
              <p:nvPr/>
            </p:nvSpPr>
            <p:spPr>
              <a:xfrm>
                <a:off x="99051" y="1284270"/>
                <a:ext cx="8894618" cy="1170910"/>
              </a:xfrm>
              <a:prstGeom prst="roundRect">
                <a:avLst/>
              </a:prstGeom>
              <a:solidFill>
                <a:srgbClr val="FFEBCD"/>
              </a:solidFill>
              <a:ln w="28575">
                <a:solidFill>
                  <a:srgbClr val="FFAE3C">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a:solidFill>
                    <a:srgbClr val="E28700"/>
                  </a:solidFill>
                  <a:latin typeface="+mj-lt"/>
                </a:endParaRPr>
              </a:p>
            </p:txBody>
          </p:sp>
          <p:sp>
            <p:nvSpPr>
              <p:cNvPr id="8" name="TextBox 7">
                <a:extLst>
                  <a:ext uri="{FF2B5EF4-FFF2-40B4-BE49-F238E27FC236}">
                    <a16:creationId xmlns:a16="http://schemas.microsoft.com/office/drawing/2014/main" id="{F026FE7E-8920-6721-CF60-B6313789B419}"/>
                  </a:ext>
                </a:extLst>
              </p:cNvPr>
              <p:cNvSpPr txBox="1"/>
              <p:nvPr/>
            </p:nvSpPr>
            <p:spPr>
              <a:xfrm>
                <a:off x="201611" y="1408060"/>
                <a:ext cx="574799" cy="923330"/>
              </a:xfrm>
              <a:prstGeom prst="rect">
                <a:avLst/>
              </a:prstGeom>
              <a:noFill/>
              <a:ln w="28575">
                <a:noFill/>
              </a:ln>
            </p:spPr>
            <p:txBody>
              <a:bodyPr wrap="square" rtlCol="0">
                <a:spAutoFit/>
              </a:bodyPr>
              <a:lstStyle/>
              <a:p>
                <a:pPr algn="ctr"/>
                <a:r>
                  <a:rPr lang="en-US" sz="5400">
                    <a:solidFill>
                      <a:srgbClr val="FFAE3C">
                        <a:alpha val="80000"/>
                      </a:srgbClr>
                    </a:solidFill>
                    <a:latin typeface="+mj-lt"/>
                  </a:rPr>
                  <a:t>1</a:t>
                </a:r>
              </a:p>
            </p:txBody>
          </p:sp>
        </p:grpSp>
        <p:sp>
          <p:nvSpPr>
            <p:cNvPr id="5" name="TextBox 4">
              <a:extLst>
                <a:ext uri="{FF2B5EF4-FFF2-40B4-BE49-F238E27FC236}">
                  <a16:creationId xmlns:a16="http://schemas.microsoft.com/office/drawing/2014/main" id="{A49A6CDE-9F48-B162-374C-47D6F00789D4}"/>
                </a:ext>
              </a:extLst>
            </p:cNvPr>
            <p:cNvSpPr txBox="1"/>
            <p:nvPr/>
          </p:nvSpPr>
          <p:spPr>
            <a:xfrm>
              <a:off x="537520" y="1096840"/>
              <a:ext cx="8379229" cy="1200329"/>
            </a:xfrm>
            <a:prstGeom prst="rect">
              <a:avLst/>
            </a:prstGeom>
            <a:noFill/>
          </p:spPr>
          <p:txBody>
            <a:bodyPr wrap="square" anchor="ctr">
              <a:spAutoFit/>
            </a:bodyPr>
            <a:lstStyle/>
            <a:p>
              <a:pPr algn="ctr"/>
              <a:r>
                <a:rPr lang="en-US" sz="2400" b="1">
                  <a:solidFill>
                    <a:srgbClr val="E28700"/>
                  </a:solidFill>
                  <a:latin typeface="+mj-lt"/>
                </a:rPr>
                <a:t>Be familiarized with JEDEC standard documents</a:t>
              </a:r>
              <a:br>
                <a:rPr lang="en-US" sz="2400" b="1">
                  <a:latin typeface="+mj-lt"/>
                </a:rPr>
              </a:br>
              <a:r>
                <a:rPr lang="en-US" sz="2400">
                  <a:solidFill>
                    <a:srgbClr val="E28700"/>
                  </a:solidFill>
                  <a:latin typeface="+mj-lt"/>
                </a:rPr>
                <a:t>instead of relying on information other than the official standard</a:t>
              </a:r>
              <a:br>
                <a:rPr lang="en-US" sz="2400">
                  <a:latin typeface="+mj-lt"/>
                </a:rPr>
              </a:br>
              <a:r>
                <a:rPr lang="en-US" sz="2400">
                  <a:solidFill>
                    <a:srgbClr val="E28700"/>
                  </a:solidFill>
                  <a:latin typeface="+mj-lt"/>
                </a:rPr>
                <a:t>or the simulator documentation</a:t>
              </a:r>
            </a:p>
          </p:txBody>
        </p:sp>
      </p:grpSp>
      <p:grpSp>
        <p:nvGrpSpPr>
          <p:cNvPr id="25" name="Group 24">
            <a:extLst>
              <a:ext uri="{FF2B5EF4-FFF2-40B4-BE49-F238E27FC236}">
                <a16:creationId xmlns:a16="http://schemas.microsoft.com/office/drawing/2014/main" id="{ECDD0F69-4717-235D-C84C-BF69E6A9E654}"/>
              </a:ext>
            </a:extLst>
          </p:cNvPr>
          <p:cNvGrpSpPr/>
          <p:nvPr/>
        </p:nvGrpSpPr>
        <p:grpSpPr>
          <a:xfrm>
            <a:off x="124691" y="2422764"/>
            <a:ext cx="8894618" cy="1200329"/>
            <a:chOff x="124691" y="2422764"/>
            <a:chExt cx="8894618" cy="1200329"/>
          </a:xfrm>
        </p:grpSpPr>
        <p:grpSp>
          <p:nvGrpSpPr>
            <p:cNvPr id="10" name="Group 9">
              <a:extLst>
                <a:ext uri="{FF2B5EF4-FFF2-40B4-BE49-F238E27FC236}">
                  <a16:creationId xmlns:a16="http://schemas.microsoft.com/office/drawing/2014/main" id="{05373C3A-5E02-A106-7170-427592786A26}"/>
                </a:ext>
              </a:extLst>
            </p:cNvPr>
            <p:cNvGrpSpPr/>
            <p:nvPr/>
          </p:nvGrpSpPr>
          <p:grpSpPr>
            <a:xfrm>
              <a:off x="124691" y="2425577"/>
              <a:ext cx="8894618" cy="1170910"/>
              <a:chOff x="99051" y="1284270"/>
              <a:chExt cx="8894618" cy="1170910"/>
            </a:xfrm>
          </p:grpSpPr>
          <p:sp>
            <p:nvSpPr>
              <p:cNvPr id="11" name="Rectangle: Rounded Corners 10">
                <a:extLst>
                  <a:ext uri="{FF2B5EF4-FFF2-40B4-BE49-F238E27FC236}">
                    <a16:creationId xmlns:a16="http://schemas.microsoft.com/office/drawing/2014/main" id="{58DA9C2F-9AE1-CB3E-C49B-232E5021E576}"/>
                  </a:ext>
                </a:extLst>
              </p:cNvPr>
              <p:cNvSpPr/>
              <p:nvPr/>
            </p:nvSpPr>
            <p:spPr>
              <a:xfrm>
                <a:off x="99051" y="1284270"/>
                <a:ext cx="8894618" cy="1170910"/>
              </a:xfrm>
              <a:prstGeom prst="roundRect">
                <a:avLst/>
              </a:prstGeom>
              <a:solidFill>
                <a:srgbClr val="FFE0D5"/>
              </a:solidFill>
              <a:ln w="28575">
                <a:solidFill>
                  <a:srgbClr val="FF5F2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a:solidFill>
                    <a:srgbClr val="F23F00"/>
                  </a:solidFill>
                  <a:latin typeface="+mj-lt"/>
                </a:endParaRPr>
              </a:p>
            </p:txBody>
          </p:sp>
          <p:sp>
            <p:nvSpPr>
              <p:cNvPr id="12" name="TextBox 11">
                <a:extLst>
                  <a:ext uri="{FF2B5EF4-FFF2-40B4-BE49-F238E27FC236}">
                    <a16:creationId xmlns:a16="http://schemas.microsoft.com/office/drawing/2014/main" id="{6203C441-7B46-6F99-ACD7-56240B9A8222}"/>
                  </a:ext>
                </a:extLst>
              </p:cNvPr>
              <p:cNvSpPr txBox="1"/>
              <p:nvPr/>
            </p:nvSpPr>
            <p:spPr>
              <a:xfrm>
                <a:off x="205377" y="1408060"/>
                <a:ext cx="574799" cy="923330"/>
              </a:xfrm>
              <a:prstGeom prst="rect">
                <a:avLst/>
              </a:prstGeom>
              <a:noFill/>
              <a:ln w="28575">
                <a:noFill/>
              </a:ln>
            </p:spPr>
            <p:txBody>
              <a:bodyPr wrap="square" rtlCol="0">
                <a:spAutoFit/>
              </a:bodyPr>
              <a:lstStyle/>
              <a:p>
                <a:pPr algn="ctr"/>
                <a:r>
                  <a:rPr lang="en-US" sz="5400">
                    <a:solidFill>
                      <a:srgbClr val="FF5F25">
                        <a:alpha val="80000"/>
                      </a:srgbClr>
                    </a:solidFill>
                    <a:latin typeface="+mj-lt"/>
                  </a:rPr>
                  <a:t>2</a:t>
                </a:r>
              </a:p>
            </p:txBody>
          </p:sp>
        </p:grpSp>
        <p:sp>
          <p:nvSpPr>
            <p:cNvPr id="16" name="TextBox 15">
              <a:extLst>
                <a:ext uri="{FF2B5EF4-FFF2-40B4-BE49-F238E27FC236}">
                  <a16:creationId xmlns:a16="http://schemas.microsoft.com/office/drawing/2014/main" id="{A89D68EB-8CE6-B8EF-E794-A4BF5312F880}"/>
                </a:ext>
              </a:extLst>
            </p:cNvPr>
            <p:cNvSpPr txBox="1"/>
            <p:nvPr/>
          </p:nvSpPr>
          <p:spPr>
            <a:xfrm>
              <a:off x="802051" y="2422764"/>
              <a:ext cx="8110932" cy="1200329"/>
            </a:xfrm>
            <a:prstGeom prst="rect">
              <a:avLst/>
            </a:prstGeom>
            <a:noFill/>
          </p:spPr>
          <p:txBody>
            <a:bodyPr wrap="square">
              <a:spAutoFit/>
            </a:bodyPr>
            <a:lstStyle/>
            <a:p>
              <a:pPr algn="ctr"/>
              <a:r>
                <a:rPr lang="en-US" sz="2400" b="1">
                  <a:solidFill>
                    <a:srgbClr val="F23F00"/>
                  </a:solidFill>
                  <a:latin typeface="+mj-lt"/>
                </a:rPr>
                <a:t>Understand Ramulator 2.0’s </a:t>
              </a:r>
              <a:br>
                <a:rPr lang="en-US" sz="2400" b="1">
                  <a:solidFill>
                    <a:srgbClr val="F23F00"/>
                  </a:solidFill>
                  <a:latin typeface="+mj-lt"/>
                </a:rPr>
              </a:br>
              <a:r>
                <a:rPr lang="en-US" sz="2400" b="1">
                  <a:solidFill>
                    <a:srgbClr val="F23F00"/>
                  </a:solidFill>
                  <a:latin typeface="+mj-lt"/>
                </a:rPr>
                <a:t>memory organization and configurations,</a:t>
              </a:r>
              <a:br>
                <a:rPr lang="en-US" sz="2400" b="1">
                  <a:latin typeface="+mj-lt"/>
                </a:rPr>
              </a:br>
              <a:r>
                <a:rPr lang="en-US" sz="2400">
                  <a:solidFill>
                    <a:srgbClr val="F23F00"/>
                  </a:solidFill>
                  <a:latin typeface="+mj-lt"/>
                </a:rPr>
                <a:t>which are documented in the code and in the repository</a:t>
              </a:r>
            </a:p>
          </p:txBody>
        </p:sp>
      </p:grpSp>
      <p:grpSp>
        <p:nvGrpSpPr>
          <p:cNvPr id="26" name="Group 25">
            <a:extLst>
              <a:ext uri="{FF2B5EF4-FFF2-40B4-BE49-F238E27FC236}">
                <a16:creationId xmlns:a16="http://schemas.microsoft.com/office/drawing/2014/main" id="{082908D0-8C3C-9715-710C-FB0A59B05EDD}"/>
              </a:ext>
            </a:extLst>
          </p:cNvPr>
          <p:cNvGrpSpPr/>
          <p:nvPr/>
        </p:nvGrpSpPr>
        <p:grpSpPr>
          <a:xfrm>
            <a:off x="124691" y="3739604"/>
            <a:ext cx="8894618" cy="1209413"/>
            <a:chOff x="124691" y="3739604"/>
            <a:chExt cx="8894618" cy="1209413"/>
          </a:xfrm>
        </p:grpSpPr>
        <p:grpSp>
          <p:nvGrpSpPr>
            <p:cNvPr id="13" name="Group 12">
              <a:extLst>
                <a:ext uri="{FF2B5EF4-FFF2-40B4-BE49-F238E27FC236}">
                  <a16:creationId xmlns:a16="http://schemas.microsoft.com/office/drawing/2014/main" id="{71A68B9E-90F6-6DDC-C7CC-54D08EFE8D1F}"/>
                </a:ext>
              </a:extLst>
            </p:cNvPr>
            <p:cNvGrpSpPr/>
            <p:nvPr/>
          </p:nvGrpSpPr>
          <p:grpSpPr>
            <a:xfrm>
              <a:off x="124691" y="3739604"/>
              <a:ext cx="8894618" cy="1170910"/>
              <a:chOff x="99051" y="1284270"/>
              <a:chExt cx="8894618" cy="1170910"/>
            </a:xfrm>
          </p:grpSpPr>
          <p:sp>
            <p:nvSpPr>
              <p:cNvPr id="14" name="Rectangle: Rounded Corners 13">
                <a:extLst>
                  <a:ext uri="{FF2B5EF4-FFF2-40B4-BE49-F238E27FC236}">
                    <a16:creationId xmlns:a16="http://schemas.microsoft.com/office/drawing/2014/main" id="{B702B476-44AD-E240-B6B3-D6A346FAA300}"/>
                  </a:ext>
                </a:extLst>
              </p:cNvPr>
              <p:cNvSpPr/>
              <p:nvPr/>
            </p:nvSpPr>
            <p:spPr>
              <a:xfrm>
                <a:off x="99051" y="1284270"/>
                <a:ext cx="8894618" cy="1170910"/>
              </a:xfrm>
              <a:prstGeom prst="roundRect">
                <a:avLst/>
              </a:prstGeom>
              <a:solidFill>
                <a:srgbClr val="E9E5FB"/>
              </a:solidFill>
              <a:ln w="28575">
                <a:solidFill>
                  <a:srgbClr val="7A62E7">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solidFill>
                    <a:srgbClr val="6D40DC"/>
                  </a:solidFill>
                  <a:latin typeface="+mj-lt"/>
                </a:endParaRPr>
              </a:p>
            </p:txBody>
          </p:sp>
          <p:sp>
            <p:nvSpPr>
              <p:cNvPr id="15" name="TextBox 14">
                <a:extLst>
                  <a:ext uri="{FF2B5EF4-FFF2-40B4-BE49-F238E27FC236}">
                    <a16:creationId xmlns:a16="http://schemas.microsoft.com/office/drawing/2014/main" id="{6851D501-BEAE-121D-BCAE-3DD753093CA2}"/>
                  </a:ext>
                </a:extLst>
              </p:cNvPr>
              <p:cNvSpPr txBox="1"/>
              <p:nvPr/>
            </p:nvSpPr>
            <p:spPr>
              <a:xfrm>
                <a:off x="175973" y="1408060"/>
                <a:ext cx="574799" cy="923330"/>
              </a:xfrm>
              <a:prstGeom prst="rect">
                <a:avLst/>
              </a:prstGeom>
              <a:noFill/>
              <a:ln w="28575">
                <a:noFill/>
              </a:ln>
            </p:spPr>
            <p:txBody>
              <a:bodyPr wrap="square" rtlCol="0">
                <a:spAutoFit/>
              </a:bodyPr>
              <a:lstStyle/>
              <a:p>
                <a:pPr algn="ctr"/>
                <a:r>
                  <a:rPr lang="en-US" sz="5400">
                    <a:solidFill>
                      <a:srgbClr val="7A62E7">
                        <a:alpha val="80000"/>
                      </a:srgbClr>
                    </a:solidFill>
                    <a:latin typeface="+mj-lt"/>
                  </a:rPr>
                  <a:t>3</a:t>
                </a:r>
              </a:p>
            </p:txBody>
          </p:sp>
        </p:grpSp>
        <p:sp>
          <p:nvSpPr>
            <p:cNvPr id="21" name="TextBox 20">
              <a:extLst>
                <a:ext uri="{FF2B5EF4-FFF2-40B4-BE49-F238E27FC236}">
                  <a16:creationId xmlns:a16="http://schemas.microsoft.com/office/drawing/2014/main" id="{9DB385CA-A123-A30E-877D-8F030600D2FA}"/>
                </a:ext>
              </a:extLst>
            </p:cNvPr>
            <p:cNvSpPr txBox="1"/>
            <p:nvPr/>
          </p:nvSpPr>
          <p:spPr>
            <a:xfrm>
              <a:off x="1767840" y="3748688"/>
              <a:ext cx="5608320" cy="1200329"/>
            </a:xfrm>
            <a:prstGeom prst="rect">
              <a:avLst/>
            </a:prstGeom>
            <a:noFill/>
          </p:spPr>
          <p:txBody>
            <a:bodyPr wrap="square">
              <a:spAutoFit/>
            </a:bodyPr>
            <a:lstStyle/>
            <a:p>
              <a:pPr algn="ctr"/>
              <a:r>
                <a:rPr lang="en-US" sz="2400" b="1">
                  <a:solidFill>
                    <a:srgbClr val="6D40DC"/>
                  </a:solidFill>
                  <a:latin typeface="+mj-lt"/>
                </a:rPr>
                <a:t>Understand simulation methodology and simulator implementations </a:t>
              </a:r>
              <a:br>
                <a:rPr lang="en-US" sz="2400" b="1">
                  <a:latin typeface="+mj-lt"/>
                </a:rPr>
              </a:br>
              <a:r>
                <a:rPr lang="en-US" sz="2400">
                  <a:solidFill>
                    <a:srgbClr val="6D40DC"/>
                  </a:solidFill>
                  <a:latin typeface="+mj-lt"/>
                </a:rPr>
                <a:t>sufficiently to use the correct statistics</a:t>
              </a:r>
            </a:p>
          </p:txBody>
        </p:sp>
      </p:grpSp>
      <p:grpSp>
        <p:nvGrpSpPr>
          <p:cNvPr id="27" name="Group 26">
            <a:extLst>
              <a:ext uri="{FF2B5EF4-FFF2-40B4-BE49-F238E27FC236}">
                <a16:creationId xmlns:a16="http://schemas.microsoft.com/office/drawing/2014/main" id="{B9916E69-31A7-4F61-A321-DAB5F4642725}"/>
              </a:ext>
            </a:extLst>
          </p:cNvPr>
          <p:cNvGrpSpPr/>
          <p:nvPr/>
        </p:nvGrpSpPr>
        <p:grpSpPr>
          <a:xfrm>
            <a:off x="124691" y="5027025"/>
            <a:ext cx="8894618" cy="1200329"/>
            <a:chOff x="124691" y="5027025"/>
            <a:chExt cx="8894618" cy="1200329"/>
          </a:xfrm>
        </p:grpSpPr>
        <p:grpSp>
          <p:nvGrpSpPr>
            <p:cNvPr id="17" name="Group 16">
              <a:extLst>
                <a:ext uri="{FF2B5EF4-FFF2-40B4-BE49-F238E27FC236}">
                  <a16:creationId xmlns:a16="http://schemas.microsoft.com/office/drawing/2014/main" id="{44E0ACBC-9D16-5C1F-9109-96900A962130}"/>
                </a:ext>
              </a:extLst>
            </p:cNvPr>
            <p:cNvGrpSpPr/>
            <p:nvPr/>
          </p:nvGrpSpPr>
          <p:grpSpPr>
            <a:xfrm>
              <a:off x="124691" y="5053630"/>
              <a:ext cx="8894618" cy="1170910"/>
              <a:chOff x="99051" y="1284270"/>
              <a:chExt cx="8894618" cy="1170910"/>
            </a:xfrm>
          </p:grpSpPr>
          <p:sp>
            <p:nvSpPr>
              <p:cNvPr id="18" name="Rectangle: Rounded Corners 17">
                <a:extLst>
                  <a:ext uri="{FF2B5EF4-FFF2-40B4-BE49-F238E27FC236}">
                    <a16:creationId xmlns:a16="http://schemas.microsoft.com/office/drawing/2014/main" id="{178A5441-2A49-A42B-369D-5F8092F050B2}"/>
                  </a:ext>
                </a:extLst>
              </p:cNvPr>
              <p:cNvSpPr/>
              <p:nvPr/>
            </p:nvSpPr>
            <p:spPr>
              <a:xfrm>
                <a:off x="99051" y="1284270"/>
                <a:ext cx="8894618" cy="1170910"/>
              </a:xfrm>
              <a:prstGeom prst="roundRect">
                <a:avLst/>
              </a:prstGeom>
              <a:solidFill>
                <a:srgbClr val="E2F0D9"/>
              </a:solidFill>
              <a:ln w="28575">
                <a:solidFill>
                  <a:srgbClr val="54823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000">
                  <a:solidFill>
                    <a:srgbClr val="385723"/>
                  </a:solidFill>
                  <a:latin typeface="+mj-lt"/>
                </a:endParaRPr>
              </a:p>
            </p:txBody>
          </p:sp>
          <p:sp>
            <p:nvSpPr>
              <p:cNvPr id="19" name="TextBox 18">
                <a:extLst>
                  <a:ext uri="{FF2B5EF4-FFF2-40B4-BE49-F238E27FC236}">
                    <a16:creationId xmlns:a16="http://schemas.microsoft.com/office/drawing/2014/main" id="{3BF904C3-D96F-B41F-CC46-147E3E11B7BC}"/>
                  </a:ext>
                </a:extLst>
              </p:cNvPr>
              <p:cNvSpPr txBox="1"/>
              <p:nvPr/>
            </p:nvSpPr>
            <p:spPr>
              <a:xfrm>
                <a:off x="150331" y="1408060"/>
                <a:ext cx="574799" cy="923330"/>
              </a:xfrm>
              <a:prstGeom prst="rect">
                <a:avLst/>
              </a:prstGeom>
              <a:noFill/>
              <a:ln w="28575">
                <a:noFill/>
              </a:ln>
            </p:spPr>
            <p:txBody>
              <a:bodyPr wrap="square" rtlCol="0">
                <a:spAutoFit/>
              </a:bodyPr>
              <a:lstStyle/>
              <a:p>
                <a:pPr algn="ctr"/>
                <a:r>
                  <a:rPr lang="en-US" sz="5400">
                    <a:solidFill>
                      <a:srgbClr val="548235">
                        <a:alpha val="80000"/>
                      </a:srgbClr>
                    </a:solidFill>
                    <a:latin typeface="+mj-lt"/>
                  </a:rPr>
                  <a:t>4</a:t>
                </a:r>
              </a:p>
            </p:txBody>
          </p:sp>
        </p:grpSp>
        <p:sp>
          <p:nvSpPr>
            <p:cNvPr id="23" name="TextBox 22">
              <a:extLst>
                <a:ext uri="{FF2B5EF4-FFF2-40B4-BE49-F238E27FC236}">
                  <a16:creationId xmlns:a16="http://schemas.microsoft.com/office/drawing/2014/main" id="{5EC04609-BA86-4753-64BB-CD3F205FC22A}"/>
                </a:ext>
              </a:extLst>
            </p:cNvPr>
            <p:cNvSpPr txBox="1"/>
            <p:nvPr/>
          </p:nvSpPr>
          <p:spPr>
            <a:xfrm>
              <a:off x="625194" y="5027025"/>
              <a:ext cx="8287789" cy="1200329"/>
            </a:xfrm>
            <a:prstGeom prst="rect">
              <a:avLst/>
            </a:prstGeom>
            <a:noFill/>
          </p:spPr>
          <p:txBody>
            <a:bodyPr wrap="square">
              <a:spAutoFit/>
            </a:bodyPr>
            <a:lstStyle/>
            <a:p>
              <a:pPr algn="ctr"/>
              <a:r>
                <a:rPr lang="en-US" sz="2400" b="1">
                  <a:solidFill>
                    <a:srgbClr val="385723"/>
                  </a:solidFill>
                  <a:latin typeface="+mj-lt"/>
                </a:rPr>
                <a:t>Communicate with the simulator developers</a:t>
              </a:r>
              <a:br>
                <a:rPr lang="en-US" sz="2400" b="1">
                  <a:latin typeface="+mj-lt"/>
                </a:rPr>
              </a:br>
              <a:r>
                <a:rPr lang="en-US" sz="2400">
                  <a:solidFill>
                    <a:srgbClr val="385723"/>
                  </a:solidFill>
                  <a:latin typeface="+mj-lt"/>
                </a:rPr>
                <a:t>or user community when unexpected results are observed </a:t>
              </a:r>
              <a:br>
                <a:rPr lang="en-US" sz="2400">
                  <a:solidFill>
                    <a:srgbClr val="385723"/>
                  </a:solidFill>
                  <a:latin typeface="+mj-lt"/>
                </a:rPr>
              </a:br>
              <a:r>
                <a:rPr lang="en-US" sz="2400">
                  <a:solidFill>
                    <a:srgbClr val="385723"/>
                  </a:solidFill>
                  <a:latin typeface="+mj-lt"/>
                </a:rPr>
                <a:t>to ensure correct simulator usage</a:t>
              </a:r>
            </a:p>
          </p:txBody>
        </p:sp>
      </p:grpSp>
    </p:spTree>
    <p:extLst>
      <p:ext uri="{BB962C8B-B14F-4D97-AF65-F5344CB8AC3E}">
        <p14:creationId xmlns:p14="http://schemas.microsoft.com/office/powerpoint/2010/main" val="47708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779A4-8067-B812-AC65-CFD9D8842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5D3C2-49FC-C0E9-9FCD-EE56BFF7A123}"/>
              </a:ext>
            </a:extLst>
          </p:cNvPr>
          <p:cNvSpPr>
            <a:spLocks noGrp="1"/>
          </p:cNvSpPr>
          <p:nvPr>
            <p:ph type="title"/>
          </p:nvPr>
        </p:nvSpPr>
        <p:spPr/>
        <p:txBody>
          <a:bodyPr/>
          <a:lstStyle/>
          <a:p>
            <a:r>
              <a:rPr lang="en-US"/>
              <a:t>Conclusion</a:t>
            </a:r>
          </a:p>
        </p:txBody>
      </p:sp>
      <p:sp>
        <p:nvSpPr>
          <p:cNvPr id="4" name="Slide Number Placeholder 3">
            <a:extLst>
              <a:ext uri="{FF2B5EF4-FFF2-40B4-BE49-F238E27FC236}">
                <a16:creationId xmlns:a16="http://schemas.microsoft.com/office/drawing/2014/main" id="{6399C26D-6E8C-85BE-B502-5FB5B72B9C2A}"/>
              </a:ext>
            </a:extLst>
          </p:cNvPr>
          <p:cNvSpPr>
            <a:spLocks noGrp="1"/>
          </p:cNvSpPr>
          <p:nvPr>
            <p:ph type="sldNum" sz="quarter" idx="12"/>
          </p:nvPr>
        </p:nvSpPr>
        <p:spPr/>
        <p:txBody>
          <a:bodyPr/>
          <a:lstStyle/>
          <a:p>
            <a:fld id="{CBE5B309-C2CE-4D90-B104-F7E98438FC65}" type="slidenum">
              <a:rPr lang="tr-TR" smtClean="0"/>
              <a:pPr/>
              <a:t>29</a:t>
            </a:fld>
            <a:endParaRPr lang="tr-TR"/>
          </a:p>
        </p:txBody>
      </p:sp>
      <p:sp>
        <p:nvSpPr>
          <p:cNvPr id="7" name="Rectangle: Rounded Corners 6">
            <a:extLst>
              <a:ext uri="{FF2B5EF4-FFF2-40B4-BE49-F238E27FC236}">
                <a16:creationId xmlns:a16="http://schemas.microsoft.com/office/drawing/2014/main" id="{3B375C58-BE9A-FBCE-EF01-8B63C79361E5}"/>
              </a:ext>
            </a:extLst>
          </p:cNvPr>
          <p:cNvSpPr/>
          <p:nvPr/>
        </p:nvSpPr>
        <p:spPr>
          <a:xfrm>
            <a:off x="124691" y="1134872"/>
            <a:ext cx="8894618" cy="1164985"/>
          </a:xfrm>
          <a:prstGeom prst="roundRect">
            <a:avLst>
              <a:gd name="adj" fmla="val 0"/>
            </a:avLst>
          </a:prstGeom>
          <a:solidFill>
            <a:srgbClr val="FFE0D5"/>
          </a:solidFill>
          <a:ln w="28575">
            <a:solidFill>
              <a:srgbClr val="FF5F2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200">
                <a:solidFill>
                  <a:srgbClr val="F23F00"/>
                </a:solidFill>
                <a:latin typeface="+mj-lt"/>
              </a:rPr>
              <a:t>A recent paper, </a:t>
            </a:r>
            <a:r>
              <a:rPr lang="en-GB" sz="2200" b="1">
                <a:solidFill>
                  <a:srgbClr val="F23F00"/>
                </a:solidFill>
                <a:latin typeface="+mj-lt"/>
              </a:rPr>
              <a:t>"A Mess of Memory System Benchmarking, Simulation and Application Profiling", </a:t>
            </a:r>
            <a:r>
              <a:rPr lang="en-GB" sz="2200">
                <a:solidFill>
                  <a:srgbClr val="F23F00"/>
                </a:solidFill>
                <a:latin typeface="+mj-lt"/>
              </a:rPr>
              <a:t>MICRO'24 makes </a:t>
            </a:r>
            <a:r>
              <a:rPr lang="en-GB" sz="2200" b="1">
                <a:solidFill>
                  <a:srgbClr val="F23F00"/>
                </a:solidFill>
                <a:latin typeface="+mj-lt"/>
              </a:rPr>
              <a:t>strong negative claims </a:t>
            </a:r>
            <a:br>
              <a:rPr lang="en-GB" sz="2200" b="1">
                <a:solidFill>
                  <a:srgbClr val="F23F00"/>
                </a:solidFill>
                <a:latin typeface="+mj-lt"/>
              </a:rPr>
            </a:br>
            <a:r>
              <a:rPr lang="en-GB" sz="2200">
                <a:solidFill>
                  <a:srgbClr val="F23F00"/>
                </a:solidFill>
                <a:latin typeface="+mj-lt"/>
              </a:rPr>
              <a:t>about Ramulator 2.0 and DAMOV and shows </a:t>
            </a:r>
            <a:r>
              <a:rPr lang="en-GB" sz="2200" b="1">
                <a:solidFill>
                  <a:srgbClr val="F23F00"/>
                </a:solidFill>
                <a:latin typeface="+mj-lt"/>
              </a:rPr>
              <a:t>unexpected results</a:t>
            </a:r>
          </a:p>
        </p:txBody>
      </p:sp>
      <p:sp>
        <p:nvSpPr>
          <p:cNvPr id="10" name="Rectangle: Rounded Corners 9">
            <a:extLst>
              <a:ext uri="{FF2B5EF4-FFF2-40B4-BE49-F238E27FC236}">
                <a16:creationId xmlns:a16="http://schemas.microsoft.com/office/drawing/2014/main" id="{00B6D464-7C54-DC77-DE52-715563C08414}"/>
              </a:ext>
            </a:extLst>
          </p:cNvPr>
          <p:cNvSpPr/>
          <p:nvPr/>
        </p:nvSpPr>
        <p:spPr>
          <a:xfrm>
            <a:off x="124691" y="2584004"/>
            <a:ext cx="8894618" cy="1161658"/>
          </a:xfrm>
          <a:prstGeom prst="roundRect">
            <a:avLst>
              <a:gd name="adj" fmla="val 0"/>
            </a:avLst>
          </a:prstGeom>
          <a:solidFill>
            <a:srgbClr val="E9E5FB"/>
          </a:solidFill>
          <a:ln w="28575">
            <a:solidFill>
              <a:srgbClr val="7A62E7">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200">
                <a:solidFill>
                  <a:srgbClr val="6D40DC"/>
                </a:solidFill>
                <a:latin typeface="+mj-lt"/>
              </a:rPr>
              <a:t>We demonstrate that these claims and results are </a:t>
            </a:r>
            <a:r>
              <a:rPr lang="en-GB" sz="2200" b="1">
                <a:solidFill>
                  <a:srgbClr val="6D40DC"/>
                </a:solidFill>
                <a:latin typeface="+mj-lt"/>
              </a:rPr>
              <a:t>incorrect</a:t>
            </a:r>
            <a:r>
              <a:rPr lang="en-GB" sz="2200">
                <a:solidFill>
                  <a:srgbClr val="6D40DC"/>
                </a:solidFill>
                <a:latin typeface="+mj-lt"/>
              </a:rPr>
              <a:t> </a:t>
            </a:r>
            <a:br>
              <a:rPr lang="en-GB" sz="2200">
                <a:solidFill>
                  <a:srgbClr val="6D40DC"/>
                </a:solidFill>
                <a:latin typeface="+mj-lt"/>
              </a:rPr>
            </a:br>
            <a:r>
              <a:rPr lang="en-GB" sz="2200">
                <a:solidFill>
                  <a:srgbClr val="6D40DC"/>
                </a:solidFill>
                <a:latin typeface="+mj-lt"/>
              </a:rPr>
              <a:t>and are due to </a:t>
            </a:r>
            <a:r>
              <a:rPr lang="en-GB" sz="2200" b="1">
                <a:solidFill>
                  <a:srgbClr val="6D40DC"/>
                </a:solidFill>
                <a:latin typeface="+mj-lt"/>
              </a:rPr>
              <a:t>configuration and simulator usage errors </a:t>
            </a:r>
            <a:r>
              <a:rPr lang="en-GB" sz="2200">
                <a:solidFill>
                  <a:srgbClr val="6D40DC"/>
                </a:solidFill>
                <a:latin typeface="+mj-lt"/>
              </a:rPr>
              <a:t>made </a:t>
            </a:r>
            <a:br>
              <a:rPr lang="en-GB" sz="2200">
                <a:solidFill>
                  <a:srgbClr val="6D40DC"/>
                </a:solidFill>
                <a:latin typeface="+mj-lt"/>
              </a:rPr>
            </a:br>
            <a:r>
              <a:rPr lang="en-GB" sz="2200">
                <a:solidFill>
                  <a:srgbClr val="6D40DC"/>
                </a:solidFill>
                <a:latin typeface="+mj-lt"/>
              </a:rPr>
              <a:t>in the Mess paper</a:t>
            </a:r>
          </a:p>
        </p:txBody>
      </p:sp>
      <p:sp>
        <p:nvSpPr>
          <p:cNvPr id="13" name="Rectangle: Rounded Corners 12">
            <a:extLst>
              <a:ext uri="{FF2B5EF4-FFF2-40B4-BE49-F238E27FC236}">
                <a16:creationId xmlns:a16="http://schemas.microsoft.com/office/drawing/2014/main" id="{44110403-CD25-5D62-4B9C-C4E6D8332D77}"/>
              </a:ext>
            </a:extLst>
          </p:cNvPr>
          <p:cNvSpPr/>
          <p:nvPr/>
        </p:nvSpPr>
        <p:spPr>
          <a:xfrm>
            <a:off x="124691" y="4029809"/>
            <a:ext cx="8894618" cy="1161658"/>
          </a:xfrm>
          <a:prstGeom prst="roundRect">
            <a:avLst>
              <a:gd name="adj" fmla="val 0"/>
            </a:avLst>
          </a:prstGeom>
          <a:solidFill>
            <a:srgbClr val="E2F0D9"/>
          </a:solidFill>
          <a:ln w="28575">
            <a:solidFill>
              <a:srgbClr val="548235">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200">
                <a:solidFill>
                  <a:srgbClr val="385723"/>
                </a:solidFill>
                <a:latin typeface="+mj-lt"/>
              </a:rPr>
              <a:t>We strongly encourage the computer architecture community to consider </a:t>
            </a:r>
            <a:br>
              <a:rPr lang="en-GB" sz="2200">
                <a:solidFill>
                  <a:srgbClr val="385723"/>
                </a:solidFill>
                <a:latin typeface="+mj-lt"/>
              </a:rPr>
            </a:br>
            <a:r>
              <a:rPr lang="en-GB" sz="2200">
                <a:solidFill>
                  <a:srgbClr val="385723"/>
                </a:solidFill>
                <a:latin typeface="+mj-lt"/>
              </a:rPr>
              <a:t>our corrections to the Ramulator 2.0 and DAMOV results of the Mess paper </a:t>
            </a:r>
            <a:br>
              <a:rPr lang="en-GB" sz="2200">
                <a:solidFill>
                  <a:srgbClr val="385723"/>
                </a:solidFill>
                <a:latin typeface="+mj-lt"/>
              </a:rPr>
            </a:br>
            <a:r>
              <a:rPr lang="en-GB" sz="2200">
                <a:solidFill>
                  <a:srgbClr val="385723"/>
                </a:solidFill>
                <a:latin typeface="+mj-lt"/>
              </a:rPr>
              <a:t>to </a:t>
            </a:r>
            <a:r>
              <a:rPr lang="en-GB" sz="2200" b="1">
                <a:solidFill>
                  <a:srgbClr val="385723"/>
                </a:solidFill>
                <a:latin typeface="+mj-lt"/>
              </a:rPr>
              <a:t>prevent the propagation of inaccurate and misleading results</a:t>
            </a:r>
          </a:p>
        </p:txBody>
      </p:sp>
      <p:sp>
        <p:nvSpPr>
          <p:cNvPr id="17" name="Rectangle: Rounded Corners 16">
            <a:extLst>
              <a:ext uri="{FF2B5EF4-FFF2-40B4-BE49-F238E27FC236}">
                <a16:creationId xmlns:a16="http://schemas.microsoft.com/office/drawing/2014/main" id="{31801108-DBA4-673F-8E8E-A4C731677CAA}"/>
              </a:ext>
            </a:extLst>
          </p:cNvPr>
          <p:cNvSpPr/>
          <p:nvPr/>
        </p:nvSpPr>
        <p:spPr>
          <a:xfrm>
            <a:off x="124691" y="5475615"/>
            <a:ext cx="8894618" cy="787832"/>
          </a:xfrm>
          <a:prstGeom prst="roundRect">
            <a:avLst>
              <a:gd name="adj" fmla="val 0"/>
            </a:avLst>
          </a:prstGeom>
          <a:solidFill>
            <a:schemeClr val="bg1">
              <a:lumMod val="95000"/>
            </a:schemeClr>
          </a:solidFill>
          <a:ln w="28575">
            <a:solidFill>
              <a:schemeClr val="tx1">
                <a:lumMod val="50000"/>
                <a:lumOff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200">
                <a:solidFill>
                  <a:schemeClr val="tx1"/>
                </a:solidFill>
                <a:latin typeface="+mj-lt"/>
              </a:rPr>
              <a:t>To facilitate </a:t>
            </a:r>
            <a:r>
              <a:rPr lang="en-GB" sz="2200" b="1">
                <a:solidFill>
                  <a:schemeClr val="tx1"/>
                </a:solidFill>
                <a:latin typeface="+mj-lt"/>
              </a:rPr>
              <a:t>transparency and reproducibility</a:t>
            </a:r>
            <a:r>
              <a:rPr lang="en-GB" sz="2200">
                <a:solidFill>
                  <a:schemeClr val="tx1"/>
                </a:solidFill>
                <a:latin typeface="+mj-lt"/>
              </a:rPr>
              <a:t>, we open source all our </a:t>
            </a:r>
            <a:br>
              <a:rPr lang="en-GB" sz="2200">
                <a:solidFill>
                  <a:schemeClr val="tx1"/>
                </a:solidFill>
                <a:latin typeface="+mj-lt"/>
              </a:rPr>
            </a:br>
            <a:r>
              <a:rPr lang="en-GB" sz="2200">
                <a:solidFill>
                  <a:schemeClr val="tx1"/>
                </a:solidFill>
                <a:latin typeface="+mj-lt"/>
              </a:rPr>
              <a:t>code and results: </a:t>
            </a:r>
            <a:r>
              <a:rPr lang="en-GB" sz="2200">
                <a:solidFill>
                  <a:srgbClr val="385723"/>
                </a:solidFill>
                <a:latin typeface="+mj-lt"/>
                <a:hlinkClick r:id="rId3"/>
              </a:rPr>
              <a:t>https://github.com/CMU-SAFARI/Cleaning-up-the-Mess</a:t>
            </a:r>
            <a:endParaRPr lang="en-GB" sz="2200">
              <a:solidFill>
                <a:srgbClr val="385723"/>
              </a:solidFill>
              <a:latin typeface="+mj-lt"/>
            </a:endParaRPr>
          </a:p>
        </p:txBody>
      </p:sp>
    </p:spTree>
    <p:extLst>
      <p:ext uri="{BB962C8B-B14F-4D97-AF65-F5344CB8AC3E}">
        <p14:creationId xmlns:p14="http://schemas.microsoft.com/office/powerpoint/2010/main" val="211948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D278-F5EB-8545-45C1-21C2381C1DE2}"/>
            </a:ext>
          </a:extLst>
        </p:cNvPr>
        <p:cNvGrpSpPr/>
        <p:nvPr/>
      </p:nvGrpSpPr>
      <p:grpSpPr>
        <a:xfrm>
          <a:off x="0" y="0"/>
          <a:ext cx="0" cy="0"/>
          <a:chOff x="0" y="0"/>
          <a:chExt cx="0" cy="0"/>
        </a:xfrm>
      </p:grpSpPr>
      <p:sp>
        <p:nvSpPr>
          <p:cNvPr id="104" name="Title 1">
            <a:extLst>
              <a:ext uri="{FF2B5EF4-FFF2-40B4-BE49-F238E27FC236}">
                <a16:creationId xmlns:a16="http://schemas.microsoft.com/office/drawing/2014/main" id="{FEF68B9D-DDAB-44DC-B1E0-2DB386828ADD}"/>
              </a:ext>
            </a:extLst>
          </p:cNvPr>
          <p:cNvSpPr txBox="1">
            <a:spLocks/>
          </p:cNvSpPr>
          <p:nvPr/>
        </p:nvSpPr>
        <p:spPr>
          <a:xfrm>
            <a:off x="0" y="-1"/>
            <a:ext cx="9144000" cy="3979309"/>
          </a:xfrm>
          <a:prstGeom prst="rect">
            <a:avLst/>
          </a:prstGeom>
          <a:solidFill>
            <a:srgbClr val="CFDEFD"/>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6600" b="1">
              <a:solidFill>
                <a:srgbClr val="70AD47"/>
              </a:solidFill>
            </a:endParaRPr>
          </a:p>
        </p:txBody>
      </p:sp>
      <p:pic>
        <p:nvPicPr>
          <p:cNvPr id="2" name="Picture 1" descr="A red circle with white text&#10;&#10;AI-generated content may be incorrect.">
            <a:extLst>
              <a:ext uri="{FF2B5EF4-FFF2-40B4-BE49-F238E27FC236}">
                <a16:creationId xmlns:a16="http://schemas.microsoft.com/office/drawing/2014/main" id="{8B044086-0C09-362A-C065-ED4C41171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7104" y="139787"/>
            <a:ext cx="984643" cy="979434"/>
          </a:xfrm>
          <a:prstGeom prst="rect">
            <a:avLst/>
          </a:prstGeom>
        </p:spPr>
      </p:pic>
      <p:pic>
        <p:nvPicPr>
          <p:cNvPr id="4" name="Picture 3"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0934AC58-6FF3-9106-6348-750A1C2966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5376" y="139787"/>
            <a:ext cx="984643" cy="979434"/>
          </a:xfrm>
          <a:prstGeom prst="rect">
            <a:avLst/>
          </a:prstGeom>
        </p:spPr>
      </p:pic>
      <p:pic>
        <p:nvPicPr>
          <p:cNvPr id="5" name="Picture 4" descr="A blue circle with white text&#10;&#10;AI-generated content may be incorrect.">
            <a:extLst>
              <a:ext uri="{FF2B5EF4-FFF2-40B4-BE49-F238E27FC236}">
                <a16:creationId xmlns:a16="http://schemas.microsoft.com/office/drawing/2014/main" id="{AB577322-3F4F-3CF5-1640-FCAB40E241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8833" y="139787"/>
            <a:ext cx="984643" cy="979434"/>
          </a:xfrm>
          <a:prstGeom prst="rect">
            <a:avLst/>
          </a:prstGeom>
        </p:spPr>
      </p:pic>
      <p:sp>
        <p:nvSpPr>
          <p:cNvPr id="102" name="Title 1">
            <a:extLst>
              <a:ext uri="{FF2B5EF4-FFF2-40B4-BE49-F238E27FC236}">
                <a16:creationId xmlns:a16="http://schemas.microsoft.com/office/drawing/2014/main" id="{01EE38A4-30C0-43A4-C043-2CB89A76E4D4}"/>
              </a:ext>
            </a:extLst>
          </p:cNvPr>
          <p:cNvSpPr>
            <a:spLocks noGrp="1"/>
          </p:cNvSpPr>
          <p:nvPr>
            <p:ph type="ctrTitle"/>
          </p:nvPr>
        </p:nvSpPr>
        <p:spPr>
          <a:xfrm>
            <a:off x="374556" y="1549927"/>
            <a:ext cx="8394888" cy="2387600"/>
          </a:xfrm>
          <a:prstGeom prst="rect">
            <a:avLst/>
          </a:prstGeom>
          <a:noFill/>
        </p:spPr>
        <p:txBody>
          <a:bodyPr anchor="ctr">
            <a:noAutofit/>
          </a:bodyPr>
          <a:lstStyle/>
          <a:p>
            <a:pPr algn="ctr">
              <a:lnSpc>
                <a:spcPct val="75000"/>
              </a:lnSpc>
            </a:pPr>
            <a:r>
              <a:rPr lang="en-US" b="1">
                <a:solidFill>
                  <a:srgbClr val="DC5F0B"/>
                </a:solidFill>
              </a:rPr>
              <a:t>Cleaning up the Mess</a:t>
            </a:r>
            <a:br>
              <a:rPr lang="en-US" sz="5400" b="1">
                <a:solidFill>
                  <a:srgbClr val="DC5F0B"/>
                </a:solidFill>
              </a:rPr>
            </a:br>
            <a:br>
              <a:rPr lang="en-US" sz="1000" b="1">
                <a:solidFill>
                  <a:srgbClr val="DC5F0B"/>
                </a:solidFill>
              </a:rPr>
            </a:br>
            <a:r>
              <a:rPr lang="en-US" sz="3600" b="1" spc="100"/>
              <a:t>Re-Evaluating the Real-System</a:t>
            </a:r>
            <a:br>
              <a:rPr lang="en-US" sz="3600" b="1" spc="100"/>
            </a:br>
            <a:r>
              <a:rPr lang="en-US" sz="3600" b="1" spc="100"/>
              <a:t>Modeling Accuracy of </a:t>
            </a:r>
            <a:r>
              <a:rPr lang="en-US" sz="3600" b="1" spc="100" err="1"/>
              <a:t>Ramulator</a:t>
            </a:r>
            <a:r>
              <a:rPr lang="en-US" sz="3600" b="1" spc="100"/>
              <a:t> 2.0</a:t>
            </a:r>
            <a:endParaRPr lang="en-US" sz="4800" b="1" spc="100">
              <a:cs typeface="Cambria"/>
            </a:endParaRPr>
          </a:p>
        </p:txBody>
      </p:sp>
      <p:sp>
        <p:nvSpPr>
          <p:cNvPr id="103" name="Subtitle 2">
            <a:extLst>
              <a:ext uri="{FF2B5EF4-FFF2-40B4-BE49-F238E27FC236}">
                <a16:creationId xmlns:a16="http://schemas.microsoft.com/office/drawing/2014/main" id="{6394D9A4-AB11-3DA6-3203-687995C8D978}"/>
              </a:ext>
            </a:extLst>
          </p:cNvPr>
          <p:cNvSpPr>
            <a:spLocks noGrp="1"/>
          </p:cNvSpPr>
          <p:nvPr>
            <p:ph type="subTitle" idx="1"/>
          </p:nvPr>
        </p:nvSpPr>
        <p:spPr>
          <a:xfrm>
            <a:off x="374556" y="4100370"/>
            <a:ext cx="8394888" cy="1907493"/>
          </a:xfrm>
          <a:prstGeom prst="rect">
            <a:avLst/>
          </a:prstGeom>
        </p:spPr>
        <p:txBody>
          <a:bodyPr anchor="ctr">
            <a:noAutofit/>
          </a:bodyPr>
          <a:lstStyle/>
          <a:p>
            <a:pPr marL="0" indent="0" algn="ctr">
              <a:lnSpc>
                <a:spcPct val="100000"/>
              </a:lnSpc>
              <a:buNone/>
            </a:pPr>
            <a:r>
              <a:rPr lang="en-US">
                <a:latin typeface="+mj-lt"/>
                <a:cs typeface="Cambria"/>
              </a:rPr>
              <a:t>F. Nisa </a:t>
            </a:r>
            <a:r>
              <a:rPr lang="en-US" err="1">
                <a:latin typeface="+mj-lt"/>
                <a:cs typeface="Cambria"/>
              </a:rPr>
              <a:t>Bostanc</a:t>
            </a:r>
            <a:r>
              <a:rPr lang="tr-TR">
                <a:latin typeface="+mj-lt"/>
                <a:cs typeface="Cambria"/>
              </a:rPr>
              <a:t>ı</a:t>
            </a:r>
            <a:r>
              <a:rPr lang="en-US">
                <a:latin typeface="+mj-lt"/>
                <a:cs typeface="Cambria"/>
              </a:rPr>
              <a:t>*	</a:t>
            </a:r>
            <a:r>
              <a:rPr lang="en-US" err="1">
                <a:latin typeface="+mj-lt"/>
                <a:cs typeface="Cambria"/>
              </a:rPr>
              <a:t>Haocong</a:t>
            </a:r>
            <a:r>
              <a:rPr lang="en-US">
                <a:latin typeface="+mj-lt"/>
                <a:cs typeface="Cambria"/>
              </a:rPr>
              <a:t> Luo*		</a:t>
            </a:r>
            <a:r>
              <a:rPr lang="en-US" err="1">
                <a:solidFill>
                  <a:schemeClr val="bg2">
                    <a:lumMod val="50000"/>
                  </a:schemeClr>
                </a:solidFill>
                <a:latin typeface="+mj-lt"/>
                <a:cs typeface="Cambria"/>
              </a:rPr>
              <a:t>Ataberk</a:t>
            </a:r>
            <a:r>
              <a:rPr lang="en-US">
                <a:solidFill>
                  <a:schemeClr val="bg2">
                    <a:lumMod val="50000"/>
                  </a:schemeClr>
                </a:solidFill>
                <a:latin typeface="+mj-lt"/>
                <a:cs typeface="Cambria"/>
              </a:rPr>
              <a:t> Olgun*</a:t>
            </a:r>
            <a:br>
              <a:rPr lang="en-US">
                <a:solidFill>
                  <a:schemeClr val="bg2">
                    <a:lumMod val="50000"/>
                  </a:schemeClr>
                </a:solidFill>
                <a:latin typeface="+mj-lt"/>
                <a:cs typeface="Cambria"/>
              </a:rPr>
            </a:br>
            <a:r>
              <a:rPr lang="en-US">
                <a:solidFill>
                  <a:schemeClr val="bg2">
                    <a:lumMod val="50000"/>
                  </a:schemeClr>
                </a:solidFill>
                <a:latin typeface="+mj-lt"/>
                <a:cs typeface="Cambria"/>
              </a:rPr>
              <a:t>Maria </a:t>
            </a:r>
            <a:r>
              <a:rPr lang="en-US" err="1">
                <a:solidFill>
                  <a:schemeClr val="bg2">
                    <a:lumMod val="50000"/>
                  </a:schemeClr>
                </a:solidFill>
                <a:latin typeface="+mj-lt"/>
                <a:cs typeface="Cambria"/>
              </a:rPr>
              <a:t>Makeenkova</a:t>
            </a:r>
            <a:r>
              <a:rPr lang="en-US">
                <a:solidFill>
                  <a:schemeClr val="bg2">
                    <a:lumMod val="50000"/>
                  </a:schemeClr>
                </a:solidFill>
                <a:latin typeface="+mj-lt"/>
                <a:cs typeface="Cambria"/>
              </a:rPr>
              <a:t>	Geraldo F. de Oliveira</a:t>
            </a:r>
            <a:br>
              <a:rPr lang="en-US">
                <a:solidFill>
                  <a:schemeClr val="bg2">
                    <a:lumMod val="50000"/>
                  </a:schemeClr>
                </a:solidFill>
                <a:latin typeface="+mj-lt"/>
                <a:cs typeface="Cambria"/>
              </a:rPr>
            </a:br>
            <a:r>
              <a:rPr lang="en-US">
                <a:solidFill>
                  <a:schemeClr val="bg2">
                    <a:lumMod val="50000"/>
                  </a:schemeClr>
                </a:solidFill>
                <a:latin typeface="+mj-lt"/>
                <a:cs typeface="Cambria"/>
              </a:rPr>
              <a:t>A. Giray Ya</a:t>
            </a:r>
            <a:r>
              <a:rPr lang="tr-TR" err="1">
                <a:solidFill>
                  <a:schemeClr val="bg2">
                    <a:lumMod val="50000"/>
                  </a:schemeClr>
                </a:solidFill>
                <a:latin typeface="+mj-lt"/>
                <a:cs typeface="Cambria"/>
              </a:rPr>
              <a:t>ğlıkçı</a:t>
            </a:r>
            <a:r>
              <a:rPr lang="en-US">
                <a:solidFill>
                  <a:schemeClr val="bg2">
                    <a:lumMod val="50000"/>
                  </a:schemeClr>
                </a:solidFill>
                <a:latin typeface="+mj-lt"/>
                <a:cs typeface="Cambria"/>
              </a:rPr>
              <a:t>	Onur Mutlu</a:t>
            </a:r>
            <a:br>
              <a:rPr lang="en-US">
                <a:solidFill>
                  <a:schemeClr val="bg2">
                    <a:lumMod val="50000"/>
                  </a:schemeClr>
                </a:solidFill>
                <a:latin typeface="+mj-lt"/>
                <a:cs typeface="Cambria"/>
              </a:rPr>
            </a:br>
            <a:br>
              <a:rPr lang="en-US" sz="1000">
                <a:solidFill>
                  <a:schemeClr val="bg2">
                    <a:lumMod val="50000"/>
                  </a:schemeClr>
                </a:solidFill>
                <a:latin typeface="+mj-lt"/>
                <a:cs typeface="Cambria"/>
              </a:rPr>
            </a:br>
            <a:r>
              <a:rPr lang="en-US" sz="1800">
                <a:solidFill>
                  <a:schemeClr val="bg2">
                    <a:lumMod val="75000"/>
                  </a:schemeClr>
                </a:solidFill>
                <a:latin typeface="+mj-lt"/>
                <a:cs typeface="Cambria"/>
              </a:rPr>
              <a:t>* Equal Contribution</a:t>
            </a:r>
          </a:p>
        </p:txBody>
      </p:sp>
      <p:pic>
        <p:nvPicPr>
          <p:cNvPr id="3" name="Graphic 2">
            <a:extLst>
              <a:ext uri="{FF2B5EF4-FFF2-40B4-BE49-F238E27FC236}">
                <a16:creationId xmlns:a16="http://schemas.microsoft.com/office/drawing/2014/main" id="{426D430D-03BE-A814-6ECE-4429B4A510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556" y="6128926"/>
            <a:ext cx="2176678" cy="418752"/>
          </a:xfrm>
          <a:prstGeom prst="rect">
            <a:avLst/>
          </a:prstGeom>
        </p:spPr>
      </p:pic>
      <p:pic>
        <p:nvPicPr>
          <p:cNvPr id="10" name="Picture 9">
            <a:extLst>
              <a:ext uri="{FF2B5EF4-FFF2-40B4-BE49-F238E27FC236}">
                <a16:creationId xmlns:a16="http://schemas.microsoft.com/office/drawing/2014/main" id="{86D3047F-1C26-7609-FD56-5C17D591B064}"/>
              </a:ext>
            </a:extLst>
          </p:cNvPr>
          <p:cNvPicPr>
            <a:picLocks noChangeAspect="1"/>
          </p:cNvPicPr>
          <p:nvPr userDrawn="1"/>
        </p:nvPicPr>
        <p:blipFill rotWithShape="1">
          <a:blip r:embed="rId7"/>
          <a:srcRect l="11820" t="33599" r="12247" b="30996"/>
          <a:stretch/>
        </p:blipFill>
        <p:spPr>
          <a:xfrm>
            <a:off x="6111979" y="6090478"/>
            <a:ext cx="2657465" cy="457200"/>
          </a:xfrm>
          <a:prstGeom prst="rect">
            <a:avLst/>
          </a:prstGeom>
        </p:spPr>
      </p:pic>
      <p:grpSp>
        <p:nvGrpSpPr>
          <p:cNvPr id="12" name="Group 11">
            <a:extLst>
              <a:ext uri="{FF2B5EF4-FFF2-40B4-BE49-F238E27FC236}">
                <a16:creationId xmlns:a16="http://schemas.microsoft.com/office/drawing/2014/main" id="{E195531C-08BF-1755-B3C7-D4E2FD33E237}"/>
              </a:ext>
            </a:extLst>
          </p:cNvPr>
          <p:cNvGrpSpPr/>
          <p:nvPr/>
        </p:nvGrpSpPr>
        <p:grpSpPr>
          <a:xfrm>
            <a:off x="190524" y="174423"/>
            <a:ext cx="1127875" cy="1445871"/>
            <a:chOff x="190524" y="174423"/>
            <a:chExt cx="1127875" cy="1445871"/>
          </a:xfrm>
        </p:grpSpPr>
        <p:pic>
          <p:nvPicPr>
            <p:cNvPr id="1026" name="Picture 2" descr="QR Code Image">
              <a:extLst>
                <a:ext uri="{FF2B5EF4-FFF2-40B4-BE49-F238E27FC236}">
                  <a16:creationId xmlns:a16="http://schemas.microsoft.com/office/drawing/2014/main" id="{810C4DB0-66FD-A9F8-F30F-F8BEBAA5F8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24" y="174423"/>
              <a:ext cx="1127875" cy="11278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D81523B-65C0-0F88-EA6C-CC9771F1F3D2}"/>
                </a:ext>
              </a:extLst>
            </p:cNvPr>
            <p:cNvSpPr txBox="1"/>
            <p:nvPr/>
          </p:nvSpPr>
          <p:spPr>
            <a:xfrm>
              <a:off x="222069" y="1281740"/>
              <a:ext cx="1084217" cy="338554"/>
            </a:xfrm>
            <a:prstGeom prst="rect">
              <a:avLst/>
            </a:prstGeom>
            <a:noFill/>
          </p:spPr>
          <p:txBody>
            <a:bodyPr wrap="square" rtlCol="0">
              <a:spAutoFit/>
            </a:bodyPr>
            <a:lstStyle/>
            <a:p>
              <a:pPr algn="ctr"/>
              <a:r>
                <a:rPr lang="en-US" sz="1600" b="1" i="1">
                  <a:latin typeface="+mj-lt"/>
                </a:rPr>
                <a:t>Paper</a:t>
              </a:r>
            </a:p>
          </p:txBody>
        </p:sp>
      </p:grpSp>
      <p:grpSp>
        <p:nvGrpSpPr>
          <p:cNvPr id="11" name="Group 10">
            <a:extLst>
              <a:ext uri="{FF2B5EF4-FFF2-40B4-BE49-F238E27FC236}">
                <a16:creationId xmlns:a16="http://schemas.microsoft.com/office/drawing/2014/main" id="{79D44F35-2FDA-3350-9040-0DDD2DB53DCA}"/>
              </a:ext>
            </a:extLst>
          </p:cNvPr>
          <p:cNvGrpSpPr/>
          <p:nvPr/>
        </p:nvGrpSpPr>
        <p:grpSpPr>
          <a:xfrm>
            <a:off x="1423359" y="174422"/>
            <a:ext cx="1127875" cy="1471575"/>
            <a:chOff x="1423359" y="174422"/>
            <a:chExt cx="1127875" cy="1471575"/>
          </a:xfrm>
        </p:grpSpPr>
        <p:pic>
          <p:nvPicPr>
            <p:cNvPr id="1028" name="Picture 4" descr="QR Code Image">
              <a:extLst>
                <a:ext uri="{FF2B5EF4-FFF2-40B4-BE49-F238E27FC236}">
                  <a16:creationId xmlns:a16="http://schemas.microsoft.com/office/drawing/2014/main" id="{6B43F2DD-01BC-0882-2FA8-E3D9E79B2E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3359" y="174422"/>
              <a:ext cx="1127875" cy="11278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F77062D-11BD-801B-3179-F94B52E6F7ED}"/>
                </a:ext>
              </a:extLst>
            </p:cNvPr>
            <p:cNvSpPr txBox="1"/>
            <p:nvPr/>
          </p:nvSpPr>
          <p:spPr>
            <a:xfrm>
              <a:off x="1445187" y="1307443"/>
              <a:ext cx="1084217" cy="338554"/>
            </a:xfrm>
            <a:prstGeom prst="rect">
              <a:avLst/>
            </a:prstGeom>
            <a:noFill/>
          </p:spPr>
          <p:txBody>
            <a:bodyPr wrap="square" rtlCol="0">
              <a:spAutoFit/>
            </a:bodyPr>
            <a:lstStyle/>
            <a:p>
              <a:pPr algn="ctr"/>
              <a:r>
                <a:rPr lang="en-US" sz="1600" b="1" i="1">
                  <a:latin typeface="+mj-lt"/>
                </a:rPr>
                <a:t>GitHub</a:t>
              </a:r>
            </a:p>
          </p:txBody>
        </p:sp>
      </p:grpSp>
    </p:spTree>
    <p:extLst>
      <p:ext uri="{BB962C8B-B14F-4D97-AF65-F5344CB8AC3E}">
        <p14:creationId xmlns:p14="http://schemas.microsoft.com/office/powerpoint/2010/main" val="614442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ED0B8-4FD1-8116-57CF-9CB47BEF4D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EA83AA-AD99-7FB0-EA8C-A34AC675D1D8}"/>
              </a:ext>
            </a:extLst>
          </p:cNvPr>
          <p:cNvSpPr>
            <a:spLocks noGrp="1"/>
          </p:cNvSpPr>
          <p:nvPr>
            <p:ph type="ctrTitle"/>
          </p:nvPr>
        </p:nvSpPr>
        <p:spPr>
          <a:xfrm>
            <a:off x="685800" y="1907223"/>
            <a:ext cx="7772400" cy="2387600"/>
          </a:xfrm>
        </p:spPr>
        <p:txBody>
          <a:bodyPr>
            <a:normAutofit fontScale="90000"/>
          </a:bodyPr>
          <a:lstStyle/>
          <a:p>
            <a:r>
              <a:rPr lang="en-US" b="1" dirty="0" err="1">
                <a:solidFill>
                  <a:srgbClr val="316CE3"/>
                </a:solidFill>
              </a:rPr>
              <a:t>RowHammer</a:t>
            </a:r>
            <a:r>
              <a:rPr lang="en-US" b="1" dirty="0">
                <a:solidFill>
                  <a:srgbClr val="316CE3"/>
                </a:solidFill>
              </a:rPr>
              <a:t> Mitigation Evaluation </a:t>
            </a:r>
            <a:br>
              <a:rPr lang="en-US" b="1" dirty="0">
                <a:solidFill>
                  <a:srgbClr val="316CE3"/>
                </a:solidFill>
              </a:rPr>
            </a:br>
            <a:r>
              <a:rPr lang="en-US" b="1" dirty="0">
                <a:solidFill>
                  <a:srgbClr val="316CE3"/>
                </a:solidFill>
              </a:rPr>
              <a:t>Research Highlights</a:t>
            </a:r>
          </a:p>
        </p:txBody>
      </p:sp>
      <p:sp>
        <p:nvSpPr>
          <p:cNvPr id="6" name="Subtitle 5">
            <a:extLst>
              <a:ext uri="{FF2B5EF4-FFF2-40B4-BE49-F238E27FC236}">
                <a16:creationId xmlns:a16="http://schemas.microsoft.com/office/drawing/2014/main" id="{D1DEBB8A-FE17-A36D-B96A-450634B7912F}"/>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9AF7299D-DF99-3B2A-6886-F05CBE5896B2}"/>
              </a:ext>
            </a:extLst>
          </p:cNvPr>
          <p:cNvSpPr>
            <a:spLocks noGrp="1"/>
          </p:cNvSpPr>
          <p:nvPr>
            <p:ph type="sldNum" sz="quarter" idx="12"/>
          </p:nvPr>
        </p:nvSpPr>
        <p:spPr/>
        <p:txBody>
          <a:bodyPr/>
          <a:lstStyle/>
          <a:p>
            <a:fld id="{CBE5B309-C2CE-4D90-B104-F7E98438FC65}" type="slidenum">
              <a:rPr lang="tr-TR" smtClean="0"/>
              <a:pPr/>
              <a:t>31</a:t>
            </a:fld>
            <a:endParaRPr lang="tr-TR" dirty="0"/>
          </a:p>
        </p:txBody>
      </p:sp>
    </p:spTree>
    <p:extLst>
      <p:ext uri="{BB962C8B-B14F-4D97-AF65-F5344CB8AC3E}">
        <p14:creationId xmlns:p14="http://schemas.microsoft.com/office/powerpoint/2010/main" val="2848204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67AA3-3DAD-E4AE-1AC6-A6B1B3707BE6}"/>
              </a:ext>
            </a:extLst>
          </p:cNvPr>
          <p:cNvSpPr>
            <a:spLocks noGrp="1"/>
          </p:cNvSpPr>
          <p:nvPr>
            <p:ph type="title"/>
          </p:nvPr>
        </p:nvSpPr>
        <p:spPr/>
        <p:txBody>
          <a:bodyPr/>
          <a:lstStyle/>
          <a:p>
            <a:r>
              <a:rPr lang="en-US" dirty="0"/>
              <a:t>Implementing Many </a:t>
            </a:r>
            <a:r>
              <a:rPr lang="en-US" dirty="0" err="1"/>
              <a:t>RowHammer</a:t>
            </a:r>
            <a:r>
              <a:rPr lang="en-US" dirty="0"/>
              <a:t> Mitigations in </a:t>
            </a:r>
            <a:r>
              <a:rPr lang="en-US" dirty="0" err="1"/>
              <a:t>Ramulator</a:t>
            </a:r>
            <a:r>
              <a:rPr lang="en-US" dirty="0"/>
              <a:t> 2.0</a:t>
            </a:r>
          </a:p>
        </p:txBody>
      </p:sp>
      <p:sp>
        <p:nvSpPr>
          <p:cNvPr id="4" name="Slide Number Placeholder 3">
            <a:extLst>
              <a:ext uri="{FF2B5EF4-FFF2-40B4-BE49-F238E27FC236}">
                <a16:creationId xmlns:a16="http://schemas.microsoft.com/office/drawing/2014/main" id="{A6D2A643-7FD0-D9A6-14E6-D758525432A8}"/>
              </a:ext>
            </a:extLst>
          </p:cNvPr>
          <p:cNvSpPr>
            <a:spLocks noGrp="1"/>
          </p:cNvSpPr>
          <p:nvPr>
            <p:ph type="sldNum" sz="quarter" idx="12"/>
          </p:nvPr>
        </p:nvSpPr>
        <p:spPr/>
        <p:txBody>
          <a:bodyPr/>
          <a:lstStyle/>
          <a:p>
            <a:fld id="{CBE5B309-C2CE-4D90-B104-F7E98438FC65}" type="slidenum">
              <a:rPr lang="tr-TR" smtClean="0"/>
              <a:pPr/>
              <a:t>32</a:t>
            </a:fld>
            <a:endParaRPr lang="tr-TR" dirty="0"/>
          </a:p>
        </p:txBody>
      </p:sp>
      <p:sp>
        <p:nvSpPr>
          <p:cNvPr id="10" name="Content Placeholder 9">
            <a:extLst>
              <a:ext uri="{FF2B5EF4-FFF2-40B4-BE49-F238E27FC236}">
                <a16:creationId xmlns:a16="http://schemas.microsoft.com/office/drawing/2014/main" id="{C79B05DA-DA4A-0DAD-583C-214FCC39F7B8}"/>
              </a:ext>
            </a:extLst>
          </p:cNvPr>
          <p:cNvSpPr>
            <a:spLocks noGrp="1"/>
          </p:cNvSpPr>
          <p:nvPr>
            <p:ph idx="1"/>
          </p:nvPr>
        </p:nvSpPr>
        <p:spPr>
          <a:xfrm>
            <a:off x="-1" y="1117869"/>
            <a:ext cx="9143999" cy="5059093"/>
          </a:xfrm>
        </p:spPr>
        <p:txBody>
          <a:bodyPr>
            <a:normAutofit/>
          </a:bodyPr>
          <a:lstStyle/>
          <a:p>
            <a:r>
              <a:rPr lang="en-US" sz="2400" dirty="0" err="1">
                <a:solidFill>
                  <a:srgbClr val="000000"/>
                </a:solidFill>
              </a:rPr>
              <a:t>Haocong</a:t>
            </a:r>
            <a:r>
              <a:rPr lang="en-US" sz="2400" dirty="0">
                <a:solidFill>
                  <a:srgbClr val="000000"/>
                </a:solidFill>
              </a:rPr>
              <a:t> Luo, Yahya Can </a:t>
            </a:r>
            <a:r>
              <a:rPr lang="en-US" sz="2400" dirty="0" err="1">
                <a:solidFill>
                  <a:srgbClr val="000000"/>
                </a:solidFill>
              </a:rPr>
              <a:t>Tugrul</a:t>
            </a:r>
            <a:r>
              <a:rPr lang="en-US" sz="2400" dirty="0">
                <a:solidFill>
                  <a:srgbClr val="000000"/>
                </a:solidFill>
              </a:rPr>
              <a:t>, F. Nisa Bostanci, </a:t>
            </a:r>
            <a:r>
              <a:rPr lang="en-US" sz="2400" dirty="0" err="1">
                <a:solidFill>
                  <a:srgbClr val="000000"/>
                </a:solidFill>
              </a:rPr>
              <a:t>Ataberk</a:t>
            </a:r>
            <a:r>
              <a:rPr lang="en-US" sz="2400" dirty="0">
                <a:solidFill>
                  <a:srgbClr val="000000"/>
                </a:solidFill>
              </a:rPr>
              <a:t> Olgun, A. Giray </a:t>
            </a:r>
            <a:r>
              <a:rPr lang="en-US" sz="2400" dirty="0" err="1">
                <a:solidFill>
                  <a:srgbClr val="000000"/>
                </a:solidFill>
              </a:rPr>
              <a:t>Yaglikci</a:t>
            </a:r>
            <a:r>
              <a:rPr lang="en-US" sz="2400" dirty="0">
                <a:solidFill>
                  <a:srgbClr val="000000"/>
                </a:solidFill>
              </a:rPr>
              <a:t>, and Onur Mutlu,</a:t>
            </a:r>
            <a:br>
              <a:rPr lang="en-US" sz="2400" dirty="0">
                <a:solidFill>
                  <a:srgbClr val="000000"/>
                </a:solidFill>
              </a:rPr>
            </a:br>
            <a:r>
              <a:rPr lang="en-US" sz="2400" b="1" dirty="0">
                <a:solidFill>
                  <a:srgbClr val="0000FF"/>
                </a:solidFill>
                <a:hlinkClick r:id="rId2">
                  <a:extLst>
                    <a:ext uri="{A12FA001-AC4F-418D-AE19-62706E023703}">
                      <ahyp:hlinkClr xmlns:ahyp="http://schemas.microsoft.com/office/drawing/2018/hyperlinkcolor" val="tx"/>
                    </a:ext>
                  </a:extLst>
                </a:hlinkClick>
              </a:rPr>
              <a:t>"</a:t>
            </a:r>
            <a:r>
              <a:rPr lang="en-US" sz="2400" b="1" dirty="0" err="1">
                <a:solidFill>
                  <a:srgbClr val="0000FF"/>
                </a:solidFill>
                <a:hlinkClick r:id="rId2">
                  <a:extLst>
                    <a:ext uri="{A12FA001-AC4F-418D-AE19-62706E023703}">
                      <ahyp:hlinkClr xmlns:ahyp="http://schemas.microsoft.com/office/drawing/2018/hyperlinkcolor" val="tx"/>
                    </a:ext>
                  </a:extLst>
                </a:hlinkClick>
              </a:rPr>
              <a:t>Ramulator</a:t>
            </a:r>
            <a:r>
              <a:rPr lang="en-US" sz="2400" b="1" dirty="0">
                <a:solidFill>
                  <a:srgbClr val="0000FF"/>
                </a:solidFill>
                <a:hlinkClick r:id="rId2">
                  <a:extLst>
                    <a:ext uri="{A12FA001-AC4F-418D-AE19-62706E023703}">
                      <ahyp:hlinkClr xmlns:ahyp="http://schemas.microsoft.com/office/drawing/2018/hyperlinkcolor" val="tx"/>
                    </a:ext>
                  </a:extLst>
                </a:hlinkClick>
              </a:rPr>
              <a:t> 2.0: A Modern, Modular, and Extensible DRAM Simulator"</a:t>
            </a:r>
            <a:br>
              <a:rPr lang="en-US" sz="2400" dirty="0">
                <a:solidFill>
                  <a:srgbClr val="000000"/>
                </a:solidFill>
              </a:rPr>
            </a:br>
            <a:r>
              <a:rPr lang="en-US" sz="2400" i="1" dirty="0">
                <a:solidFill>
                  <a:srgbClr val="000000"/>
                </a:solidFill>
              </a:rPr>
              <a:t>Preprint on </a:t>
            </a:r>
            <a:r>
              <a:rPr lang="en-US" sz="2400" b="1" i="1" dirty="0" err="1">
                <a:solidFill>
                  <a:srgbClr val="000000"/>
                </a:solidFill>
              </a:rPr>
              <a:t>arxiv</a:t>
            </a:r>
            <a:r>
              <a:rPr lang="en-US" sz="2400" dirty="0">
                <a:solidFill>
                  <a:srgbClr val="000000"/>
                </a:solidFill>
              </a:rPr>
              <a:t>, August 2023.</a:t>
            </a:r>
            <a:br>
              <a:rPr lang="en-US" sz="2400" dirty="0">
                <a:solidFill>
                  <a:srgbClr val="000000"/>
                </a:solidFill>
              </a:rPr>
            </a:br>
            <a:r>
              <a:rPr lang="en-US" sz="2400" dirty="0">
                <a:solidFill>
                  <a:srgbClr val="000000"/>
                </a:solidFill>
              </a:rPr>
              <a:t>[</a:t>
            </a:r>
            <a:r>
              <a:rPr lang="en-US" sz="2400" dirty="0" err="1">
                <a:solidFill>
                  <a:srgbClr val="000000"/>
                </a:solidFill>
                <a:hlinkClick r:id="rId3"/>
              </a:rPr>
              <a:t>arXiv</a:t>
            </a:r>
            <a:r>
              <a:rPr lang="en-US" sz="2400" dirty="0">
                <a:solidFill>
                  <a:srgbClr val="000000"/>
                </a:solidFill>
                <a:hlinkClick r:id="rId3"/>
              </a:rPr>
              <a:t> version</a:t>
            </a:r>
            <a:r>
              <a:rPr lang="en-US" sz="2400" dirty="0">
                <a:solidFill>
                  <a:srgbClr val="000000"/>
                </a:solidFill>
              </a:rPr>
              <a:t>]</a:t>
            </a:r>
            <a:br>
              <a:rPr lang="en-US" sz="2400" dirty="0">
                <a:solidFill>
                  <a:srgbClr val="000000"/>
                </a:solidFill>
              </a:rPr>
            </a:br>
            <a:r>
              <a:rPr lang="en-US" sz="2400" dirty="0">
                <a:solidFill>
                  <a:srgbClr val="000000"/>
                </a:solidFill>
              </a:rPr>
              <a:t>[</a:t>
            </a:r>
            <a:r>
              <a:rPr lang="en-US" sz="2400" dirty="0" err="1">
                <a:solidFill>
                  <a:srgbClr val="000000"/>
                </a:solidFill>
                <a:hlinkClick r:id="rId4"/>
              </a:rPr>
              <a:t>Ramulator</a:t>
            </a:r>
            <a:r>
              <a:rPr lang="en-US" sz="2400" dirty="0">
                <a:solidFill>
                  <a:srgbClr val="000000"/>
                </a:solidFill>
                <a:hlinkClick r:id="rId4"/>
              </a:rPr>
              <a:t> 2.0 Source Code</a:t>
            </a:r>
            <a:r>
              <a:rPr lang="en-US" sz="2400" dirty="0">
                <a:solidFill>
                  <a:srgbClr val="000000"/>
                </a:solidFill>
              </a:rPr>
              <a:t>]</a:t>
            </a:r>
          </a:p>
          <a:p>
            <a:pPr marL="0" indent="0">
              <a:buNone/>
            </a:pPr>
            <a:endParaRPr lang="en-US" sz="2400" dirty="0"/>
          </a:p>
          <a:p>
            <a:endParaRPr lang="en-US" sz="2400" dirty="0"/>
          </a:p>
        </p:txBody>
      </p:sp>
      <p:pic>
        <p:nvPicPr>
          <p:cNvPr id="11" name="Picture 10">
            <a:extLst>
              <a:ext uri="{FF2B5EF4-FFF2-40B4-BE49-F238E27FC236}">
                <a16:creationId xmlns:a16="http://schemas.microsoft.com/office/drawing/2014/main" id="{9795774F-5D70-61E0-7623-F014CAF6DB87}"/>
              </a:ext>
            </a:extLst>
          </p:cNvPr>
          <p:cNvPicPr>
            <a:picLocks noChangeAspect="1"/>
          </p:cNvPicPr>
          <p:nvPr/>
        </p:nvPicPr>
        <p:blipFill>
          <a:blip r:embed="rId5"/>
          <a:stretch>
            <a:fillRect/>
          </a:stretch>
        </p:blipFill>
        <p:spPr>
          <a:xfrm>
            <a:off x="53752" y="3673162"/>
            <a:ext cx="9036496" cy="14642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a16="http://schemas.microsoft.com/office/drawing/2014/main" id="{2EB593DD-1AF4-9BF4-116A-C40AD89B67B7}"/>
              </a:ext>
            </a:extLst>
          </p:cNvPr>
          <p:cNvSpPr txBox="1"/>
          <p:nvPr/>
        </p:nvSpPr>
        <p:spPr>
          <a:xfrm>
            <a:off x="2280863" y="5307516"/>
            <a:ext cx="47420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hlinkClick r:id="rId6">
                  <a:extLst>
                    <a:ext uri="{A12FA001-AC4F-418D-AE19-62706E023703}">
                      <ahyp:hlinkClr xmlns:ahyp="http://schemas.microsoft.com/office/drawing/2018/hyperlinkcolor" val="tx"/>
                    </a:ext>
                  </a:extLst>
                </a:hlinkClick>
              </a:rPr>
              <a:t>https://arxiv.org/pdf/2308.11030.pdf</a:t>
            </a:r>
            <a:r>
              <a:rPr kumimoji="0" lang="en-US" sz="18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 </a:t>
            </a:r>
          </a:p>
        </p:txBody>
      </p:sp>
      <p:sp>
        <p:nvSpPr>
          <p:cNvPr id="13" name="TextBox 12">
            <a:extLst>
              <a:ext uri="{FF2B5EF4-FFF2-40B4-BE49-F238E27FC236}">
                <a16:creationId xmlns:a16="http://schemas.microsoft.com/office/drawing/2014/main" id="{B9EB35BA-7E0C-AFD0-C398-3F9176C9BAA1}"/>
              </a:ext>
            </a:extLst>
          </p:cNvPr>
          <p:cNvSpPr txBox="1"/>
          <p:nvPr/>
        </p:nvSpPr>
        <p:spPr>
          <a:xfrm>
            <a:off x="1859273" y="5807631"/>
            <a:ext cx="55851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hlinkClick r:id="rId4">
                  <a:extLst>
                    <a:ext uri="{A12FA001-AC4F-418D-AE19-62706E023703}">
                      <ahyp:hlinkClr xmlns:ahyp="http://schemas.microsoft.com/office/drawing/2018/hyperlinkcolor" val="tx"/>
                    </a:ext>
                  </a:extLst>
                </a:hlinkClick>
              </a:rPr>
              <a:t>https://github.com/CMU-SAFARI/ramulator2</a:t>
            </a:r>
            <a:r>
              <a:rPr kumimoji="0" lang="en-US" sz="18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 </a:t>
            </a:r>
          </a:p>
        </p:txBody>
      </p:sp>
    </p:spTree>
    <p:extLst>
      <p:ext uri="{BB962C8B-B14F-4D97-AF65-F5344CB8AC3E}">
        <p14:creationId xmlns:p14="http://schemas.microsoft.com/office/powerpoint/2010/main" val="1850253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Implementing Many </a:t>
            </a:r>
            <a:r>
              <a:rPr lang="en-US" dirty="0" err="1"/>
              <a:t>RowHammer</a:t>
            </a:r>
            <a:r>
              <a:rPr lang="en-US" dirty="0"/>
              <a:t> Mitigations in </a:t>
            </a:r>
            <a:r>
              <a:rPr lang="en-US" dirty="0" err="1"/>
              <a:t>Ramulator</a:t>
            </a:r>
            <a:r>
              <a:rPr lang="en-US" dirty="0"/>
              <a:t> 2.0</a:t>
            </a:r>
          </a:p>
        </p:txBody>
      </p:sp>
      <p:sp>
        <p:nvSpPr>
          <p:cNvPr id="4" name="Content Placeholder 57">
            <a:extLst>
              <a:ext uri="{FF2B5EF4-FFF2-40B4-BE49-F238E27FC236}">
                <a16:creationId xmlns:a16="http://schemas.microsoft.com/office/drawing/2014/main" id="{E7DAB0F8-2128-6A21-40EE-F4A2A45B5540}"/>
              </a:ext>
            </a:extLst>
          </p:cNvPr>
          <p:cNvSpPr>
            <a:spLocks noGrp="1"/>
          </p:cNvSpPr>
          <p:nvPr>
            <p:ph idx="1"/>
          </p:nvPr>
        </p:nvSpPr>
        <p:spPr/>
        <p:txBody>
          <a:bodyPr/>
          <a:lstStyle/>
          <a:p>
            <a:r>
              <a:rPr lang="en-US" sz="2800" b="1" dirty="0"/>
              <a:t>Cross-section performance overhead evaluation of different </a:t>
            </a:r>
            <a:r>
              <a:rPr lang="en-US" sz="2800" b="1" dirty="0" err="1"/>
              <a:t>RowHammer</a:t>
            </a:r>
            <a:r>
              <a:rPr lang="en-US" sz="2800" b="1" dirty="0"/>
              <a:t> mitigation techniques </a:t>
            </a:r>
            <a:endParaRPr lang="en-US" b="1" dirty="0"/>
          </a:p>
          <a:p>
            <a:r>
              <a:rPr lang="en-US" sz="2400" dirty="0"/>
              <a:t>Six different </a:t>
            </a:r>
            <a:r>
              <a:rPr lang="en-US" sz="2400" dirty="0" err="1"/>
              <a:t>RowHammer</a:t>
            </a:r>
            <a:r>
              <a:rPr lang="en-US" sz="2400" dirty="0"/>
              <a:t> mitigation techniques all implemented</a:t>
            </a:r>
            <a:br>
              <a:rPr lang="en-US" sz="2400" dirty="0"/>
            </a:br>
            <a:r>
              <a:rPr lang="en-US" sz="2400" dirty="0">
                <a:solidFill>
                  <a:srgbClr val="C00000"/>
                </a:solidFill>
              </a:rPr>
              <a:t>as plugins to the same memory controller implementation</a:t>
            </a:r>
          </a:p>
        </p:txBody>
      </p:sp>
      <p:sp>
        <p:nvSpPr>
          <p:cNvPr id="6" name="Content Placeholder 2">
            <a:extLst>
              <a:ext uri="{FF2B5EF4-FFF2-40B4-BE49-F238E27FC236}">
                <a16:creationId xmlns:a16="http://schemas.microsoft.com/office/drawing/2014/main" id="{7545E099-5068-F448-A0AC-2CF624D53B84}"/>
              </a:ext>
            </a:extLst>
          </p:cNvPr>
          <p:cNvSpPr txBox="1">
            <a:spLocks/>
          </p:cNvSpPr>
          <p:nvPr/>
        </p:nvSpPr>
        <p:spPr>
          <a:xfrm>
            <a:off x="75991" y="813916"/>
            <a:ext cx="8987622" cy="55868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Aft>
                <a:spcPts val="400"/>
              </a:spcAft>
            </a:pPr>
            <a:endParaRPr lang="en-US" sz="2400" dirty="0"/>
          </a:p>
        </p:txBody>
      </p:sp>
      <p:pic>
        <p:nvPicPr>
          <p:cNvPr id="13" name="Picture 12">
            <a:extLst>
              <a:ext uri="{FF2B5EF4-FFF2-40B4-BE49-F238E27FC236}">
                <a16:creationId xmlns:a16="http://schemas.microsoft.com/office/drawing/2014/main" id="{09F1AC79-6D2E-5637-BC84-E34F390FE682}"/>
              </a:ext>
            </a:extLst>
          </p:cNvPr>
          <p:cNvPicPr>
            <a:picLocks noChangeAspect="1"/>
          </p:cNvPicPr>
          <p:nvPr/>
        </p:nvPicPr>
        <p:blipFill>
          <a:blip r:embed="rId3"/>
          <a:stretch>
            <a:fillRect/>
          </a:stretch>
        </p:blipFill>
        <p:spPr>
          <a:xfrm>
            <a:off x="858055" y="2725351"/>
            <a:ext cx="7423491" cy="2620616"/>
          </a:xfrm>
          <a:prstGeom prst="rect">
            <a:avLst/>
          </a:prstGeom>
        </p:spPr>
      </p:pic>
      <p:sp>
        <p:nvSpPr>
          <p:cNvPr id="3" name="Slide Number Placeholder 2">
            <a:extLst>
              <a:ext uri="{FF2B5EF4-FFF2-40B4-BE49-F238E27FC236}">
                <a16:creationId xmlns:a16="http://schemas.microsoft.com/office/drawing/2014/main" id="{3CACF931-3B66-FE46-7BE3-F501D215DD1E}"/>
              </a:ext>
            </a:extLst>
          </p:cNvPr>
          <p:cNvSpPr>
            <a:spLocks noGrp="1"/>
          </p:cNvSpPr>
          <p:nvPr>
            <p:ph type="sldNum" sz="quarter" idx="12"/>
          </p:nvPr>
        </p:nvSpPr>
        <p:spPr/>
        <p:txBody>
          <a:bodyPr/>
          <a:lstStyle/>
          <a:p>
            <a:fld id="{CBE5B309-C2CE-4D90-B104-F7E98438FC65}" type="slidenum">
              <a:rPr lang="tr-TR" smtClean="0"/>
              <a:pPr/>
              <a:t>33</a:t>
            </a:fld>
            <a:endParaRPr lang="tr-TR" dirty="0"/>
          </a:p>
        </p:txBody>
      </p:sp>
      <p:sp>
        <p:nvSpPr>
          <p:cNvPr id="5" name="Content Placeholder 2">
            <a:extLst>
              <a:ext uri="{FF2B5EF4-FFF2-40B4-BE49-F238E27FC236}">
                <a16:creationId xmlns:a16="http://schemas.microsoft.com/office/drawing/2014/main" id="{4353E428-9338-D64C-1B36-337241C6FE9E}"/>
              </a:ext>
            </a:extLst>
          </p:cNvPr>
          <p:cNvSpPr txBox="1">
            <a:spLocks/>
          </p:cNvSpPr>
          <p:nvPr/>
        </p:nvSpPr>
        <p:spPr>
          <a:xfrm>
            <a:off x="0" y="5555896"/>
            <a:ext cx="9144000" cy="830996"/>
          </a:xfrm>
          <a:prstGeom prst="rect">
            <a:avLst/>
          </a:prstGeom>
          <a:solidFill>
            <a:srgbClr val="FFEBCD"/>
          </a:solidFill>
          <a:ln w="28575">
            <a:solidFill>
              <a:schemeClr val="tx1"/>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b="1" dirty="0">
                <a:latin typeface="+mj-lt"/>
              </a:rPr>
              <a:t>As DRAM becomes more vulnerable to </a:t>
            </a:r>
            <a:r>
              <a:rPr lang="en-GB" sz="2400" b="1" dirty="0" err="1">
                <a:latin typeface="+mj-lt"/>
              </a:rPr>
              <a:t>RowHammer</a:t>
            </a:r>
            <a:r>
              <a:rPr lang="en-GB" sz="2400" b="1" dirty="0">
                <a:latin typeface="+mj-lt"/>
              </a:rPr>
              <a:t>, </a:t>
            </a:r>
            <a:r>
              <a:rPr lang="en-GB" sz="2400" b="1" dirty="0" err="1">
                <a:latin typeface="+mj-lt"/>
              </a:rPr>
              <a:t>evalauted</a:t>
            </a:r>
            <a:r>
              <a:rPr lang="en-GB" sz="2400" b="1" dirty="0">
                <a:latin typeface="+mj-lt"/>
              </a:rPr>
              <a:t> </a:t>
            </a:r>
            <a:r>
              <a:rPr lang="en-GB" sz="2400" b="1" dirty="0" err="1">
                <a:latin typeface="+mj-lt"/>
              </a:rPr>
              <a:t>RowHammer</a:t>
            </a:r>
            <a:r>
              <a:rPr lang="en-GB" sz="2400" b="1" dirty="0">
                <a:latin typeface="+mj-lt"/>
              </a:rPr>
              <a:t> mitigations incur </a:t>
            </a:r>
            <a:r>
              <a:rPr lang="en-GB" sz="2400" b="1" dirty="0">
                <a:solidFill>
                  <a:srgbClr val="C00000"/>
                </a:solidFill>
                <a:latin typeface="+mj-lt"/>
              </a:rPr>
              <a:t>higher performance overheads</a:t>
            </a:r>
            <a:endParaRPr lang="en-US" sz="2400" b="1" dirty="0">
              <a:solidFill>
                <a:srgbClr val="C00000"/>
              </a:solidFill>
              <a:latin typeface="+mj-lt"/>
            </a:endParaRPr>
          </a:p>
        </p:txBody>
      </p:sp>
    </p:spTree>
    <p:extLst>
      <p:ext uri="{BB962C8B-B14F-4D97-AF65-F5344CB8AC3E}">
        <p14:creationId xmlns:p14="http://schemas.microsoft.com/office/powerpoint/2010/main" val="208112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599E9-AD56-2670-63B1-1D688A83255E}"/>
              </a:ext>
            </a:extLst>
          </p:cNvPr>
          <p:cNvSpPr>
            <a:spLocks noGrp="1"/>
          </p:cNvSpPr>
          <p:nvPr>
            <p:ph type="title"/>
          </p:nvPr>
        </p:nvSpPr>
        <p:spPr/>
        <p:txBody>
          <a:bodyPr/>
          <a:lstStyle/>
          <a:p>
            <a:r>
              <a:rPr lang="en-US" dirty="0"/>
              <a:t>Recent Improvements in JEDEC (2024)</a:t>
            </a:r>
          </a:p>
        </p:txBody>
      </p:sp>
      <p:sp>
        <p:nvSpPr>
          <p:cNvPr id="3" name="Content Placeholder 2">
            <a:extLst>
              <a:ext uri="{FF2B5EF4-FFF2-40B4-BE49-F238E27FC236}">
                <a16:creationId xmlns:a16="http://schemas.microsoft.com/office/drawing/2014/main" id="{2C5D7C3B-1453-1A52-9E6B-21D36259D3B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98C6F6E-B553-9130-9185-1606E10F4991}"/>
              </a:ext>
            </a:extLst>
          </p:cNvPr>
          <p:cNvSpPr>
            <a:spLocks noGrp="1"/>
          </p:cNvSpPr>
          <p:nvPr>
            <p:ph type="sldNum" sz="quarter" idx="12"/>
          </p:nvPr>
        </p:nvSpPr>
        <p:spPr/>
        <p:txBody>
          <a:bodyPr/>
          <a:lstStyle/>
          <a:p>
            <a:fld id="{CBE5B309-C2CE-4D90-B104-F7E98438FC65}" type="slidenum">
              <a:rPr lang="tr-TR" smtClean="0"/>
              <a:pPr/>
              <a:t>34</a:t>
            </a:fld>
            <a:endParaRPr lang="tr-TR" dirty="0"/>
          </a:p>
        </p:txBody>
      </p:sp>
      <p:pic>
        <p:nvPicPr>
          <p:cNvPr id="9" name="Picture 8">
            <a:extLst>
              <a:ext uri="{FF2B5EF4-FFF2-40B4-BE49-F238E27FC236}">
                <a16:creationId xmlns:a16="http://schemas.microsoft.com/office/drawing/2014/main" id="{8D5EB420-C2C4-A324-437D-26501153F069}"/>
              </a:ext>
            </a:extLst>
          </p:cNvPr>
          <p:cNvPicPr>
            <a:picLocks noChangeAspect="1"/>
          </p:cNvPicPr>
          <p:nvPr/>
        </p:nvPicPr>
        <p:blipFill>
          <a:blip r:embed="rId2"/>
          <a:stretch>
            <a:fillRect/>
          </a:stretch>
        </p:blipFill>
        <p:spPr>
          <a:xfrm>
            <a:off x="685800" y="2270921"/>
            <a:ext cx="7772400" cy="4156544"/>
          </a:xfrm>
          <a:prstGeom prst="rect">
            <a:avLst/>
          </a:prstGeom>
        </p:spPr>
      </p:pic>
      <p:pic>
        <p:nvPicPr>
          <p:cNvPr id="10" name="Picture 9">
            <a:extLst>
              <a:ext uri="{FF2B5EF4-FFF2-40B4-BE49-F238E27FC236}">
                <a16:creationId xmlns:a16="http://schemas.microsoft.com/office/drawing/2014/main" id="{915114CD-DB6B-8E38-5A03-B3DDFDE69819}"/>
              </a:ext>
            </a:extLst>
          </p:cNvPr>
          <p:cNvPicPr>
            <a:picLocks noChangeAspect="1"/>
          </p:cNvPicPr>
          <p:nvPr/>
        </p:nvPicPr>
        <p:blipFill>
          <a:blip r:embed="rId3"/>
          <a:stretch>
            <a:fillRect/>
          </a:stretch>
        </p:blipFill>
        <p:spPr>
          <a:xfrm>
            <a:off x="685800" y="987087"/>
            <a:ext cx="7772400" cy="1767970"/>
          </a:xfrm>
          <a:prstGeom prst="rect">
            <a:avLst/>
          </a:prstGeom>
        </p:spPr>
      </p:pic>
    </p:spTree>
    <p:extLst>
      <p:ext uri="{BB962C8B-B14F-4D97-AF65-F5344CB8AC3E}">
        <p14:creationId xmlns:p14="http://schemas.microsoft.com/office/powerpoint/2010/main" val="10767080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F5FF0-4622-4257-3AB1-2011E3542FEC}"/>
              </a:ext>
            </a:extLst>
          </p:cNvPr>
          <p:cNvSpPr>
            <a:spLocks noGrp="1"/>
          </p:cNvSpPr>
          <p:nvPr>
            <p:ph type="title"/>
          </p:nvPr>
        </p:nvSpPr>
        <p:spPr/>
        <p:txBody>
          <a:bodyPr/>
          <a:lstStyle/>
          <a:p>
            <a:r>
              <a:rPr lang="en-US" dirty="0"/>
              <a:t>Evaluating Per-Row Activation Counting </a:t>
            </a:r>
            <a:br>
              <a:rPr lang="en-US" dirty="0"/>
            </a:br>
            <a:r>
              <a:rPr lang="en-US" dirty="0"/>
              <a:t>(as introduced in DDR5 standard)</a:t>
            </a:r>
          </a:p>
        </p:txBody>
      </p:sp>
      <p:sp>
        <p:nvSpPr>
          <p:cNvPr id="3" name="Content Placeholder 2">
            <a:extLst>
              <a:ext uri="{FF2B5EF4-FFF2-40B4-BE49-F238E27FC236}">
                <a16:creationId xmlns:a16="http://schemas.microsoft.com/office/drawing/2014/main" id="{EAF687E5-293E-5A49-527E-DFFEE9C9444B}"/>
              </a:ext>
            </a:extLst>
          </p:cNvPr>
          <p:cNvSpPr>
            <a:spLocks noGrp="1"/>
          </p:cNvSpPr>
          <p:nvPr>
            <p:ph idx="1"/>
          </p:nvPr>
        </p:nvSpPr>
        <p:spPr>
          <a:xfrm>
            <a:off x="-1" y="1128889"/>
            <a:ext cx="9143999" cy="5048074"/>
          </a:xfrm>
        </p:spPr>
        <p:txBody>
          <a:bodyPr>
            <a:normAutofit/>
          </a:bodyPr>
          <a:lstStyle/>
          <a:p>
            <a:r>
              <a:rPr lang="en-US" sz="2400" dirty="0"/>
              <a:t>Oğuzhan Canpolat, A. Giray </a:t>
            </a:r>
            <a:r>
              <a:rPr lang="en-US" sz="2400" dirty="0" err="1"/>
              <a:t>Yağlıkçı</a:t>
            </a:r>
            <a:r>
              <a:rPr lang="en-US" sz="2400" dirty="0"/>
              <a:t>, Geraldo F. Oliveira, </a:t>
            </a:r>
            <a:r>
              <a:rPr lang="en-US" sz="2400" dirty="0" err="1"/>
              <a:t>Ataberk</a:t>
            </a:r>
            <a:r>
              <a:rPr lang="en-US" sz="2400" dirty="0"/>
              <a:t> Olgun, Oğuz Ergin, and </a:t>
            </a:r>
            <a:r>
              <a:rPr lang="en-US" sz="2400" u="sng" dirty="0"/>
              <a:t>Onur Mutlu</a:t>
            </a:r>
            <a:r>
              <a:rPr lang="en-US" sz="2400" dirty="0"/>
              <a:t>,</a:t>
            </a:r>
            <a:br>
              <a:rPr lang="en-US" sz="2400" dirty="0"/>
            </a:br>
            <a:r>
              <a:rPr lang="en-US" sz="2400" b="1" dirty="0">
                <a:hlinkClick r:id="rId2"/>
              </a:rPr>
              <a:t>"Understanding the Security Benefits and Overheads of Emerging Industry Solutions to DRAM Read Disturbance"</a:t>
            </a:r>
            <a:br>
              <a:rPr lang="en-US" sz="2400" dirty="0"/>
            </a:br>
            <a:r>
              <a:rPr lang="en-US" sz="2400" i="1" dirty="0">
                <a:hlinkClick r:id="rId3"/>
              </a:rPr>
              <a:t>4th Workshop on DRAM Security </a:t>
            </a:r>
            <a:r>
              <a:rPr lang="en-US" sz="2400" i="1" dirty="0"/>
              <a:t>(</a:t>
            </a:r>
            <a:r>
              <a:rPr lang="en-US" sz="2400" b="1" i="1" dirty="0" err="1"/>
              <a:t>DRAMsec</a:t>
            </a:r>
            <a:r>
              <a:rPr lang="en-US" sz="2400" i="1" dirty="0"/>
              <a:t>), held with </a:t>
            </a:r>
            <a:r>
              <a:rPr lang="en-US" sz="2400" b="1" i="1" dirty="0"/>
              <a:t>ISCA</a:t>
            </a:r>
            <a:r>
              <a:rPr lang="en-US" sz="2400" dirty="0"/>
              <a:t>,</a:t>
            </a:r>
            <a:br>
              <a:rPr lang="en-US" sz="2400" dirty="0"/>
            </a:br>
            <a:r>
              <a:rPr lang="en-US" sz="2400" dirty="0"/>
              <a:t> Buenos Aires, Argentina, July 2024. </a:t>
            </a:r>
          </a:p>
        </p:txBody>
      </p:sp>
      <p:sp>
        <p:nvSpPr>
          <p:cNvPr id="4" name="Slide Number Placeholder 3">
            <a:extLst>
              <a:ext uri="{FF2B5EF4-FFF2-40B4-BE49-F238E27FC236}">
                <a16:creationId xmlns:a16="http://schemas.microsoft.com/office/drawing/2014/main" id="{3C120E3F-3C83-00A1-B041-09232509FDEE}"/>
              </a:ext>
            </a:extLst>
          </p:cNvPr>
          <p:cNvSpPr>
            <a:spLocks noGrp="1"/>
          </p:cNvSpPr>
          <p:nvPr>
            <p:ph type="sldNum" sz="quarter" idx="12"/>
          </p:nvPr>
        </p:nvSpPr>
        <p:spPr/>
        <p:txBody>
          <a:bodyPr/>
          <a:lstStyle/>
          <a:p>
            <a:fld id="{CBE5B309-C2CE-4D90-B104-F7E98438FC65}" type="slidenum">
              <a:rPr lang="tr-TR" smtClean="0"/>
              <a:pPr/>
              <a:t>35</a:t>
            </a:fld>
            <a:endParaRPr lang="tr-TR" dirty="0"/>
          </a:p>
        </p:txBody>
      </p:sp>
      <p:pic>
        <p:nvPicPr>
          <p:cNvPr id="5" name="Picture 4">
            <a:extLst>
              <a:ext uri="{FF2B5EF4-FFF2-40B4-BE49-F238E27FC236}">
                <a16:creationId xmlns:a16="http://schemas.microsoft.com/office/drawing/2014/main" id="{AA7C0877-1D6A-E6BE-E8E4-4FE9427E7C3C}"/>
              </a:ext>
            </a:extLst>
          </p:cNvPr>
          <p:cNvPicPr>
            <a:picLocks noChangeAspect="1"/>
          </p:cNvPicPr>
          <p:nvPr/>
        </p:nvPicPr>
        <p:blipFill>
          <a:blip r:embed="rId4"/>
          <a:stretch>
            <a:fillRect/>
          </a:stretch>
        </p:blipFill>
        <p:spPr>
          <a:xfrm>
            <a:off x="237709" y="3400549"/>
            <a:ext cx="8668577" cy="16967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E7D233EF-B29F-91C2-C99C-5A6CD02EF478}"/>
              </a:ext>
            </a:extLst>
          </p:cNvPr>
          <p:cNvSpPr txBox="1"/>
          <p:nvPr/>
        </p:nvSpPr>
        <p:spPr>
          <a:xfrm>
            <a:off x="1859244" y="5267446"/>
            <a:ext cx="565411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hlinkClick r:id="rId2">
                  <a:extLst>
                    <a:ext uri="{A12FA001-AC4F-418D-AE19-62706E023703}">
                      <ahyp:hlinkClr xmlns:ahyp="http://schemas.microsoft.com/office/drawing/2018/hyperlinkcolor" val="tx"/>
                    </a:ext>
                  </a:extLst>
                </a:hlinkClick>
              </a:rPr>
              <a:t>https://arxiv.org/pdf/2406.19094</a:t>
            </a:r>
            <a:r>
              <a:rPr kumimoji="0" lang="en-US" sz="24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 </a:t>
            </a:r>
          </a:p>
        </p:txBody>
      </p:sp>
      <p:sp>
        <p:nvSpPr>
          <p:cNvPr id="7" name="TextBox 6">
            <a:extLst>
              <a:ext uri="{FF2B5EF4-FFF2-40B4-BE49-F238E27FC236}">
                <a16:creationId xmlns:a16="http://schemas.microsoft.com/office/drawing/2014/main" id="{686F76DE-647A-3D8A-C01C-E61E664A5857}"/>
              </a:ext>
            </a:extLst>
          </p:cNvPr>
          <p:cNvSpPr txBox="1"/>
          <p:nvPr/>
        </p:nvSpPr>
        <p:spPr>
          <a:xfrm>
            <a:off x="876917" y="5763523"/>
            <a:ext cx="739016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hlinkClick r:id="rId5">
                  <a:extLst>
                    <a:ext uri="{A12FA001-AC4F-418D-AE19-62706E023703}">
                      <ahyp:hlinkClr xmlns:ahyp="http://schemas.microsoft.com/office/drawing/2018/hyperlinkcolor" val="tx"/>
                    </a:ext>
                  </a:extLst>
                </a:hlinkClick>
              </a:rPr>
              <a:t>https://github.com/CMU-SAFARI/ramulator2</a:t>
            </a:r>
            <a:r>
              <a:rPr kumimoji="0" lang="en-US" sz="24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 </a:t>
            </a:r>
          </a:p>
        </p:txBody>
      </p:sp>
    </p:spTree>
    <p:extLst>
      <p:ext uri="{BB962C8B-B14F-4D97-AF65-F5344CB8AC3E}">
        <p14:creationId xmlns:p14="http://schemas.microsoft.com/office/powerpoint/2010/main" val="3722946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F683F-D6E1-2279-BB1A-1122ADEB0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CB2DA-6412-23F6-55E4-924909D8F722}"/>
              </a:ext>
            </a:extLst>
          </p:cNvPr>
          <p:cNvSpPr>
            <a:spLocks noGrp="1"/>
          </p:cNvSpPr>
          <p:nvPr>
            <p:ph type="title"/>
          </p:nvPr>
        </p:nvSpPr>
        <p:spPr/>
        <p:txBody>
          <a:bodyPr>
            <a:noAutofit/>
          </a:bodyPr>
          <a:lstStyle/>
          <a:p>
            <a:r>
              <a:rPr lang="en-US" dirty="0"/>
              <a:t>Understanding PRAC (DRAMSec'24)</a:t>
            </a:r>
          </a:p>
        </p:txBody>
      </p:sp>
      <p:sp>
        <p:nvSpPr>
          <p:cNvPr id="4" name="Content Placeholder 57">
            <a:extLst>
              <a:ext uri="{FF2B5EF4-FFF2-40B4-BE49-F238E27FC236}">
                <a16:creationId xmlns:a16="http://schemas.microsoft.com/office/drawing/2014/main" id="{547DAEAC-9247-4809-30A1-84D5A8B01DEE}"/>
              </a:ext>
            </a:extLst>
          </p:cNvPr>
          <p:cNvSpPr>
            <a:spLocks noGrp="1"/>
          </p:cNvSpPr>
          <p:nvPr>
            <p:ph idx="1"/>
          </p:nvPr>
        </p:nvSpPr>
        <p:spPr/>
        <p:txBody>
          <a:bodyPr/>
          <a:lstStyle/>
          <a:p>
            <a:r>
              <a:rPr lang="en-US" dirty="0"/>
              <a:t>Memory controller implementation </a:t>
            </a:r>
            <a:r>
              <a:rPr lang="en-US" dirty="0">
                <a:solidFill>
                  <a:srgbClr val="C00000"/>
                </a:solidFill>
              </a:rPr>
              <a:t>extended with support </a:t>
            </a:r>
            <a:br>
              <a:rPr lang="en-US" dirty="0">
                <a:solidFill>
                  <a:srgbClr val="C00000"/>
                </a:solidFill>
              </a:rPr>
            </a:br>
            <a:r>
              <a:rPr lang="en-US" dirty="0">
                <a:solidFill>
                  <a:srgbClr val="C00000"/>
                </a:solidFill>
              </a:rPr>
              <a:t>for per-row activation count tracking and back-off signal</a:t>
            </a:r>
          </a:p>
          <a:p>
            <a:r>
              <a:rPr lang="en-US" dirty="0"/>
              <a:t>Comparing PRAC against state-of-the-art mitigations</a:t>
            </a:r>
          </a:p>
        </p:txBody>
      </p:sp>
      <p:sp>
        <p:nvSpPr>
          <p:cNvPr id="6" name="Content Placeholder 2">
            <a:extLst>
              <a:ext uri="{FF2B5EF4-FFF2-40B4-BE49-F238E27FC236}">
                <a16:creationId xmlns:a16="http://schemas.microsoft.com/office/drawing/2014/main" id="{1D9942D7-8D93-7FDD-5ED0-C72A9301A215}"/>
              </a:ext>
            </a:extLst>
          </p:cNvPr>
          <p:cNvSpPr txBox="1">
            <a:spLocks/>
          </p:cNvSpPr>
          <p:nvPr/>
        </p:nvSpPr>
        <p:spPr>
          <a:xfrm>
            <a:off x="75991" y="813916"/>
            <a:ext cx="8987622" cy="55868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Aft>
                <a:spcPts val="400"/>
              </a:spcAft>
            </a:pPr>
            <a:endParaRPr lang="en-US" sz="2400" dirty="0"/>
          </a:p>
        </p:txBody>
      </p:sp>
      <p:pic>
        <p:nvPicPr>
          <p:cNvPr id="13" name="Picture 12">
            <a:extLst>
              <a:ext uri="{FF2B5EF4-FFF2-40B4-BE49-F238E27FC236}">
                <a16:creationId xmlns:a16="http://schemas.microsoft.com/office/drawing/2014/main" id="{DD2F42A7-D582-EEEC-3066-9E17E9EDD8FB}"/>
              </a:ext>
            </a:extLst>
          </p:cNvPr>
          <p:cNvPicPr>
            <a:picLocks noChangeAspect="1"/>
          </p:cNvPicPr>
          <p:nvPr/>
        </p:nvPicPr>
        <p:blipFill>
          <a:blip r:embed="rId3"/>
          <a:stretch>
            <a:fillRect/>
          </a:stretch>
        </p:blipFill>
        <p:spPr>
          <a:xfrm>
            <a:off x="899160" y="2224657"/>
            <a:ext cx="7162800" cy="3235561"/>
          </a:xfrm>
          <a:prstGeom prst="rect">
            <a:avLst/>
          </a:prstGeom>
        </p:spPr>
      </p:pic>
      <p:sp>
        <p:nvSpPr>
          <p:cNvPr id="3" name="Slide Number Placeholder 2">
            <a:extLst>
              <a:ext uri="{FF2B5EF4-FFF2-40B4-BE49-F238E27FC236}">
                <a16:creationId xmlns:a16="http://schemas.microsoft.com/office/drawing/2014/main" id="{2888F16A-C3C5-CB29-10EB-0524617A8841}"/>
              </a:ext>
            </a:extLst>
          </p:cNvPr>
          <p:cNvSpPr>
            <a:spLocks noGrp="1"/>
          </p:cNvSpPr>
          <p:nvPr>
            <p:ph type="sldNum" sz="quarter" idx="12"/>
          </p:nvPr>
        </p:nvSpPr>
        <p:spPr/>
        <p:txBody>
          <a:bodyPr/>
          <a:lstStyle/>
          <a:p>
            <a:fld id="{CBE5B309-C2CE-4D90-B104-F7E98438FC65}" type="slidenum">
              <a:rPr lang="tr-TR" smtClean="0"/>
              <a:pPr/>
              <a:t>36</a:t>
            </a:fld>
            <a:endParaRPr lang="tr-TR" dirty="0"/>
          </a:p>
        </p:txBody>
      </p:sp>
      <p:sp>
        <p:nvSpPr>
          <p:cNvPr id="5" name="Content Placeholder 2">
            <a:extLst>
              <a:ext uri="{FF2B5EF4-FFF2-40B4-BE49-F238E27FC236}">
                <a16:creationId xmlns:a16="http://schemas.microsoft.com/office/drawing/2014/main" id="{881AD807-D803-865C-F7BD-8B7E94070E37}"/>
              </a:ext>
            </a:extLst>
          </p:cNvPr>
          <p:cNvSpPr txBox="1">
            <a:spLocks/>
          </p:cNvSpPr>
          <p:nvPr/>
        </p:nvSpPr>
        <p:spPr>
          <a:xfrm>
            <a:off x="0" y="5404156"/>
            <a:ext cx="9144000" cy="830996"/>
          </a:xfrm>
          <a:prstGeom prst="rect">
            <a:avLst/>
          </a:prstGeom>
          <a:solidFill>
            <a:srgbClr val="FFEBCD"/>
          </a:solidFill>
          <a:ln w="28575">
            <a:solidFill>
              <a:schemeClr val="tx1"/>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b="1" dirty="0">
                <a:latin typeface="+mj-lt"/>
              </a:rPr>
              <a:t>PRAC introduces </a:t>
            </a:r>
            <a:r>
              <a:rPr lang="en-GB" sz="2400" b="1" dirty="0">
                <a:solidFill>
                  <a:srgbClr val="C00000"/>
                </a:solidFill>
                <a:latin typeface="+mj-lt"/>
              </a:rPr>
              <a:t>non-negligible performance overheads</a:t>
            </a:r>
            <a:br>
              <a:rPr lang="en-GB" sz="2400" b="1" dirty="0">
                <a:latin typeface="+mj-lt"/>
              </a:rPr>
            </a:br>
            <a:r>
              <a:rPr lang="en-GB" sz="2400" b="1" dirty="0">
                <a:latin typeface="+mj-lt"/>
              </a:rPr>
              <a:t>due to increased DRAM timing constraints</a:t>
            </a:r>
            <a:endParaRPr lang="en-US" sz="2400" b="1" dirty="0">
              <a:solidFill>
                <a:srgbClr val="C00000"/>
              </a:solidFill>
              <a:latin typeface="+mj-lt"/>
            </a:endParaRPr>
          </a:p>
        </p:txBody>
      </p:sp>
    </p:spTree>
    <p:extLst>
      <p:ext uri="{BB962C8B-B14F-4D97-AF65-F5344CB8AC3E}">
        <p14:creationId xmlns:p14="http://schemas.microsoft.com/office/powerpoint/2010/main" val="329294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A444F-3854-935E-0384-0BAEF56A2ACF}"/>
              </a:ext>
            </a:extLst>
          </p:cNvPr>
          <p:cNvSpPr>
            <a:spLocks noGrp="1"/>
          </p:cNvSpPr>
          <p:nvPr>
            <p:ph type="title"/>
          </p:nvPr>
        </p:nvSpPr>
        <p:spPr/>
        <p:txBody>
          <a:bodyPr/>
          <a:lstStyle/>
          <a:p>
            <a:r>
              <a:rPr lang="en-US" dirty="0"/>
              <a:t>Addressing Drawbacks of PRAC</a:t>
            </a:r>
          </a:p>
        </p:txBody>
      </p:sp>
      <p:sp>
        <p:nvSpPr>
          <p:cNvPr id="3" name="Content Placeholder 2">
            <a:extLst>
              <a:ext uri="{FF2B5EF4-FFF2-40B4-BE49-F238E27FC236}">
                <a16:creationId xmlns:a16="http://schemas.microsoft.com/office/drawing/2014/main" id="{C8398E7F-D4C7-509B-AE3A-38A243021B5C}"/>
              </a:ext>
            </a:extLst>
          </p:cNvPr>
          <p:cNvSpPr>
            <a:spLocks noGrp="1"/>
          </p:cNvSpPr>
          <p:nvPr>
            <p:ph idx="1"/>
          </p:nvPr>
        </p:nvSpPr>
        <p:spPr/>
        <p:txBody>
          <a:bodyPr>
            <a:normAutofit/>
          </a:bodyPr>
          <a:lstStyle/>
          <a:p>
            <a:r>
              <a:rPr lang="en-US" sz="2400" dirty="0"/>
              <a:t>Oguzhan Canpolat, Abdullah Giray </a:t>
            </a:r>
            <a:r>
              <a:rPr lang="en-US" sz="2400" dirty="0" err="1"/>
              <a:t>Yaglikci</a:t>
            </a:r>
            <a:r>
              <a:rPr lang="en-US" sz="2400" dirty="0"/>
              <a:t>, Geraldo Francisco de Oliveira, </a:t>
            </a:r>
            <a:r>
              <a:rPr lang="en-US" sz="2400" dirty="0" err="1"/>
              <a:t>Ataberk</a:t>
            </a:r>
            <a:r>
              <a:rPr lang="en-US" sz="2400" dirty="0"/>
              <a:t> Olgun, Nisa Bostanci, Ismail Emir Yuksel, </a:t>
            </a:r>
            <a:r>
              <a:rPr lang="en-US" sz="2400" dirty="0" err="1"/>
              <a:t>Haocong</a:t>
            </a:r>
            <a:r>
              <a:rPr lang="en-US" sz="2400" dirty="0"/>
              <a:t> Luo, Oguz Ergin, and </a:t>
            </a:r>
            <a:r>
              <a:rPr lang="en-US" sz="2400" u="sng" dirty="0"/>
              <a:t>Onur Mutlu</a:t>
            </a:r>
            <a:r>
              <a:rPr lang="en-US" sz="2400" dirty="0"/>
              <a:t>,</a:t>
            </a:r>
            <a:br>
              <a:rPr lang="en-US" sz="2400" dirty="0"/>
            </a:br>
            <a:r>
              <a:rPr lang="en-US" sz="2400" b="1" dirty="0">
                <a:hlinkClick r:id="rId2"/>
              </a:rPr>
              <a:t>"</a:t>
            </a:r>
            <a:r>
              <a:rPr lang="en-US" sz="2400" b="1" dirty="0" err="1">
                <a:hlinkClick r:id="rId2"/>
              </a:rPr>
              <a:t>Chronus</a:t>
            </a:r>
            <a:r>
              <a:rPr lang="en-US" sz="2400" b="1" dirty="0">
                <a:hlinkClick r:id="rId2"/>
              </a:rPr>
              <a:t>: Understanding and Securing the Cutting-Edge Industry Solutions to DRAM Read Disturbance"</a:t>
            </a:r>
            <a:br>
              <a:rPr lang="en-US" sz="2400" dirty="0"/>
            </a:br>
            <a:r>
              <a:rPr lang="en-US" sz="2400" b="1" i="1" dirty="0"/>
              <a:t>HPCA</a:t>
            </a:r>
            <a:r>
              <a:rPr lang="en-US" sz="2400" dirty="0"/>
              <a:t>, Las Vegas, NV, USA, March 2025. </a:t>
            </a:r>
            <a:br>
              <a:rPr lang="en-US" sz="2400" dirty="0"/>
            </a:br>
            <a:r>
              <a:rPr lang="en-US" sz="2400" b="1" i="1" dirty="0"/>
              <a:t>Officially artifact evaluated as available, functional, and reproduced.</a:t>
            </a:r>
            <a:endParaRPr lang="en-US" sz="2400" dirty="0"/>
          </a:p>
        </p:txBody>
      </p:sp>
      <p:sp>
        <p:nvSpPr>
          <p:cNvPr id="4" name="Slide Number Placeholder 3">
            <a:extLst>
              <a:ext uri="{FF2B5EF4-FFF2-40B4-BE49-F238E27FC236}">
                <a16:creationId xmlns:a16="http://schemas.microsoft.com/office/drawing/2014/main" id="{1A595120-175B-C754-800A-48CACEFB261D}"/>
              </a:ext>
            </a:extLst>
          </p:cNvPr>
          <p:cNvSpPr>
            <a:spLocks noGrp="1"/>
          </p:cNvSpPr>
          <p:nvPr>
            <p:ph type="sldNum" sz="quarter" idx="12"/>
          </p:nvPr>
        </p:nvSpPr>
        <p:spPr/>
        <p:txBody>
          <a:bodyPr/>
          <a:lstStyle/>
          <a:p>
            <a:fld id="{CBE5B309-C2CE-4D90-B104-F7E98438FC65}" type="slidenum">
              <a:rPr lang="tr-TR" smtClean="0"/>
              <a:pPr/>
              <a:t>37</a:t>
            </a:fld>
            <a:endParaRPr lang="tr-TR" dirty="0"/>
          </a:p>
        </p:txBody>
      </p:sp>
      <p:pic>
        <p:nvPicPr>
          <p:cNvPr id="6" name="Picture 5">
            <a:extLst>
              <a:ext uri="{FF2B5EF4-FFF2-40B4-BE49-F238E27FC236}">
                <a16:creationId xmlns:a16="http://schemas.microsoft.com/office/drawing/2014/main" id="{5DAF010A-0DB5-CC31-86BC-CE8C15DF6F59}"/>
              </a:ext>
            </a:extLst>
          </p:cNvPr>
          <p:cNvPicPr>
            <a:picLocks noChangeAspect="1"/>
          </p:cNvPicPr>
          <p:nvPr/>
        </p:nvPicPr>
        <p:blipFill>
          <a:blip r:embed="rId3">
            <a:extLst>
              <a:ext uri="{28A0092B-C50C-407E-A947-70E740481C1C}">
                <a14:useLocalDpi xmlns:a14="http://schemas.microsoft.com/office/drawing/2010/main" val="0"/>
              </a:ext>
            </a:extLst>
          </a:blip>
          <a:srcRect l="11481" t="24795" r="12222" b="35383"/>
          <a:stretch>
            <a:fillRect/>
          </a:stretch>
        </p:blipFill>
        <p:spPr>
          <a:xfrm>
            <a:off x="142453" y="3860800"/>
            <a:ext cx="8859090" cy="180622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B6CAFE5B-91B0-5AC7-7E98-458EFB0F23D2}"/>
              </a:ext>
            </a:extLst>
          </p:cNvPr>
          <p:cNvSpPr txBox="1"/>
          <p:nvPr/>
        </p:nvSpPr>
        <p:spPr>
          <a:xfrm>
            <a:off x="2167466" y="5847644"/>
            <a:ext cx="6344356" cy="523220"/>
          </a:xfrm>
          <a:prstGeom prst="rect">
            <a:avLst/>
          </a:prstGeom>
          <a:noFill/>
        </p:spPr>
        <p:txBody>
          <a:bodyPr wrap="square" rtlCol="0">
            <a:spAutoFit/>
          </a:bodyPr>
          <a:lstStyle/>
          <a:p>
            <a:r>
              <a:rPr lang="en-US" sz="2800" dirty="0">
                <a:latin typeface="+mj-lt"/>
                <a:hlinkClick r:id="rId2"/>
              </a:rPr>
              <a:t>https://arxiv.org/pdf/2502.12650</a:t>
            </a:r>
            <a:endParaRPr lang="en-US" sz="2800" dirty="0">
              <a:latin typeface="+mj-lt"/>
            </a:endParaRPr>
          </a:p>
        </p:txBody>
      </p:sp>
    </p:spTree>
    <p:extLst>
      <p:ext uri="{BB962C8B-B14F-4D97-AF65-F5344CB8AC3E}">
        <p14:creationId xmlns:p14="http://schemas.microsoft.com/office/powerpoint/2010/main" val="3298202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EA769-8CFB-C9EC-6946-ADF582E9AEAB}"/>
              </a:ext>
            </a:extLst>
          </p:cNvPr>
          <p:cNvSpPr>
            <a:spLocks noGrp="1"/>
          </p:cNvSpPr>
          <p:nvPr>
            <p:ph type="title"/>
          </p:nvPr>
        </p:nvSpPr>
        <p:spPr/>
        <p:txBody>
          <a:bodyPr/>
          <a:lstStyle/>
          <a:p>
            <a:r>
              <a:rPr lang="en-US" sz="3200" dirty="0" err="1"/>
              <a:t>Chronus</a:t>
            </a:r>
            <a:r>
              <a:rPr lang="en-US" sz="3200" dirty="0"/>
              <a:t> (HPCA'25) – Extended Analysis of PRAC</a:t>
            </a:r>
          </a:p>
        </p:txBody>
      </p:sp>
      <p:sp>
        <p:nvSpPr>
          <p:cNvPr id="3" name="Content Placeholder 2">
            <a:extLst>
              <a:ext uri="{FF2B5EF4-FFF2-40B4-BE49-F238E27FC236}">
                <a16:creationId xmlns:a16="http://schemas.microsoft.com/office/drawing/2014/main" id="{57CB1203-6579-F4F6-1F68-ACB947B40AB3}"/>
              </a:ext>
            </a:extLst>
          </p:cNvPr>
          <p:cNvSpPr>
            <a:spLocks noGrp="1"/>
          </p:cNvSpPr>
          <p:nvPr>
            <p:ph idx="1"/>
          </p:nvPr>
        </p:nvSpPr>
        <p:spPr/>
        <p:txBody>
          <a:bodyPr/>
          <a:lstStyle/>
          <a:p>
            <a:r>
              <a:rPr lang="en-US" dirty="0"/>
              <a:t>Two major drawbacks of PRAC:</a:t>
            </a:r>
          </a:p>
        </p:txBody>
      </p:sp>
      <p:sp>
        <p:nvSpPr>
          <p:cNvPr id="4" name="Slide Number Placeholder 3">
            <a:extLst>
              <a:ext uri="{FF2B5EF4-FFF2-40B4-BE49-F238E27FC236}">
                <a16:creationId xmlns:a16="http://schemas.microsoft.com/office/drawing/2014/main" id="{C4FC19F4-962D-7CD4-6D49-E68DF08A72F3}"/>
              </a:ext>
            </a:extLst>
          </p:cNvPr>
          <p:cNvSpPr>
            <a:spLocks noGrp="1"/>
          </p:cNvSpPr>
          <p:nvPr>
            <p:ph type="sldNum" sz="quarter" idx="12"/>
          </p:nvPr>
        </p:nvSpPr>
        <p:spPr/>
        <p:txBody>
          <a:bodyPr/>
          <a:lstStyle/>
          <a:p>
            <a:fld id="{CBE5B309-C2CE-4D90-B104-F7E98438FC65}" type="slidenum">
              <a:rPr lang="tr-TR" smtClean="0"/>
              <a:pPr/>
              <a:t>38</a:t>
            </a:fld>
            <a:endParaRPr lang="tr-TR" dirty="0"/>
          </a:p>
        </p:txBody>
      </p:sp>
      <p:sp>
        <p:nvSpPr>
          <p:cNvPr id="10" name="Dikdörtgen 4">
            <a:extLst>
              <a:ext uri="{FF2B5EF4-FFF2-40B4-BE49-F238E27FC236}">
                <a16:creationId xmlns:a16="http://schemas.microsoft.com/office/drawing/2014/main" id="{D1EFC487-68A5-5F44-89AE-4C1CEA086B72}"/>
              </a:ext>
            </a:extLst>
          </p:cNvPr>
          <p:cNvSpPr/>
          <p:nvPr/>
        </p:nvSpPr>
        <p:spPr bwMode="auto">
          <a:xfrm>
            <a:off x="427590" y="2139041"/>
            <a:ext cx="3830869" cy="1549400"/>
          </a:xfrm>
          <a:prstGeom prst="rect">
            <a:avLst/>
          </a:prstGeom>
          <a:solidFill>
            <a:srgbClr val="FFEBCD"/>
          </a:solidFill>
          <a:ln w="57150" cap="flat" cmpd="sng" algn="ctr">
            <a:solidFill>
              <a:srgbClr val="9659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Increased</a:t>
            </a:r>
            <a:r>
              <a:rPr kumimoji="0" lang="en-US" sz="2400"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 critical</a:t>
            </a:r>
          </a:p>
          <a:p>
            <a:pPr marL="0" marR="0" indent="0" algn="ctr" defTabSz="914400" rtl="0" eaLnBrk="1" fontAlgn="base" latinLnBrk="0" hangingPunct="1">
              <a:lnSpc>
                <a:spcPct val="100000"/>
              </a:lnSpc>
              <a:spcBef>
                <a:spcPct val="0"/>
              </a:spcBef>
              <a:spcAft>
                <a:spcPct val="0"/>
              </a:spcAft>
              <a:buClrTx/>
              <a:buSzTx/>
              <a:buFontTx/>
              <a:buNone/>
              <a:tabLst/>
            </a:pPr>
            <a:r>
              <a:rPr lang="en-US" sz="2400" b="0" dirty="0">
                <a:solidFill>
                  <a:srgbClr val="965900"/>
                </a:solidFill>
                <a:latin typeface="+mj-lt"/>
                <a:ea typeface="Tahoma" panose="020B0604030504040204" pitchFamily="34" charset="0"/>
                <a:cs typeface="Tahoma" panose="020B0604030504040204" pitchFamily="34" charset="0"/>
              </a:rPr>
              <a:t>DRAM </a:t>
            </a:r>
            <a:r>
              <a:rPr kumimoji="0" lang="en-US" sz="2400" b="1"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timing parameters</a:t>
            </a:r>
            <a:endParaRPr kumimoji="0" lang="tr-TR" sz="2400" b="1" i="0" u="none" strike="noStrike" cap="none" normalizeH="0" baseline="0" dirty="0">
              <a:ln>
                <a:noFill/>
              </a:ln>
              <a:solidFill>
                <a:schemeClr val="tx1"/>
              </a:solidFill>
              <a:effectLst/>
              <a:latin typeface="+mj-lt"/>
              <a:ea typeface="Tahoma" panose="020B0604030504040204" pitchFamily="34" charset="0"/>
              <a:cs typeface="Tahoma" panose="020B0604030504040204" pitchFamily="34" charset="0"/>
            </a:endParaRPr>
          </a:p>
        </p:txBody>
      </p:sp>
      <p:sp>
        <p:nvSpPr>
          <p:cNvPr id="11" name="Dikdörtgen 4">
            <a:extLst>
              <a:ext uri="{FF2B5EF4-FFF2-40B4-BE49-F238E27FC236}">
                <a16:creationId xmlns:a16="http://schemas.microsoft.com/office/drawing/2014/main" id="{3D5C0458-C830-244E-998C-93032DB64584}"/>
              </a:ext>
            </a:extLst>
          </p:cNvPr>
          <p:cNvSpPr/>
          <p:nvPr/>
        </p:nvSpPr>
        <p:spPr bwMode="auto">
          <a:xfrm>
            <a:off x="4977850" y="2139041"/>
            <a:ext cx="3830869" cy="1549400"/>
          </a:xfrm>
          <a:prstGeom prst="rect">
            <a:avLst/>
          </a:prstGeom>
          <a:solidFill>
            <a:srgbClr val="FFEBCD"/>
          </a:solidFill>
          <a:ln w="57150" cap="flat" cmpd="sng" algn="ctr">
            <a:solidFill>
              <a:srgbClr val="9659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Wave attack</a:t>
            </a:r>
            <a:r>
              <a:rPr kumimoji="0" lang="en-US" sz="2400"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 vulnerability requires </a:t>
            </a:r>
            <a:r>
              <a:rPr kumimoji="0" lang="en-US" sz="2400" b="1"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aggressive configuration</a:t>
            </a:r>
            <a:endParaRPr kumimoji="0" lang="tr-TR" sz="2400" b="1" i="0" u="none" strike="noStrike" cap="none" normalizeH="0" baseline="0" dirty="0">
              <a:ln>
                <a:noFill/>
              </a:ln>
              <a:solidFill>
                <a:schemeClr val="tx1"/>
              </a:solidFill>
              <a:effectLst/>
              <a:latin typeface="+mj-lt"/>
              <a:ea typeface="Tahoma" panose="020B0604030504040204" pitchFamily="34" charset="0"/>
              <a:cs typeface="Tahoma" panose="020B0604030504040204" pitchFamily="34" charset="0"/>
            </a:endParaRPr>
          </a:p>
        </p:txBody>
      </p:sp>
      <p:sp>
        <p:nvSpPr>
          <p:cNvPr id="12" name="Arrow: Right 11">
            <a:extLst>
              <a:ext uri="{FF2B5EF4-FFF2-40B4-BE49-F238E27FC236}">
                <a16:creationId xmlns:a16="http://schemas.microsoft.com/office/drawing/2014/main" id="{D05C0B4B-6374-74E8-1883-9D0B34B2320F}"/>
              </a:ext>
            </a:extLst>
          </p:cNvPr>
          <p:cNvSpPr/>
          <p:nvPr/>
        </p:nvSpPr>
        <p:spPr>
          <a:xfrm rot="5400000">
            <a:off x="1933449" y="3930726"/>
            <a:ext cx="819150" cy="565150"/>
          </a:xfrm>
          <a:prstGeom prst="rightArrow">
            <a:avLst/>
          </a:prstGeom>
          <a:solidFill>
            <a:schemeClr val="bg2">
              <a:lumMod val="90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kdörtgen 4">
            <a:extLst>
              <a:ext uri="{FF2B5EF4-FFF2-40B4-BE49-F238E27FC236}">
                <a16:creationId xmlns:a16="http://schemas.microsoft.com/office/drawing/2014/main" id="{F153C581-950D-77F2-9054-0666751CDF07}"/>
              </a:ext>
            </a:extLst>
          </p:cNvPr>
          <p:cNvSpPr/>
          <p:nvPr/>
        </p:nvSpPr>
        <p:spPr bwMode="auto">
          <a:xfrm>
            <a:off x="411006" y="4737103"/>
            <a:ext cx="3864037" cy="1549400"/>
          </a:xfrm>
          <a:prstGeom prst="rect">
            <a:avLst/>
          </a:prstGeom>
          <a:solidFill>
            <a:srgbClr val="FFE1E1"/>
          </a:solidFill>
          <a:ln w="57150" cap="flat" cmpd="sng" algn="ctr">
            <a:solidFill>
              <a:srgbClr val="8E00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400" b="1" dirty="0">
                <a:solidFill>
                  <a:srgbClr val="8E0000"/>
                </a:solidFill>
                <a:latin typeface="+mj-lt"/>
                <a:ea typeface="Tahoma" panose="020B0604030504040204" pitchFamily="34" charset="0"/>
                <a:cs typeface="Tahoma" panose="020B0604030504040204" pitchFamily="34" charset="0"/>
              </a:rPr>
              <a:t>Large performance overhead</a:t>
            </a:r>
            <a:r>
              <a:rPr lang="en-US" sz="2400" b="0" dirty="0">
                <a:solidFill>
                  <a:srgbClr val="8E0000"/>
                </a:solidFill>
                <a:latin typeface="+mj-lt"/>
                <a:ea typeface="Tahoma" panose="020B0604030504040204" pitchFamily="34" charset="0"/>
                <a:cs typeface="Tahoma" panose="020B0604030504040204" pitchFamily="34" charset="0"/>
              </a:rPr>
              <a:t> even at high read disturbance thresholds</a:t>
            </a:r>
            <a:endParaRPr kumimoji="0" lang="tr-TR" sz="2400" b="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endParaRPr>
          </a:p>
        </p:txBody>
      </p:sp>
      <p:sp>
        <p:nvSpPr>
          <p:cNvPr id="14" name="Arrow: Right 13">
            <a:extLst>
              <a:ext uri="{FF2B5EF4-FFF2-40B4-BE49-F238E27FC236}">
                <a16:creationId xmlns:a16="http://schemas.microsoft.com/office/drawing/2014/main" id="{C434A6F6-1D29-A45E-7C34-87919C3B77E9}"/>
              </a:ext>
            </a:extLst>
          </p:cNvPr>
          <p:cNvSpPr/>
          <p:nvPr/>
        </p:nvSpPr>
        <p:spPr>
          <a:xfrm rot="5400000">
            <a:off x="6483709" y="3930726"/>
            <a:ext cx="819150" cy="565150"/>
          </a:xfrm>
          <a:prstGeom prst="rightArrow">
            <a:avLst/>
          </a:prstGeom>
          <a:solidFill>
            <a:schemeClr val="bg2">
              <a:lumMod val="90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kdörtgen 4">
            <a:extLst>
              <a:ext uri="{FF2B5EF4-FFF2-40B4-BE49-F238E27FC236}">
                <a16:creationId xmlns:a16="http://schemas.microsoft.com/office/drawing/2014/main" id="{09BAE129-E261-03D4-692B-88835C1AE434}"/>
              </a:ext>
            </a:extLst>
          </p:cNvPr>
          <p:cNvSpPr/>
          <p:nvPr/>
        </p:nvSpPr>
        <p:spPr bwMode="auto">
          <a:xfrm>
            <a:off x="4977850" y="4737103"/>
            <a:ext cx="3830868" cy="1549400"/>
          </a:xfrm>
          <a:prstGeom prst="rect">
            <a:avLst/>
          </a:prstGeom>
          <a:solidFill>
            <a:srgbClr val="FFE1E1"/>
          </a:solidFill>
          <a:ln w="57150" cap="flat" cmpd="sng" algn="ctr">
            <a:solidFill>
              <a:srgbClr val="8E00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Poor</a:t>
            </a:r>
            <a:r>
              <a:rPr kumimoji="0" lang="en-US" sz="2400" b="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 </a:t>
            </a:r>
            <a:r>
              <a:rPr kumimoji="0" lang="en-US" sz="2400" b="1"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scaling</a:t>
            </a:r>
            <a:r>
              <a:rPr kumimoji="0" lang="en-US" sz="2400" b="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 to </a:t>
            </a:r>
            <a:r>
              <a:rPr kumimoji="0" lang="en-US" sz="240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low </a:t>
            </a:r>
            <a:r>
              <a:rPr kumimoji="0" lang="en-US" sz="2400" b="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rPr>
              <a:t>read disturbance thresholds </a:t>
            </a:r>
            <a:endParaRPr kumimoji="0" lang="tr-TR" sz="2400" b="0" i="0" u="none" strike="noStrike" cap="none" normalizeH="0" baseline="0" dirty="0">
              <a:ln>
                <a:noFill/>
              </a:ln>
              <a:solidFill>
                <a:srgbClr val="8E0000"/>
              </a:solidFill>
              <a:effectLst/>
              <a:latin typeface="+mj-lt"/>
              <a:ea typeface="Tahoma" panose="020B0604030504040204" pitchFamily="34" charset="0"/>
              <a:cs typeface="Tahoma" panose="020B0604030504040204" pitchFamily="34" charset="0"/>
            </a:endParaRPr>
          </a:p>
        </p:txBody>
      </p:sp>
      <p:sp>
        <p:nvSpPr>
          <p:cNvPr id="16" name="Oval 15">
            <a:extLst>
              <a:ext uri="{FF2B5EF4-FFF2-40B4-BE49-F238E27FC236}">
                <a16:creationId xmlns:a16="http://schemas.microsoft.com/office/drawing/2014/main" id="{FCF66E3B-B9DF-2881-0596-C9F65BABE737}"/>
              </a:ext>
            </a:extLst>
          </p:cNvPr>
          <p:cNvSpPr/>
          <p:nvPr/>
        </p:nvSpPr>
        <p:spPr>
          <a:xfrm>
            <a:off x="92311" y="1798826"/>
            <a:ext cx="914400" cy="914400"/>
          </a:xfrm>
          <a:prstGeom prst="ellipse">
            <a:avLst/>
          </a:prstGeom>
          <a:solidFill>
            <a:srgbClr val="D0CECE"/>
          </a:solidFill>
          <a:ln w="5715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404040"/>
                </a:solidFill>
                <a:latin typeface="+mj-lt"/>
              </a:rPr>
              <a:t>1</a:t>
            </a:r>
          </a:p>
        </p:txBody>
      </p:sp>
      <p:sp>
        <p:nvSpPr>
          <p:cNvPr id="17" name="Oval 16">
            <a:extLst>
              <a:ext uri="{FF2B5EF4-FFF2-40B4-BE49-F238E27FC236}">
                <a16:creationId xmlns:a16="http://schemas.microsoft.com/office/drawing/2014/main" id="{D378B23E-4257-465D-A229-EF4FCE7B656A}"/>
              </a:ext>
            </a:extLst>
          </p:cNvPr>
          <p:cNvSpPr/>
          <p:nvPr/>
        </p:nvSpPr>
        <p:spPr>
          <a:xfrm>
            <a:off x="4428343" y="1798826"/>
            <a:ext cx="914400" cy="914400"/>
          </a:xfrm>
          <a:prstGeom prst="ellipse">
            <a:avLst/>
          </a:prstGeom>
          <a:solidFill>
            <a:srgbClr val="D0CECE"/>
          </a:solidFill>
          <a:ln w="5715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404040"/>
                </a:solidFill>
                <a:latin typeface="+mj-lt"/>
              </a:rPr>
              <a:t>2</a:t>
            </a:r>
          </a:p>
        </p:txBody>
      </p:sp>
    </p:spTree>
    <p:extLst>
      <p:ext uri="{BB962C8B-B14F-4D97-AF65-F5344CB8AC3E}">
        <p14:creationId xmlns:p14="http://schemas.microsoft.com/office/powerpoint/2010/main" val="426794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4C0C2-2AA3-7F82-CF86-BC88201A7667}"/>
              </a:ext>
            </a:extLst>
          </p:cNvPr>
          <p:cNvSpPr>
            <a:spLocks noGrp="1"/>
          </p:cNvSpPr>
          <p:nvPr>
            <p:ph type="title"/>
          </p:nvPr>
        </p:nvSpPr>
        <p:spPr/>
        <p:txBody>
          <a:bodyPr/>
          <a:lstStyle/>
          <a:p>
            <a:r>
              <a:rPr lang="en-US" dirty="0" err="1"/>
              <a:t>Chronus</a:t>
            </a:r>
            <a:r>
              <a:rPr lang="en-US" dirty="0"/>
              <a:t> (HPCA'25) – Key Ideas</a:t>
            </a:r>
          </a:p>
        </p:txBody>
      </p:sp>
      <p:sp>
        <p:nvSpPr>
          <p:cNvPr id="3" name="Content Placeholder 2">
            <a:extLst>
              <a:ext uri="{FF2B5EF4-FFF2-40B4-BE49-F238E27FC236}">
                <a16:creationId xmlns:a16="http://schemas.microsoft.com/office/drawing/2014/main" id="{D051136A-BF17-4D1E-46E5-F16389C829F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BF2EFEB-34AD-E3C2-0D72-129560AF1169}"/>
              </a:ext>
            </a:extLst>
          </p:cNvPr>
          <p:cNvSpPr>
            <a:spLocks noGrp="1"/>
          </p:cNvSpPr>
          <p:nvPr>
            <p:ph type="sldNum" sz="quarter" idx="12"/>
          </p:nvPr>
        </p:nvSpPr>
        <p:spPr/>
        <p:txBody>
          <a:bodyPr/>
          <a:lstStyle/>
          <a:p>
            <a:fld id="{CBE5B309-C2CE-4D90-B104-F7E98438FC65}" type="slidenum">
              <a:rPr lang="tr-TR" smtClean="0"/>
              <a:pPr/>
              <a:t>39</a:t>
            </a:fld>
            <a:endParaRPr lang="tr-TR" dirty="0"/>
          </a:p>
        </p:txBody>
      </p:sp>
      <p:sp>
        <p:nvSpPr>
          <p:cNvPr id="13" name="Dikdörtgen 4">
            <a:extLst>
              <a:ext uri="{FF2B5EF4-FFF2-40B4-BE49-F238E27FC236}">
                <a16:creationId xmlns:a16="http://schemas.microsoft.com/office/drawing/2014/main" id="{3C832648-CE55-D04D-4979-7ECEF8C8752B}"/>
              </a:ext>
            </a:extLst>
          </p:cNvPr>
          <p:cNvSpPr/>
          <p:nvPr/>
        </p:nvSpPr>
        <p:spPr bwMode="auto">
          <a:xfrm>
            <a:off x="187514" y="2113641"/>
            <a:ext cx="4213956" cy="1549400"/>
          </a:xfrm>
          <a:prstGeom prst="rect">
            <a:avLst/>
          </a:prstGeom>
          <a:solidFill>
            <a:srgbClr val="E2F0D9"/>
          </a:solidFill>
          <a:ln w="57150" cap="flat" cmpd="sng" algn="ctr">
            <a:solidFill>
              <a:srgbClr val="548235"/>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algn="ctr" defTabSz="914400" fontAlgn="base">
              <a:spcBef>
                <a:spcPct val="0"/>
              </a:spcBef>
              <a:spcAft>
                <a:spcPct val="0"/>
              </a:spcAft>
            </a:pPr>
            <a:r>
              <a:rPr lang="en-US" sz="2400" b="1" dirty="0">
                <a:solidFill>
                  <a:srgbClr val="385723"/>
                </a:solidFill>
                <a:latin typeface="+mj-lt"/>
                <a:ea typeface="Tahoma" panose="020B0604030504040204" pitchFamily="34" charset="0"/>
                <a:cs typeface="Tahoma" panose="020B0604030504040204" pitchFamily="34" charset="0"/>
              </a:rPr>
              <a:t>Concurrently update counters </a:t>
            </a:r>
            <a:r>
              <a:rPr lang="en-US" sz="2400" dirty="0">
                <a:solidFill>
                  <a:srgbClr val="385723"/>
                </a:solidFill>
                <a:latin typeface="+mj-lt"/>
                <a:ea typeface="Tahoma" panose="020B0604030504040204" pitchFamily="34" charset="0"/>
                <a:cs typeface="Tahoma" panose="020B0604030504040204" pitchFamily="34" charset="0"/>
              </a:rPr>
              <a:t>while serving</a:t>
            </a:r>
          </a:p>
          <a:p>
            <a:pPr algn="ctr" defTabSz="914400" fontAlgn="base">
              <a:spcBef>
                <a:spcPct val="0"/>
              </a:spcBef>
              <a:spcAft>
                <a:spcPct val="0"/>
              </a:spcAft>
            </a:pPr>
            <a:r>
              <a:rPr lang="en-US" sz="2400" dirty="0">
                <a:solidFill>
                  <a:srgbClr val="385723"/>
                </a:solidFill>
                <a:latin typeface="+mj-lt"/>
                <a:ea typeface="Tahoma" panose="020B0604030504040204" pitchFamily="34" charset="0"/>
                <a:cs typeface="Tahoma" panose="020B0604030504040204" pitchFamily="34" charset="0"/>
              </a:rPr>
              <a:t>DRAM accesses</a:t>
            </a:r>
          </a:p>
        </p:txBody>
      </p:sp>
      <p:sp>
        <p:nvSpPr>
          <p:cNvPr id="14" name="Dikdörtgen 4">
            <a:extLst>
              <a:ext uri="{FF2B5EF4-FFF2-40B4-BE49-F238E27FC236}">
                <a16:creationId xmlns:a16="http://schemas.microsoft.com/office/drawing/2014/main" id="{D9122EA3-1A9B-595E-296D-D8FF604B1195}"/>
              </a:ext>
            </a:extLst>
          </p:cNvPr>
          <p:cNvSpPr/>
          <p:nvPr/>
        </p:nvSpPr>
        <p:spPr bwMode="auto">
          <a:xfrm>
            <a:off x="4737774" y="2113641"/>
            <a:ext cx="4213956" cy="1549400"/>
          </a:xfrm>
          <a:prstGeom prst="rect">
            <a:avLst/>
          </a:prstGeom>
          <a:solidFill>
            <a:srgbClr val="E2F0D9"/>
          </a:solidFill>
          <a:ln w="57150" cap="flat" cmpd="sng" algn="ctr">
            <a:solidFill>
              <a:srgbClr val="548235"/>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algn="ctr" defTabSz="914400" fontAlgn="base">
              <a:spcBef>
                <a:spcPct val="0"/>
              </a:spcBef>
              <a:spcAft>
                <a:spcPct val="0"/>
              </a:spcAft>
            </a:pPr>
            <a:r>
              <a:rPr lang="en-US" sz="2400" b="1" dirty="0">
                <a:solidFill>
                  <a:srgbClr val="385723"/>
                </a:solidFill>
                <a:latin typeface="+mj-lt"/>
                <a:ea typeface="Tahoma" panose="020B0604030504040204" pitchFamily="34" charset="0"/>
                <a:cs typeface="Tahoma" panose="020B0604030504040204" pitchFamily="34" charset="0"/>
              </a:rPr>
              <a:t>Prevent wave attacks </a:t>
            </a:r>
            <a:r>
              <a:rPr lang="en-US" sz="2400" dirty="0">
                <a:solidFill>
                  <a:srgbClr val="385723"/>
                </a:solidFill>
                <a:latin typeface="+mj-lt"/>
                <a:ea typeface="Tahoma" panose="020B0604030504040204" pitchFamily="34" charset="0"/>
                <a:cs typeface="Tahoma" panose="020B0604030504040204" pitchFamily="34" charset="0"/>
              </a:rPr>
              <a:t>by</a:t>
            </a:r>
            <a:r>
              <a:rPr lang="en-US" sz="2400" b="1" dirty="0">
                <a:solidFill>
                  <a:srgbClr val="385723"/>
                </a:solidFill>
                <a:latin typeface="+mj-lt"/>
                <a:ea typeface="Tahoma" panose="020B0604030504040204" pitchFamily="34" charset="0"/>
                <a:cs typeface="Tahoma" panose="020B0604030504040204" pitchFamily="34" charset="0"/>
              </a:rPr>
              <a:t> </a:t>
            </a:r>
            <a:r>
              <a:rPr lang="en-US" sz="2400" dirty="0">
                <a:solidFill>
                  <a:srgbClr val="385723"/>
                </a:solidFill>
                <a:latin typeface="+mj-lt"/>
                <a:ea typeface="Tahoma" panose="020B0604030504040204" pitchFamily="34" charset="0"/>
                <a:cs typeface="Tahoma" panose="020B0604030504040204" pitchFamily="34" charset="0"/>
              </a:rPr>
              <a:t>providing DRAM chip</a:t>
            </a:r>
          </a:p>
          <a:p>
            <a:pPr algn="ctr" defTabSz="914400" fontAlgn="base">
              <a:spcBef>
                <a:spcPct val="0"/>
              </a:spcBef>
              <a:spcAft>
                <a:spcPct val="0"/>
              </a:spcAft>
            </a:pPr>
            <a:r>
              <a:rPr lang="en-US" sz="2400" dirty="0">
                <a:solidFill>
                  <a:srgbClr val="385723"/>
                </a:solidFill>
                <a:latin typeface="+mj-lt"/>
                <a:ea typeface="Tahoma" panose="020B0604030504040204" pitchFamily="34" charset="0"/>
                <a:cs typeface="Tahoma" panose="020B0604030504040204" pitchFamily="34" charset="0"/>
              </a:rPr>
              <a:t>more control over back-offs and preventive refreshes</a:t>
            </a:r>
          </a:p>
        </p:txBody>
      </p:sp>
      <p:sp>
        <p:nvSpPr>
          <p:cNvPr id="15" name="Arrow: Right 14">
            <a:extLst>
              <a:ext uri="{FF2B5EF4-FFF2-40B4-BE49-F238E27FC236}">
                <a16:creationId xmlns:a16="http://schemas.microsoft.com/office/drawing/2014/main" id="{24BFD5EE-364F-2C80-475C-E2567E2D3E05}"/>
              </a:ext>
            </a:extLst>
          </p:cNvPr>
          <p:cNvSpPr/>
          <p:nvPr/>
        </p:nvSpPr>
        <p:spPr>
          <a:xfrm rot="5400000">
            <a:off x="1884917" y="3905326"/>
            <a:ext cx="819150" cy="565150"/>
          </a:xfrm>
          <a:prstGeom prst="rightArrow">
            <a:avLst/>
          </a:prstGeom>
          <a:solidFill>
            <a:schemeClr val="bg2">
              <a:lumMod val="90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ikdörtgen 4">
            <a:extLst>
              <a:ext uri="{FF2B5EF4-FFF2-40B4-BE49-F238E27FC236}">
                <a16:creationId xmlns:a16="http://schemas.microsoft.com/office/drawing/2014/main" id="{42E919D5-B772-5E71-BAD3-A7F43B9BD75B}"/>
              </a:ext>
            </a:extLst>
          </p:cNvPr>
          <p:cNvSpPr/>
          <p:nvPr/>
        </p:nvSpPr>
        <p:spPr bwMode="auto">
          <a:xfrm>
            <a:off x="169272" y="4711703"/>
            <a:ext cx="4250441" cy="1549400"/>
          </a:xfrm>
          <a:prstGeom prst="rect">
            <a:avLst/>
          </a:prstGeom>
          <a:solidFill>
            <a:srgbClr val="FFEBCD"/>
          </a:solidFill>
          <a:ln w="57150" cap="flat" cmpd="sng" algn="ctr">
            <a:solidFill>
              <a:srgbClr val="9659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algn="ctr" defTabSz="914400" fontAlgn="base">
              <a:spcBef>
                <a:spcPct val="0"/>
              </a:spcBef>
              <a:spcAft>
                <a:spcPct val="0"/>
              </a:spcAft>
            </a:pPr>
            <a:r>
              <a:rPr lang="en-US" sz="2400" b="1" dirty="0">
                <a:solidFill>
                  <a:srgbClr val="965900"/>
                </a:solidFill>
                <a:latin typeface="+mj-lt"/>
                <a:ea typeface="Tahoma" panose="020B0604030504040204" pitchFamily="34" charset="0"/>
                <a:cs typeface="Tahoma" panose="020B0604030504040204" pitchFamily="34" charset="0"/>
              </a:rPr>
              <a:t>No</a:t>
            </a:r>
            <a:r>
              <a:rPr lang="en-US" sz="2400" dirty="0">
                <a:solidFill>
                  <a:srgbClr val="965900"/>
                </a:solidFill>
                <a:latin typeface="+mj-lt"/>
                <a:ea typeface="Tahoma" panose="020B0604030504040204" pitchFamily="34" charset="0"/>
                <a:cs typeface="Tahoma" panose="020B0604030504040204" pitchFamily="34" charset="0"/>
              </a:rPr>
              <a:t> </a:t>
            </a:r>
            <a:r>
              <a:rPr lang="en-US" sz="2400" b="1" dirty="0">
                <a:solidFill>
                  <a:srgbClr val="965900"/>
                </a:solidFill>
                <a:latin typeface="+mj-lt"/>
                <a:ea typeface="Tahoma" panose="020B0604030504040204" pitchFamily="34" charset="0"/>
                <a:cs typeface="Tahoma" panose="020B0604030504040204" pitchFamily="34" charset="0"/>
              </a:rPr>
              <a:t>increase </a:t>
            </a:r>
            <a:r>
              <a:rPr lang="en-US" sz="2400" dirty="0">
                <a:solidFill>
                  <a:srgbClr val="965900"/>
                </a:solidFill>
                <a:latin typeface="+mj-lt"/>
                <a:ea typeface="Tahoma" panose="020B0604030504040204" pitchFamily="34" charset="0"/>
                <a:cs typeface="Tahoma" panose="020B0604030504040204" pitchFamily="34" charset="0"/>
              </a:rPr>
              <a:t>in critical</a:t>
            </a:r>
          </a:p>
          <a:p>
            <a:pPr algn="ctr" defTabSz="914400" fontAlgn="base">
              <a:spcBef>
                <a:spcPct val="0"/>
              </a:spcBef>
              <a:spcAft>
                <a:spcPct val="0"/>
              </a:spcAft>
            </a:pPr>
            <a:r>
              <a:rPr lang="en-US" sz="2400" dirty="0">
                <a:solidFill>
                  <a:srgbClr val="965900"/>
                </a:solidFill>
                <a:latin typeface="+mj-lt"/>
                <a:ea typeface="Tahoma" panose="020B0604030504040204" pitchFamily="34" charset="0"/>
                <a:cs typeface="Tahoma" panose="020B0604030504040204" pitchFamily="34" charset="0"/>
              </a:rPr>
              <a:t>DRAM timing parameters</a:t>
            </a:r>
          </a:p>
        </p:txBody>
      </p:sp>
      <p:sp>
        <p:nvSpPr>
          <p:cNvPr id="17" name="Arrow: Right 16">
            <a:extLst>
              <a:ext uri="{FF2B5EF4-FFF2-40B4-BE49-F238E27FC236}">
                <a16:creationId xmlns:a16="http://schemas.microsoft.com/office/drawing/2014/main" id="{4E88A9CB-ECEA-7F3E-C72D-E8E44C7A1730}"/>
              </a:ext>
            </a:extLst>
          </p:cNvPr>
          <p:cNvSpPr/>
          <p:nvPr/>
        </p:nvSpPr>
        <p:spPr>
          <a:xfrm rot="5400000">
            <a:off x="6435177" y="3905326"/>
            <a:ext cx="819150" cy="565150"/>
          </a:xfrm>
          <a:prstGeom prst="rightArrow">
            <a:avLst/>
          </a:prstGeom>
          <a:solidFill>
            <a:schemeClr val="bg2">
              <a:lumMod val="90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kdörtgen 4">
            <a:extLst>
              <a:ext uri="{FF2B5EF4-FFF2-40B4-BE49-F238E27FC236}">
                <a16:creationId xmlns:a16="http://schemas.microsoft.com/office/drawing/2014/main" id="{F2C57CDE-6716-35EE-F612-D7E360075173}"/>
              </a:ext>
            </a:extLst>
          </p:cNvPr>
          <p:cNvSpPr/>
          <p:nvPr/>
        </p:nvSpPr>
        <p:spPr bwMode="auto">
          <a:xfrm>
            <a:off x="4737775" y="4711703"/>
            <a:ext cx="4213955" cy="1549400"/>
          </a:xfrm>
          <a:prstGeom prst="rect">
            <a:avLst/>
          </a:prstGeom>
          <a:solidFill>
            <a:srgbClr val="FFEBCD"/>
          </a:solidFill>
          <a:ln w="57150" cap="flat" cmpd="sng" algn="ctr">
            <a:solidFill>
              <a:srgbClr val="965900"/>
            </a:solid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rPr>
              <a:t>Better</a:t>
            </a:r>
            <a:r>
              <a:rPr kumimoji="0" lang="en-US" sz="2400" b="1" i="0" u="none" strike="noStrike" cap="none" normalizeH="0" dirty="0">
                <a:ln>
                  <a:noFill/>
                </a:ln>
                <a:solidFill>
                  <a:srgbClr val="965900"/>
                </a:solidFill>
                <a:effectLst/>
                <a:latin typeface="+mj-lt"/>
                <a:ea typeface="Tahoma" panose="020B0604030504040204" pitchFamily="34" charset="0"/>
                <a:cs typeface="Tahoma" panose="020B0604030504040204" pitchFamily="34" charset="0"/>
              </a:rPr>
              <a:t> scaling</a:t>
            </a:r>
            <a:r>
              <a:rPr kumimoji="0" lang="en-US" sz="2400" b="0" i="0" u="none" strike="noStrike" cap="none" normalizeH="0" dirty="0">
                <a:ln>
                  <a:noFill/>
                </a:ln>
                <a:solidFill>
                  <a:srgbClr val="965900"/>
                </a:solidFill>
                <a:effectLst/>
                <a:latin typeface="+mj-lt"/>
                <a:ea typeface="Tahoma" panose="020B0604030504040204" pitchFamily="34" charset="0"/>
                <a:cs typeface="Tahoma" panose="020B0604030504040204" pitchFamily="34" charset="0"/>
              </a:rPr>
              <a:t> to low </a:t>
            </a:r>
            <a:r>
              <a:rPr lang="en-US" sz="2400" baseline="0" dirty="0">
                <a:solidFill>
                  <a:srgbClr val="965900"/>
                </a:solidFill>
                <a:latin typeface="+mj-lt"/>
                <a:ea typeface="Tahoma" panose="020B0604030504040204" pitchFamily="34" charset="0"/>
                <a:cs typeface="Tahoma" panose="020B0604030504040204" pitchFamily="34" charset="0"/>
              </a:rPr>
              <a:t>read</a:t>
            </a:r>
            <a:r>
              <a:rPr lang="en-US" sz="2400" dirty="0">
                <a:solidFill>
                  <a:srgbClr val="965900"/>
                </a:solidFill>
                <a:latin typeface="+mj-lt"/>
                <a:ea typeface="Tahoma" panose="020B0604030504040204" pitchFamily="34" charset="0"/>
                <a:cs typeface="Tahoma" panose="020B0604030504040204" pitchFamily="34" charset="0"/>
              </a:rPr>
              <a:t> disturbance thresholds</a:t>
            </a:r>
            <a:endParaRPr kumimoji="0" lang="tr-TR" sz="2400" b="0" i="0" u="none" strike="noStrike" cap="none" normalizeH="0" baseline="0" dirty="0">
              <a:ln>
                <a:noFill/>
              </a:ln>
              <a:solidFill>
                <a:srgbClr val="965900"/>
              </a:solidFill>
              <a:effectLst/>
              <a:latin typeface="+mj-lt"/>
              <a:ea typeface="Tahoma" panose="020B0604030504040204" pitchFamily="34" charset="0"/>
              <a:cs typeface="Tahoma" panose="020B0604030504040204" pitchFamily="34" charset="0"/>
            </a:endParaRPr>
          </a:p>
        </p:txBody>
      </p:sp>
      <p:sp>
        <p:nvSpPr>
          <p:cNvPr id="19" name="Oval 18">
            <a:extLst>
              <a:ext uri="{FF2B5EF4-FFF2-40B4-BE49-F238E27FC236}">
                <a16:creationId xmlns:a16="http://schemas.microsoft.com/office/drawing/2014/main" id="{69CD220C-320D-D43E-E207-5273FDDC1AE6}"/>
              </a:ext>
            </a:extLst>
          </p:cNvPr>
          <p:cNvSpPr/>
          <p:nvPr/>
        </p:nvSpPr>
        <p:spPr>
          <a:xfrm>
            <a:off x="1837292" y="1093164"/>
            <a:ext cx="914400" cy="914400"/>
          </a:xfrm>
          <a:prstGeom prst="ellipse">
            <a:avLst/>
          </a:prstGeom>
          <a:solidFill>
            <a:srgbClr val="D0CECE"/>
          </a:solidFill>
          <a:ln w="5715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404040"/>
                </a:solidFill>
                <a:latin typeface="+mj-lt"/>
              </a:rPr>
              <a:t>1</a:t>
            </a:r>
          </a:p>
        </p:txBody>
      </p:sp>
      <p:sp>
        <p:nvSpPr>
          <p:cNvPr id="20" name="Oval 19">
            <a:extLst>
              <a:ext uri="{FF2B5EF4-FFF2-40B4-BE49-F238E27FC236}">
                <a16:creationId xmlns:a16="http://schemas.microsoft.com/office/drawing/2014/main" id="{E4870EA1-65B1-8B80-79A0-DC831FA31CF0}"/>
              </a:ext>
            </a:extLst>
          </p:cNvPr>
          <p:cNvSpPr/>
          <p:nvPr/>
        </p:nvSpPr>
        <p:spPr>
          <a:xfrm>
            <a:off x="6387552" y="1093164"/>
            <a:ext cx="914400" cy="914400"/>
          </a:xfrm>
          <a:prstGeom prst="ellipse">
            <a:avLst/>
          </a:prstGeom>
          <a:solidFill>
            <a:srgbClr val="D0CECE"/>
          </a:solidFill>
          <a:ln w="5715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404040"/>
                </a:solidFill>
                <a:latin typeface="+mj-lt"/>
              </a:rPr>
              <a:t>2</a:t>
            </a:r>
          </a:p>
        </p:txBody>
      </p:sp>
    </p:spTree>
    <p:extLst>
      <p:ext uri="{BB962C8B-B14F-4D97-AF65-F5344CB8AC3E}">
        <p14:creationId xmlns:p14="http://schemas.microsoft.com/office/powerpoint/2010/main" val="324141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CF45A-66E8-355B-5C9F-672D37813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5D2AE-7F7D-404E-40F6-EF40191A3317}"/>
              </a:ext>
            </a:extLst>
          </p:cNvPr>
          <p:cNvSpPr>
            <a:spLocks noGrp="1"/>
          </p:cNvSpPr>
          <p:nvPr>
            <p:ph type="title"/>
          </p:nvPr>
        </p:nvSpPr>
        <p:spPr/>
        <p:txBody>
          <a:bodyPr>
            <a:noAutofit/>
          </a:bodyPr>
          <a:lstStyle/>
          <a:p>
            <a:r>
              <a:rPr lang="en-US" dirty="0" err="1"/>
              <a:t>Chronus</a:t>
            </a:r>
            <a:r>
              <a:rPr lang="en-US" dirty="0"/>
              <a:t> (HPCA'25) – Key Results</a:t>
            </a:r>
          </a:p>
        </p:txBody>
      </p:sp>
      <p:sp>
        <p:nvSpPr>
          <p:cNvPr id="4" name="Content Placeholder 57">
            <a:extLst>
              <a:ext uri="{FF2B5EF4-FFF2-40B4-BE49-F238E27FC236}">
                <a16:creationId xmlns:a16="http://schemas.microsoft.com/office/drawing/2014/main" id="{083AC451-C908-ECBF-1C1F-8DCD540B7E8E}"/>
              </a:ext>
            </a:extLst>
          </p:cNvPr>
          <p:cNvSpPr>
            <a:spLocks noGrp="1"/>
          </p:cNvSpPr>
          <p:nvPr>
            <p:ph idx="1"/>
          </p:nvPr>
        </p:nvSpPr>
        <p:spPr>
          <a:xfrm>
            <a:off x="-1" y="987087"/>
            <a:ext cx="9143999" cy="5189876"/>
          </a:xfrm>
        </p:spPr>
        <p:txBody>
          <a:bodyPr>
            <a:normAutofit/>
          </a:bodyPr>
          <a:lstStyle/>
          <a:p>
            <a:r>
              <a:rPr lang="en-US" sz="2400" dirty="0"/>
              <a:t>Comprehensive evaluation based on </a:t>
            </a:r>
            <a:r>
              <a:rPr lang="en-US" sz="2400" dirty="0" err="1"/>
              <a:t>Ramulator</a:t>
            </a:r>
            <a:r>
              <a:rPr lang="en-US" sz="2400" dirty="0"/>
              <a:t> 2.0</a:t>
            </a:r>
          </a:p>
        </p:txBody>
      </p:sp>
      <p:sp>
        <p:nvSpPr>
          <p:cNvPr id="3" name="Slide Number Placeholder 2">
            <a:extLst>
              <a:ext uri="{FF2B5EF4-FFF2-40B4-BE49-F238E27FC236}">
                <a16:creationId xmlns:a16="http://schemas.microsoft.com/office/drawing/2014/main" id="{E393809D-1769-A797-3BFC-5911FD45A95B}"/>
              </a:ext>
            </a:extLst>
          </p:cNvPr>
          <p:cNvSpPr>
            <a:spLocks noGrp="1"/>
          </p:cNvSpPr>
          <p:nvPr>
            <p:ph type="sldNum" sz="quarter" idx="12"/>
          </p:nvPr>
        </p:nvSpPr>
        <p:spPr/>
        <p:txBody>
          <a:bodyPr/>
          <a:lstStyle/>
          <a:p>
            <a:fld id="{CBE5B309-C2CE-4D90-B104-F7E98438FC65}" type="slidenum">
              <a:rPr lang="tr-TR" smtClean="0"/>
              <a:pPr/>
              <a:t>40</a:t>
            </a:fld>
            <a:endParaRPr lang="tr-TR" dirty="0"/>
          </a:p>
        </p:txBody>
      </p:sp>
      <p:pic>
        <p:nvPicPr>
          <p:cNvPr id="5" name="Picture 4">
            <a:extLst>
              <a:ext uri="{FF2B5EF4-FFF2-40B4-BE49-F238E27FC236}">
                <a16:creationId xmlns:a16="http://schemas.microsoft.com/office/drawing/2014/main" id="{AA74245F-5638-6485-19C4-9345B9C697D3}"/>
              </a:ext>
            </a:extLst>
          </p:cNvPr>
          <p:cNvPicPr>
            <a:picLocks noChangeAspect="1"/>
          </p:cNvPicPr>
          <p:nvPr/>
        </p:nvPicPr>
        <p:blipFill>
          <a:blip r:embed="rId3"/>
          <a:stretch>
            <a:fillRect/>
          </a:stretch>
        </p:blipFill>
        <p:spPr>
          <a:xfrm>
            <a:off x="859382" y="1739899"/>
            <a:ext cx="7373956" cy="3378201"/>
          </a:xfrm>
          <a:prstGeom prst="rect">
            <a:avLst/>
          </a:prstGeom>
        </p:spPr>
      </p:pic>
      <p:sp>
        <p:nvSpPr>
          <p:cNvPr id="7" name="Content Placeholder 2">
            <a:extLst>
              <a:ext uri="{FF2B5EF4-FFF2-40B4-BE49-F238E27FC236}">
                <a16:creationId xmlns:a16="http://schemas.microsoft.com/office/drawing/2014/main" id="{E3A81B7F-7DAA-BED3-57DA-6699E11C886F}"/>
              </a:ext>
            </a:extLst>
          </p:cNvPr>
          <p:cNvSpPr txBox="1">
            <a:spLocks/>
          </p:cNvSpPr>
          <p:nvPr/>
        </p:nvSpPr>
        <p:spPr>
          <a:xfrm>
            <a:off x="0" y="5455414"/>
            <a:ext cx="9144000" cy="830996"/>
          </a:xfrm>
          <a:prstGeom prst="rect">
            <a:avLst/>
          </a:prstGeom>
          <a:solidFill>
            <a:srgbClr val="FFEBCD"/>
          </a:solidFill>
          <a:ln w="28575">
            <a:solidFill>
              <a:schemeClr val="tx1"/>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400" b="1" dirty="0" err="1">
                <a:latin typeface="+mj-lt"/>
              </a:rPr>
              <a:t>Chronus</a:t>
            </a:r>
            <a:r>
              <a:rPr lang="en-GB" sz="2400" b="1" dirty="0">
                <a:latin typeface="+mj-lt"/>
              </a:rPr>
              <a:t> reduces the performance and energy overheads of PRAC and outperforms state-of-the-art solutions</a:t>
            </a:r>
            <a:endParaRPr lang="en-US" sz="2400" b="1" dirty="0">
              <a:solidFill>
                <a:srgbClr val="C00000"/>
              </a:solidFill>
              <a:latin typeface="+mj-lt"/>
            </a:endParaRPr>
          </a:p>
        </p:txBody>
      </p:sp>
    </p:spTree>
    <p:extLst>
      <p:ext uri="{BB962C8B-B14F-4D97-AF65-F5344CB8AC3E}">
        <p14:creationId xmlns:p14="http://schemas.microsoft.com/office/powerpoint/2010/main" val="398318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2E00F-3D88-2131-1437-02414E1A5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8069F-59CE-B57A-F08A-575F049A1929}"/>
              </a:ext>
            </a:extLst>
          </p:cNvPr>
          <p:cNvSpPr>
            <a:spLocks noGrp="1"/>
          </p:cNvSpPr>
          <p:nvPr>
            <p:ph type="title"/>
          </p:nvPr>
        </p:nvSpPr>
        <p:spPr/>
        <p:txBody>
          <a:bodyPr/>
          <a:lstStyle/>
          <a:p>
            <a:r>
              <a:rPr lang="en-US" dirty="0"/>
              <a:t>Addressing Drawbacks of PRAC</a:t>
            </a:r>
          </a:p>
        </p:txBody>
      </p:sp>
      <p:sp>
        <p:nvSpPr>
          <p:cNvPr id="3" name="Content Placeholder 2">
            <a:extLst>
              <a:ext uri="{FF2B5EF4-FFF2-40B4-BE49-F238E27FC236}">
                <a16:creationId xmlns:a16="http://schemas.microsoft.com/office/drawing/2014/main" id="{1A290E9B-9DDB-297F-FE78-1B0EAD950A19}"/>
              </a:ext>
            </a:extLst>
          </p:cNvPr>
          <p:cNvSpPr>
            <a:spLocks noGrp="1"/>
          </p:cNvSpPr>
          <p:nvPr>
            <p:ph idx="1"/>
          </p:nvPr>
        </p:nvSpPr>
        <p:spPr/>
        <p:txBody>
          <a:bodyPr>
            <a:normAutofit/>
          </a:bodyPr>
          <a:lstStyle/>
          <a:p>
            <a:r>
              <a:rPr lang="en-US" sz="2400" dirty="0"/>
              <a:t>Oguzhan Canpolat, Abdullah Giray </a:t>
            </a:r>
            <a:r>
              <a:rPr lang="en-US" sz="2400" dirty="0" err="1"/>
              <a:t>Yaglikci</a:t>
            </a:r>
            <a:r>
              <a:rPr lang="en-US" sz="2400" dirty="0"/>
              <a:t>, Geraldo Francisco de Oliveira, </a:t>
            </a:r>
            <a:r>
              <a:rPr lang="en-US" sz="2400" dirty="0" err="1"/>
              <a:t>Ataberk</a:t>
            </a:r>
            <a:r>
              <a:rPr lang="en-US" sz="2400" dirty="0"/>
              <a:t> Olgun, Nisa Bostanci, Ismail Emir Yuksel, </a:t>
            </a:r>
            <a:r>
              <a:rPr lang="en-US" sz="2400" dirty="0" err="1"/>
              <a:t>Haocong</a:t>
            </a:r>
            <a:r>
              <a:rPr lang="en-US" sz="2400" dirty="0"/>
              <a:t> Luo, Oguz Ergin, and </a:t>
            </a:r>
            <a:r>
              <a:rPr lang="en-US" sz="2400" u="sng" dirty="0"/>
              <a:t>Onur Mutlu</a:t>
            </a:r>
            <a:r>
              <a:rPr lang="en-US" sz="2400" dirty="0"/>
              <a:t>,</a:t>
            </a:r>
            <a:br>
              <a:rPr lang="en-US" sz="2400" dirty="0"/>
            </a:br>
            <a:r>
              <a:rPr lang="en-US" sz="2400" b="1" dirty="0">
                <a:hlinkClick r:id="rId2"/>
              </a:rPr>
              <a:t>"</a:t>
            </a:r>
            <a:r>
              <a:rPr lang="en-US" sz="2400" b="1" dirty="0" err="1">
                <a:hlinkClick r:id="rId2"/>
              </a:rPr>
              <a:t>Chronus</a:t>
            </a:r>
            <a:r>
              <a:rPr lang="en-US" sz="2400" b="1" dirty="0">
                <a:hlinkClick r:id="rId2"/>
              </a:rPr>
              <a:t>: Understanding and Securing the Cutting-Edge Industry Solutions to DRAM Read Disturbance"</a:t>
            </a:r>
            <a:br>
              <a:rPr lang="en-US" sz="2400" dirty="0"/>
            </a:br>
            <a:r>
              <a:rPr lang="en-US" sz="2400" b="1" i="1" dirty="0"/>
              <a:t>HPCA</a:t>
            </a:r>
            <a:r>
              <a:rPr lang="en-US" sz="2400" dirty="0"/>
              <a:t>, Las Vegas, NV, USA, March 2025. </a:t>
            </a:r>
            <a:br>
              <a:rPr lang="en-US" sz="2400" dirty="0"/>
            </a:br>
            <a:r>
              <a:rPr lang="en-US" sz="2400" b="1" i="1" dirty="0"/>
              <a:t>Officially artifact evaluated as available, functional, and reproduced.</a:t>
            </a:r>
            <a:endParaRPr lang="en-US" sz="2400" dirty="0"/>
          </a:p>
        </p:txBody>
      </p:sp>
      <p:sp>
        <p:nvSpPr>
          <p:cNvPr id="4" name="Slide Number Placeholder 3">
            <a:extLst>
              <a:ext uri="{FF2B5EF4-FFF2-40B4-BE49-F238E27FC236}">
                <a16:creationId xmlns:a16="http://schemas.microsoft.com/office/drawing/2014/main" id="{4570AC68-FB1A-563D-2D4F-1742D037684C}"/>
              </a:ext>
            </a:extLst>
          </p:cNvPr>
          <p:cNvSpPr>
            <a:spLocks noGrp="1"/>
          </p:cNvSpPr>
          <p:nvPr>
            <p:ph type="sldNum" sz="quarter" idx="12"/>
          </p:nvPr>
        </p:nvSpPr>
        <p:spPr/>
        <p:txBody>
          <a:bodyPr/>
          <a:lstStyle/>
          <a:p>
            <a:fld id="{CBE5B309-C2CE-4D90-B104-F7E98438FC65}" type="slidenum">
              <a:rPr lang="tr-TR" smtClean="0"/>
              <a:pPr/>
              <a:t>41</a:t>
            </a:fld>
            <a:endParaRPr lang="tr-TR" dirty="0"/>
          </a:p>
        </p:txBody>
      </p:sp>
      <p:pic>
        <p:nvPicPr>
          <p:cNvPr id="6" name="Picture 5">
            <a:extLst>
              <a:ext uri="{FF2B5EF4-FFF2-40B4-BE49-F238E27FC236}">
                <a16:creationId xmlns:a16="http://schemas.microsoft.com/office/drawing/2014/main" id="{ADB36AA5-DA97-D59B-0854-97E06D609513}"/>
              </a:ext>
            </a:extLst>
          </p:cNvPr>
          <p:cNvPicPr>
            <a:picLocks noChangeAspect="1"/>
          </p:cNvPicPr>
          <p:nvPr/>
        </p:nvPicPr>
        <p:blipFill>
          <a:blip r:embed="rId3">
            <a:extLst>
              <a:ext uri="{28A0092B-C50C-407E-A947-70E740481C1C}">
                <a14:useLocalDpi xmlns:a14="http://schemas.microsoft.com/office/drawing/2010/main" val="0"/>
              </a:ext>
            </a:extLst>
          </a:blip>
          <a:srcRect l="11481" t="24795" r="12222" b="35383"/>
          <a:stretch>
            <a:fillRect/>
          </a:stretch>
        </p:blipFill>
        <p:spPr>
          <a:xfrm>
            <a:off x="142453" y="3860800"/>
            <a:ext cx="8859090" cy="180622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D1EBCAD6-F9EE-3328-5B6E-2B4BEA353D19}"/>
              </a:ext>
            </a:extLst>
          </p:cNvPr>
          <p:cNvSpPr txBox="1"/>
          <p:nvPr/>
        </p:nvSpPr>
        <p:spPr>
          <a:xfrm>
            <a:off x="2167466" y="5847644"/>
            <a:ext cx="6344356" cy="523220"/>
          </a:xfrm>
          <a:prstGeom prst="rect">
            <a:avLst/>
          </a:prstGeom>
          <a:noFill/>
        </p:spPr>
        <p:txBody>
          <a:bodyPr wrap="square" rtlCol="0">
            <a:spAutoFit/>
          </a:bodyPr>
          <a:lstStyle/>
          <a:p>
            <a:r>
              <a:rPr lang="en-US" sz="2800" dirty="0">
                <a:latin typeface="+mj-lt"/>
                <a:hlinkClick r:id="rId2"/>
              </a:rPr>
              <a:t>https://arxiv.org/pdf/2502.12650</a:t>
            </a:r>
            <a:endParaRPr lang="en-US" sz="2800" dirty="0">
              <a:latin typeface="+mj-lt"/>
            </a:endParaRPr>
          </a:p>
        </p:txBody>
      </p:sp>
    </p:spTree>
    <p:extLst>
      <p:ext uri="{BB962C8B-B14F-4D97-AF65-F5344CB8AC3E}">
        <p14:creationId xmlns:p14="http://schemas.microsoft.com/office/powerpoint/2010/main" val="2117902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2EF0-300A-491B-86CF-1715F2A1B87E}"/>
              </a:ext>
            </a:extLst>
          </p:cNvPr>
          <p:cNvSpPr>
            <a:spLocks noGrp="1"/>
          </p:cNvSpPr>
          <p:nvPr>
            <p:ph type="title"/>
          </p:nvPr>
        </p:nvSpPr>
        <p:spPr/>
        <p:txBody>
          <a:bodyPr/>
          <a:lstStyle/>
          <a:p>
            <a:r>
              <a:rPr lang="en-US" dirty="0"/>
              <a:t>A Recent Paper using gem5+Ramulator 2.0</a:t>
            </a:r>
          </a:p>
        </p:txBody>
      </p:sp>
      <p:sp>
        <p:nvSpPr>
          <p:cNvPr id="3" name="Content Placeholder 2">
            <a:extLst>
              <a:ext uri="{FF2B5EF4-FFF2-40B4-BE49-F238E27FC236}">
                <a16:creationId xmlns:a16="http://schemas.microsoft.com/office/drawing/2014/main" id="{F5C9EB6D-4D7D-FA0B-0DA4-766D40D03F4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DD071DE-4C7B-BB53-825D-3016BB29C9DE}"/>
              </a:ext>
            </a:extLst>
          </p:cNvPr>
          <p:cNvSpPr>
            <a:spLocks noGrp="1"/>
          </p:cNvSpPr>
          <p:nvPr>
            <p:ph type="sldNum" sz="quarter" idx="12"/>
          </p:nvPr>
        </p:nvSpPr>
        <p:spPr/>
        <p:txBody>
          <a:bodyPr/>
          <a:lstStyle/>
          <a:p>
            <a:fld id="{CBE5B309-C2CE-4D90-B104-F7E98438FC65}" type="slidenum">
              <a:rPr lang="tr-TR" smtClean="0"/>
              <a:pPr/>
              <a:t>42</a:t>
            </a:fld>
            <a:endParaRPr lang="tr-TR" dirty="0"/>
          </a:p>
        </p:txBody>
      </p:sp>
      <p:pic>
        <p:nvPicPr>
          <p:cNvPr id="5" name="Picture 4">
            <a:extLst>
              <a:ext uri="{FF2B5EF4-FFF2-40B4-BE49-F238E27FC236}">
                <a16:creationId xmlns:a16="http://schemas.microsoft.com/office/drawing/2014/main" id="{4842EDB1-56E6-F019-4F90-DE6851AB080C}"/>
              </a:ext>
            </a:extLst>
          </p:cNvPr>
          <p:cNvPicPr>
            <a:picLocks noChangeAspect="1"/>
          </p:cNvPicPr>
          <p:nvPr/>
        </p:nvPicPr>
        <p:blipFill>
          <a:blip r:embed="rId3"/>
          <a:stretch>
            <a:fillRect/>
          </a:stretch>
        </p:blipFill>
        <p:spPr>
          <a:xfrm>
            <a:off x="390399" y="1338613"/>
            <a:ext cx="8494520" cy="36614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368716CD-B396-47B9-4F17-9ECD2C1B9A91}"/>
              </a:ext>
            </a:extLst>
          </p:cNvPr>
          <p:cNvSpPr txBox="1"/>
          <p:nvPr/>
        </p:nvSpPr>
        <p:spPr>
          <a:xfrm>
            <a:off x="1028036" y="5095978"/>
            <a:ext cx="7036648" cy="830997"/>
          </a:xfrm>
          <a:prstGeom prst="rect">
            <a:avLst/>
          </a:prstGeom>
          <a:noFill/>
        </p:spPr>
        <p:txBody>
          <a:bodyPr wrap="square" rtlCol="0">
            <a:spAutoFit/>
          </a:bodyPr>
          <a:lstStyle/>
          <a:p>
            <a:pPr algn="ctr"/>
            <a:r>
              <a:rPr lang="en-US" sz="2400" dirty="0">
                <a:hlinkClick r:id="rId4"/>
              </a:rPr>
              <a:t>https://arxiv.org/pdf/2503.17891</a:t>
            </a:r>
            <a:br>
              <a:rPr lang="en-US" sz="2400" dirty="0"/>
            </a:br>
            <a:r>
              <a:rPr lang="en-US" sz="2400" dirty="0">
                <a:hlinkClick r:id="rId5"/>
              </a:rPr>
              <a:t>https://github.com/CMU-SAFARI/LeakyHammer</a:t>
            </a:r>
            <a:endParaRPr lang="en-US" sz="2400" dirty="0"/>
          </a:p>
        </p:txBody>
      </p:sp>
      <p:sp>
        <p:nvSpPr>
          <p:cNvPr id="7" name="Rectangle 6">
            <a:extLst>
              <a:ext uri="{FF2B5EF4-FFF2-40B4-BE49-F238E27FC236}">
                <a16:creationId xmlns:a16="http://schemas.microsoft.com/office/drawing/2014/main" id="{67C2F4CE-431B-415F-F3FB-C48A6D6141C5}"/>
              </a:ext>
            </a:extLst>
          </p:cNvPr>
          <p:cNvSpPr/>
          <p:nvPr/>
        </p:nvSpPr>
        <p:spPr>
          <a:xfrm>
            <a:off x="594162" y="1478844"/>
            <a:ext cx="1842638" cy="47413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mj-lt"/>
              </a:rPr>
              <a:t>MICRO 2025</a:t>
            </a:r>
          </a:p>
        </p:txBody>
      </p:sp>
    </p:spTree>
    <p:extLst>
      <p:ext uri="{BB962C8B-B14F-4D97-AF65-F5344CB8AC3E}">
        <p14:creationId xmlns:p14="http://schemas.microsoft.com/office/powerpoint/2010/main" val="2658441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39E3-D151-DF13-8FFF-C5F1EBBE6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5C6CE-ED60-BD89-8BCF-EE2C4690E71E}"/>
              </a:ext>
            </a:extLst>
          </p:cNvPr>
          <p:cNvSpPr>
            <a:spLocks noGrp="1"/>
          </p:cNvSpPr>
          <p:nvPr>
            <p:ph type="title"/>
          </p:nvPr>
        </p:nvSpPr>
        <p:spPr/>
        <p:txBody>
          <a:bodyPr/>
          <a:lstStyle/>
          <a:p>
            <a:r>
              <a:rPr lang="en-US" dirty="0"/>
              <a:t>Talk Outline</a:t>
            </a:r>
          </a:p>
        </p:txBody>
      </p:sp>
      <p:sp>
        <p:nvSpPr>
          <p:cNvPr id="3" name="Content Placeholder 2">
            <a:extLst>
              <a:ext uri="{FF2B5EF4-FFF2-40B4-BE49-F238E27FC236}">
                <a16:creationId xmlns:a16="http://schemas.microsoft.com/office/drawing/2014/main" id="{AA03E11D-1D21-0E2F-AEE2-CCEEDD14ABC8}"/>
              </a:ext>
            </a:extLst>
          </p:cNvPr>
          <p:cNvSpPr>
            <a:spLocks noGrp="1"/>
          </p:cNvSpPr>
          <p:nvPr>
            <p:ph idx="1"/>
          </p:nvPr>
        </p:nvSpPr>
        <p:spPr/>
        <p:txBody>
          <a:bodyPr>
            <a:normAutofit/>
          </a:bodyPr>
          <a:lstStyle/>
          <a:p>
            <a:pPr marL="571500" indent="-571500">
              <a:lnSpc>
                <a:spcPct val="150000"/>
              </a:lnSpc>
              <a:buFont typeface="+mj-lt"/>
              <a:buAutoNum type="romanUcPeriod"/>
            </a:pPr>
            <a:r>
              <a:rPr lang="en-US" sz="3200" b="1" dirty="0"/>
              <a:t>Motivation and Problem</a:t>
            </a:r>
          </a:p>
          <a:p>
            <a:pPr marL="571500" indent="-571500">
              <a:lnSpc>
                <a:spcPct val="150000"/>
              </a:lnSpc>
              <a:buFont typeface="+mj-lt"/>
              <a:buAutoNum type="romanUcPeriod"/>
            </a:pPr>
            <a:r>
              <a:rPr lang="en-US" sz="3200" dirty="0">
                <a:solidFill>
                  <a:schemeClr val="tx1">
                    <a:lumMod val="50000"/>
                    <a:lumOff val="50000"/>
                  </a:schemeClr>
                </a:solidFill>
              </a:rPr>
              <a:t>Key Observation</a:t>
            </a:r>
          </a:p>
          <a:p>
            <a:pPr marL="571500" indent="-571500">
              <a:lnSpc>
                <a:spcPct val="150000"/>
              </a:lnSpc>
              <a:buFont typeface="+mj-lt"/>
              <a:buAutoNum type="romanUcPeriod"/>
            </a:pPr>
            <a:r>
              <a:rPr lang="en-US" sz="3200" dirty="0" err="1">
                <a:solidFill>
                  <a:schemeClr val="tx1">
                    <a:lumMod val="50000"/>
                    <a:lumOff val="50000"/>
                  </a:schemeClr>
                </a:solidFill>
              </a:rPr>
              <a:t>LeakyHammer</a:t>
            </a:r>
            <a:r>
              <a:rPr lang="en-US" sz="3200" dirty="0">
                <a:solidFill>
                  <a:schemeClr val="tx1">
                    <a:lumMod val="50000"/>
                    <a:lumOff val="50000"/>
                  </a:schemeClr>
                </a:solidFill>
              </a:rPr>
              <a:t> and Case Studies</a:t>
            </a:r>
          </a:p>
          <a:p>
            <a:pPr marL="571500" indent="-571500">
              <a:lnSpc>
                <a:spcPct val="150000"/>
              </a:lnSpc>
              <a:buFont typeface="+mj-lt"/>
              <a:buAutoNum type="romanUcPeriod"/>
            </a:pPr>
            <a:r>
              <a:rPr lang="en-US" sz="3200" dirty="0">
                <a:solidFill>
                  <a:schemeClr val="tx1">
                    <a:lumMod val="50000"/>
                    <a:lumOff val="50000"/>
                  </a:schemeClr>
                </a:solidFill>
              </a:rPr>
              <a:t>Mitigating </a:t>
            </a:r>
            <a:r>
              <a:rPr lang="en-US" sz="3200" dirty="0" err="1">
                <a:solidFill>
                  <a:schemeClr val="tx1">
                    <a:lumMod val="50000"/>
                    <a:lumOff val="50000"/>
                  </a:schemeClr>
                </a:solidFill>
              </a:rPr>
              <a:t>LeakyHammer</a:t>
            </a:r>
            <a:endParaRPr lang="en-US" sz="3200" dirty="0">
              <a:solidFill>
                <a:schemeClr val="tx1">
                  <a:lumMod val="50000"/>
                  <a:lumOff val="50000"/>
                </a:schemeClr>
              </a:solidFill>
            </a:endParaRPr>
          </a:p>
          <a:p>
            <a:pPr marL="571500" indent="-571500">
              <a:lnSpc>
                <a:spcPct val="150000"/>
              </a:lnSpc>
              <a:buFont typeface="+mj-lt"/>
              <a:buAutoNum type="romanUcPeriod"/>
            </a:pPr>
            <a:r>
              <a:rPr lang="en-US" sz="3200" dirty="0">
                <a:solidFill>
                  <a:schemeClr val="tx1">
                    <a:lumMod val="50000"/>
                    <a:lumOff val="50000"/>
                  </a:schemeClr>
                </a:solidFill>
              </a:rPr>
              <a:t>Conclusion</a:t>
            </a:r>
          </a:p>
        </p:txBody>
      </p:sp>
      <p:sp>
        <p:nvSpPr>
          <p:cNvPr id="4" name="Footer Placeholder 3">
            <a:extLst>
              <a:ext uri="{FF2B5EF4-FFF2-40B4-BE49-F238E27FC236}">
                <a16:creationId xmlns:a16="http://schemas.microsoft.com/office/drawing/2014/main" id="{C24D27AA-8400-513F-47ED-242F7B4141AB}"/>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44B8F304-68CB-FA48-1EDB-EDB51EB81E77}"/>
              </a:ext>
            </a:extLst>
          </p:cNvPr>
          <p:cNvSpPr>
            <a:spLocks noGrp="1"/>
          </p:cNvSpPr>
          <p:nvPr>
            <p:ph type="sldNum" sz="quarter" idx="12"/>
          </p:nvPr>
        </p:nvSpPr>
        <p:spPr/>
        <p:txBody>
          <a:bodyPr/>
          <a:lstStyle/>
          <a:p>
            <a:fld id="{CBE5B309-C2CE-4D90-B104-F7E98438FC65}" type="slidenum">
              <a:rPr lang="tr-TR" smtClean="0"/>
              <a:pPr/>
              <a:t>43</a:t>
            </a:fld>
            <a:endParaRPr lang="tr-TR" dirty="0"/>
          </a:p>
        </p:txBody>
      </p:sp>
    </p:spTree>
    <p:extLst>
      <p:ext uri="{BB962C8B-B14F-4D97-AF65-F5344CB8AC3E}">
        <p14:creationId xmlns:p14="http://schemas.microsoft.com/office/powerpoint/2010/main" val="2479728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DB9EA41F-A45D-167D-28F5-A26859B24067}"/>
              </a:ext>
            </a:extLst>
          </p:cNvPr>
          <p:cNvSpPr txBox="1">
            <a:spLocks/>
          </p:cNvSpPr>
          <p:nvPr/>
        </p:nvSpPr>
        <p:spPr>
          <a:xfrm>
            <a:off x="-1" y="1088965"/>
            <a:ext cx="9143999" cy="555388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Modern systems are vulnerable to </a:t>
            </a:r>
            <a:r>
              <a:rPr lang="en-US" dirty="0">
                <a:solidFill>
                  <a:srgbClr val="F23F00"/>
                </a:solidFill>
              </a:rPr>
              <a:t>security attacks </a:t>
            </a:r>
            <a:r>
              <a:rPr lang="en-US" dirty="0"/>
              <a:t>such as </a:t>
            </a:r>
            <a:r>
              <a:rPr lang="en-US" dirty="0">
                <a:solidFill>
                  <a:srgbClr val="F23F00"/>
                </a:solidFill>
              </a:rPr>
              <a:t>covert channel and side channel attacks</a:t>
            </a:r>
          </a:p>
          <a:p>
            <a:endParaRPr lang="en-US" b="1" dirty="0"/>
          </a:p>
          <a:p>
            <a:endParaRPr lang="en-US" dirty="0"/>
          </a:p>
          <a:p>
            <a:pPr marL="0" indent="0">
              <a:buNone/>
            </a:pPr>
            <a:endParaRPr lang="en-US" dirty="0"/>
          </a:p>
          <a:p>
            <a:endParaRPr lang="en-US" dirty="0"/>
          </a:p>
          <a:p>
            <a:endParaRPr lang="en-US" dirty="0"/>
          </a:p>
          <a:p>
            <a:pPr marL="0" indent="0">
              <a:buNone/>
            </a:pPr>
            <a:endParaRPr lang="en-US" dirty="0"/>
          </a:p>
          <a:p>
            <a:pPr marL="0" indent="0">
              <a:buNone/>
            </a:pPr>
            <a:endParaRPr lang="en-US" sz="1600" dirty="0"/>
          </a:p>
          <a:p>
            <a:pPr marL="0" indent="0">
              <a:buNone/>
            </a:pPr>
            <a:endParaRPr lang="en-US" sz="1600" dirty="0"/>
          </a:p>
          <a:p>
            <a:r>
              <a:rPr lang="en-US" dirty="0"/>
              <a:t>A set of attacks </a:t>
            </a:r>
            <a:r>
              <a:rPr lang="en-US" dirty="0">
                <a:solidFill>
                  <a:schemeClr val="accent6">
                    <a:lumMod val="75000"/>
                  </a:schemeClr>
                </a:solidFill>
              </a:rPr>
              <a:t>exploit hardware structures </a:t>
            </a:r>
            <a:r>
              <a:rPr lang="en-US" dirty="0"/>
              <a:t>that result in </a:t>
            </a:r>
            <a:r>
              <a:rPr lang="en-US" dirty="0">
                <a:solidFill>
                  <a:schemeClr val="accent6">
                    <a:lumMod val="75000"/>
                  </a:schemeClr>
                </a:solidFill>
              </a:rPr>
              <a:t>different execution time for a type of operation </a:t>
            </a:r>
            <a:br>
              <a:rPr lang="en-US" dirty="0">
                <a:solidFill>
                  <a:srgbClr val="F23F00"/>
                </a:solidFill>
              </a:rPr>
            </a:br>
            <a:r>
              <a:rPr lang="en-US" dirty="0"/>
              <a:t>based on the input or the current state of the structure</a:t>
            </a:r>
          </a:p>
        </p:txBody>
      </p:sp>
      <p:sp>
        <p:nvSpPr>
          <p:cNvPr id="2" name="Title 1"/>
          <p:cNvSpPr>
            <a:spLocks noGrp="1"/>
          </p:cNvSpPr>
          <p:nvPr>
            <p:ph type="title"/>
          </p:nvPr>
        </p:nvSpPr>
        <p:spPr/>
        <p:txBody>
          <a:bodyPr>
            <a:normAutofit/>
          </a:bodyPr>
          <a:lstStyle/>
          <a:p>
            <a:r>
              <a:rPr lang="en-US" sz="3500" dirty="0"/>
              <a:t>A Typical DRAM-Based Computing System</a:t>
            </a:r>
          </a:p>
        </p:txBody>
      </p:sp>
      <p:pic>
        <p:nvPicPr>
          <p:cNvPr id="3" name="Content Placeholder 5">
            <a:extLst>
              <a:ext uri="{FF2B5EF4-FFF2-40B4-BE49-F238E27FC236}">
                <a16:creationId xmlns:a16="http://schemas.microsoft.com/office/drawing/2014/main" id="{B5611E7D-3AE3-3AEC-9877-6D0322B373EA}"/>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10000" b="90000" l="0" r="100000"/>
                    </a14:imgEffect>
                  </a14:imgLayer>
                </a14:imgProps>
              </a:ext>
              <a:ext uri="{28A0092B-C50C-407E-A947-70E740481C1C}">
                <a14:useLocalDpi xmlns:a14="http://schemas.microsoft.com/office/drawing/2010/main" val="0"/>
              </a:ext>
            </a:extLst>
          </a:blip>
          <a:stretch>
            <a:fillRect/>
          </a:stretch>
        </p:blipFill>
        <p:spPr>
          <a:xfrm>
            <a:off x="4429660" y="2689552"/>
            <a:ext cx="1147217" cy="1147217"/>
          </a:xfrm>
        </p:spPr>
      </p:pic>
      <p:pic>
        <p:nvPicPr>
          <p:cNvPr id="11" name="Picture 10">
            <a:extLst>
              <a:ext uri="{FF2B5EF4-FFF2-40B4-BE49-F238E27FC236}">
                <a16:creationId xmlns:a16="http://schemas.microsoft.com/office/drawing/2014/main" id="{87A32330-7253-946A-34D0-074D171568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97931" y="2933392"/>
            <a:ext cx="1147217" cy="1147217"/>
          </a:xfrm>
          <a:prstGeom prst="rect">
            <a:avLst/>
          </a:prstGeom>
        </p:spPr>
      </p:pic>
      <p:sp>
        <p:nvSpPr>
          <p:cNvPr id="5" name="Slide Number Placeholder 4">
            <a:extLst>
              <a:ext uri="{FF2B5EF4-FFF2-40B4-BE49-F238E27FC236}">
                <a16:creationId xmlns:a16="http://schemas.microsoft.com/office/drawing/2014/main" id="{0C0F6A80-1BF7-F7F7-9303-FE0F9DFF9975}"/>
              </a:ext>
            </a:extLst>
          </p:cNvPr>
          <p:cNvSpPr>
            <a:spLocks noGrp="1"/>
          </p:cNvSpPr>
          <p:nvPr>
            <p:ph type="sldNum" sz="quarter" idx="12"/>
          </p:nvPr>
        </p:nvSpPr>
        <p:spPr/>
        <p:txBody>
          <a:bodyPr/>
          <a:lstStyle/>
          <a:p>
            <a:fld id="{CBE5B309-C2CE-4D90-B104-F7E98438FC65}" type="slidenum">
              <a:rPr lang="tr-TR" smtClean="0"/>
              <a:pPr/>
              <a:t>44</a:t>
            </a:fld>
            <a:endParaRPr lang="tr-TR" dirty="0"/>
          </a:p>
        </p:txBody>
      </p:sp>
      <p:pic>
        <p:nvPicPr>
          <p:cNvPr id="9" name="Content Placeholder 5">
            <a:extLst>
              <a:ext uri="{FF2B5EF4-FFF2-40B4-BE49-F238E27FC236}">
                <a16:creationId xmlns:a16="http://schemas.microsoft.com/office/drawing/2014/main" id="{94FDF6FA-442D-B12D-103B-46B25EB29F0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0" r="100000"/>
                    </a14:imgEffect>
                  </a14:imgLayer>
                </a14:imgProps>
              </a:ext>
              <a:ext uri="{28A0092B-C50C-407E-A947-70E740481C1C}">
                <a14:useLocalDpi xmlns:a14="http://schemas.microsoft.com/office/drawing/2010/main" val="0"/>
              </a:ext>
            </a:extLst>
          </a:blip>
          <a:stretch>
            <a:fillRect/>
          </a:stretch>
        </p:blipFill>
        <p:spPr>
          <a:xfrm>
            <a:off x="4582060" y="2841952"/>
            <a:ext cx="1147217" cy="1147217"/>
          </a:xfrm>
          <a:prstGeom prst="rect">
            <a:avLst/>
          </a:prstGeom>
        </p:spPr>
      </p:pic>
      <p:pic>
        <p:nvPicPr>
          <p:cNvPr id="10" name="Content Placeholder 5">
            <a:extLst>
              <a:ext uri="{FF2B5EF4-FFF2-40B4-BE49-F238E27FC236}">
                <a16:creationId xmlns:a16="http://schemas.microsoft.com/office/drawing/2014/main" id="{0F9D37D6-E838-EDE3-1237-75B92ADA054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0" r="100000"/>
                    </a14:imgEffect>
                  </a14:imgLayer>
                </a14:imgProps>
              </a:ext>
              <a:ext uri="{28A0092B-C50C-407E-A947-70E740481C1C}">
                <a14:useLocalDpi xmlns:a14="http://schemas.microsoft.com/office/drawing/2010/main" val="0"/>
              </a:ext>
            </a:extLst>
          </a:blip>
          <a:stretch>
            <a:fillRect/>
          </a:stretch>
        </p:blipFill>
        <p:spPr>
          <a:xfrm>
            <a:off x="4734460" y="2994352"/>
            <a:ext cx="1147217" cy="1147217"/>
          </a:xfrm>
          <a:prstGeom prst="rect">
            <a:avLst/>
          </a:prstGeom>
        </p:spPr>
      </p:pic>
      <p:pic>
        <p:nvPicPr>
          <p:cNvPr id="12" name="Content Placeholder 5">
            <a:extLst>
              <a:ext uri="{FF2B5EF4-FFF2-40B4-BE49-F238E27FC236}">
                <a16:creationId xmlns:a16="http://schemas.microsoft.com/office/drawing/2014/main" id="{326C5A2E-A76D-51A1-6631-162F8869376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0" r="100000"/>
                    </a14:imgEffect>
                  </a14:imgLayer>
                </a14:imgProps>
              </a:ext>
              <a:ext uri="{28A0092B-C50C-407E-A947-70E740481C1C}">
                <a14:useLocalDpi xmlns:a14="http://schemas.microsoft.com/office/drawing/2010/main" val="0"/>
              </a:ext>
            </a:extLst>
          </a:blip>
          <a:stretch>
            <a:fillRect/>
          </a:stretch>
        </p:blipFill>
        <p:spPr>
          <a:xfrm>
            <a:off x="4886860" y="3146752"/>
            <a:ext cx="1147217" cy="1147217"/>
          </a:xfrm>
          <a:prstGeom prst="rect">
            <a:avLst/>
          </a:prstGeom>
        </p:spPr>
      </p:pic>
      <p:sp>
        <p:nvSpPr>
          <p:cNvPr id="13" name="Rectangle: Rounded Corners 12">
            <a:extLst>
              <a:ext uri="{FF2B5EF4-FFF2-40B4-BE49-F238E27FC236}">
                <a16:creationId xmlns:a16="http://schemas.microsoft.com/office/drawing/2014/main" id="{469E23B6-75F0-C2A1-1723-65C79BD92156}"/>
              </a:ext>
            </a:extLst>
          </p:cNvPr>
          <p:cNvSpPr/>
          <p:nvPr/>
        </p:nvSpPr>
        <p:spPr>
          <a:xfrm>
            <a:off x="2956560" y="2785209"/>
            <a:ext cx="3286110" cy="1478281"/>
          </a:xfrm>
          <a:prstGeom prst="roundRect">
            <a:avLst>
              <a:gd name="adj" fmla="val 10481"/>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6E6997D-43EC-0778-26B0-BC1C3AF81931}"/>
              </a:ext>
            </a:extLst>
          </p:cNvPr>
          <p:cNvSpPr txBox="1"/>
          <p:nvPr/>
        </p:nvSpPr>
        <p:spPr>
          <a:xfrm>
            <a:off x="2964180" y="4362549"/>
            <a:ext cx="3215640" cy="461665"/>
          </a:xfrm>
          <a:prstGeom prst="rect">
            <a:avLst/>
          </a:prstGeom>
          <a:noFill/>
        </p:spPr>
        <p:txBody>
          <a:bodyPr wrap="square" rtlCol="0">
            <a:spAutoFit/>
          </a:bodyPr>
          <a:lstStyle/>
          <a:p>
            <a:pPr algn="ctr"/>
            <a:r>
              <a:rPr lang="en-US" sz="2400" b="1" dirty="0">
                <a:latin typeface="+mj-lt"/>
              </a:rPr>
              <a:t>Computing System</a:t>
            </a:r>
          </a:p>
        </p:txBody>
      </p:sp>
      <p:cxnSp>
        <p:nvCxnSpPr>
          <p:cNvPr id="17" name="Straight Connector 16">
            <a:extLst>
              <a:ext uri="{FF2B5EF4-FFF2-40B4-BE49-F238E27FC236}">
                <a16:creationId xmlns:a16="http://schemas.microsoft.com/office/drawing/2014/main" id="{22209F80-A2F7-A8E6-BF18-A57BA761A934}"/>
              </a:ext>
            </a:extLst>
          </p:cNvPr>
          <p:cNvCxnSpPr/>
          <p:nvPr/>
        </p:nvCxnSpPr>
        <p:spPr>
          <a:xfrm>
            <a:off x="1970442" y="2689552"/>
            <a:ext cx="833718" cy="4212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5B9DB54-1851-2B97-BD88-E54717182E4B}"/>
              </a:ext>
            </a:extLst>
          </p:cNvPr>
          <p:cNvCxnSpPr>
            <a:cxnSpLocks/>
          </p:cNvCxnSpPr>
          <p:nvPr/>
        </p:nvCxnSpPr>
        <p:spPr>
          <a:xfrm>
            <a:off x="1773788" y="3549199"/>
            <a:ext cx="10303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DAD1015-9C76-EEDC-8279-A7A31C6D6F88}"/>
              </a:ext>
            </a:extLst>
          </p:cNvPr>
          <p:cNvCxnSpPr>
            <a:cxnSpLocks/>
          </p:cNvCxnSpPr>
          <p:nvPr/>
        </p:nvCxnSpPr>
        <p:spPr>
          <a:xfrm flipH="1">
            <a:off x="1962025" y="3967854"/>
            <a:ext cx="833718" cy="4212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944F873-E60E-D93C-D2D7-7E8C10AFF5FC}"/>
              </a:ext>
            </a:extLst>
          </p:cNvPr>
          <p:cNvCxnSpPr>
            <a:cxnSpLocks/>
          </p:cNvCxnSpPr>
          <p:nvPr/>
        </p:nvCxnSpPr>
        <p:spPr>
          <a:xfrm flipH="1">
            <a:off x="6488412" y="2689552"/>
            <a:ext cx="833718" cy="4212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D7DF609-E34D-6202-AB40-8E3744B345BF}"/>
              </a:ext>
            </a:extLst>
          </p:cNvPr>
          <p:cNvCxnSpPr>
            <a:cxnSpLocks/>
          </p:cNvCxnSpPr>
          <p:nvPr/>
        </p:nvCxnSpPr>
        <p:spPr>
          <a:xfrm flipH="1">
            <a:off x="6488412" y="3549199"/>
            <a:ext cx="10303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8D0777-32DF-932A-1A3C-5136F3AAD4DF}"/>
              </a:ext>
            </a:extLst>
          </p:cNvPr>
          <p:cNvCxnSpPr>
            <a:cxnSpLocks/>
          </p:cNvCxnSpPr>
          <p:nvPr/>
        </p:nvCxnSpPr>
        <p:spPr>
          <a:xfrm>
            <a:off x="6479995" y="3967854"/>
            <a:ext cx="833718" cy="4212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Graphic 40" descr="User with solid fill">
            <a:extLst>
              <a:ext uri="{FF2B5EF4-FFF2-40B4-BE49-F238E27FC236}">
                <a16:creationId xmlns:a16="http://schemas.microsoft.com/office/drawing/2014/main" id="{B393CFC3-7861-1092-94F5-22FA19E17C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58570" y="2201154"/>
            <a:ext cx="914400" cy="914400"/>
          </a:xfrm>
          <a:prstGeom prst="rect">
            <a:avLst/>
          </a:prstGeom>
        </p:spPr>
      </p:pic>
      <p:pic>
        <p:nvPicPr>
          <p:cNvPr id="43" name="Graphic 42" descr="User with solid fill">
            <a:extLst>
              <a:ext uri="{FF2B5EF4-FFF2-40B4-BE49-F238E27FC236}">
                <a16:creationId xmlns:a16="http://schemas.microsoft.com/office/drawing/2014/main" id="{90532054-3FE9-9391-51FD-25D76677A7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59860" y="4030251"/>
            <a:ext cx="914400" cy="914400"/>
          </a:xfrm>
          <a:prstGeom prst="rect">
            <a:avLst/>
          </a:prstGeom>
        </p:spPr>
      </p:pic>
      <p:pic>
        <p:nvPicPr>
          <p:cNvPr id="47" name="Graphic 46" descr="User with solid fill">
            <a:extLst>
              <a:ext uri="{FF2B5EF4-FFF2-40B4-BE49-F238E27FC236}">
                <a16:creationId xmlns:a16="http://schemas.microsoft.com/office/drawing/2014/main" id="{F4DE6224-AF7F-6C17-ACA4-DB043BDDF1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5738" y="3098285"/>
            <a:ext cx="914400" cy="914400"/>
          </a:xfrm>
          <a:prstGeom prst="rect">
            <a:avLst/>
          </a:prstGeom>
        </p:spPr>
      </p:pic>
      <p:grpSp>
        <p:nvGrpSpPr>
          <p:cNvPr id="60" name="Group 59">
            <a:extLst>
              <a:ext uri="{FF2B5EF4-FFF2-40B4-BE49-F238E27FC236}">
                <a16:creationId xmlns:a16="http://schemas.microsoft.com/office/drawing/2014/main" id="{5B9D03BE-6175-1F8B-15A3-5C0845912569}"/>
              </a:ext>
            </a:extLst>
          </p:cNvPr>
          <p:cNvGrpSpPr/>
          <p:nvPr/>
        </p:nvGrpSpPr>
        <p:grpSpPr>
          <a:xfrm>
            <a:off x="568292" y="2076141"/>
            <a:ext cx="8135349" cy="295976"/>
            <a:chOff x="568292" y="2076141"/>
            <a:chExt cx="8135349" cy="295976"/>
          </a:xfrm>
        </p:grpSpPr>
        <p:sp>
          <p:nvSpPr>
            <p:cNvPr id="48" name="Speech Bubble: Rectangle with Corners Rounded 47">
              <a:extLst>
                <a:ext uri="{FF2B5EF4-FFF2-40B4-BE49-F238E27FC236}">
                  <a16:creationId xmlns:a16="http://schemas.microsoft.com/office/drawing/2014/main" id="{E248EAE8-D1D1-E428-E9F7-37A290CED234}"/>
                </a:ext>
              </a:extLst>
            </p:cNvPr>
            <p:cNvSpPr/>
            <p:nvPr/>
          </p:nvSpPr>
          <p:spPr>
            <a:xfrm>
              <a:off x="568292" y="2076141"/>
              <a:ext cx="666561" cy="295976"/>
            </a:xfrm>
            <a:prstGeom prst="wedgeRoundRectCallout">
              <a:avLst>
                <a:gd name="adj1" fmla="val 54482"/>
                <a:gd name="adj2" fmla="val 114705"/>
                <a:gd name="adj3" fmla="val 16667"/>
              </a:avLst>
            </a:prstGeom>
            <a:solidFill>
              <a:schemeClr val="accent2">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Speech Bubble: Rectangle with Corners Rounded 48">
              <a:extLst>
                <a:ext uri="{FF2B5EF4-FFF2-40B4-BE49-F238E27FC236}">
                  <a16:creationId xmlns:a16="http://schemas.microsoft.com/office/drawing/2014/main" id="{ABE68886-7551-FC0D-03A6-9E134F671F4B}"/>
                </a:ext>
              </a:extLst>
            </p:cNvPr>
            <p:cNvSpPr/>
            <p:nvPr/>
          </p:nvSpPr>
          <p:spPr>
            <a:xfrm>
              <a:off x="8037080" y="2076141"/>
              <a:ext cx="666561" cy="295976"/>
            </a:xfrm>
            <a:prstGeom prst="wedgeRoundRectCallout">
              <a:avLst>
                <a:gd name="adj1" fmla="val -51767"/>
                <a:gd name="adj2" fmla="val 102589"/>
                <a:gd name="adj3" fmla="val 16667"/>
              </a:avLst>
            </a:prstGeom>
            <a:solidFill>
              <a:schemeClr val="accent2">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3" name="Graphic 52" descr="User with solid fill">
            <a:extLst>
              <a:ext uri="{FF2B5EF4-FFF2-40B4-BE49-F238E27FC236}">
                <a16:creationId xmlns:a16="http://schemas.microsoft.com/office/drawing/2014/main" id="{DE0BB4E1-4AE7-EA2B-C116-AE3716D98E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1478" y="4001866"/>
            <a:ext cx="914400" cy="914400"/>
          </a:xfrm>
          <a:prstGeom prst="rect">
            <a:avLst/>
          </a:prstGeom>
        </p:spPr>
      </p:pic>
      <p:pic>
        <p:nvPicPr>
          <p:cNvPr id="54" name="Graphic 53" descr="User with solid fill">
            <a:extLst>
              <a:ext uri="{FF2B5EF4-FFF2-40B4-BE49-F238E27FC236}">
                <a16:creationId xmlns:a16="http://schemas.microsoft.com/office/drawing/2014/main" id="{ADB76D5F-533A-EFD0-A1FC-E9348265C7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38975" y="3138529"/>
            <a:ext cx="914400" cy="914400"/>
          </a:xfrm>
          <a:prstGeom prst="rect">
            <a:avLst/>
          </a:prstGeom>
        </p:spPr>
      </p:pic>
      <p:pic>
        <p:nvPicPr>
          <p:cNvPr id="55" name="Graphic 54" descr="User with solid fill">
            <a:extLst>
              <a:ext uri="{FF2B5EF4-FFF2-40B4-BE49-F238E27FC236}">
                <a16:creationId xmlns:a16="http://schemas.microsoft.com/office/drawing/2014/main" id="{0829FEA4-65DE-4CB7-3343-C9D8B4CC22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4853" y="2206563"/>
            <a:ext cx="914400" cy="914400"/>
          </a:xfrm>
          <a:prstGeom prst="rect">
            <a:avLst/>
          </a:prstGeom>
        </p:spPr>
      </p:pic>
      <p:pic>
        <p:nvPicPr>
          <p:cNvPr id="51" name="Graphic 50" descr="Magnifying glass with solid fill">
            <a:extLst>
              <a:ext uri="{FF2B5EF4-FFF2-40B4-BE49-F238E27FC236}">
                <a16:creationId xmlns:a16="http://schemas.microsoft.com/office/drawing/2014/main" id="{6D40F61B-C944-399B-2644-7670F25C99A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27500" y="3086709"/>
            <a:ext cx="914400" cy="914400"/>
          </a:xfrm>
          <a:prstGeom prst="rect">
            <a:avLst/>
          </a:prstGeom>
        </p:spPr>
      </p:pic>
      <p:pic>
        <p:nvPicPr>
          <p:cNvPr id="56" name="Picture 55">
            <a:extLst>
              <a:ext uri="{FF2B5EF4-FFF2-40B4-BE49-F238E27FC236}">
                <a16:creationId xmlns:a16="http://schemas.microsoft.com/office/drawing/2014/main" id="{99E4EA1A-78DD-5194-3C2D-0D5B5CBCBA11}"/>
              </a:ext>
            </a:extLst>
          </p:cNvPr>
          <p:cNvPicPr>
            <a:picLocks noChangeAspect="1"/>
          </p:cNvPicPr>
          <p:nvPr/>
        </p:nvPicPr>
        <p:blipFill>
          <a:blip r:embed="rId5" cstate="print">
            <a:extLst>
              <a:ext uri="{28A0092B-C50C-407E-A947-70E740481C1C}">
                <a14:useLocalDpi xmlns:a14="http://schemas.microsoft.com/office/drawing/2010/main" val="0"/>
              </a:ext>
            </a:extLst>
          </a:blip>
          <a:srcRect l="8099" t="8122" r="8246" b="7971"/>
          <a:stretch>
            <a:fillRect/>
          </a:stretch>
        </p:blipFill>
        <p:spPr>
          <a:xfrm>
            <a:off x="3413924" y="3138529"/>
            <a:ext cx="959707" cy="962600"/>
          </a:xfrm>
          <a:prstGeom prst="rect">
            <a:avLst/>
          </a:prstGeom>
        </p:spPr>
      </p:pic>
      <p:grpSp>
        <p:nvGrpSpPr>
          <p:cNvPr id="59" name="Group 58">
            <a:extLst>
              <a:ext uri="{FF2B5EF4-FFF2-40B4-BE49-F238E27FC236}">
                <a16:creationId xmlns:a16="http://schemas.microsoft.com/office/drawing/2014/main" id="{48DFEDBA-7B47-B74C-50BD-48BE79A2F23A}"/>
              </a:ext>
            </a:extLst>
          </p:cNvPr>
          <p:cNvGrpSpPr/>
          <p:nvPr/>
        </p:nvGrpSpPr>
        <p:grpSpPr>
          <a:xfrm>
            <a:off x="1234853" y="2208448"/>
            <a:ext cx="6938117" cy="916726"/>
            <a:chOff x="1234853" y="2211599"/>
            <a:chExt cx="6938117" cy="916726"/>
          </a:xfrm>
        </p:grpSpPr>
        <p:pic>
          <p:nvPicPr>
            <p:cNvPr id="57" name="Graphic 56" descr="User with solid fill">
              <a:extLst>
                <a:ext uri="{FF2B5EF4-FFF2-40B4-BE49-F238E27FC236}">
                  <a16:creationId xmlns:a16="http://schemas.microsoft.com/office/drawing/2014/main" id="{1B746C58-5101-A52D-EB64-104CA095FB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58570" y="2213925"/>
              <a:ext cx="914400" cy="914400"/>
            </a:xfrm>
            <a:prstGeom prst="rect">
              <a:avLst/>
            </a:prstGeom>
          </p:spPr>
        </p:pic>
        <p:pic>
          <p:nvPicPr>
            <p:cNvPr id="58" name="Graphic 57" descr="User with solid fill">
              <a:extLst>
                <a:ext uri="{FF2B5EF4-FFF2-40B4-BE49-F238E27FC236}">
                  <a16:creationId xmlns:a16="http://schemas.microsoft.com/office/drawing/2014/main" id="{CEFD9BFC-3662-8C2C-25B6-5728EB96807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4853" y="2211599"/>
              <a:ext cx="914400" cy="914400"/>
            </a:xfrm>
            <a:prstGeom prst="rect">
              <a:avLst/>
            </a:prstGeom>
          </p:spPr>
        </p:pic>
      </p:grpSp>
      <p:grpSp>
        <p:nvGrpSpPr>
          <p:cNvPr id="71" name="Group 70">
            <a:extLst>
              <a:ext uri="{FF2B5EF4-FFF2-40B4-BE49-F238E27FC236}">
                <a16:creationId xmlns:a16="http://schemas.microsoft.com/office/drawing/2014/main" id="{7EB17F8E-A96F-764C-8206-4B4A9850761C}"/>
              </a:ext>
            </a:extLst>
          </p:cNvPr>
          <p:cNvGrpSpPr/>
          <p:nvPr/>
        </p:nvGrpSpPr>
        <p:grpSpPr>
          <a:xfrm>
            <a:off x="3229515" y="2084537"/>
            <a:ext cx="2740199" cy="707886"/>
            <a:chOff x="3051977" y="2078616"/>
            <a:chExt cx="2740199" cy="707886"/>
          </a:xfrm>
        </p:grpSpPr>
        <p:pic>
          <p:nvPicPr>
            <p:cNvPr id="66" name="Graphic 65" descr="Stopwatch with solid fill">
              <a:extLst>
                <a:ext uri="{FF2B5EF4-FFF2-40B4-BE49-F238E27FC236}">
                  <a16:creationId xmlns:a16="http://schemas.microsoft.com/office/drawing/2014/main" id="{AE6817B1-5CF6-6D45-FF9C-3B24FCFEE0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51977" y="2099783"/>
              <a:ext cx="664260" cy="664260"/>
            </a:xfrm>
            <a:prstGeom prst="rect">
              <a:avLst/>
            </a:prstGeom>
          </p:spPr>
        </p:pic>
        <p:sp>
          <p:nvSpPr>
            <p:cNvPr id="70" name="TextBox 69">
              <a:extLst>
                <a:ext uri="{FF2B5EF4-FFF2-40B4-BE49-F238E27FC236}">
                  <a16:creationId xmlns:a16="http://schemas.microsoft.com/office/drawing/2014/main" id="{E920A6D0-3B9E-E995-1FE7-82937556BA06}"/>
                </a:ext>
              </a:extLst>
            </p:cNvPr>
            <p:cNvSpPr txBox="1"/>
            <p:nvPr/>
          </p:nvSpPr>
          <p:spPr>
            <a:xfrm>
              <a:off x="3637898" y="2078616"/>
              <a:ext cx="2154278" cy="707886"/>
            </a:xfrm>
            <a:prstGeom prst="rect">
              <a:avLst/>
            </a:prstGeom>
            <a:noFill/>
          </p:spPr>
          <p:txBody>
            <a:bodyPr wrap="square" rtlCol="0">
              <a:spAutoFit/>
            </a:bodyPr>
            <a:lstStyle/>
            <a:p>
              <a:pPr algn="ctr"/>
              <a:r>
                <a:rPr lang="en-US" sz="2000" b="1" dirty="0">
                  <a:solidFill>
                    <a:srgbClr val="F23F00"/>
                  </a:solidFill>
                  <a:latin typeface="+mj-lt"/>
                </a:rPr>
                <a:t>timing differences leak information</a:t>
              </a:r>
            </a:p>
          </p:txBody>
        </p:sp>
      </p:grpSp>
    </p:spTree>
    <p:extLst>
      <p:ext uri="{BB962C8B-B14F-4D97-AF65-F5344CB8AC3E}">
        <p14:creationId xmlns:p14="http://schemas.microsoft.com/office/powerpoint/2010/main" val="187754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26" presetClass="emph" presetSubtype="0" fill="hold" grpId="0" nodeType="withEffect">
                                  <p:stCondLst>
                                    <p:cond delay="0"/>
                                  </p:stCondLst>
                                  <p:childTnLst>
                                    <p:animEffect transition="out" filter="fade">
                                      <p:cBhvr>
                                        <p:cTn id="16" dur="500" tmFilter="0, 0; .2, .5; .8, .5; 1, 0"/>
                                        <p:tgtEl>
                                          <p:spTgt spid="14"/>
                                        </p:tgtEl>
                                      </p:cBhvr>
                                    </p:animEffect>
                                    <p:animScale>
                                      <p:cBhvr>
                                        <p:cTn id="17" dur="250" autoRev="1" fill="hold"/>
                                        <p:tgtEl>
                                          <p:spTgt spid="14"/>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13"/>
                                        </p:tgtEl>
                                      </p:cBhvr>
                                    </p:animEffect>
                                    <p:animScale>
                                      <p:cBhvr>
                                        <p:cTn id="20" dur="250" autoRev="1" fill="hold"/>
                                        <p:tgtEl>
                                          <p:spTgt spid="13"/>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26" presetClass="emph" presetSubtype="0" fill="hold" grpId="1" nodeType="withEffect">
                                  <p:stCondLst>
                                    <p:cond delay="0"/>
                                  </p:stCondLst>
                                  <p:childTnLst>
                                    <p:animEffect transition="out" filter="fade">
                                      <p:cBhvr>
                                        <p:cTn id="26" dur="500" tmFilter="0, 0; .2, .5; .8, .5; 1, 0"/>
                                        <p:tgtEl>
                                          <p:spTgt spid="14"/>
                                        </p:tgtEl>
                                      </p:cBhvr>
                                    </p:animEffect>
                                    <p:animScale>
                                      <p:cBhvr>
                                        <p:cTn id="27" dur="250" autoRev="1" fill="hold"/>
                                        <p:tgtEl>
                                          <p:spTgt spid="14"/>
                                        </p:tgtEl>
                                      </p:cBhvr>
                                      <p:by x="105000" y="105000"/>
                                    </p:animScale>
                                  </p:childTnLst>
                                </p:cTn>
                              </p:par>
                              <p:par>
                                <p:cTn id="28" presetID="26" presetClass="emph" presetSubtype="0" fill="hold" grpId="1" nodeType="withEffect">
                                  <p:stCondLst>
                                    <p:cond delay="0"/>
                                  </p:stCondLst>
                                  <p:childTnLst>
                                    <p:animEffect transition="out" filter="fade">
                                      <p:cBhvr>
                                        <p:cTn id="29" dur="500" tmFilter="0, 0; .2, .5; .8, .5; 1, 0"/>
                                        <p:tgtEl>
                                          <p:spTgt spid="13"/>
                                        </p:tgtEl>
                                      </p:cBhvr>
                                    </p:animEffect>
                                    <p:animScale>
                                      <p:cBhvr>
                                        <p:cTn id="30" dur="250" autoRev="1" fill="hold"/>
                                        <p:tgtEl>
                                          <p:spTgt spid="13"/>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14"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2950-EC0C-E61C-636D-945E2F3CB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E0C9D-750C-326D-5A5F-D2A53E396E71}"/>
              </a:ext>
            </a:extLst>
          </p:cNvPr>
          <p:cNvSpPr>
            <a:spLocks noGrp="1"/>
          </p:cNvSpPr>
          <p:nvPr>
            <p:ph type="title"/>
          </p:nvPr>
        </p:nvSpPr>
        <p:spPr/>
        <p:txBody>
          <a:bodyPr>
            <a:normAutofit/>
          </a:bodyPr>
          <a:lstStyle/>
          <a:p>
            <a:r>
              <a:rPr lang="en-US" sz="3500" dirty="0"/>
              <a:t>A Typical DRAM-Based Computing System</a:t>
            </a:r>
          </a:p>
        </p:txBody>
      </p:sp>
      <p:pic>
        <p:nvPicPr>
          <p:cNvPr id="3" name="Content Placeholder 5">
            <a:extLst>
              <a:ext uri="{FF2B5EF4-FFF2-40B4-BE49-F238E27FC236}">
                <a16:creationId xmlns:a16="http://schemas.microsoft.com/office/drawing/2014/main" id="{1CF96C64-9BDA-ECA3-985A-C78002679CFC}"/>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10000" b="90000" l="0" r="100000"/>
                    </a14:imgEffect>
                  </a14:imgLayer>
                </a14:imgProps>
              </a:ext>
              <a:ext uri="{28A0092B-C50C-407E-A947-70E740481C1C}">
                <a14:useLocalDpi xmlns:a14="http://schemas.microsoft.com/office/drawing/2010/main" val="0"/>
              </a:ext>
            </a:extLst>
          </a:blip>
          <a:stretch>
            <a:fillRect/>
          </a:stretch>
        </p:blipFill>
        <p:spPr>
          <a:xfrm>
            <a:off x="4978299" y="1823284"/>
            <a:ext cx="3348419" cy="3348419"/>
          </a:xfrm>
        </p:spPr>
      </p:pic>
      <p:pic>
        <p:nvPicPr>
          <p:cNvPr id="11" name="Picture 10">
            <a:extLst>
              <a:ext uri="{FF2B5EF4-FFF2-40B4-BE49-F238E27FC236}">
                <a16:creationId xmlns:a16="http://schemas.microsoft.com/office/drawing/2014/main" id="{6392EE22-809C-4F10-2627-7A15A2F194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9906" y="2621194"/>
            <a:ext cx="1752600" cy="1752600"/>
          </a:xfrm>
          <a:prstGeom prst="rect">
            <a:avLst/>
          </a:prstGeom>
        </p:spPr>
      </p:pic>
      <p:sp>
        <p:nvSpPr>
          <p:cNvPr id="25" name="Left-Right Arrow 24">
            <a:extLst>
              <a:ext uri="{FF2B5EF4-FFF2-40B4-BE49-F238E27FC236}">
                <a16:creationId xmlns:a16="http://schemas.microsoft.com/office/drawing/2014/main" id="{3318B2C5-5EE5-CBD3-FC23-2FC2D275B831}"/>
              </a:ext>
            </a:extLst>
          </p:cNvPr>
          <p:cNvSpPr/>
          <p:nvPr/>
        </p:nvSpPr>
        <p:spPr>
          <a:xfrm>
            <a:off x="2420557" y="3054433"/>
            <a:ext cx="2448272" cy="895352"/>
          </a:xfrm>
          <a:prstGeom prst="leftRightArrow">
            <a:avLst>
              <a:gd name="adj1" fmla="val 30679"/>
              <a:gd name="adj2" fmla="val 50000"/>
            </a:avLst>
          </a:prstGeom>
          <a:solidFill>
            <a:srgbClr val="316CE3"/>
          </a:solidFill>
          <a:ln>
            <a:solidFill>
              <a:srgbClr val="316C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a:ln>
                <a:noFill/>
              </a:ln>
              <a:solidFill>
                <a:prstClr val="white"/>
              </a:solidFill>
              <a:effectLst/>
              <a:uLnTx/>
              <a:uFillTx/>
              <a:latin typeface="Trebuchet MS" panose="020B0703020202090204" pitchFamily="34" charset="0"/>
            </a:endParaRPr>
          </a:p>
        </p:txBody>
      </p:sp>
      <p:sp>
        <p:nvSpPr>
          <p:cNvPr id="26" name="TextBox 25">
            <a:extLst>
              <a:ext uri="{FF2B5EF4-FFF2-40B4-BE49-F238E27FC236}">
                <a16:creationId xmlns:a16="http://schemas.microsoft.com/office/drawing/2014/main" id="{E892D551-354C-DF08-12FF-2BECA21F55EA}"/>
              </a:ext>
            </a:extLst>
          </p:cNvPr>
          <p:cNvSpPr txBox="1"/>
          <p:nvPr/>
        </p:nvSpPr>
        <p:spPr>
          <a:xfrm>
            <a:off x="252070" y="4326169"/>
            <a:ext cx="2448272" cy="91440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mj-lt"/>
              </a:rPr>
              <a:t>CPU</a:t>
            </a:r>
          </a:p>
        </p:txBody>
      </p:sp>
      <p:sp>
        <p:nvSpPr>
          <p:cNvPr id="27" name="Rectangle 26">
            <a:extLst>
              <a:ext uri="{FF2B5EF4-FFF2-40B4-BE49-F238E27FC236}">
                <a16:creationId xmlns:a16="http://schemas.microsoft.com/office/drawing/2014/main" id="{FE618811-DCF3-B7A8-4C2B-DC0CA87680C5}"/>
              </a:ext>
            </a:extLst>
          </p:cNvPr>
          <p:cNvSpPr/>
          <p:nvPr/>
        </p:nvSpPr>
        <p:spPr>
          <a:xfrm>
            <a:off x="4512930" y="4249969"/>
            <a:ext cx="3761672"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703020202090204" pitchFamily="34" charset="0"/>
            </a:endParaRPr>
          </a:p>
        </p:txBody>
      </p:sp>
      <p:sp>
        <p:nvSpPr>
          <p:cNvPr id="28" name="TextBox 27">
            <a:extLst>
              <a:ext uri="{FF2B5EF4-FFF2-40B4-BE49-F238E27FC236}">
                <a16:creationId xmlns:a16="http://schemas.microsoft.com/office/drawing/2014/main" id="{A75504A8-483D-4951-233E-4DE1097946D2}"/>
              </a:ext>
            </a:extLst>
          </p:cNvPr>
          <p:cNvSpPr txBox="1"/>
          <p:nvPr/>
        </p:nvSpPr>
        <p:spPr>
          <a:xfrm>
            <a:off x="4336366" y="4326169"/>
            <a:ext cx="4572000" cy="91440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mj-lt"/>
              </a:rPr>
              <a:t>DRAM Module</a:t>
            </a:r>
          </a:p>
        </p:txBody>
      </p:sp>
      <p:sp>
        <p:nvSpPr>
          <p:cNvPr id="8" name="TextBox 7">
            <a:extLst>
              <a:ext uri="{FF2B5EF4-FFF2-40B4-BE49-F238E27FC236}">
                <a16:creationId xmlns:a16="http://schemas.microsoft.com/office/drawing/2014/main" id="{98CAA123-13BF-8521-85C2-14ABB2593A04}"/>
              </a:ext>
            </a:extLst>
          </p:cNvPr>
          <p:cNvSpPr txBox="1"/>
          <p:nvPr/>
        </p:nvSpPr>
        <p:spPr>
          <a:xfrm>
            <a:off x="2513671" y="3792769"/>
            <a:ext cx="2280248" cy="91440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316CE3"/>
                </a:solidFill>
                <a:effectLst/>
                <a:uLnTx/>
                <a:uFillTx/>
                <a:latin typeface="+mj-lt"/>
              </a:rPr>
              <a:t>DRAM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316CE3"/>
                </a:solidFill>
                <a:effectLst/>
                <a:uLnTx/>
                <a:uFillTx/>
                <a:latin typeface="+mj-lt"/>
              </a:rPr>
              <a:t>Channel</a:t>
            </a:r>
          </a:p>
        </p:txBody>
      </p:sp>
      <p:sp>
        <p:nvSpPr>
          <p:cNvPr id="5" name="Slide Number Placeholder 4">
            <a:extLst>
              <a:ext uri="{FF2B5EF4-FFF2-40B4-BE49-F238E27FC236}">
                <a16:creationId xmlns:a16="http://schemas.microsoft.com/office/drawing/2014/main" id="{01C90E21-3A60-0003-4D2D-35C06E327028}"/>
              </a:ext>
            </a:extLst>
          </p:cNvPr>
          <p:cNvSpPr>
            <a:spLocks noGrp="1"/>
          </p:cNvSpPr>
          <p:nvPr>
            <p:ph type="sldNum" sz="quarter" idx="12"/>
          </p:nvPr>
        </p:nvSpPr>
        <p:spPr/>
        <p:txBody>
          <a:bodyPr/>
          <a:lstStyle/>
          <a:p>
            <a:fld id="{CBE5B309-C2CE-4D90-B104-F7E98438FC65}" type="slidenum">
              <a:rPr lang="tr-TR" smtClean="0"/>
              <a:pPr/>
              <a:t>45</a:t>
            </a:fld>
            <a:endParaRPr lang="tr-TR" dirty="0"/>
          </a:p>
        </p:txBody>
      </p:sp>
    </p:spTree>
    <p:extLst>
      <p:ext uri="{BB962C8B-B14F-4D97-AF65-F5344CB8AC3E}">
        <p14:creationId xmlns:p14="http://schemas.microsoft.com/office/powerpoint/2010/main" val="3567194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11D85A-505F-1293-1550-8D6CA2BDA4AF}"/>
              </a:ext>
            </a:extLst>
          </p:cNvPr>
          <p:cNvSpPr>
            <a:spLocks noGrp="1"/>
          </p:cNvSpPr>
          <p:nvPr>
            <p:ph type="title"/>
          </p:nvPr>
        </p:nvSpPr>
        <p:spPr/>
        <p:txBody>
          <a:bodyPr/>
          <a:lstStyle/>
          <a:p>
            <a:r>
              <a:rPr lang="en-US" b="1" dirty="0"/>
              <a:t>DRAM Read Disturbance</a:t>
            </a:r>
            <a:r>
              <a:rPr lang="en-US" dirty="0"/>
              <a:t> </a:t>
            </a:r>
            <a:endParaRPr lang="tr-TR" dirty="0"/>
          </a:p>
        </p:txBody>
      </p:sp>
      <p:sp>
        <p:nvSpPr>
          <p:cNvPr id="3" name="İçerik Yer Tutucusu 2">
            <a:extLst>
              <a:ext uri="{FF2B5EF4-FFF2-40B4-BE49-F238E27FC236}">
                <a16:creationId xmlns:a16="http://schemas.microsoft.com/office/drawing/2014/main" id="{70732732-7585-77A2-5DDF-86B6DB14EF41}"/>
              </a:ext>
            </a:extLst>
          </p:cNvPr>
          <p:cNvSpPr>
            <a:spLocks noGrp="1"/>
          </p:cNvSpPr>
          <p:nvPr>
            <p:ph idx="1"/>
          </p:nvPr>
        </p:nvSpPr>
        <p:spPr/>
        <p:txBody>
          <a:bodyPr/>
          <a:lstStyle/>
          <a:p>
            <a:r>
              <a:rPr lang="en-GB" dirty="0"/>
              <a:t>Read disturbance in DRAM </a:t>
            </a:r>
            <a:r>
              <a:rPr lang="en-GB" dirty="0">
                <a:solidFill>
                  <a:srgbClr val="C00000"/>
                </a:solidFill>
              </a:rPr>
              <a:t>breaks memory isolation</a:t>
            </a:r>
          </a:p>
          <a:p>
            <a:r>
              <a:rPr lang="en-GB" dirty="0"/>
              <a:t>Prominent example: </a:t>
            </a:r>
            <a:r>
              <a:rPr lang="en-GB" dirty="0" err="1">
                <a:solidFill>
                  <a:srgbClr val="316CE3"/>
                </a:solidFill>
              </a:rPr>
              <a:t>RowHammer</a:t>
            </a:r>
            <a:endParaRPr lang="en-GB" dirty="0">
              <a:solidFill>
                <a:srgbClr val="316CE3"/>
              </a:solidFill>
            </a:endParaRPr>
          </a:p>
          <a:p>
            <a:endParaRPr lang="tr-TR" dirty="0"/>
          </a:p>
        </p:txBody>
      </p:sp>
      <p:sp>
        <p:nvSpPr>
          <p:cNvPr id="4" name="Alt Bilgi Yer Tutucusu 3">
            <a:extLst>
              <a:ext uri="{FF2B5EF4-FFF2-40B4-BE49-F238E27FC236}">
                <a16:creationId xmlns:a16="http://schemas.microsoft.com/office/drawing/2014/main" id="{623A6D24-1EDD-ABFF-1E71-5A1801B96E36}"/>
              </a:ext>
            </a:extLst>
          </p:cNvPr>
          <p:cNvSpPr>
            <a:spLocks noGrp="1"/>
          </p:cNvSpPr>
          <p:nvPr>
            <p:ph type="ftr" sz="quarter" idx="11"/>
          </p:nvPr>
        </p:nvSpPr>
        <p:spPr>
          <a:xfrm>
            <a:off x="1671145" y="6517178"/>
            <a:ext cx="6558455" cy="204298"/>
          </a:xfrm>
        </p:spPr>
        <p:txBody>
          <a:bodyPr/>
          <a:lstStyle/>
          <a:p>
            <a:r>
              <a:rPr lang="en-US" b="1" dirty="0">
                <a:solidFill>
                  <a:prstClr val="black"/>
                </a:solidFill>
                <a:latin typeface="+mj-lt"/>
                <a:ea typeface="ＭＳ Ｐゴシック" charset="0"/>
                <a:cs typeface="ＭＳ Ｐゴシック" charset="0"/>
              </a:rPr>
              <a:t>[Kim+ ISCA’20]</a:t>
            </a:r>
            <a:endParaRPr kumimoji="0" lang="en-US" sz="1200" b="1"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5" name="Slayt Numarası Yer Tutucusu 4">
            <a:extLst>
              <a:ext uri="{FF2B5EF4-FFF2-40B4-BE49-F238E27FC236}">
                <a16:creationId xmlns:a16="http://schemas.microsoft.com/office/drawing/2014/main" id="{BCFC5E3D-744B-8A10-B617-108B555EA8D0}"/>
              </a:ext>
            </a:extLst>
          </p:cNvPr>
          <p:cNvSpPr>
            <a:spLocks noGrp="1"/>
          </p:cNvSpPr>
          <p:nvPr>
            <p:ph type="sldNum" sz="quarter" idx="12"/>
          </p:nvPr>
        </p:nvSpPr>
        <p:spPr/>
        <p:txBody>
          <a:bodyPr/>
          <a:lstStyle/>
          <a:p>
            <a:fld id="{CBE5B309-C2CE-4D90-B104-F7E98438FC65}" type="slidenum">
              <a:rPr lang="tr-TR" smtClean="0">
                <a:latin typeface="+mj-lt"/>
              </a:rPr>
              <a:t>46</a:t>
            </a:fld>
            <a:endParaRPr lang="tr-TR" dirty="0">
              <a:latin typeface="+mj-lt"/>
            </a:endParaRPr>
          </a:p>
        </p:txBody>
      </p:sp>
      <p:sp>
        <p:nvSpPr>
          <p:cNvPr id="28" name="Punchline">
            <a:extLst>
              <a:ext uri="{FF2B5EF4-FFF2-40B4-BE49-F238E27FC236}">
                <a16:creationId xmlns:a16="http://schemas.microsoft.com/office/drawing/2014/main" id="{DAF2AF74-2A14-411D-17FD-76611A40D3A7}"/>
              </a:ext>
            </a:extLst>
          </p:cNvPr>
          <p:cNvSpPr txBox="1"/>
          <p:nvPr/>
        </p:nvSpPr>
        <p:spPr>
          <a:xfrm>
            <a:off x="395288" y="4953000"/>
            <a:ext cx="8359775" cy="11430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42" name="Rounded Rectangle 4">
            <a:extLst>
              <a:ext uri="{FF2B5EF4-FFF2-40B4-BE49-F238E27FC236}">
                <a16:creationId xmlns:a16="http://schemas.microsoft.com/office/drawing/2014/main" id="{D89C6442-B924-3933-1B21-940FEF49144C}"/>
              </a:ext>
            </a:extLst>
          </p:cNvPr>
          <p:cNvSpPr/>
          <p:nvPr/>
        </p:nvSpPr>
        <p:spPr>
          <a:xfrm>
            <a:off x="579892" y="2207383"/>
            <a:ext cx="7984215" cy="2956914"/>
          </a:xfrm>
          <a:prstGeom prst="roundRect">
            <a:avLst>
              <a:gd name="adj" fmla="val 9311"/>
            </a:avLst>
          </a:prstGeom>
          <a:solidFill>
            <a:srgbClr val="F3F6FB"/>
          </a:solidFill>
          <a:ln w="38100">
            <a:solidFill>
              <a:srgbClr val="316C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cxnSp>
        <p:nvCxnSpPr>
          <p:cNvPr id="44" name="Straight Connector 16">
            <a:extLst>
              <a:ext uri="{FF2B5EF4-FFF2-40B4-BE49-F238E27FC236}">
                <a16:creationId xmlns:a16="http://schemas.microsoft.com/office/drawing/2014/main" id="{3DBDD0FE-B200-BF91-903F-A23C0426EA59}"/>
              </a:ext>
            </a:extLst>
          </p:cNvPr>
          <p:cNvCxnSpPr>
            <a:cxnSpLocks/>
          </p:cNvCxnSpPr>
          <p:nvPr/>
        </p:nvCxnSpPr>
        <p:spPr>
          <a:xfrm>
            <a:off x="1024997" y="3189413"/>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17">
            <a:extLst>
              <a:ext uri="{FF2B5EF4-FFF2-40B4-BE49-F238E27FC236}">
                <a16:creationId xmlns:a16="http://schemas.microsoft.com/office/drawing/2014/main" id="{3AC81A3F-3C15-AE73-03A6-4DF7B7E48E4D}"/>
              </a:ext>
            </a:extLst>
          </p:cNvPr>
          <p:cNvCxnSpPr>
            <a:cxnSpLocks/>
          </p:cNvCxnSpPr>
          <p:nvPr/>
        </p:nvCxnSpPr>
        <p:spPr>
          <a:xfrm>
            <a:off x="1024997" y="3871421"/>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8">
            <a:extLst>
              <a:ext uri="{FF2B5EF4-FFF2-40B4-BE49-F238E27FC236}">
                <a16:creationId xmlns:a16="http://schemas.microsoft.com/office/drawing/2014/main" id="{71F84BF0-FB1E-9A42-3913-5B6FC74E9A39}"/>
              </a:ext>
            </a:extLst>
          </p:cNvPr>
          <p:cNvCxnSpPr>
            <a:cxnSpLocks/>
          </p:cNvCxnSpPr>
          <p:nvPr/>
        </p:nvCxnSpPr>
        <p:spPr>
          <a:xfrm>
            <a:off x="1024997" y="4545773"/>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0" name="Rectangle 20">
            <a:extLst>
              <a:ext uri="{FF2B5EF4-FFF2-40B4-BE49-F238E27FC236}">
                <a16:creationId xmlns:a16="http://schemas.microsoft.com/office/drawing/2014/main" id="{2E087254-B22B-5FBB-E57F-840C77CDA6A2}"/>
              </a:ext>
            </a:extLst>
          </p:cNvPr>
          <p:cNvSpPr/>
          <p:nvPr/>
        </p:nvSpPr>
        <p:spPr>
          <a:xfrm>
            <a:off x="1436477" y="2844541"/>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1" name="Rectangle 21">
            <a:extLst>
              <a:ext uri="{FF2B5EF4-FFF2-40B4-BE49-F238E27FC236}">
                <a16:creationId xmlns:a16="http://schemas.microsoft.com/office/drawing/2014/main" id="{3263022C-A989-BB73-1C3A-E86788D0D1D0}"/>
              </a:ext>
            </a:extLst>
          </p:cNvPr>
          <p:cNvSpPr/>
          <p:nvPr/>
        </p:nvSpPr>
        <p:spPr>
          <a:xfrm>
            <a:off x="1436477" y="3510289"/>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2" name="Rectangle 22">
            <a:extLst>
              <a:ext uri="{FF2B5EF4-FFF2-40B4-BE49-F238E27FC236}">
                <a16:creationId xmlns:a16="http://schemas.microsoft.com/office/drawing/2014/main" id="{C83016E8-4A0A-42B6-B4E7-9048E39D609D}"/>
              </a:ext>
            </a:extLst>
          </p:cNvPr>
          <p:cNvSpPr/>
          <p:nvPr/>
        </p:nvSpPr>
        <p:spPr>
          <a:xfrm>
            <a:off x="1436477" y="4183588"/>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nvGrpSpPr>
          <p:cNvPr id="54" name="Group 3">
            <a:extLst>
              <a:ext uri="{FF2B5EF4-FFF2-40B4-BE49-F238E27FC236}">
                <a16:creationId xmlns:a16="http://schemas.microsoft.com/office/drawing/2014/main" id="{3997D892-9D83-189B-2DDE-000F5E06B87D}"/>
              </a:ext>
            </a:extLst>
          </p:cNvPr>
          <p:cNvGrpSpPr/>
          <p:nvPr/>
        </p:nvGrpSpPr>
        <p:grpSpPr>
          <a:xfrm>
            <a:off x="1428644" y="2842563"/>
            <a:ext cx="6286713" cy="1990657"/>
            <a:chOff x="1428644" y="1937227"/>
            <a:chExt cx="6286713" cy="1990657"/>
          </a:xfrm>
        </p:grpSpPr>
        <p:sp>
          <p:nvSpPr>
            <p:cNvPr id="55" name="Rectangle 57">
              <a:extLst>
                <a:ext uri="{FF2B5EF4-FFF2-40B4-BE49-F238E27FC236}">
                  <a16:creationId xmlns:a16="http://schemas.microsoft.com/office/drawing/2014/main" id="{542D8C9D-8E85-F9A9-54F9-66AFC88DBE2B}"/>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6" name="Content Placeholder 2">
              <a:extLst>
                <a:ext uri="{FF2B5EF4-FFF2-40B4-BE49-F238E27FC236}">
                  <a16:creationId xmlns:a16="http://schemas.microsoft.com/office/drawing/2014/main" id="{5FA922A4-2EEF-8E83-A754-9B78C80324A9}"/>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57" name="Rectangle 58">
              <a:extLst>
                <a:ext uri="{FF2B5EF4-FFF2-40B4-BE49-F238E27FC236}">
                  <a16:creationId xmlns:a16="http://schemas.microsoft.com/office/drawing/2014/main" id="{A43676F3-AD0C-2146-7BF1-B6FD8FE7A6D5}"/>
                </a:ext>
              </a:extLst>
            </p:cNvPr>
            <p:cNvSpPr/>
            <p:nvPr/>
          </p:nvSpPr>
          <p:spPr>
            <a:xfrm>
              <a:off x="1436477" y="1937227"/>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8" name="Rectangle 59">
              <a:extLst>
                <a:ext uri="{FF2B5EF4-FFF2-40B4-BE49-F238E27FC236}">
                  <a16:creationId xmlns:a16="http://schemas.microsoft.com/office/drawing/2014/main" id="{102EC957-4CDA-176B-01D0-E887DEAD5CD7}"/>
                </a:ext>
              </a:extLst>
            </p:cNvPr>
            <p:cNvSpPr/>
            <p:nvPr/>
          </p:nvSpPr>
          <p:spPr>
            <a:xfrm>
              <a:off x="1436477" y="3278252"/>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59" name="Group 8">
            <a:extLst>
              <a:ext uri="{FF2B5EF4-FFF2-40B4-BE49-F238E27FC236}">
                <a16:creationId xmlns:a16="http://schemas.microsoft.com/office/drawing/2014/main" id="{5DE6CD2D-A359-06DB-00A7-507136BB8581}"/>
              </a:ext>
            </a:extLst>
          </p:cNvPr>
          <p:cNvGrpSpPr/>
          <p:nvPr/>
        </p:nvGrpSpPr>
        <p:grpSpPr>
          <a:xfrm>
            <a:off x="1428644" y="3509300"/>
            <a:ext cx="6286713" cy="649632"/>
            <a:chOff x="1428644" y="2603964"/>
            <a:chExt cx="6286713" cy="649632"/>
          </a:xfrm>
        </p:grpSpPr>
        <p:sp>
          <p:nvSpPr>
            <p:cNvPr id="60" name="Rectangle 60">
              <a:extLst>
                <a:ext uri="{FF2B5EF4-FFF2-40B4-BE49-F238E27FC236}">
                  <a16:creationId xmlns:a16="http://schemas.microsoft.com/office/drawing/2014/main" id="{F6D375FE-34F1-D7AB-DA7F-2A59750AC324}"/>
                </a:ext>
              </a:extLst>
            </p:cNvPr>
            <p:cNvSpPr/>
            <p:nvPr/>
          </p:nvSpPr>
          <p:spPr>
            <a:xfrm>
              <a:off x="1436477" y="2603964"/>
              <a:ext cx="6278880" cy="649632"/>
            </a:xfrm>
            <a:prstGeom prst="rect">
              <a:avLst/>
            </a:prstGeom>
            <a:solidFill>
              <a:srgbClr val="D8D9D8"/>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1" name="Content Placeholder 2">
              <a:extLst>
                <a:ext uri="{FF2B5EF4-FFF2-40B4-BE49-F238E27FC236}">
                  <a16:creationId xmlns:a16="http://schemas.microsoft.com/office/drawing/2014/main" id="{B30B827F-1FE6-B4CC-38AB-68FFC5D9304B}"/>
                </a:ext>
              </a:extLst>
            </p:cNvPr>
            <p:cNvSpPr txBox="1">
              <a:spLocks/>
            </p:cNvSpPr>
            <p:nvPr/>
          </p:nvSpPr>
          <p:spPr>
            <a:xfrm>
              <a:off x="1428644" y="2645717"/>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closed</a:t>
              </a:r>
            </a:p>
          </p:txBody>
        </p:sp>
      </p:grpSp>
      <p:grpSp>
        <p:nvGrpSpPr>
          <p:cNvPr id="62" name="Group 62">
            <a:extLst>
              <a:ext uri="{FF2B5EF4-FFF2-40B4-BE49-F238E27FC236}">
                <a16:creationId xmlns:a16="http://schemas.microsoft.com/office/drawing/2014/main" id="{E5560586-E7CF-3D54-1930-B989D73AAC93}"/>
              </a:ext>
            </a:extLst>
          </p:cNvPr>
          <p:cNvGrpSpPr/>
          <p:nvPr/>
        </p:nvGrpSpPr>
        <p:grpSpPr>
          <a:xfrm>
            <a:off x="1425311" y="2846880"/>
            <a:ext cx="6286713" cy="1990657"/>
            <a:chOff x="1428644" y="1937227"/>
            <a:chExt cx="6286713" cy="1990657"/>
          </a:xfrm>
        </p:grpSpPr>
        <p:sp>
          <p:nvSpPr>
            <p:cNvPr id="63" name="Rectangle 63">
              <a:extLst>
                <a:ext uri="{FF2B5EF4-FFF2-40B4-BE49-F238E27FC236}">
                  <a16:creationId xmlns:a16="http://schemas.microsoft.com/office/drawing/2014/main" id="{A2C13724-619D-9A0E-7925-E34A82ADF05E}"/>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4" name="Content Placeholder 2">
              <a:extLst>
                <a:ext uri="{FF2B5EF4-FFF2-40B4-BE49-F238E27FC236}">
                  <a16:creationId xmlns:a16="http://schemas.microsoft.com/office/drawing/2014/main" id="{33E5ADE1-64A6-F24B-9646-0A83D5C34B34}"/>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65" name="Rectangle 65">
              <a:extLst>
                <a:ext uri="{FF2B5EF4-FFF2-40B4-BE49-F238E27FC236}">
                  <a16:creationId xmlns:a16="http://schemas.microsoft.com/office/drawing/2014/main" id="{B2B290C6-F8A5-140F-522F-45A4713D2C0A}"/>
                </a:ext>
              </a:extLst>
            </p:cNvPr>
            <p:cNvSpPr/>
            <p:nvPr/>
          </p:nvSpPr>
          <p:spPr>
            <a:xfrm>
              <a:off x="1436477" y="1937227"/>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1</a:t>
              </a:r>
            </a:p>
          </p:txBody>
        </p:sp>
        <p:sp>
          <p:nvSpPr>
            <p:cNvPr id="66" name="Rectangle 66">
              <a:extLst>
                <a:ext uri="{FF2B5EF4-FFF2-40B4-BE49-F238E27FC236}">
                  <a16:creationId xmlns:a16="http://schemas.microsoft.com/office/drawing/2014/main" id="{393744DC-B575-3FFA-FAA1-5293DD509216}"/>
                </a:ext>
              </a:extLst>
            </p:cNvPr>
            <p:cNvSpPr/>
            <p:nvPr/>
          </p:nvSpPr>
          <p:spPr>
            <a:xfrm>
              <a:off x="1436477" y="3278252"/>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69" name="Group 11">
            <a:extLst>
              <a:ext uri="{FF2B5EF4-FFF2-40B4-BE49-F238E27FC236}">
                <a16:creationId xmlns:a16="http://schemas.microsoft.com/office/drawing/2014/main" id="{2DAFCD94-9B50-41FB-8F3C-383D33F2D4C1}"/>
              </a:ext>
            </a:extLst>
          </p:cNvPr>
          <p:cNvGrpSpPr/>
          <p:nvPr/>
        </p:nvGrpSpPr>
        <p:grpSpPr>
          <a:xfrm>
            <a:off x="5533823" y="2944510"/>
            <a:ext cx="2210285" cy="1794806"/>
            <a:chOff x="5533823" y="2039174"/>
            <a:chExt cx="2210285" cy="1794806"/>
          </a:xfrm>
        </p:grpSpPr>
        <p:sp>
          <p:nvSpPr>
            <p:cNvPr id="71" name="Rectangle 101">
              <a:extLst>
                <a:ext uri="{FF2B5EF4-FFF2-40B4-BE49-F238E27FC236}">
                  <a16:creationId xmlns:a16="http://schemas.microsoft.com/office/drawing/2014/main" id="{03185C00-18BF-4F3A-3EE2-777F95737453}"/>
                </a:ext>
              </a:extLst>
            </p:cNvPr>
            <p:cNvSpPr/>
            <p:nvPr/>
          </p:nvSpPr>
          <p:spPr>
            <a:xfrm>
              <a:off x="6016776" y="2039174"/>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2" name="Rectangle 102">
              <a:extLst>
                <a:ext uri="{FF2B5EF4-FFF2-40B4-BE49-F238E27FC236}">
                  <a16:creationId xmlns:a16="http://schemas.microsoft.com/office/drawing/2014/main" id="{FF066787-8853-D261-A1C0-AAF2436396A6}"/>
                </a:ext>
              </a:extLst>
            </p:cNvPr>
            <p:cNvSpPr/>
            <p:nvPr/>
          </p:nvSpPr>
          <p:spPr>
            <a:xfrm>
              <a:off x="6016776" y="3372315"/>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4" name="Rectangle 90">
              <a:extLst>
                <a:ext uri="{FF2B5EF4-FFF2-40B4-BE49-F238E27FC236}">
                  <a16:creationId xmlns:a16="http://schemas.microsoft.com/office/drawing/2014/main" id="{253CBF00-7D50-D927-A168-9AC3B5BB6820}"/>
                </a:ext>
              </a:extLst>
            </p:cNvPr>
            <p:cNvSpPr/>
            <p:nvPr/>
          </p:nvSpPr>
          <p:spPr>
            <a:xfrm>
              <a:off x="5533823" y="2685155"/>
              <a:ext cx="213488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mj-lt"/>
                  <a:ea typeface="+mn-ea"/>
                  <a:cs typeface="+mn-cs"/>
                </a:rPr>
                <a:t>Aggressor Row</a:t>
              </a:r>
            </a:p>
          </p:txBody>
        </p:sp>
      </p:grpSp>
      <p:grpSp>
        <p:nvGrpSpPr>
          <p:cNvPr id="75" name="Group 47">
            <a:extLst>
              <a:ext uri="{FF2B5EF4-FFF2-40B4-BE49-F238E27FC236}">
                <a16:creationId xmlns:a16="http://schemas.microsoft.com/office/drawing/2014/main" id="{39ED1418-A1C5-F18F-F4C9-F66C2297C129}"/>
              </a:ext>
            </a:extLst>
          </p:cNvPr>
          <p:cNvGrpSpPr/>
          <p:nvPr/>
        </p:nvGrpSpPr>
        <p:grpSpPr>
          <a:xfrm>
            <a:off x="1436070" y="3514083"/>
            <a:ext cx="6271453" cy="649632"/>
            <a:chOff x="1428644" y="2604952"/>
            <a:chExt cx="6286713" cy="649632"/>
          </a:xfrm>
        </p:grpSpPr>
        <p:sp>
          <p:nvSpPr>
            <p:cNvPr id="76" name="Rectangle 48">
              <a:extLst>
                <a:ext uri="{FF2B5EF4-FFF2-40B4-BE49-F238E27FC236}">
                  <a16:creationId xmlns:a16="http://schemas.microsoft.com/office/drawing/2014/main" id="{1A8BFF11-96C4-62B2-9585-79B6A448FA2D}"/>
                </a:ext>
              </a:extLst>
            </p:cNvPr>
            <p:cNvSpPr/>
            <p:nvPr/>
          </p:nvSpPr>
          <p:spPr>
            <a:xfrm>
              <a:off x="1434175" y="2604952"/>
              <a:ext cx="6281182"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77" name="Content Placeholder 2">
              <a:extLst>
                <a:ext uri="{FF2B5EF4-FFF2-40B4-BE49-F238E27FC236}">
                  <a16:creationId xmlns:a16="http://schemas.microsoft.com/office/drawing/2014/main" id="{1655121F-2E1F-E7CF-86A4-BC757EE83249}"/>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grpSp>
      <p:grpSp>
        <p:nvGrpSpPr>
          <p:cNvPr id="78" name="Group 6">
            <a:extLst>
              <a:ext uri="{FF2B5EF4-FFF2-40B4-BE49-F238E27FC236}">
                <a16:creationId xmlns:a16="http://schemas.microsoft.com/office/drawing/2014/main" id="{ABE3EC22-46FB-EC05-8C42-A8EF2B0CE634}"/>
              </a:ext>
            </a:extLst>
          </p:cNvPr>
          <p:cNvGrpSpPr/>
          <p:nvPr/>
        </p:nvGrpSpPr>
        <p:grpSpPr>
          <a:xfrm>
            <a:off x="1441587" y="3518922"/>
            <a:ext cx="6266955" cy="649632"/>
            <a:chOff x="-3913331" y="4700899"/>
            <a:chExt cx="6266955" cy="649632"/>
          </a:xfrm>
        </p:grpSpPr>
        <p:sp>
          <p:nvSpPr>
            <p:cNvPr id="79" name="Rectangle 50">
              <a:extLst>
                <a:ext uri="{FF2B5EF4-FFF2-40B4-BE49-F238E27FC236}">
                  <a16:creationId xmlns:a16="http://schemas.microsoft.com/office/drawing/2014/main" id="{FAAD1700-F945-7108-3FFF-068562066663}"/>
                </a:ext>
              </a:extLst>
            </p:cNvPr>
            <p:cNvSpPr/>
            <p:nvPr/>
          </p:nvSpPr>
          <p:spPr>
            <a:xfrm>
              <a:off x="-3913331" y="4700899"/>
              <a:ext cx="6266955"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80" name="Content Placeholder 2">
              <a:extLst>
                <a:ext uri="{FF2B5EF4-FFF2-40B4-BE49-F238E27FC236}">
                  <a16:creationId xmlns:a16="http://schemas.microsoft.com/office/drawing/2014/main" id="{0CECECAA-936A-7498-65E0-6469B3DA9786}"/>
                </a:ext>
              </a:extLst>
            </p:cNvPr>
            <p:cNvSpPr txBox="1">
              <a:spLocks/>
            </p:cNvSpPr>
            <p:nvPr/>
          </p:nvSpPr>
          <p:spPr>
            <a:xfrm>
              <a:off x="-3776745" y="4729968"/>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dirty="0">
                  <a:ln>
                    <a:noFill/>
                  </a:ln>
                  <a:solidFill>
                    <a:srgbClr val="FF0000"/>
                  </a:solidFill>
                  <a:effectLst/>
                  <a:uLnTx/>
                  <a:uFillTx/>
                  <a:latin typeface="+mj-lt"/>
                  <a:ea typeface="+mn-ea"/>
                  <a:cs typeface="+mn-cs"/>
                </a:rPr>
                <a:t>closed</a:t>
              </a:r>
            </a:p>
          </p:txBody>
        </p:sp>
      </p:grpSp>
      <p:sp>
        <p:nvSpPr>
          <p:cNvPr id="81" name="Rectangle 7">
            <a:extLst>
              <a:ext uri="{FF2B5EF4-FFF2-40B4-BE49-F238E27FC236}">
                <a16:creationId xmlns:a16="http://schemas.microsoft.com/office/drawing/2014/main" id="{E6C425FC-B3DC-29CE-1075-C8322C4B7BA5}"/>
              </a:ext>
            </a:extLst>
          </p:cNvPr>
          <p:cNvSpPr/>
          <p:nvPr/>
        </p:nvSpPr>
        <p:spPr>
          <a:xfrm>
            <a:off x="579893" y="2240238"/>
            <a:ext cx="7984214"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rgbClr val="316CE3"/>
                </a:solidFill>
                <a:effectLst/>
                <a:uLnTx/>
                <a:uFillTx/>
                <a:latin typeface="+mj-lt"/>
                <a:ea typeface="+mn-ea"/>
                <a:cs typeface="+mn-cs"/>
              </a:rPr>
              <a:t>DRAM Bank</a:t>
            </a:r>
          </a:p>
        </p:txBody>
      </p:sp>
      <p:sp>
        <p:nvSpPr>
          <p:cNvPr id="82" name="Multiply 70">
            <a:extLst>
              <a:ext uri="{FF2B5EF4-FFF2-40B4-BE49-F238E27FC236}">
                <a16:creationId xmlns:a16="http://schemas.microsoft.com/office/drawing/2014/main" id="{72A9B46C-A891-AB00-FD8F-D988B3F5D2BF}"/>
              </a:ext>
            </a:extLst>
          </p:cNvPr>
          <p:cNvSpPr/>
          <p:nvPr/>
        </p:nvSpPr>
        <p:spPr>
          <a:xfrm>
            <a:off x="5472747" y="2824335"/>
            <a:ext cx="694249" cy="694249"/>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83" name="Multiply 71">
            <a:extLst>
              <a:ext uri="{FF2B5EF4-FFF2-40B4-BE49-F238E27FC236}">
                <a16:creationId xmlns:a16="http://schemas.microsoft.com/office/drawing/2014/main" id="{ECEB3B0C-134E-FB84-0845-7CE10817ADE1}"/>
              </a:ext>
            </a:extLst>
          </p:cNvPr>
          <p:cNvSpPr/>
          <p:nvPr/>
        </p:nvSpPr>
        <p:spPr>
          <a:xfrm>
            <a:off x="2915079" y="4153072"/>
            <a:ext cx="694249" cy="694249"/>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grpSp>
        <p:nvGrpSpPr>
          <p:cNvPr id="84" name="Group 15">
            <a:extLst>
              <a:ext uri="{FF2B5EF4-FFF2-40B4-BE49-F238E27FC236}">
                <a16:creationId xmlns:a16="http://schemas.microsoft.com/office/drawing/2014/main" id="{19052C9A-396D-2FA5-89C6-321E64014B5E}"/>
              </a:ext>
            </a:extLst>
          </p:cNvPr>
          <p:cNvGrpSpPr/>
          <p:nvPr/>
        </p:nvGrpSpPr>
        <p:grpSpPr>
          <a:xfrm>
            <a:off x="3205804" y="2822718"/>
            <a:ext cx="2533789" cy="2056200"/>
            <a:chOff x="3456171" y="2348675"/>
            <a:chExt cx="2533789" cy="2056200"/>
          </a:xfrm>
        </p:grpSpPr>
        <p:sp>
          <p:nvSpPr>
            <p:cNvPr id="86" name="Multiply 69">
              <a:extLst>
                <a:ext uri="{FF2B5EF4-FFF2-40B4-BE49-F238E27FC236}">
                  <a16:creationId xmlns:a16="http://schemas.microsoft.com/office/drawing/2014/main" id="{F620C218-4DEA-8762-8500-1FC83966FCCD}"/>
                </a:ext>
              </a:extLst>
            </p:cNvPr>
            <p:cNvSpPr/>
            <p:nvPr/>
          </p:nvSpPr>
          <p:spPr>
            <a:xfrm>
              <a:off x="3456171" y="2348675"/>
              <a:ext cx="694249" cy="694249"/>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87" name="Multiply 72">
              <a:extLst>
                <a:ext uri="{FF2B5EF4-FFF2-40B4-BE49-F238E27FC236}">
                  <a16:creationId xmlns:a16="http://schemas.microsoft.com/office/drawing/2014/main" id="{DC6DB202-66CE-9380-77B4-14A4282A340E}"/>
                </a:ext>
              </a:extLst>
            </p:cNvPr>
            <p:cNvSpPr/>
            <p:nvPr/>
          </p:nvSpPr>
          <p:spPr>
            <a:xfrm>
              <a:off x="5295711" y="3710626"/>
              <a:ext cx="694249" cy="694249"/>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grpSp>
      <p:sp>
        <p:nvSpPr>
          <p:cNvPr id="89" name="Content Placeholder 2">
            <a:extLst>
              <a:ext uri="{FF2B5EF4-FFF2-40B4-BE49-F238E27FC236}">
                <a16:creationId xmlns:a16="http://schemas.microsoft.com/office/drawing/2014/main" id="{226BBB74-307D-F584-DAEC-DB422D63AB78}"/>
              </a:ext>
            </a:extLst>
          </p:cNvPr>
          <p:cNvSpPr txBox="1">
            <a:spLocks/>
          </p:cNvSpPr>
          <p:nvPr/>
        </p:nvSpPr>
        <p:spPr>
          <a:xfrm>
            <a:off x="75991" y="5375594"/>
            <a:ext cx="8987622" cy="522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defRPr/>
            </a:pPr>
            <a:r>
              <a:rPr kumimoji="0" lang="en-US" sz="2500" b="0" i="0" u="none" strike="noStrike" kern="1200" cap="none" spc="0" normalizeH="0" baseline="0" noProof="0" dirty="0">
                <a:ln>
                  <a:noFill/>
                </a:ln>
                <a:solidFill>
                  <a:prstClr val="black"/>
                </a:solidFill>
                <a:effectLst/>
                <a:uLnTx/>
                <a:uFillTx/>
                <a:latin typeface="+mj-lt"/>
              </a:rPr>
              <a:t>Repeatedly </a:t>
            </a:r>
            <a:r>
              <a:rPr kumimoji="0" lang="en-US" sz="2500" b="1" i="0" u="none" strike="noStrike" kern="1200" cap="none" spc="0" normalizeH="0" baseline="0" noProof="0" dirty="0">
                <a:ln>
                  <a:noFill/>
                </a:ln>
                <a:solidFill>
                  <a:srgbClr val="538234"/>
                </a:solidFill>
                <a:effectLst/>
                <a:uLnTx/>
                <a:uFillTx/>
                <a:latin typeface="+mj-lt"/>
              </a:rPr>
              <a:t>opening</a:t>
            </a:r>
            <a:r>
              <a:rPr kumimoji="0" lang="en-US" sz="2500" b="0" i="0" u="none" strike="noStrike" kern="1200" cap="none" spc="0" normalizeH="0" baseline="0" noProof="0" dirty="0">
                <a:ln>
                  <a:noFill/>
                </a:ln>
                <a:solidFill>
                  <a:srgbClr val="538234"/>
                </a:solidFill>
                <a:effectLst/>
                <a:uLnTx/>
                <a:uFillTx/>
                <a:latin typeface="+mj-lt"/>
              </a:rPr>
              <a:t> (activating) </a:t>
            </a:r>
            <a:r>
              <a:rPr kumimoji="0" lang="en-US" sz="2500" b="0" i="0" u="none" strike="noStrike" kern="1200" cap="none" spc="0" normalizeH="0" baseline="0" noProof="0" dirty="0">
                <a:ln>
                  <a:noFill/>
                </a:ln>
                <a:solidFill>
                  <a:prstClr val="black"/>
                </a:solidFill>
                <a:effectLst/>
                <a:uLnTx/>
                <a:uFillTx/>
                <a:latin typeface="+mj-lt"/>
              </a:rPr>
              <a:t>and </a:t>
            </a:r>
            <a:r>
              <a:rPr kumimoji="0" lang="en-US" sz="2500" b="1" i="0" u="none" strike="noStrike" kern="1200" cap="none" spc="0" normalizeH="0" baseline="0" noProof="0" dirty="0">
                <a:ln>
                  <a:noFill/>
                </a:ln>
                <a:solidFill>
                  <a:srgbClr val="C00000"/>
                </a:solidFill>
                <a:effectLst/>
                <a:uLnTx/>
                <a:uFillTx/>
                <a:latin typeface="+mj-lt"/>
              </a:rPr>
              <a:t>closing</a:t>
            </a:r>
            <a:r>
              <a:rPr kumimoji="0" lang="en-US" sz="2500" b="0" i="0" u="none" strike="noStrike" kern="1200" cap="none" spc="0" normalizeH="0" baseline="0" noProof="0" dirty="0">
                <a:ln>
                  <a:noFill/>
                </a:ln>
                <a:solidFill>
                  <a:srgbClr val="C00000"/>
                </a:solidFill>
                <a:effectLst/>
                <a:uLnTx/>
                <a:uFillTx/>
                <a:latin typeface="+mj-lt"/>
              </a:rPr>
              <a:t> (</a:t>
            </a:r>
            <a:r>
              <a:rPr kumimoji="0" lang="en-US" sz="2500" b="0" i="0" u="none" strike="noStrike" kern="1200" cap="none" spc="0" normalizeH="0" baseline="0" noProof="0" dirty="0" err="1">
                <a:ln>
                  <a:noFill/>
                </a:ln>
                <a:solidFill>
                  <a:srgbClr val="C00000"/>
                </a:solidFill>
                <a:effectLst/>
                <a:uLnTx/>
                <a:uFillTx/>
                <a:latin typeface="+mj-lt"/>
              </a:rPr>
              <a:t>precharging</a:t>
            </a:r>
            <a:r>
              <a:rPr kumimoji="0" lang="en-US" sz="2500" b="0" i="0" u="none" strike="noStrike" kern="1200" cap="none" spc="0" normalizeH="0" baseline="0" noProof="0" dirty="0">
                <a:ln>
                  <a:noFill/>
                </a:ln>
                <a:solidFill>
                  <a:srgbClr val="C00000"/>
                </a:solidFill>
                <a:effectLst/>
                <a:uLnTx/>
                <a:uFillTx/>
                <a:latin typeface="+mj-lt"/>
              </a:rPr>
              <a:t>) </a:t>
            </a:r>
            <a:br>
              <a:rPr kumimoji="0" lang="en-US" sz="2500" b="0" i="0" u="none" strike="noStrike" kern="1200" cap="none" spc="0" normalizeH="0" baseline="0" noProof="0" dirty="0">
                <a:ln>
                  <a:noFill/>
                </a:ln>
                <a:solidFill>
                  <a:srgbClr val="C00000"/>
                </a:solidFill>
                <a:effectLst/>
                <a:uLnTx/>
                <a:uFillTx/>
                <a:latin typeface="+mj-lt"/>
              </a:rPr>
            </a:br>
            <a:r>
              <a:rPr lang="en-US" sz="2500" dirty="0">
                <a:solidFill>
                  <a:prstClr val="black"/>
                </a:solidFill>
                <a:latin typeface="+mj-lt"/>
              </a:rPr>
              <a:t>a DRAM row causes </a:t>
            </a:r>
            <a:r>
              <a:rPr lang="en-US" sz="2500" b="1" dirty="0" err="1">
                <a:solidFill>
                  <a:srgbClr val="4472C4">
                    <a:lumMod val="75000"/>
                  </a:srgbClr>
                </a:solidFill>
                <a:latin typeface="+mj-lt"/>
              </a:rPr>
              <a:t>RowHammer</a:t>
            </a:r>
            <a:r>
              <a:rPr lang="en-US" sz="2500" b="1" dirty="0">
                <a:solidFill>
                  <a:srgbClr val="4472C4">
                    <a:lumMod val="75000"/>
                  </a:srgbClr>
                </a:solidFill>
                <a:latin typeface="+mj-lt"/>
              </a:rPr>
              <a:t> bitflips</a:t>
            </a:r>
            <a:r>
              <a:rPr lang="en-US" sz="2500" dirty="0">
                <a:solidFill>
                  <a:srgbClr val="4472C4">
                    <a:lumMod val="75000"/>
                  </a:srgbClr>
                </a:solidFill>
                <a:latin typeface="+mj-lt"/>
              </a:rPr>
              <a:t> </a:t>
            </a:r>
            <a:r>
              <a:rPr lang="en-US" sz="2500" dirty="0">
                <a:solidFill>
                  <a:prstClr val="black"/>
                </a:solidFill>
                <a:latin typeface="+mj-lt"/>
              </a:rPr>
              <a:t>in nearby cells</a:t>
            </a:r>
            <a:endParaRPr lang="en-US" sz="2500" dirty="0">
              <a:solidFill>
                <a:srgbClr val="C00000"/>
              </a:solidFill>
              <a:latin typeface="+mj-lt"/>
            </a:endParaRPr>
          </a:p>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2500" b="0" i="0" u="none" strike="noStrike" kern="1200" cap="none" spc="0" normalizeH="0" baseline="0" noProof="0" dirty="0">
              <a:ln>
                <a:noFill/>
              </a:ln>
              <a:solidFill>
                <a:srgbClr val="C00000"/>
              </a:solidFill>
              <a:effectLst/>
              <a:uLnTx/>
              <a:uFillTx/>
              <a:latin typeface="+mj-lt"/>
              <a:ea typeface="+mn-ea"/>
              <a:cs typeface="+mn-cs"/>
            </a:endParaRPr>
          </a:p>
        </p:txBody>
      </p:sp>
      <p:sp>
        <p:nvSpPr>
          <p:cNvPr id="7" name="Content Placeholder 2">
            <a:extLst>
              <a:ext uri="{FF2B5EF4-FFF2-40B4-BE49-F238E27FC236}">
                <a16:creationId xmlns:a16="http://schemas.microsoft.com/office/drawing/2014/main" id="{3A8B0FEF-A773-88C0-DD7C-274D61B6507E}"/>
              </a:ext>
            </a:extLst>
          </p:cNvPr>
          <p:cNvSpPr txBox="1">
            <a:spLocks/>
          </p:cNvSpPr>
          <p:nvPr/>
        </p:nvSpPr>
        <p:spPr>
          <a:xfrm>
            <a:off x="40000" y="5735353"/>
            <a:ext cx="8987622" cy="522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defRPr/>
            </a:pPr>
            <a:endParaRPr kumimoji="0" lang="en-US" sz="2500" b="0" i="0" u="none" strike="noStrike" kern="1200" cap="none" spc="0" normalizeH="0" baseline="0" noProof="0" dirty="0">
              <a:ln>
                <a:noFill/>
              </a:ln>
              <a:solidFill>
                <a:srgbClr val="C00000"/>
              </a:solidFill>
              <a:effectLst/>
              <a:uLnTx/>
              <a:uFillTx/>
              <a:latin typeface="+mj-lt"/>
            </a:endParaRPr>
          </a:p>
        </p:txBody>
      </p:sp>
    </p:spTree>
    <p:extLst>
      <p:ext uri="{BB962C8B-B14F-4D97-AF65-F5344CB8AC3E}">
        <p14:creationId xmlns:p14="http://schemas.microsoft.com/office/powerpoint/2010/main" val="48543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7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8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7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9"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8944C7-C2A9-517B-5FB1-9AF154050AC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AB7D038-08B5-1BE1-27F3-0899F3EA26FA}"/>
              </a:ext>
            </a:extLst>
          </p:cNvPr>
          <p:cNvSpPr>
            <a:spLocks noGrp="1"/>
          </p:cNvSpPr>
          <p:nvPr>
            <p:ph type="title"/>
          </p:nvPr>
        </p:nvSpPr>
        <p:spPr/>
        <p:txBody>
          <a:bodyPr/>
          <a:lstStyle/>
          <a:p>
            <a:r>
              <a:rPr lang="en-US" dirty="0"/>
              <a:t>Mitigating Read Disturbance (I):</a:t>
            </a:r>
            <a:br>
              <a:rPr lang="en-US" dirty="0"/>
            </a:br>
            <a:r>
              <a:rPr lang="en-US" dirty="0"/>
              <a:t>Preventive Refresh</a:t>
            </a:r>
            <a:endParaRPr lang="tr-TR" dirty="0"/>
          </a:p>
        </p:txBody>
      </p:sp>
      <p:sp>
        <p:nvSpPr>
          <p:cNvPr id="4" name="Alt Bilgi Yer Tutucusu 3">
            <a:extLst>
              <a:ext uri="{FF2B5EF4-FFF2-40B4-BE49-F238E27FC236}">
                <a16:creationId xmlns:a16="http://schemas.microsoft.com/office/drawing/2014/main" id="{114C7E27-BF29-01B9-68E1-363A42A78107}"/>
              </a:ext>
            </a:extLst>
          </p:cNvPr>
          <p:cNvSpPr>
            <a:spLocks noGrp="1"/>
          </p:cNvSpPr>
          <p:nvPr>
            <p:ph type="ftr" sz="quarter" idx="11"/>
          </p:nvPr>
        </p:nvSpPr>
        <p:spPr>
          <a:xfrm>
            <a:off x="1671145" y="6517178"/>
            <a:ext cx="6558455" cy="204298"/>
          </a:xfrm>
        </p:spPr>
        <p:txBody>
          <a:bodyPr/>
          <a:lstStyle/>
          <a:p>
            <a:r>
              <a:rPr lang="en-US" b="1" dirty="0">
                <a:solidFill>
                  <a:prstClr val="black"/>
                </a:solidFill>
                <a:latin typeface="+mj-lt"/>
                <a:ea typeface="ＭＳ Ｐゴシック" charset="0"/>
                <a:cs typeface="ＭＳ Ｐゴシック" charset="0"/>
              </a:rPr>
              <a:t>[Bostanci+ HPCA'24]</a:t>
            </a:r>
            <a:endParaRPr kumimoji="0" lang="en-US" sz="1200" b="1"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5" name="Slayt Numarası Yer Tutucusu 4">
            <a:extLst>
              <a:ext uri="{FF2B5EF4-FFF2-40B4-BE49-F238E27FC236}">
                <a16:creationId xmlns:a16="http://schemas.microsoft.com/office/drawing/2014/main" id="{6408ED9F-B82F-4B5F-97F6-78D7B52C8F3B}"/>
              </a:ext>
            </a:extLst>
          </p:cNvPr>
          <p:cNvSpPr>
            <a:spLocks noGrp="1"/>
          </p:cNvSpPr>
          <p:nvPr>
            <p:ph type="sldNum" sz="quarter" idx="12"/>
          </p:nvPr>
        </p:nvSpPr>
        <p:spPr/>
        <p:txBody>
          <a:bodyPr/>
          <a:lstStyle/>
          <a:p>
            <a:fld id="{CBE5B309-C2CE-4D90-B104-F7E98438FC65}" type="slidenum">
              <a:rPr lang="tr-TR" smtClean="0">
                <a:latin typeface="+mj-lt"/>
              </a:rPr>
              <a:t>47</a:t>
            </a:fld>
            <a:endParaRPr lang="tr-TR">
              <a:latin typeface="+mj-lt"/>
            </a:endParaRPr>
          </a:p>
        </p:txBody>
      </p:sp>
      <p:sp>
        <p:nvSpPr>
          <p:cNvPr id="28" name="Punchline">
            <a:extLst>
              <a:ext uri="{FF2B5EF4-FFF2-40B4-BE49-F238E27FC236}">
                <a16:creationId xmlns:a16="http://schemas.microsoft.com/office/drawing/2014/main" id="{6423C439-244E-9AB5-42D3-22D61C5780AE}"/>
              </a:ext>
            </a:extLst>
          </p:cNvPr>
          <p:cNvSpPr txBox="1"/>
          <p:nvPr/>
        </p:nvSpPr>
        <p:spPr>
          <a:xfrm>
            <a:off x="395288" y="4607011"/>
            <a:ext cx="8359775" cy="11430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42" name="Rounded Rectangle 4">
            <a:extLst>
              <a:ext uri="{FF2B5EF4-FFF2-40B4-BE49-F238E27FC236}">
                <a16:creationId xmlns:a16="http://schemas.microsoft.com/office/drawing/2014/main" id="{FD9E752C-B333-DA59-A0E1-0F252896BC00}"/>
              </a:ext>
            </a:extLst>
          </p:cNvPr>
          <p:cNvSpPr/>
          <p:nvPr/>
        </p:nvSpPr>
        <p:spPr>
          <a:xfrm>
            <a:off x="579892" y="1870623"/>
            <a:ext cx="7984215" cy="2955463"/>
          </a:xfrm>
          <a:prstGeom prst="roundRect">
            <a:avLst>
              <a:gd name="adj" fmla="val 9311"/>
            </a:avLst>
          </a:prstGeom>
          <a:solidFill>
            <a:srgbClr val="F3F6FB"/>
          </a:solidFill>
          <a:ln w="38100">
            <a:solidFill>
              <a:srgbClr val="316C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cxnSp>
        <p:nvCxnSpPr>
          <p:cNvPr id="44" name="Straight Connector 16">
            <a:extLst>
              <a:ext uri="{FF2B5EF4-FFF2-40B4-BE49-F238E27FC236}">
                <a16:creationId xmlns:a16="http://schemas.microsoft.com/office/drawing/2014/main" id="{D2811A76-60F5-E4D8-921D-9665990AD36D}"/>
              </a:ext>
            </a:extLst>
          </p:cNvPr>
          <p:cNvCxnSpPr>
            <a:cxnSpLocks/>
          </p:cNvCxnSpPr>
          <p:nvPr/>
        </p:nvCxnSpPr>
        <p:spPr>
          <a:xfrm>
            <a:off x="1024997" y="2848095"/>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17">
            <a:extLst>
              <a:ext uri="{FF2B5EF4-FFF2-40B4-BE49-F238E27FC236}">
                <a16:creationId xmlns:a16="http://schemas.microsoft.com/office/drawing/2014/main" id="{FFF95D21-4785-798B-F5B9-44E96E099832}"/>
              </a:ext>
            </a:extLst>
          </p:cNvPr>
          <p:cNvCxnSpPr>
            <a:cxnSpLocks/>
          </p:cNvCxnSpPr>
          <p:nvPr/>
        </p:nvCxnSpPr>
        <p:spPr>
          <a:xfrm>
            <a:off x="1024997" y="3530103"/>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8">
            <a:extLst>
              <a:ext uri="{FF2B5EF4-FFF2-40B4-BE49-F238E27FC236}">
                <a16:creationId xmlns:a16="http://schemas.microsoft.com/office/drawing/2014/main" id="{9549D0F3-34BB-0A6E-A6E6-AA7CEF67659C}"/>
              </a:ext>
            </a:extLst>
          </p:cNvPr>
          <p:cNvCxnSpPr>
            <a:cxnSpLocks/>
          </p:cNvCxnSpPr>
          <p:nvPr/>
        </p:nvCxnSpPr>
        <p:spPr>
          <a:xfrm>
            <a:off x="1024997" y="4204455"/>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0" name="Rectangle 20">
            <a:extLst>
              <a:ext uri="{FF2B5EF4-FFF2-40B4-BE49-F238E27FC236}">
                <a16:creationId xmlns:a16="http://schemas.microsoft.com/office/drawing/2014/main" id="{FF75C161-4F55-0602-02C0-DAC2F8A18C77}"/>
              </a:ext>
            </a:extLst>
          </p:cNvPr>
          <p:cNvSpPr/>
          <p:nvPr/>
        </p:nvSpPr>
        <p:spPr>
          <a:xfrm>
            <a:off x="1436477" y="2503223"/>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1" name="Rectangle 21">
            <a:extLst>
              <a:ext uri="{FF2B5EF4-FFF2-40B4-BE49-F238E27FC236}">
                <a16:creationId xmlns:a16="http://schemas.microsoft.com/office/drawing/2014/main" id="{FE31D657-E992-5052-95D2-B8C9E7EAD730}"/>
              </a:ext>
            </a:extLst>
          </p:cNvPr>
          <p:cNvSpPr/>
          <p:nvPr/>
        </p:nvSpPr>
        <p:spPr>
          <a:xfrm>
            <a:off x="1436477" y="3168971"/>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2" name="Rectangle 22">
            <a:extLst>
              <a:ext uri="{FF2B5EF4-FFF2-40B4-BE49-F238E27FC236}">
                <a16:creationId xmlns:a16="http://schemas.microsoft.com/office/drawing/2014/main" id="{6728CD3A-8BD0-55AD-1EAB-45E8B55AC078}"/>
              </a:ext>
            </a:extLst>
          </p:cNvPr>
          <p:cNvSpPr/>
          <p:nvPr/>
        </p:nvSpPr>
        <p:spPr>
          <a:xfrm>
            <a:off x="1436477" y="3842270"/>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nvGrpSpPr>
          <p:cNvPr id="54" name="Group 3">
            <a:extLst>
              <a:ext uri="{FF2B5EF4-FFF2-40B4-BE49-F238E27FC236}">
                <a16:creationId xmlns:a16="http://schemas.microsoft.com/office/drawing/2014/main" id="{A835A1B2-4743-8581-AE0A-2AA9AC00F4B7}"/>
              </a:ext>
            </a:extLst>
          </p:cNvPr>
          <p:cNvGrpSpPr/>
          <p:nvPr/>
        </p:nvGrpSpPr>
        <p:grpSpPr>
          <a:xfrm>
            <a:off x="1428644" y="2501245"/>
            <a:ext cx="6286713" cy="1990657"/>
            <a:chOff x="1428644" y="1937227"/>
            <a:chExt cx="6286713" cy="1990657"/>
          </a:xfrm>
        </p:grpSpPr>
        <p:sp>
          <p:nvSpPr>
            <p:cNvPr id="55" name="Rectangle 57">
              <a:extLst>
                <a:ext uri="{FF2B5EF4-FFF2-40B4-BE49-F238E27FC236}">
                  <a16:creationId xmlns:a16="http://schemas.microsoft.com/office/drawing/2014/main" id="{EABE3221-BB0A-5BFA-9A3F-7E5DC3B4538A}"/>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6" name="Content Placeholder 2">
              <a:extLst>
                <a:ext uri="{FF2B5EF4-FFF2-40B4-BE49-F238E27FC236}">
                  <a16:creationId xmlns:a16="http://schemas.microsoft.com/office/drawing/2014/main" id="{1D19F1BD-B52E-49A2-68DA-407A0E51A6D0}"/>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57" name="Rectangle 58">
              <a:extLst>
                <a:ext uri="{FF2B5EF4-FFF2-40B4-BE49-F238E27FC236}">
                  <a16:creationId xmlns:a16="http://schemas.microsoft.com/office/drawing/2014/main" id="{78D8E557-DE5C-D2D9-B524-A9EC89647312}"/>
                </a:ext>
              </a:extLst>
            </p:cNvPr>
            <p:cNvSpPr/>
            <p:nvPr/>
          </p:nvSpPr>
          <p:spPr>
            <a:xfrm>
              <a:off x="1436477" y="1937227"/>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8" name="Rectangle 59">
              <a:extLst>
                <a:ext uri="{FF2B5EF4-FFF2-40B4-BE49-F238E27FC236}">
                  <a16:creationId xmlns:a16="http://schemas.microsoft.com/office/drawing/2014/main" id="{E8F127D6-C218-7814-002E-C8278B367CE2}"/>
                </a:ext>
              </a:extLst>
            </p:cNvPr>
            <p:cNvSpPr/>
            <p:nvPr/>
          </p:nvSpPr>
          <p:spPr>
            <a:xfrm>
              <a:off x="1436477" y="3278252"/>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59" name="Group 8">
            <a:extLst>
              <a:ext uri="{FF2B5EF4-FFF2-40B4-BE49-F238E27FC236}">
                <a16:creationId xmlns:a16="http://schemas.microsoft.com/office/drawing/2014/main" id="{41903D26-5C02-28EE-03CB-B8E196569AA2}"/>
              </a:ext>
            </a:extLst>
          </p:cNvPr>
          <p:cNvGrpSpPr/>
          <p:nvPr/>
        </p:nvGrpSpPr>
        <p:grpSpPr>
          <a:xfrm>
            <a:off x="1428644" y="3167982"/>
            <a:ext cx="6286713" cy="649632"/>
            <a:chOff x="1428644" y="2603964"/>
            <a:chExt cx="6286713" cy="649632"/>
          </a:xfrm>
        </p:grpSpPr>
        <p:sp>
          <p:nvSpPr>
            <p:cNvPr id="60" name="Rectangle 60">
              <a:extLst>
                <a:ext uri="{FF2B5EF4-FFF2-40B4-BE49-F238E27FC236}">
                  <a16:creationId xmlns:a16="http://schemas.microsoft.com/office/drawing/2014/main" id="{C255E0CD-E875-9110-4129-18A662BBC48E}"/>
                </a:ext>
              </a:extLst>
            </p:cNvPr>
            <p:cNvSpPr/>
            <p:nvPr/>
          </p:nvSpPr>
          <p:spPr>
            <a:xfrm>
              <a:off x="1436477" y="2603964"/>
              <a:ext cx="6278880" cy="649632"/>
            </a:xfrm>
            <a:prstGeom prst="rect">
              <a:avLst/>
            </a:prstGeom>
            <a:solidFill>
              <a:srgbClr val="D8D9D8"/>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1" name="Content Placeholder 2">
              <a:extLst>
                <a:ext uri="{FF2B5EF4-FFF2-40B4-BE49-F238E27FC236}">
                  <a16:creationId xmlns:a16="http://schemas.microsoft.com/office/drawing/2014/main" id="{C8B90AF4-4403-9388-9093-9C45A766B435}"/>
                </a:ext>
              </a:extLst>
            </p:cNvPr>
            <p:cNvSpPr txBox="1">
              <a:spLocks/>
            </p:cNvSpPr>
            <p:nvPr/>
          </p:nvSpPr>
          <p:spPr>
            <a:xfrm>
              <a:off x="1428644" y="2645717"/>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closed</a:t>
              </a:r>
            </a:p>
          </p:txBody>
        </p:sp>
      </p:grpSp>
      <p:grpSp>
        <p:nvGrpSpPr>
          <p:cNvPr id="62" name="Group 62">
            <a:extLst>
              <a:ext uri="{FF2B5EF4-FFF2-40B4-BE49-F238E27FC236}">
                <a16:creationId xmlns:a16="http://schemas.microsoft.com/office/drawing/2014/main" id="{EA39F8D4-6831-3D3C-9411-382BE89AC4C6}"/>
              </a:ext>
            </a:extLst>
          </p:cNvPr>
          <p:cNvGrpSpPr/>
          <p:nvPr/>
        </p:nvGrpSpPr>
        <p:grpSpPr>
          <a:xfrm>
            <a:off x="1425311" y="2505562"/>
            <a:ext cx="6286713" cy="1990657"/>
            <a:chOff x="1428644" y="1937227"/>
            <a:chExt cx="6286713" cy="1990657"/>
          </a:xfrm>
        </p:grpSpPr>
        <p:sp>
          <p:nvSpPr>
            <p:cNvPr id="63" name="Rectangle 63">
              <a:extLst>
                <a:ext uri="{FF2B5EF4-FFF2-40B4-BE49-F238E27FC236}">
                  <a16:creationId xmlns:a16="http://schemas.microsoft.com/office/drawing/2014/main" id="{666E21CE-57C9-817F-5BB5-AC98B5F3AF5C}"/>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4" name="Content Placeholder 2">
              <a:extLst>
                <a:ext uri="{FF2B5EF4-FFF2-40B4-BE49-F238E27FC236}">
                  <a16:creationId xmlns:a16="http://schemas.microsoft.com/office/drawing/2014/main" id="{11AACEE0-2F65-14C3-C10C-3442004FB315}"/>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65" name="Rectangle 65">
              <a:extLst>
                <a:ext uri="{FF2B5EF4-FFF2-40B4-BE49-F238E27FC236}">
                  <a16:creationId xmlns:a16="http://schemas.microsoft.com/office/drawing/2014/main" id="{A58FB7E6-7861-5CFA-00DE-E0CDB78A4CF7}"/>
                </a:ext>
              </a:extLst>
            </p:cNvPr>
            <p:cNvSpPr/>
            <p:nvPr/>
          </p:nvSpPr>
          <p:spPr>
            <a:xfrm>
              <a:off x="1436477" y="1937227"/>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1</a:t>
              </a:r>
            </a:p>
          </p:txBody>
        </p:sp>
        <p:sp>
          <p:nvSpPr>
            <p:cNvPr id="66" name="Rectangle 66">
              <a:extLst>
                <a:ext uri="{FF2B5EF4-FFF2-40B4-BE49-F238E27FC236}">
                  <a16:creationId xmlns:a16="http://schemas.microsoft.com/office/drawing/2014/main" id="{E79095C8-FF62-3B34-A374-76CE3D7B3D30}"/>
                </a:ext>
              </a:extLst>
            </p:cNvPr>
            <p:cNvSpPr/>
            <p:nvPr/>
          </p:nvSpPr>
          <p:spPr>
            <a:xfrm>
              <a:off x="1436477" y="3278252"/>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23" name="Grup 22">
            <a:extLst>
              <a:ext uri="{FF2B5EF4-FFF2-40B4-BE49-F238E27FC236}">
                <a16:creationId xmlns:a16="http://schemas.microsoft.com/office/drawing/2014/main" id="{3F0E301E-A797-DC9C-BD96-E438B32089E9}"/>
              </a:ext>
            </a:extLst>
          </p:cNvPr>
          <p:cNvGrpSpPr/>
          <p:nvPr/>
        </p:nvGrpSpPr>
        <p:grpSpPr>
          <a:xfrm>
            <a:off x="1439258" y="2508641"/>
            <a:ext cx="6278880" cy="1988659"/>
            <a:chOff x="1439258" y="2318622"/>
            <a:chExt cx="6278880" cy="1988659"/>
          </a:xfrm>
        </p:grpSpPr>
        <p:sp>
          <p:nvSpPr>
            <p:cNvPr id="20" name="Rectangle 67">
              <a:extLst>
                <a:ext uri="{FF2B5EF4-FFF2-40B4-BE49-F238E27FC236}">
                  <a16:creationId xmlns:a16="http://schemas.microsoft.com/office/drawing/2014/main" id="{75ECB2A2-F592-BBF7-DFFD-051095F26D57}"/>
                </a:ext>
              </a:extLst>
            </p:cNvPr>
            <p:cNvSpPr/>
            <p:nvPr/>
          </p:nvSpPr>
          <p:spPr>
            <a:xfrm>
              <a:off x="1439258" y="2318622"/>
              <a:ext cx="6278880" cy="649632"/>
            </a:xfrm>
            <a:prstGeom prst="rect">
              <a:avLst/>
            </a:prstGeom>
            <a:solidFill>
              <a:schemeClr val="accent6">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a:t>
              </a:r>
              <a:r>
                <a:rPr kumimoji="0" lang="tr-TR" sz="2800" b="0" i="0" u="none" strike="noStrike" kern="1200" cap="none" spc="0" normalizeH="0" baseline="0" noProof="0" dirty="0">
                  <a:ln>
                    <a:noFill/>
                  </a:ln>
                  <a:solidFill>
                    <a:prstClr val="black"/>
                  </a:solidFill>
                  <a:effectLst/>
                  <a:uLnTx/>
                  <a:uFillTx/>
                  <a:latin typeface="+mj-lt"/>
                  <a:ea typeface="+mn-ea"/>
                  <a:cs typeface="+mn-cs"/>
                </a:rPr>
                <a:t>1</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p:txBody>
        </p:sp>
        <p:sp>
          <p:nvSpPr>
            <p:cNvPr id="21" name="Rectangle 67">
              <a:extLst>
                <a:ext uri="{FF2B5EF4-FFF2-40B4-BE49-F238E27FC236}">
                  <a16:creationId xmlns:a16="http://schemas.microsoft.com/office/drawing/2014/main" id="{BFBA1599-DFEC-42BA-10F1-544D4B1460AC}"/>
                </a:ext>
              </a:extLst>
            </p:cNvPr>
            <p:cNvSpPr/>
            <p:nvPr/>
          </p:nvSpPr>
          <p:spPr>
            <a:xfrm>
              <a:off x="1439258" y="3657649"/>
              <a:ext cx="6278880" cy="649632"/>
            </a:xfrm>
            <a:prstGeom prst="rect">
              <a:avLst/>
            </a:prstGeom>
            <a:solidFill>
              <a:schemeClr val="accent6">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a:t>
              </a:r>
              <a:r>
                <a:rPr kumimoji="0" lang="tr-TR" sz="2800" b="0" i="0" u="none" strike="noStrike" kern="1200" cap="none" spc="0" normalizeH="0" baseline="0" noProof="0" dirty="0">
                  <a:ln>
                    <a:noFill/>
                  </a:ln>
                  <a:solidFill>
                    <a:prstClr val="black"/>
                  </a:solidFill>
                  <a:effectLst/>
                  <a:uLnTx/>
                  <a:uFillTx/>
                  <a:latin typeface="+mj-lt"/>
                  <a:ea typeface="+mn-ea"/>
                  <a:cs typeface="+mn-cs"/>
                </a:rPr>
                <a:t>3</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69" name="Group 11">
            <a:extLst>
              <a:ext uri="{FF2B5EF4-FFF2-40B4-BE49-F238E27FC236}">
                <a16:creationId xmlns:a16="http://schemas.microsoft.com/office/drawing/2014/main" id="{6E4608A6-A5A9-16A9-E7A5-2C9B45C63BF8}"/>
              </a:ext>
            </a:extLst>
          </p:cNvPr>
          <p:cNvGrpSpPr/>
          <p:nvPr/>
        </p:nvGrpSpPr>
        <p:grpSpPr>
          <a:xfrm>
            <a:off x="5533823" y="2603192"/>
            <a:ext cx="2210285" cy="1794806"/>
            <a:chOff x="5533823" y="2039174"/>
            <a:chExt cx="2210285" cy="1794806"/>
          </a:xfrm>
        </p:grpSpPr>
        <p:sp>
          <p:nvSpPr>
            <p:cNvPr id="71" name="Rectangle 101">
              <a:extLst>
                <a:ext uri="{FF2B5EF4-FFF2-40B4-BE49-F238E27FC236}">
                  <a16:creationId xmlns:a16="http://schemas.microsoft.com/office/drawing/2014/main" id="{DD6B8770-0CCD-E313-66D6-C46E5AD177A0}"/>
                </a:ext>
              </a:extLst>
            </p:cNvPr>
            <p:cNvSpPr/>
            <p:nvPr/>
          </p:nvSpPr>
          <p:spPr>
            <a:xfrm>
              <a:off x="6016776" y="2039174"/>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2" name="Rectangle 102">
              <a:extLst>
                <a:ext uri="{FF2B5EF4-FFF2-40B4-BE49-F238E27FC236}">
                  <a16:creationId xmlns:a16="http://schemas.microsoft.com/office/drawing/2014/main" id="{7908C28E-0A5F-783E-83C9-3FF935F27B99}"/>
                </a:ext>
              </a:extLst>
            </p:cNvPr>
            <p:cNvSpPr/>
            <p:nvPr/>
          </p:nvSpPr>
          <p:spPr>
            <a:xfrm>
              <a:off x="6016776" y="3372315"/>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4" name="Rectangle 90">
              <a:extLst>
                <a:ext uri="{FF2B5EF4-FFF2-40B4-BE49-F238E27FC236}">
                  <a16:creationId xmlns:a16="http://schemas.microsoft.com/office/drawing/2014/main" id="{E6C837A2-01D4-EBDE-A941-D8319DE64E5D}"/>
                </a:ext>
              </a:extLst>
            </p:cNvPr>
            <p:cNvSpPr/>
            <p:nvPr/>
          </p:nvSpPr>
          <p:spPr>
            <a:xfrm>
              <a:off x="5533823" y="2685155"/>
              <a:ext cx="213488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C00000"/>
                  </a:solidFill>
                  <a:effectLst/>
                  <a:uLnTx/>
                  <a:uFillTx/>
                  <a:latin typeface="+mj-lt"/>
                  <a:ea typeface="+mn-ea"/>
                  <a:cs typeface="+mn-cs"/>
                </a:rPr>
                <a:t>Aggressor Row</a:t>
              </a:r>
            </a:p>
          </p:txBody>
        </p:sp>
      </p:grpSp>
      <p:grpSp>
        <p:nvGrpSpPr>
          <p:cNvPr id="75" name="Group 47">
            <a:extLst>
              <a:ext uri="{FF2B5EF4-FFF2-40B4-BE49-F238E27FC236}">
                <a16:creationId xmlns:a16="http://schemas.microsoft.com/office/drawing/2014/main" id="{93177483-57CC-E238-4F11-DF76F0F80295}"/>
              </a:ext>
            </a:extLst>
          </p:cNvPr>
          <p:cNvGrpSpPr/>
          <p:nvPr/>
        </p:nvGrpSpPr>
        <p:grpSpPr>
          <a:xfrm>
            <a:off x="1436070" y="3172765"/>
            <a:ext cx="6271453" cy="649632"/>
            <a:chOff x="1428644" y="2604952"/>
            <a:chExt cx="6286713" cy="649632"/>
          </a:xfrm>
        </p:grpSpPr>
        <p:sp>
          <p:nvSpPr>
            <p:cNvPr id="76" name="Rectangle 48">
              <a:extLst>
                <a:ext uri="{FF2B5EF4-FFF2-40B4-BE49-F238E27FC236}">
                  <a16:creationId xmlns:a16="http://schemas.microsoft.com/office/drawing/2014/main" id="{8C10F4EB-1017-0CF9-B462-40D9DDA737C6}"/>
                </a:ext>
              </a:extLst>
            </p:cNvPr>
            <p:cNvSpPr/>
            <p:nvPr/>
          </p:nvSpPr>
          <p:spPr>
            <a:xfrm>
              <a:off x="1434175" y="2604952"/>
              <a:ext cx="6281182"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77" name="Content Placeholder 2">
              <a:extLst>
                <a:ext uri="{FF2B5EF4-FFF2-40B4-BE49-F238E27FC236}">
                  <a16:creationId xmlns:a16="http://schemas.microsoft.com/office/drawing/2014/main" id="{295AAA72-AF55-565A-3C86-0C13220E0C50}"/>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grpSp>
      <p:sp>
        <p:nvSpPr>
          <p:cNvPr id="79" name="Rectangle 50">
            <a:extLst>
              <a:ext uri="{FF2B5EF4-FFF2-40B4-BE49-F238E27FC236}">
                <a16:creationId xmlns:a16="http://schemas.microsoft.com/office/drawing/2014/main" id="{20051217-AB62-D7DB-C07B-CB68B29859D1}"/>
              </a:ext>
            </a:extLst>
          </p:cNvPr>
          <p:cNvSpPr/>
          <p:nvPr/>
        </p:nvSpPr>
        <p:spPr>
          <a:xfrm>
            <a:off x="1441587" y="3177604"/>
            <a:ext cx="6266955"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2</a:t>
            </a:r>
          </a:p>
        </p:txBody>
      </p:sp>
      <p:sp>
        <p:nvSpPr>
          <p:cNvPr id="81" name="Rectangle 7">
            <a:extLst>
              <a:ext uri="{FF2B5EF4-FFF2-40B4-BE49-F238E27FC236}">
                <a16:creationId xmlns:a16="http://schemas.microsoft.com/office/drawing/2014/main" id="{74FD8070-ABC7-4541-50F7-E08E7F032CA9}"/>
              </a:ext>
            </a:extLst>
          </p:cNvPr>
          <p:cNvSpPr/>
          <p:nvPr/>
        </p:nvSpPr>
        <p:spPr>
          <a:xfrm>
            <a:off x="579893" y="1899410"/>
            <a:ext cx="7984214"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rgbClr val="316CE3"/>
                </a:solidFill>
                <a:effectLst/>
                <a:uLnTx/>
                <a:uFillTx/>
                <a:latin typeface="+mj-lt"/>
                <a:ea typeface="+mn-ea"/>
                <a:cs typeface="+mn-cs"/>
              </a:rPr>
              <a:t>DRAM Bank</a:t>
            </a:r>
          </a:p>
        </p:txBody>
      </p:sp>
      <p:sp>
        <p:nvSpPr>
          <p:cNvPr id="89" name="Content Placeholder 2">
            <a:extLst>
              <a:ext uri="{FF2B5EF4-FFF2-40B4-BE49-F238E27FC236}">
                <a16:creationId xmlns:a16="http://schemas.microsoft.com/office/drawing/2014/main" id="{EEB5DACA-CFBF-EA81-2E3D-B80B111103C3}"/>
              </a:ext>
            </a:extLst>
          </p:cNvPr>
          <p:cNvSpPr txBox="1">
            <a:spLocks/>
          </p:cNvSpPr>
          <p:nvPr/>
        </p:nvSpPr>
        <p:spPr>
          <a:xfrm>
            <a:off x="75991" y="5104858"/>
            <a:ext cx="8987622" cy="10585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800" b="1" dirty="0">
                <a:latin typeface="+mj-lt"/>
              </a:rPr>
              <a:t>Refreshing</a:t>
            </a:r>
            <a:r>
              <a:rPr lang="en-US" sz="2800" dirty="0">
                <a:latin typeface="+mj-lt"/>
              </a:rPr>
              <a:t> potential victim rows </a:t>
            </a:r>
            <a:br>
              <a:rPr lang="en-US" sz="2800" dirty="0">
                <a:latin typeface="+mj-lt"/>
              </a:rPr>
            </a:br>
            <a:r>
              <a:rPr lang="en-US" sz="2800" b="1" dirty="0">
                <a:solidFill>
                  <a:schemeClr val="accent6">
                    <a:lumMod val="75000"/>
                  </a:schemeClr>
                </a:solidFill>
                <a:latin typeface="+mj-lt"/>
              </a:rPr>
              <a:t>mitigates </a:t>
            </a:r>
            <a:r>
              <a:rPr lang="tr-TR" sz="2800" b="1" dirty="0" err="1">
                <a:solidFill>
                  <a:schemeClr val="accent6">
                    <a:lumMod val="75000"/>
                  </a:schemeClr>
                </a:solidFill>
                <a:latin typeface="+mj-lt"/>
              </a:rPr>
              <a:t>read</a:t>
            </a:r>
            <a:r>
              <a:rPr lang="tr-TR" sz="2800" b="1" dirty="0">
                <a:solidFill>
                  <a:schemeClr val="accent6">
                    <a:lumMod val="75000"/>
                  </a:schemeClr>
                </a:solidFill>
                <a:latin typeface="+mj-lt"/>
              </a:rPr>
              <a:t> </a:t>
            </a:r>
            <a:r>
              <a:rPr lang="tr-TR" sz="2800" b="1" dirty="0" err="1">
                <a:solidFill>
                  <a:schemeClr val="accent6">
                    <a:lumMod val="75000"/>
                  </a:schemeClr>
                </a:solidFill>
                <a:latin typeface="+mj-lt"/>
              </a:rPr>
              <a:t>disturbance</a:t>
            </a:r>
            <a:r>
              <a:rPr lang="tr-TR" sz="2800" b="1" dirty="0">
                <a:solidFill>
                  <a:schemeClr val="accent6">
                    <a:lumMod val="75000"/>
                  </a:schemeClr>
                </a:solidFill>
                <a:latin typeface="+mj-lt"/>
              </a:rPr>
              <a:t> </a:t>
            </a:r>
            <a:r>
              <a:rPr lang="tr-TR" sz="2800" b="1" dirty="0" err="1">
                <a:solidFill>
                  <a:schemeClr val="accent6">
                    <a:lumMod val="75000"/>
                  </a:schemeClr>
                </a:solidFill>
                <a:latin typeface="+mj-lt"/>
              </a:rPr>
              <a:t>bitflips</a:t>
            </a:r>
            <a:endParaRPr lang="en-US" sz="2800" b="1" dirty="0">
              <a:latin typeface="+mj-lt"/>
            </a:endParaRPr>
          </a:p>
        </p:txBody>
      </p:sp>
      <p:sp>
        <p:nvSpPr>
          <p:cNvPr id="3" name="Rectangle 90">
            <a:extLst>
              <a:ext uri="{FF2B5EF4-FFF2-40B4-BE49-F238E27FC236}">
                <a16:creationId xmlns:a16="http://schemas.microsoft.com/office/drawing/2014/main" id="{59CC528A-EDE5-4261-35BA-587ACD0CFA6F}"/>
              </a:ext>
            </a:extLst>
          </p:cNvPr>
          <p:cNvSpPr/>
          <p:nvPr/>
        </p:nvSpPr>
        <p:spPr>
          <a:xfrm>
            <a:off x="5507853" y="3251331"/>
            <a:ext cx="213488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mj-lt"/>
                <a:ea typeface="+mn-ea"/>
                <a:cs typeface="+mn-cs"/>
              </a:rPr>
              <a:t>Aggressor Row</a:t>
            </a:r>
          </a:p>
        </p:txBody>
      </p:sp>
      <p:pic>
        <p:nvPicPr>
          <p:cNvPr id="7" name="Content Placeholder 6" descr="Hammer1 with solid fill">
            <a:extLst>
              <a:ext uri="{FF2B5EF4-FFF2-40B4-BE49-F238E27FC236}">
                <a16:creationId xmlns:a16="http://schemas.microsoft.com/office/drawing/2014/main" id="{B5A89BC4-CBC8-88B7-913D-3F3B8220CFE0}"/>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279661" y="2988509"/>
            <a:ext cx="782967" cy="782967"/>
          </a:xfrm>
        </p:spPr>
      </p:pic>
    </p:spTree>
    <p:extLst>
      <p:ext uri="{BB962C8B-B14F-4D97-AF65-F5344CB8AC3E}">
        <p14:creationId xmlns:p14="http://schemas.microsoft.com/office/powerpoint/2010/main" val="328567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26" presetClass="emph" presetSubtype="0" fill="hold" nodeType="withEffect">
                                  <p:stCondLst>
                                    <p:cond delay="0"/>
                                  </p:stCondLst>
                                  <p:childTnLst>
                                    <p:animEffect transition="out" filter="fade">
                                      <p:cBhvr>
                                        <p:cTn id="10" dur="500" tmFilter="0, 0; .2, .5; .8, .5; 1, 0"/>
                                        <p:tgtEl>
                                          <p:spTgt spid="23"/>
                                        </p:tgtEl>
                                      </p:cBhvr>
                                    </p:animEffect>
                                    <p:animScale>
                                      <p:cBhvr>
                                        <p:cTn id="11" dur="25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06F6F9-38AD-918B-4158-6637A9823C7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C3785A4-5519-C8DF-EC2D-DB0E69F23496}"/>
              </a:ext>
            </a:extLst>
          </p:cNvPr>
          <p:cNvSpPr>
            <a:spLocks noGrp="1"/>
          </p:cNvSpPr>
          <p:nvPr>
            <p:ph type="title"/>
          </p:nvPr>
        </p:nvSpPr>
        <p:spPr/>
        <p:txBody>
          <a:bodyPr/>
          <a:lstStyle/>
          <a:p>
            <a:r>
              <a:rPr lang="en-US" dirty="0"/>
              <a:t>Mitigating Read Disturbance (II):</a:t>
            </a:r>
            <a:br>
              <a:rPr lang="en-US" dirty="0"/>
            </a:br>
            <a:r>
              <a:rPr lang="en-US" dirty="0"/>
              <a:t>Preventive Refresh</a:t>
            </a:r>
            <a:endParaRPr lang="tr-TR" dirty="0"/>
          </a:p>
        </p:txBody>
      </p:sp>
      <p:sp>
        <p:nvSpPr>
          <p:cNvPr id="4" name="Alt Bilgi Yer Tutucusu 3">
            <a:extLst>
              <a:ext uri="{FF2B5EF4-FFF2-40B4-BE49-F238E27FC236}">
                <a16:creationId xmlns:a16="http://schemas.microsoft.com/office/drawing/2014/main" id="{C21CCEA8-783C-B46C-6D3D-ADC2B39C4E2E}"/>
              </a:ext>
            </a:extLst>
          </p:cNvPr>
          <p:cNvSpPr>
            <a:spLocks noGrp="1"/>
          </p:cNvSpPr>
          <p:nvPr>
            <p:ph type="ftr" sz="quarter" idx="11"/>
          </p:nvPr>
        </p:nvSpPr>
        <p:spPr>
          <a:xfrm>
            <a:off x="1671145" y="6517178"/>
            <a:ext cx="6558455" cy="204298"/>
          </a:xfrm>
        </p:spPr>
        <p:txBody>
          <a:bodyPr/>
          <a:lstStyle/>
          <a:p>
            <a:r>
              <a:rPr lang="en-US" b="1" dirty="0">
                <a:solidFill>
                  <a:prstClr val="black"/>
                </a:solidFill>
                <a:latin typeface="+mj-lt"/>
                <a:ea typeface="ＭＳ Ｐゴシック" charset="0"/>
                <a:cs typeface="ＭＳ Ｐゴシック" charset="0"/>
              </a:rPr>
              <a:t>[Bostanci+ HPCA'24]</a:t>
            </a:r>
            <a:endParaRPr kumimoji="0" lang="en-US" sz="1200" b="1"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5" name="Slayt Numarası Yer Tutucusu 4">
            <a:extLst>
              <a:ext uri="{FF2B5EF4-FFF2-40B4-BE49-F238E27FC236}">
                <a16:creationId xmlns:a16="http://schemas.microsoft.com/office/drawing/2014/main" id="{127D4A70-3F6E-B7B1-6D7F-5ACF34600E28}"/>
              </a:ext>
            </a:extLst>
          </p:cNvPr>
          <p:cNvSpPr>
            <a:spLocks noGrp="1"/>
          </p:cNvSpPr>
          <p:nvPr>
            <p:ph type="sldNum" sz="quarter" idx="12"/>
          </p:nvPr>
        </p:nvSpPr>
        <p:spPr/>
        <p:txBody>
          <a:bodyPr/>
          <a:lstStyle/>
          <a:p>
            <a:fld id="{CBE5B309-C2CE-4D90-B104-F7E98438FC65}" type="slidenum">
              <a:rPr lang="tr-TR" smtClean="0">
                <a:latin typeface="+mj-lt"/>
              </a:rPr>
              <a:t>48</a:t>
            </a:fld>
            <a:endParaRPr lang="tr-TR">
              <a:latin typeface="+mj-lt"/>
            </a:endParaRPr>
          </a:p>
        </p:txBody>
      </p:sp>
      <p:sp>
        <p:nvSpPr>
          <p:cNvPr id="28" name="Punchline">
            <a:extLst>
              <a:ext uri="{FF2B5EF4-FFF2-40B4-BE49-F238E27FC236}">
                <a16:creationId xmlns:a16="http://schemas.microsoft.com/office/drawing/2014/main" id="{AA6A8D1E-8E86-6F6A-C2E2-F6B77ED72E98}"/>
              </a:ext>
            </a:extLst>
          </p:cNvPr>
          <p:cNvSpPr txBox="1"/>
          <p:nvPr/>
        </p:nvSpPr>
        <p:spPr>
          <a:xfrm>
            <a:off x="395288" y="4607011"/>
            <a:ext cx="8359775" cy="1143000"/>
          </a:xfrm>
          <a:prstGeom prst="rect">
            <a:avLst/>
          </a:prstGeom>
          <a:noFill/>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mj-lt"/>
              <a:ea typeface="ＭＳ Ｐゴシック" charset="0"/>
              <a:cs typeface="ＭＳ Ｐゴシック" charset="0"/>
            </a:endParaRPr>
          </a:p>
        </p:txBody>
      </p:sp>
      <p:sp>
        <p:nvSpPr>
          <p:cNvPr id="42" name="Rounded Rectangle 4">
            <a:extLst>
              <a:ext uri="{FF2B5EF4-FFF2-40B4-BE49-F238E27FC236}">
                <a16:creationId xmlns:a16="http://schemas.microsoft.com/office/drawing/2014/main" id="{D3793062-3B68-0EDB-BA24-9564128C2341}"/>
              </a:ext>
            </a:extLst>
          </p:cNvPr>
          <p:cNvSpPr/>
          <p:nvPr/>
        </p:nvSpPr>
        <p:spPr>
          <a:xfrm>
            <a:off x="579892" y="1870623"/>
            <a:ext cx="7984215" cy="2955463"/>
          </a:xfrm>
          <a:prstGeom prst="roundRect">
            <a:avLst>
              <a:gd name="adj" fmla="val 9311"/>
            </a:avLst>
          </a:prstGeom>
          <a:solidFill>
            <a:srgbClr val="F3F6FB"/>
          </a:solidFill>
          <a:ln w="38100">
            <a:solidFill>
              <a:srgbClr val="316C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cxnSp>
        <p:nvCxnSpPr>
          <p:cNvPr id="44" name="Straight Connector 16">
            <a:extLst>
              <a:ext uri="{FF2B5EF4-FFF2-40B4-BE49-F238E27FC236}">
                <a16:creationId xmlns:a16="http://schemas.microsoft.com/office/drawing/2014/main" id="{57AC01B5-851F-75D0-CEDF-29C15EB819C2}"/>
              </a:ext>
            </a:extLst>
          </p:cNvPr>
          <p:cNvCxnSpPr>
            <a:cxnSpLocks/>
          </p:cNvCxnSpPr>
          <p:nvPr/>
        </p:nvCxnSpPr>
        <p:spPr>
          <a:xfrm>
            <a:off x="1024997" y="2848095"/>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17">
            <a:extLst>
              <a:ext uri="{FF2B5EF4-FFF2-40B4-BE49-F238E27FC236}">
                <a16:creationId xmlns:a16="http://schemas.microsoft.com/office/drawing/2014/main" id="{A84F36D3-6F7D-9333-2EB5-284F3EB33FF6}"/>
              </a:ext>
            </a:extLst>
          </p:cNvPr>
          <p:cNvCxnSpPr>
            <a:cxnSpLocks/>
          </p:cNvCxnSpPr>
          <p:nvPr/>
        </p:nvCxnSpPr>
        <p:spPr>
          <a:xfrm>
            <a:off x="1024997" y="3530103"/>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8">
            <a:extLst>
              <a:ext uri="{FF2B5EF4-FFF2-40B4-BE49-F238E27FC236}">
                <a16:creationId xmlns:a16="http://schemas.microsoft.com/office/drawing/2014/main" id="{406CE8A4-D38D-B58D-DACE-6C60B8218A04}"/>
              </a:ext>
            </a:extLst>
          </p:cNvPr>
          <p:cNvCxnSpPr>
            <a:cxnSpLocks/>
          </p:cNvCxnSpPr>
          <p:nvPr/>
        </p:nvCxnSpPr>
        <p:spPr>
          <a:xfrm>
            <a:off x="1024997" y="4204455"/>
            <a:ext cx="7101840" cy="0"/>
          </a:xfrm>
          <a:prstGeom prst="line">
            <a:avLst/>
          </a:prstGeom>
          <a:ln w="825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0" name="Rectangle 20">
            <a:extLst>
              <a:ext uri="{FF2B5EF4-FFF2-40B4-BE49-F238E27FC236}">
                <a16:creationId xmlns:a16="http://schemas.microsoft.com/office/drawing/2014/main" id="{C121B298-2288-A597-D8A1-1833B9086B73}"/>
              </a:ext>
            </a:extLst>
          </p:cNvPr>
          <p:cNvSpPr/>
          <p:nvPr/>
        </p:nvSpPr>
        <p:spPr>
          <a:xfrm>
            <a:off x="1436477" y="2503223"/>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1" name="Rectangle 21">
            <a:extLst>
              <a:ext uri="{FF2B5EF4-FFF2-40B4-BE49-F238E27FC236}">
                <a16:creationId xmlns:a16="http://schemas.microsoft.com/office/drawing/2014/main" id="{2E44D680-F1C9-BFA2-FA42-E03EEA061A5F}"/>
              </a:ext>
            </a:extLst>
          </p:cNvPr>
          <p:cNvSpPr/>
          <p:nvPr/>
        </p:nvSpPr>
        <p:spPr>
          <a:xfrm>
            <a:off x="1436477" y="3168971"/>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2" name="Rectangle 22">
            <a:extLst>
              <a:ext uri="{FF2B5EF4-FFF2-40B4-BE49-F238E27FC236}">
                <a16:creationId xmlns:a16="http://schemas.microsoft.com/office/drawing/2014/main" id="{D97996AB-7EEA-8DF1-F490-DCD0A3BBC177}"/>
              </a:ext>
            </a:extLst>
          </p:cNvPr>
          <p:cNvSpPr/>
          <p:nvPr/>
        </p:nvSpPr>
        <p:spPr>
          <a:xfrm>
            <a:off x="1436477" y="3842270"/>
            <a:ext cx="6278880"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nvGrpSpPr>
          <p:cNvPr id="54" name="Group 3">
            <a:extLst>
              <a:ext uri="{FF2B5EF4-FFF2-40B4-BE49-F238E27FC236}">
                <a16:creationId xmlns:a16="http://schemas.microsoft.com/office/drawing/2014/main" id="{77929BAF-D212-CA2D-869B-395D77C1EAD1}"/>
              </a:ext>
            </a:extLst>
          </p:cNvPr>
          <p:cNvGrpSpPr/>
          <p:nvPr/>
        </p:nvGrpSpPr>
        <p:grpSpPr>
          <a:xfrm>
            <a:off x="1428644" y="2501245"/>
            <a:ext cx="6286713" cy="1990657"/>
            <a:chOff x="1428644" y="1937227"/>
            <a:chExt cx="6286713" cy="1990657"/>
          </a:xfrm>
        </p:grpSpPr>
        <p:sp>
          <p:nvSpPr>
            <p:cNvPr id="55" name="Rectangle 57">
              <a:extLst>
                <a:ext uri="{FF2B5EF4-FFF2-40B4-BE49-F238E27FC236}">
                  <a16:creationId xmlns:a16="http://schemas.microsoft.com/office/drawing/2014/main" id="{87D27B3F-4DDA-9749-8FA5-94B9C9F4DB70}"/>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56" name="Content Placeholder 2">
              <a:extLst>
                <a:ext uri="{FF2B5EF4-FFF2-40B4-BE49-F238E27FC236}">
                  <a16:creationId xmlns:a16="http://schemas.microsoft.com/office/drawing/2014/main" id="{ACF239B3-854A-42ED-3DCB-130DCDEA3EBC}"/>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57" name="Rectangle 58">
              <a:extLst>
                <a:ext uri="{FF2B5EF4-FFF2-40B4-BE49-F238E27FC236}">
                  <a16:creationId xmlns:a16="http://schemas.microsoft.com/office/drawing/2014/main" id="{23E0BE46-F8A1-FB6F-1B6E-FEE6447E063E}"/>
                </a:ext>
              </a:extLst>
            </p:cNvPr>
            <p:cNvSpPr/>
            <p:nvPr/>
          </p:nvSpPr>
          <p:spPr>
            <a:xfrm>
              <a:off x="1436477" y="1937227"/>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1</a:t>
              </a:r>
            </a:p>
          </p:txBody>
        </p:sp>
        <p:sp>
          <p:nvSpPr>
            <p:cNvPr id="58" name="Rectangle 59">
              <a:extLst>
                <a:ext uri="{FF2B5EF4-FFF2-40B4-BE49-F238E27FC236}">
                  <a16:creationId xmlns:a16="http://schemas.microsoft.com/office/drawing/2014/main" id="{D2A38360-B284-53F1-C049-637D254311FA}"/>
                </a:ext>
              </a:extLst>
            </p:cNvPr>
            <p:cNvSpPr/>
            <p:nvPr/>
          </p:nvSpPr>
          <p:spPr>
            <a:xfrm>
              <a:off x="1436477" y="3278252"/>
              <a:ext cx="6278880" cy="649632"/>
            </a:xfrm>
            <a:prstGeom prst="rect">
              <a:avLst/>
            </a:prstGeom>
            <a:solidFill>
              <a:schemeClr val="accent4">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59" name="Group 8">
            <a:extLst>
              <a:ext uri="{FF2B5EF4-FFF2-40B4-BE49-F238E27FC236}">
                <a16:creationId xmlns:a16="http://schemas.microsoft.com/office/drawing/2014/main" id="{6EB66411-575F-3F99-EF93-EB9714CD59EF}"/>
              </a:ext>
            </a:extLst>
          </p:cNvPr>
          <p:cNvGrpSpPr/>
          <p:nvPr/>
        </p:nvGrpSpPr>
        <p:grpSpPr>
          <a:xfrm>
            <a:off x="1428644" y="3167982"/>
            <a:ext cx="6286713" cy="649632"/>
            <a:chOff x="1428644" y="2603964"/>
            <a:chExt cx="6286713" cy="649632"/>
          </a:xfrm>
        </p:grpSpPr>
        <p:sp>
          <p:nvSpPr>
            <p:cNvPr id="60" name="Rectangle 60">
              <a:extLst>
                <a:ext uri="{FF2B5EF4-FFF2-40B4-BE49-F238E27FC236}">
                  <a16:creationId xmlns:a16="http://schemas.microsoft.com/office/drawing/2014/main" id="{A6843A9C-66B2-332D-4D74-A93A1AD3E11D}"/>
                </a:ext>
              </a:extLst>
            </p:cNvPr>
            <p:cNvSpPr/>
            <p:nvPr/>
          </p:nvSpPr>
          <p:spPr>
            <a:xfrm>
              <a:off x="1436477" y="2603964"/>
              <a:ext cx="6278880" cy="649632"/>
            </a:xfrm>
            <a:prstGeom prst="rect">
              <a:avLst/>
            </a:prstGeom>
            <a:solidFill>
              <a:srgbClr val="D8D9D8"/>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1" name="Content Placeholder 2">
              <a:extLst>
                <a:ext uri="{FF2B5EF4-FFF2-40B4-BE49-F238E27FC236}">
                  <a16:creationId xmlns:a16="http://schemas.microsoft.com/office/drawing/2014/main" id="{3B4E184B-D983-859F-6EBC-E7E6E4D3ED2D}"/>
                </a:ext>
              </a:extLst>
            </p:cNvPr>
            <p:cNvSpPr txBox="1">
              <a:spLocks/>
            </p:cNvSpPr>
            <p:nvPr/>
          </p:nvSpPr>
          <p:spPr>
            <a:xfrm>
              <a:off x="1428644" y="2645717"/>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closed</a:t>
              </a:r>
            </a:p>
          </p:txBody>
        </p:sp>
      </p:grpSp>
      <p:grpSp>
        <p:nvGrpSpPr>
          <p:cNvPr id="62" name="Group 62">
            <a:extLst>
              <a:ext uri="{FF2B5EF4-FFF2-40B4-BE49-F238E27FC236}">
                <a16:creationId xmlns:a16="http://schemas.microsoft.com/office/drawing/2014/main" id="{6CEDDF49-52A8-AC05-18F8-1E599AACE782}"/>
              </a:ext>
            </a:extLst>
          </p:cNvPr>
          <p:cNvGrpSpPr/>
          <p:nvPr/>
        </p:nvGrpSpPr>
        <p:grpSpPr>
          <a:xfrm>
            <a:off x="1425311" y="2505562"/>
            <a:ext cx="6286713" cy="1990657"/>
            <a:chOff x="1428644" y="1937227"/>
            <a:chExt cx="6286713" cy="1990657"/>
          </a:xfrm>
        </p:grpSpPr>
        <p:sp>
          <p:nvSpPr>
            <p:cNvPr id="63" name="Rectangle 63">
              <a:extLst>
                <a:ext uri="{FF2B5EF4-FFF2-40B4-BE49-F238E27FC236}">
                  <a16:creationId xmlns:a16="http://schemas.microsoft.com/office/drawing/2014/main" id="{B4D7902A-7A67-46B0-336E-1EE391E0B1C6}"/>
                </a:ext>
              </a:extLst>
            </p:cNvPr>
            <p:cNvSpPr/>
            <p:nvPr/>
          </p:nvSpPr>
          <p:spPr>
            <a:xfrm>
              <a:off x="1436477" y="2604952"/>
              <a:ext cx="6278880"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64" name="Content Placeholder 2">
              <a:extLst>
                <a:ext uri="{FF2B5EF4-FFF2-40B4-BE49-F238E27FC236}">
                  <a16:creationId xmlns:a16="http://schemas.microsoft.com/office/drawing/2014/main" id="{5167CF0C-696B-16F1-938C-D80037607D44}"/>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sp>
          <p:nvSpPr>
            <p:cNvPr id="65" name="Rectangle 65">
              <a:extLst>
                <a:ext uri="{FF2B5EF4-FFF2-40B4-BE49-F238E27FC236}">
                  <a16:creationId xmlns:a16="http://schemas.microsoft.com/office/drawing/2014/main" id="{44AD694F-BF61-D63E-B26E-7840F6DEEFD2}"/>
                </a:ext>
              </a:extLst>
            </p:cNvPr>
            <p:cNvSpPr/>
            <p:nvPr/>
          </p:nvSpPr>
          <p:spPr>
            <a:xfrm>
              <a:off x="1436477" y="1937227"/>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1</a:t>
              </a:r>
            </a:p>
          </p:txBody>
        </p:sp>
        <p:sp>
          <p:nvSpPr>
            <p:cNvPr id="66" name="Rectangle 66">
              <a:extLst>
                <a:ext uri="{FF2B5EF4-FFF2-40B4-BE49-F238E27FC236}">
                  <a16:creationId xmlns:a16="http://schemas.microsoft.com/office/drawing/2014/main" id="{A8C25D27-64D2-4C30-7134-EF78F62D764D}"/>
                </a:ext>
              </a:extLst>
            </p:cNvPr>
            <p:cNvSpPr/>
            <p:nvPr/>
          </p:nvSpPr>
          <p:spPr>
            <a:xfrm>
              <a:off x="1436477" y="3278252"/>
              <a:ext cx="6278880" cy="649632"/>
            </a:xfrm>
            <a:prstGeom prst="rect">
              <a:avLst/>
            </a:prstGeom>
            <a:solidFill>
              <a:schemeClr val="accent4">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3</a:t>
              </a:r>
            </a:p>
          </p:txBody>
        </p:sp>
      </p:grpSp>
      <p:grpSp>
        <p:nvGrpSpPr>
          <p:cNvPr id="23" name="Grup 22">
            <a:extLst>
              <a:ext uri="{FF2B5EF4-FFF2-40B4-BE49-F238E27FC236}">
                <a16:creationId xmlns:a16="http://schemas.microsoft.com/office/drawing/2014/main" id="{802D6214-59D2-5D6F-59CA-C9C15687C962}"/>
              </a:ext>
            </a:extLst>
          </p:cNvPr>
          <p:cNvGrpSpPr/>
          <p:nvPr/>
        </p:nvGrpSpPr>
        <p:grpSpPr>
          <a:xfrm>
            <a:off x="1439258" y="2508641"/>
            <a:ext cx="6278880" cy="1988659"/>
            <a:chOff x="1439258" y="2318622"/>
            <a:chExt cx="6278880" cy="1988659"/>
          </a:xfrm>
        </p:grpSpPr>
        <p:sp>
          <p:nvSpPr>
            <p:cNvPr id="20" name="Rectangle 67">
              <a:extLst>
                <a:ext uri="{FF2B5EF4-FFF2-40B4-BE49-F238E27FC236}">
                  <a16:creationId xmlns:a16="http://schemas.microsoft.com/office/drawing/2014/main" id="{EAFC56E0-27A7-9943-3755-D61B7B5C8B30}"/>
                </a:ext>
              </a:extLst>
            </p:cNvPr>
            <p:cNvSpPr/>
            <p:nvPr/>
          </p:nvSpPr>
          <p:spPr>
            <a:xfrm>
              <a:off x="1439258" y="2318622"/>
              <a:ext cx="6278880" cy="649632"/>
            </a:xfrm>
            <a:prstGeom prst="rect">
              <a:avLst/>
            </a:prstGeom>
            <a:solidFill>
              <a:schemeClr val="accent6">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a:t>
              </a:r>
              <a:r>
                <a:rPr kumimoji="0" lang="tr-TR" sz="2800" b="0" i="0" u="none" strike="noStrike" kern="1200" cap="none" spc="0" normalizeH="0" baseline="0" noProof="0" dirty="0">
                  <a:ln>
                    <a:noFill/>
                  </a:ln>
                  <a:solidFill>
                    <a:prstClr val="black"/>
                  </a:solidFill>
                  <a:effectLst/>
                  <a:uLnTx/>
                  <a:uFillTx/>
                  <a:latin typeface="+mj-lt"/>
                  <a:ea typeface="+mn-ea"/>
                  <a:cs typeface="+mn-cs"/>
                </a:rPr>
                <a:t>1</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p:txBody>
        </p:sp>
        <p:sp>
          <p:nvSpPr>
            <p:cNvPr id="21" name="Rectangle 67">
              <a:extLst>
                <a:ext uri="{FF2B5EF4-FFF2-40B4-BE49-F238E27FC236}">
                  <a16:creationId xmlns:a16="http://schemas.microsoft.com/office/drawing/2014/main" id="{5D2563B2-2EA9-9FDC-8678-C554905B40CA}"/>
                </a:ext>
              </a:extLst>
            </p:cNvPr>
            <p:cNvSpPr/>
            <p:nvPr/>
          </p:nvSpPr>
          <p:spPr>
            <a:xfrm>
              <a:off x="1439258" y="3657649"/>
              <a:ext cx="6278880" cy="649632"/>
            </a:xfrm>
            <a:prstGeom prst="rect">
              <a:avLst/>
            </a:prstGeom>
            <a:solidFill>
              <a:schemeClr val="accent6">
                <a:lumMod val="40000"/>
                <a:lumOff val="6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a:t>
              </a:r>
              <a:r>
                <a:rPr kumimoji="0" lang="tr-TR" sz="2800" b="0" i="0" u="none" strike="noStrike" kern="1200" cap="none" spc="0" normalizeH="0" baseline="0" noProof="0" dirty="0">
                  <a:ln>
                    <a:noFill/>
                  </a:ln>
                  <a:solidFill>
                    <a:prstClr val="black"/>
                  </a:solidFill>
                  <a:effectLst/>
                  <a:uLnTx/>
                  <a:uFillTx/>
                  <a:latin typeface="+mj-lt"/>
                  <a:ea typeface="+mn-ea"/>
                  <a:cs typeface="+mn-cs"/>
                </a:rPr>
                <a:t>3</a:t>
              </a:r>
              <a:endParaRPr kumimoji="0" lang="en-US" sz="28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69" name="Group 11">
            <a:extLst>
              <a:ext uri="{FF2B5EF4-FFF2-40B4-BE49-F238E27FC236}">
                <a16:creationId xmlns:a16="http://schemas.microsoft.com/office/drawing/2014/main" id="{45B967CD-67CF-385F-F7D1-EA31F6888DB3}"/>
              </a:ext>
            </a:extLst>
          </p:cNvPr>
          <p:cNvGrpSpPr/>
          <p:nvPr/>
        </p:nvGrpSpPr>
        <p:grpSpPr>
          <a:xfrm>
            <a:off x="5533823" y="2603192"/>
            <a:ext cx="2210285" cy="1794806"/>
            <a:chOff x="5533823" y="2039174"/>
            <a:chExt cx="2210285" cy="1794806"/>
          </a:xfrm>
        </p:grpSpPr>
        <p:sp>
          <p:nvSpPr>
            <p:cNvPr id="71" name="Rectangle 101">
              <a:extLst>
                <a:ext uri="{FF2B5EF4-FFF2-40B4-BE49-F238E27FC236}">
                  <a16:creationId xmlns:a16="http://schemas.microsoft.com/office/drawing/2014/main" id="{358C1410-647E-368B-2859-07EEFE03BEDC}"/>
                </a:ext>
              </a:extLst>
            </p:cNvPr>
            <p:cNvSpPr/>
            <p:nvPr/>
          </p:nvSpPr>
          <p:spPr>
            <a:xfrm>
              <a:off x="6016776" y="2039174"/>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2" name="Rectangle 102">
              <a:extLst>
                <a:ext uri="{FF2B5EF4-FFF2-40B4-BE49-F238E27FC236}">
                  <a16:creationId xmlns:a16="http://schemas.microsoft.com/office/drawing/2014/main" id="{77C96362-7250-2CBA-2B3B-B1A92036CDF3}"/>
                </a:ext>
              </a:extLst>
            </p:cNvPr>
            <p:cNvSpPr/>
            <p:nvPr/>
          </p:nvSpPr>
          <p:spPr>
            <a:xfrm>
              <a:off x="6016776" y="3372315"/>
              <a:ext cx="1727332"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ED7D31"/>
                  </a:solidFill>
                  <a:effectLst/>
                  <a:uLnTx/>
                  <a:uFillTx/>
                  <a:latin typeface="+mj-lt"/>
                  <a:ea typeface="+mn-ea"/>
                  <a:cs typeface="+mn-cs"/>
                </a:rPr>
                <a:t>Victim Row</a:t>
              </a:r>
            </a:p>
          </p:txBody>
        </p:sp>
        <p:sp>
          <p:nvSpPr>
            <p:cNvPr id="74" name="Rectangle 90">
              <a:extLst>
                <a:ext uri="{FF2B5EF4-FFF2-40B4-BE49-F238E27FC236}">
                  <a16:creationId xmlns:a16="http://schemas.microsoft.com/office/drawing/2014/main" id="{9DC7F4D7-1E8F-8825-080D-C021000EAEAF}"/>
                </a:ext>
              </a:extLst>
            </p:cNvPr>
            <p:cNvSpPr/>
            <p:nvPr/>
          </p:nvSpPr>
          <p:spPr>
            <a:xfrm>
              <a:off x="5533823" y="2685155"/>
              <a:ext cx="213488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C00000"/>
                  </a:solidFill>
                  <a:effectLst/>
                  <a:uLnTx/>
                  <a:uFillTx/>
                  <a:latin typeface="+mj-lt"/>
                  <a:ea typeface="+mn-ea"/>
                  <a:cs typeface="+mn-cs"/>
                </a:rPr>
                <a:t>Aggressor Row</a:t>
              </a:r>
            </a:p>
          </p:txBody>
        </p:sp>
      </p:grpSp>
      <p:grpSp>
        <p:nvGrpSpPr>
          <p:cNvPr id="75" name="Group 47">
            <a:extLst>
              <a:ext uri="{FF2B5EF4-FFF2-40B4-BE49-F238E27FC236}">
                <a16:creationId xmlns:a16="http://schemas.microsoft.com/office/drawing/2014/main" id="{3356F62B-B4D3-4BE8-3F59-C5F9CFB4945F}"/>
              </a:ext>
            </a:extLst>
          </p:cNvPr>
          <p:cNvGrpSpPr/>
          <p:nvPr/>
        </p:nvGrpSpPr>
        <p:grpSpPr>
          <a:xfrm>
            <a:off x="1436070" y="3172765"/>
            <a:ext cx="6271453" cy="649632"/>
            <a:chOff x="1428644" y="2604952"/>
            <a:chExt cx="6286713" cy="649632"/>
          </a:xfrm>
        </p:grpSpPr>
        <p:sp>
          <p:nvSpPr>
            <p:cNvPr id="76" name="Rectangle 48">
              <a:extLst>
                <a:ext uri="{FF2B5EF4-FFF2-40B4-BE49-F238E27FC236}">
                  <a16:creationId xmlns:a16="http://schemas.microsoft.com/office/drawing/2014/main" id="{FEA02487-B9B0-F9DC-1D78-DA010539BDE1}"/>
                </a:ext>
              </a:extLst>
            </p:cNvPr>
            <p:cNvSpPr/>
            <p:nvPr/>
          </p:nvSpPr>
          <p:spPr>
            <a:xfrm>
              <a:off x="1434175" y="2604952"/>
              <a:ext cx="6281182" cy="649632"/>
            </a:xfrm>
            <a:prstGeom prst="rect">
              <a:avLst/>
            </a:prstGeom>
            <a:solidFill>
              <a:schemeClr val="accent2">
                <a:lumMod val="60000"/>
                <a:lumOff val="4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j-lt"/>
                  <a:ea typeface="+mn-ea"/>
                  <a:cs typeface="+mn-cs"/>
                </a:rPr>
                <a:t>Row 2</a:t>
              </a:r>
            </a:p>
          </p:txBody>
        </p:sp>
        <p:sp>
          <p:nvSpPr>
            <p:cNvPr id="77" name="Content Placeholder 2">
              <a:extLst>
                <a:ext uri="{FF2B5EF4-FFF2-40B4-BE49-F238E27FC236}">
                  <a16:creationId xmlns:a16="http://schemas.microsoft.com/office/drawing/2014/main" id="{9C0AE4C2-3859-3524-E696-C45749B13518}"/>
                </a:ext>
              </a:extLst>
            </p:cNvPr>
            <p:cNvSpPr txBox="1">
              <a:spLocks/>
            </p:cNvSpPr>
            <p:nvPr/>
          </p:nvSpPr>
          <p:spPr>
            <a:xfrm>
              <a:off x="1428644" y="2637180"/>
              <a:ext cx="1390654" cy="5914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1" u="none" strike="noStrike" kern="1200" cap="none" spc="0" normalizeH="0" baseline="0" noProof="0">
                  <a:ln>
                    <a:noFill/>
                  </a:ln>
                  <a:solidFill>
                    <a:srgbClr val="FF0000"/>
                  </a:solidFill>
                  <a:effectLst/>
                  <a:uLnTx/>
                  <a:uFillTx/>
                  <a:latin typeface="+mj-lt"/>
                  <a:ea typeface="+mn-ea"/>
                  <a:cs typeface="+mn-cs"/>
                </a:rPr>
                <a:t>open</a:t>
              </a:r>
            </a:p>
          </p:txBody>
        </p:sp>
      </p:grpSp>
      <p:sp>
        <p:nvSpPr>
          <p:cNvPr id="79" name="Rectangle 50">
            <a:extLst>
              <a:ext uri="{FF2B5EF4-FFF2-40B4-BE49-F238E27FC236}">
                <a16:creationId xmlns:a16="http://schemas.microsoft.com/office/drawing/2014/main" id="{355CA1F4-CDD5-0EEC-F9E7-37E8E62E1E80}"/>
              </a:ext>
            </a:extLst>
          </p:cNvPr>
          <p:cNvSpPr/>
          <p:nvPr/>
        </p:nvSpPr>
        <p:spPr>
          <a:xfrm>
            <a:off x="1441587" y="3177604"/>
            <a:ext cx="6266955" cy="649632"/>
          </a:xfrm>
          <a:prstGeom prst="rect">
            <a:avLst/>
          </a:prstGeom>
          <a:solidFill>
            <a:schemeClr val="bg1">
              <a:lumMod val="85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Row 2</a:t>
            </a:r>
          </a:p>
        </p:txBody>
      </p:sp>
      <p:sp>
        <p:nvSpPr>
          <p:cNvPr id="81" name="Rectangle 7">
            <a:extLst>
              <a:ext uri="{FF2B5EF4-FFF2-40B4-BE49-F238E27FC236}">
                <a16:creationId xmlns:a16="http://schemas.microsoft.com/office/drawing/2014/main" id="{E0DBF9E2-2EF9-2E6D-C053-C2974E116191}"/>
              </a:ext>
            </a:extLst>
          </p:cNvPr>
          <p:cNvSpPr/>
          <p:nvPr/>
        </p:nvSpPr>
        <p:spPr>
          <a:xfrm>
            <a:off x="579893" y="1899410"/>
            <a:ext cx="7984214"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i="0" u="none" strike="noStrike" kern="1200" cap="none" spc="0" normalizeH="0" baseline="0" noProof="0" dirty="0">
                <a:ln>
                  <a:noFill/>
                </a:ln>
                <a:solidFill>
                  <a:srgbClr val="316CE3"/>
                </a:solidFill>
                <a:effectLst/>
                <a:uLnTx/>
                <a:uFillTx/>
                <a:latin typeface="+mj-lt"/>
                <a:ea typeface="+mn-ea"/>
                <a:cs typeface="+mn-cs"/>
              </a:rPr>
              <a:t>DRAM Bank</a:t>
            </a:r>
          </a:p>
        </p:txBody>
      </p:sp>
      <p:sp>
        <p:nvSpPr>
          <p:cNvPr id="3" name="Rectangle 90">
            <a:extLst>
              <a:ext uri="{FF2B5EF4-FFF2-40B4-BE49-F238E27FC236}">
                <a16:creationId xmlns:a16="http://schemas.microsoft.com/office/drawing/2014/main" id="{78430750-EADF-279C-17A9-79B461567AD6}"/>
              </a:ext>
            </a:extLst>
          </p:cNvPr>
          <p:cNvSpPr/>
          <p:nvPr/>
        </p:nvSpPr>
        <p:spPr>
          <a:xfrm>
            <a:off x="5507853" y="3251331"/>
            <a:ext cx="2134880"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mj-lt"/>
                <a:ea typeface="+mn-ea"/>
                <a:cs typeface="+mn-cs"/>
              </a:rPr>
              <a:t>Aggressor Row</a:t>
            </a:r>
          </a:p>
        </p:txBody>
      </p:sp>
      <p:pic>
        <p:nvPicPr>
          <p:cNvPr id="7" name="Content Placeholder 6" descr="Hammer1 with solid fill">
            <a:extLst>
              <a:ext uri="{FF2B5EF4-FFF2-40B4-BE49-F238E27FC236}">
                <a16:creationId xmlns:a16="http://schemas.microsoft.com/office/drawing/2014/main" id="{4FF8418F-3D42-7118-F477-EC0C9A0E1ADF}"/>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279661" y="2988509"/>
            <a:ext cx="782967" cy="782967"/>
          </a:xfrm>
        </p:spPr>
      </p:pic>
      <p:sp>
        <p:nvSpPr>
          <p:cNvPr id="6" name="Content Placeholder 2">
            <a:extLst>
              <a:ext uri="{FF2B5EF4-FFF2-40B4-BE49-F238E27FC236}">
                <a16:creationId xmlns:a16="http://schemas.microsoft.com/office/drawing/2014/main" id="{93CF1E73-3C37-476E-08CB-F4AD4D5A36A7}"/>
              </a:ext>
            </a:extLst>
          </p:cNvPr>
          <p:cNvSpPr txBox="1">
            <a:spLocks/>
          </p:cNvSpPr>
          <p:nvPr/>
        </p:nvSpPr>
        <p:spPr>
          <a:xfrm>
            <a:off x="0" y="5120400"/>
            <a:ext cx="9144000" cy="10585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800" dirty="0">
                <a:latin typeface="+mj-lt"/>
              </a:rPr>
              <a:t>Defense techniques </a:t>
            </a:r>
            <a:r>
              <a:rPr lang="en-US" sz="2800" b="1" dirty="0">
                <a:solidFill>
                  <a:srgbClr val="F23F00"/>
                </a:solidFill>
                <a:latin typeface="+mj-lt"/>
              </a:rPr>
              <a:t>track row activation counts </a:t>
            </a:r>
            <a:br>
              <a:rPr lang="en-US" sz="2800" b="1" dirty="0">
                <a:solidFill>
                  <a:srgbClr val="F23F00"/>
                </a:solidFill>
                <a:latin typeface="+mj-lt"/>
              </a:rPr>
            </a:br>
            <a:r>
              <a:rPr lang="en-US" sz="2800" spc="-30" dirty="0">
                <a:latin typeface="+mj-lt"/>
              </a:rPr>
              <a:t>(of aggressor rows) to </a:t>
            </a:r>
            <a:r>
              <a:rPr lang="en-US" sz="2800" b="1" spc="-30" dirty="0">
                <a:solidFill>
                  <a:srgbClr val="316CE3"/>
                </a:solidFill>
                <a:latin typeface="+mj-lt"/>
              </a:rPr>
              <a:t>preventively refresh </a:t>
            </a:r>
            <a:r>
              <a:rPr lang="en-US" sz="2800" spc="-30" dirty="0">
                <a:latin typeface="+mj-lt"/>
              </a:rPr>
              <a:t>potential victim rows</a:t>
            </a:r>
          </a:p>
        </p:txBody>
      </p:sp>
      <p:grpSp>
        <p:nvGrpSpPr>
          <p:cNvPr id="8" name="Group 7">
            <a:extLst>
              <a:ext uri="{FF2B5EF4-FFF2-40B4-BE49-F238E27FC236}">
                <a16:creationId xmlns:a16="http://schemas.microsoft.com/office/drawing/2014/main" id="{29F9FC53-C4AA-10F2-EA26-3FE83D221BF3}"/>
              </a:ext>
            </a:extLst>
          </p:cNvPr>
          <p:cNvGrpSpPr/>
          <p:nvPr/>
        </p:nvGrpSpPr>
        <p:grpSpPr>
          <a:xfrm>
            <a:off x="1325460" y="2992153"/>
            <a:ext cx="6488683" cy="1033236"/>
            <a:chOff x="1302767" y="2795202"/>
            <a:chExt cx="6488683" cy="1033236"/>
          </a:xfrm>
        </p:grpSpPr>
        <p:sp>
          <p:nvSpPr>
            <p:cNvPr id="9" name="Dikdörtgen 5">
              <a:extLst>
                <a:ext uri="{FF2B5EF4-FFF2-40B4-BE49-F238E27FC236}">
                  <a16:creationId xmlns:a16="http://schemas.microsoft.com/office/drawing/2014/main" id="{8B5B4EF3-EBB5-1381-362C-B9EA59B93D2D}"/>
                </a:ext>
              </a:extLst>
            </p:cNvPr>
            <p:cNvSpPr/>
            <p:nvPr/>
          </p:nvSpPr>
          <p:spPr>
            <a:xfrm>
              <a:off x="1371600" y="2874838"/>
              <a:ext cx="6419850" cy="8521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mj-lt"/>
              </a:endParaRPr>
            </a:p>
          </p:txBody>
        </p:sp>
        <p:pic>
          <p:nvPicPr>
            <p:cNvPr id="10" name="Graphic 9" descr="Target outline">
              <a:extLst>
                <a:ext uri="{FF2B5EF4-FFF2-40B4-BE49-F238E27FC236}">
                  <a16:creationId xmlns:a16="http://schemas.microsoft.com/office/drawing/2014/main" id="{97C7C8EE-5A21-DAAB-836B-496D46AC30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02767" y="2795202"/>
              <a:ext cx="1033236" cy="1033236"/>
            </a:xfrm>
            <a:prstGeom prst="rect">
              <a:avLst/>
            </a:prstGeom>
          </p:spPr>
        </p:pic>
      </p:grpSp>
    </p:spTree>
    <p:extLst>
      <p:ext uri="{BB962C8B-B14F-4D97-AF65-F5344CB8AC3E}">
        <p14:creationId xmlns:p14="http://schemas.microsoft.com/office/powerpoint/2010/main" val="305680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26" presetClass="emph" presetSubtype="0" fill="hold" nodeType="withEffect">
                                  <p:stCondLst>
                                    <p:cond delay="0"/>
                                  </p:stCondLst>
                                  <p:childTnLst>
                                    <p:animEffect transition="out" filter="fade">
                                      <p:cBhvr>
                                        <p:cTn id="8" dur="500" tmFilter="0, 0; .2, .5; .8, .5; 1, 0"/>
                                        <p:tgtEl>
                                          <p:spTgt spid="23"/>
                                        </p:tgtEl>
                                      </p:cBhvr>
                                    </p:animEffect>
                                    <p:animScale>
                                      <p:cBhvr>
                                        <p:cTn id="9" dur="250" autoRev="1" fill="hold"/>
                                        <p:tgtEl>
                                          <p:spTgt spid="2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38751-980E-8B48-BBF4-A176728E567B}"/>
              </a:ext>
            </a:extLst>
          </p:cNvPr>
          <p:cNvSpPr>
            <a:spLocks noGrp="1"/>
          </p:cNvSpPr>
          <p:nvPr>
            <p:ph type="title"/>
          </p:nvPr>
        </p:nvSpPr>
        <p:spPr/>
        <p:txBody>
          <a:bodyPr lIns="91440" tIns="45720" rIns="91440" bIns="45720" anchor="ctr">
            <a:normAutofit/>
          </a:bodyPr>
          <a:lstStyle/>
          <a:p>
            <a:r>
              <a:rPr lang="en-US" dirty="0">
                <a:ea typeface="Cambria"/>
              </a:rPr>
              <a:t>Read Disturbance is Getting Worse</a:t>
            </a:r>
            <a:endParaRPr lang="en-US" dirty="0"/>
          </a:p>
        </p:txBody>
      </p:sp>
      <p:sp>
        <p:nvSpPr>
          <p:cNvPr id="7" name="Content Placeholder 6">
            <a:extLst>
              <a:ext uri="{FF2B5EF4-FFF2-40B4-BE49-F238E27FC236}">
                <a16:creationId xmlns:a16="http://schemas.microsoft.com/office/drawing/2014/main" id="{EEDE0AF6-A91D-0DF7-1938-63236A21F22B}"/>
              </a:ext>
            </a:extLst>
          </p:cNvPr>
          <p:cNvSpPr>
            <a:spLocks noGrp="1"/>
          </p:cNvSpPr>
          <p:nvPr>
            <p:ph idx="1"/>
          </p:nvPr>
        </p:nvSpPr>
        <p:spPr/>
        <p:txBody>
          <a:bodyPr/>
          <a:lstStyle/>
          <a:p>
            <a:endParaRPr lang="en-US" dirty="0"/>
          </a:p>
        </p:txBody>
      </p:sp>
      <p:sp>
        <p:nvSpPr>
          <p:cNvPr id="10" name="Slide Number Placeholder 9">
            <a:extLst>
              <a:ext uri="{FF2B5EF4-FFF2-40B4-BE49-F238E27FC236}">
                <a16:creationId xmlns:a16="http://schemas.microsoft.com/office/drawing/2014/main" id="{FE352725-6F45-DF68-6F70-349EC9E67B95}"/>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r" defTabSz="457200" rtl="0" eaLnBrk="1" latinLnBrk="0" hangingPunct="1">
              <a:defRPr sz="1600" b="1" kern="1200">
                <a:solidFill>
                  <a:schemeClr val="tx1"/>
                </a:solidFill>
                <a:latin typeface="Cambria" panose="020405030504060302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76C2683-0D41-1E45-8714-724CB2570654}" type="slidenum">
              <a:rPr lang="en-US" sz="1800" b="0" smtClean="0">
                <a:solidFill>
                  <a:schemeClr val="tx1">
                    <a:lumMod val="50000"/>
                    <a:lumOff val="50000"/>
                  </a:schemeClr>
                </a:solidFill>
                <a:latin typeface="+mj-lt"/>
              </a:rPr>
              <a:pPr/>
              <a:t>49</a:t>
            </a:fld>
            <a:endParaRPr lang="en-US" sz="1800" b="0" dirty="0">
              <a:solidFill>
                <a:schemeClr val="tx1">
                  <a:lumMod val="50000"/>
                  <a:lumOff val="50000"/>
                </a:schemeClr>
              </a:solidFill>
              <a:latin typeface="+mj-lt"/>
            </a:endParaRPr>
          </a:p>
        </p:txBody>
      </p:sp>
      <p:sp>
        <p:nvSpPr>
          <p:cNvPr id="4" name="Rectangle 3">
            <a:extLst>
              <a:ext uri="{FF2B5EF4-FFF2-40B4-BE49-F238E27FC236}">
                <a16:creationId xmlns:a16="http://schemas.microsoft.com/office/drawing/2014/main" id="{7EA9A6E1-3767-26B7-B139-7D361B42CB96}"/>
              </a:ext>
            </a:extLst>
          </p:cNvPr>
          <p:cNvSpPr/>
          <p:nvPr/>
        </p:nvSpPr>
        <p:spPr>
          <a:xfrm>
            <a:off x="-48552" y="5317652"/>
            <a:ext cx="9245150" cy="1005366"/>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solidFill>
                  <a:schemeClr val="tx1"/>
                </a:solidFill>
                <a:latin typeface="+mj-lt"/>
              </a:rPr>
              <a:t>DRAM cells become </a:t>
            </a:r>
            <a:r>
              <a:rPr lang="en-US" sz="2800" b="1" dirty="0">
                <a:solidFill>
                  <a:schemeClr val="tx1"/>
                </a:solidFill>
                <a:latin typeface="+mj-lt"/>
              </a:rPr>
              <a:t>increasingly more vulnerable </a:t>
            </a:r>
            <a:r>
              <a:rPr lang="en-US" sz="2800" dirty="0">
                <a:solidFill>
                  <a:schemeClr val="tx1"/>
                </a:solidFill>
                <a:latin typeface="+mj-lt"/>
              </a:rPr>
              <a:t>to </a:t>
            </a:r>
            <a:r>
              <a:rPr lang="en-US" sz="2800" b="1" dirty="0">
                <a:solidFill>
                  <a:schemeClr val="tx1"/>
                </a:solidFill>
                <a:latin typeface="+mj-lt"/>
              </a:rPr>
              <a:t>read disturbance, </a:t>
            </a:r>
            <a:r>
              <a:rPr lang="en-US" sz="2800" dirty="0">
                <a:solidFill>
                  <a:schemeClr val="tx1"/>
                </a:solidFill>
                <a:latin typeface="+mj-lt"/>
              </a:rPr>
              <a:t>requiring </a:t>
            </a:r>
            <a:r>
              <a:rPr lang="en-US" sz="2800" b="1" dirty="0">
                <a:solidFill>
                  <a:schemeClr val="tx1"/>
                </a:solidFill>
                <a:latin typeface="+mj-lt"/>
              </a:rPr>
              <a:t>low-cost defenses</a:t>
            </a:r>
          </a:p>
        </p:txBody>
      </p:sp>
      <p:sp>
        <p:nvSpPr>
          <p:cNvPr id="5" name="Oval 4">
            <a:extLst>
              <a:ext uri="{FF2B5EF4-FFF2-40B4-BE49-F238E27FC236}">
                <a16:creationId xmlns:a16="http://schemas.microsoft.com/office/drawing/2014/main" id="{C8C1005F-1701-603E-12A9-0CF2B8D1BD16}"/>
              </a:ext>
            </a:extLst>
          </p:cNvPr>
          <p:cNvSpPr/>
          <p:nvPr/>
        </p:nvSpPr>
        <p:spPr>
          <a:xfrm>
            <a:off x="1107670" y="1019750"/>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AA6A38-CA3D-93B8-A01C-7AB881E4AC59}"/>
              </a:ext>
            </a:extLst>
          </p:cNvPr>
          <p:cNvSpPr/>
          <p:nvPr/>
        </p:nvSpPr>
        <p:spPr>
          <a:xfrm>
            <a:off x="1746958" y="1019750"/>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9082FDE-110D-743D-ACF8-82C9902CF0DC}"/>
              </a:ext>
            </a:extLst>
          </p:cNvPr>
          <p:cNvSpPr/>
          <p:nvPr/>
        </p:nvSpPr>
        <p:spPr>
          <a:xfrm>
            <a:off x="2386246" y="1034961"/>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C45D191-8A8D-01D7-16D7-A5C7D89F2459}"/>
              </a:ext>
            </a:extLst>
          </p:cNvPr>
          <p:cNvSpPr/>
          <p:nvPr/>
        </p:nvSpPr>
        <p:spPr>
          <a:xfrm>
            <a:off x="1107670" y="1673257"/>
            <a:ext cx="540000" cy="540000"/>
          </a:xfrm>
          <a:prstGeom prst="ellipse">
            <a:avLst/>
          </a:prstGeom>
          <a:solidFill>
            <a:srgbClr val="C0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FE29317-81CB-1F46-BFF7-34C410ACD5BE}"/>
              </a:ext>
            </a:extLst>
          </p:cNvPr>
          <p:cNvSpPr/>
          <p:nvPr/>
        </p:nvSpPr>
        <p:spPr>
          <a:xfrm>
            <a:off x="1107670" y="2326764"/>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956349C-AB51-0F4E-AD8B-AAC074C74CD6}"/>
              </a:ext>
            </a:extLst>
          </p:cNvPr>
          <p:cNvSpPr/>
          <p:nvPr/>
        </p:nvSpPr>
        <p:spPr>
          <a:xfrm>
            <a:off x="1746958" y="2329369"/>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57385FD-9B57-954E-9EE2-5AA031067AC9}"/>
              </a:ext>
            </a:extLst>
          </p:cNvPr>
          <p:cNvSpPr/>
          <p:nvPr/>
        </p:nvSpPr>
        <p:spPr>
          <a:xfrm>
            <a:off x="2386246" y="1673257"/>
            <a:ext cx="540000" cy="540000"/>
          </a:xfrm>
          <a:prstGeom prst="ellipse">
            <a:avLst/>
          </a:prstGeom>
          <a:solidFill>
            <a:srgbClr val="C0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D3EEA1-D63B-B862-17A3-44980E69E7D4}"/>
              </a:ext>
            </a:extLst>
          </p:cNvPr>
          <p:cNvSpPr/>
          <p:nvPr/>
        </p:nvSpPr>
        <p:spPr>
          <a:xfrm>
            <a:off x="2386246" y="2311553"/>
            <a:ext cx="540000" cy="540000"/>
          </a:xfrm>
          <a:prstGeom prst="ellipse">
            <a:avLst/>
          </a:prstGeom>
          <a:solidFill>
            <a:srgbClr val="6292F7"/>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7455623-D394-855D-6DA5-C62CE7823B6F}"/>
              </a:ext>
            </a:extLst>
          </p:cNvPr>
          <p:cNvSpPr/>
          <p:nvPr/>
        </p:nvSpPr>
        <p:spPr>
          <a:xfrm>
            <a:off x="1746958" y="1673257"/>
            <a:ext cx="540000" cy="540000"/>
          </a:xfrm>
          <a:prstGeom prst="ellipse">
            <a:avLst/>
          </a:prstGeom>
          <a:solidFill>
            <a:srgbClr val="C0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84F5D99-0E67-8A20-5AB6-9E9B458B8F15}"/>
              </a:ext>
            </a:extLst>
          </p:cNvPr>
          <p:cNvSpPr/>
          <p:nvPr/>
        </p:nvSpPr>
        <p:spPr>
          <a:xfrm>
            <a:off x="7090637" y="1217427"/>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A1CFE0F-F497-9C7D-DDC9-6362CCB15BE8}"/>
              </a:ext>
            </a:extLst>
          </p:cNvPr>
          <p:cNvSpPr/>
          <p:nvPr/>
        </p:nvSpPr>
        <p:spPr>
          <a:xfrm>
            <a:off x="7090637" y="2527046"/>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F0E9CD1-11D0-894E-D728-A37FBBEBCD42}"/>
              </a:ext>
            </a:extLst>
          </p:cNvPr>
          <p:cNvSpPr/>
          <p:nvPr/>
        </p:nvSpPr>
        <p:spPr>
          <a:xfrm>
            <a:off x="7090637" y="1870934"/>
            <a:ext cx="180000" cy="180000"/>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D03EE6A-223A-C4C4-99B5-30A86D1A3331}"/>
              </a:ext>
            </a:extLst>
          </p:cNvPr>
          <p:cNvSpPr/>
          <p:nvPr/>
        </p:nvSpPr>
        <p:spPr>
          <a:xfrm>
            <a:off x="7087179" y="1429491"/>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6CB8F6B-C992-6EB8-F45E-C0F84A8DE2BE}"/>
              </a:ext>
            </a:extLst>
          </p:cNvPr>
          <p:cNvSpPr/>
          <p:nvPr/>
        </p:nvSpPr>
        <p:spPr>
          <a:xfrm>
            <a:off x="7087179" y="1644788"/>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1D635F0-292E-A66E-5A32-9AD56C73AD09}"/>
              </a:ext>
            </a:extLst>
          </p:cNvPr>
          <p:cNvSpPr/>
          <p:nvPr/>
        </p:nvSpPr>
        <p:spPr>
          <a:xfrm>
            <a:off x="7087179" y="2082890"/>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315A9E8-9340-9A55-C57A-453A9F868241}"/>
              </a:ext>
            </a:extLst>
          </p:cNvPr>
          <p:cNvSpPr/>
          <p:nvPr/>
        </p:nvSpPr>
        <p:spPr>
          <a:xfrm>
            <a:off x="7087179" y="2298187"/>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11EF1FE-B208-2923-754C-86195AD1DB74}"/>
              </a:ext>
            </a:extLst>
          </p:cNvPr>
          <p:cNvSpPr/>
          <p:nvPr/>
        </p:nvSpPr>
        <p:spPr>
          <a:xfrm>
            <a:off x="7316161" y="1212546"/>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8289E17-508B-BF5D-33A5-1E329BF2393D}"/>
              </a:ext>
            </a:extLst>
          </p:cNvPr>
          <p:cNvSpPr/>
          <p:nvPr/>
        </p:nvSpPr>
        <p:spPr>
          <a:xfrm>
            <a:off x="7316161" y="2522165"/>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B8E7ADB-3AE8-6284-AD9D-4E4EAF273DB5}"/>
              </a:ext>
            </a:extLst>
          </p:cNvPr>
          <p:cNvSpPr/>
          <p:nvPr/>
        </p:nvSpPr>
        <p:spPr>
          <a:xfrm>
            <a:off x="7316161" y="1866053"/>
            <a:ext cx="180000" cy="180000"/>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19191C6-DAE1-B485-96AC-07E7E343A0C9}"/>
              </a:ext>
            </a:extLst>
          </p:cNvPr>
          <p:cNvSpPr/>
          <p:nvPr/>
        </p:nvSpPr>
        <p:spPr>
          <a:xfrm>
            <a:off x="7312703" y="1424610"/>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EDBFDB9-9A95-953F-AE32-BA5AFAD718B6}"/>
              </a:ext>
            </a:extLst>
          </p:cNvPr>
          <p:cNvSpPr/>
          <p:nvPr/>
        </p:nvSpPr>
        <p:spPr>
          <a:xfrm>
            <a:off x="7312703" y="1639907"/>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982816B4-492A-5D5F-04B4-BFDCD06B0DC1}"/>
              </a:ext>
            </a:extLst>
          </p:cNvPr>
          <p:cNvSpPr/>
          <p:nvPr/>
        </p:nvSpPr>
        <p:spPr>
          <a:xfrm>
            <a:off x="7312703" y="2078009"/>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3E170001-F8BC-0658-4AE2-BB773BD98B09}"/>
              </a:ext>
            </a:extLst>
          </p:cNvPr>
          <p:cNvSpPr/>
          <p:nvPr/>
        </p:nvSpPr>
        <p:spPr>
          <a:xfrm>
            <a:off x="7312703" y="2293306"/>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80668E6-0A59-1686-F4E9-8584D45CBCB4}"/>
              </a:ext>
            </a:extLst>
          </p:cNvPr>
          <p:cNvSpPr/>
          <p:nvPr/>
        </p:nvSpPr>
        <p:spPr>
          <a:xfrm>
            <a:off x="6863202" y="1218878"/>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1CBEA01-0385-ABBF-9FF5-3F325CE96FF7}"/>
              </a:ext>
            </a:extLst>
          </p:cNvPr>
          <p:cNvSpPr/>
          <p:nvPr/>
        </p:nvSpPr>
        <p:spPr>
          <a:xfrm>
            <a:off x="6863202" y="2528497"/>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4DF21DAF-7AAD-6F40-7CF3-443C6D14D57C}"/>
              </a:ext>
            </a:extLst>
          </p:cNvPr>
          <p:cNvSpPr/>
          <p:nvPr/>
        </p:nvSpPr>
        <p:spPr>
          <a:xfrm>
            <a:off x="6863202" y="1872385"/>
            <a:ext cx="180000" cy="180000"/>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DCBA53E1-B39D-9FE3-5EE8-4EAD5E826C18}"/>
              </a:ext>
            </a:extLst>
          </p:cNvPr>
          <p:cNvSpPr/>
          <p:nvPr/>
        </p:nvSpPr>
        <p:spPr>
          <a:xfrm>
            <a:off x="6859744" y="1430942"/>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FAD1F14-8FC1-3D9E-0621-18AD4ECBE554}"/>
              </a:ext>
            </a:extLst>
          </p:cNvPr>
          <p:cNvSpPr/>
          <p:nvPr/>
        </p:nvSpPr>
        <p:spPr>
          <a:xfrm>
            <a:off x="6859744" y="1646239"/>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66640DD-4005-5CD0-8449-B94700983CCF}"/>
              </a:ext>
            </a:extLst>
          </p:cNvPr>
          <p:cNvSpPr/>
          <p:nvPr/>
        </p:nvSpPr>
        <p:spPr>
          <a:xfrm>
            <a:off x="6859744" y="2084341"/>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A857577-D21A-8C3D-2C89-8182F4BEA50F}"/>
              </a:ext>
            </a:extLst>
          </p:cNvPr>
          <p:cNvSpPr/>
          <p:nvPr/>
        </p:nvSpPr>
        <p:spPr>
          <a:xfrm>
            <a:off x="6859744" y="2299638"/>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23F2A32-2F7B-0653-88ED-AB865B3EADAB}"/>
              </a:ext>
            </a:extLst>
          </p:cNvPr>
          <p:cNvSpPr/>
          <p:nvPr/>
        </p:nvSpPr>
        <p:spPr>
          <a:xfrm>
            <a:off x="6641136" y="1219583"/>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A38E38C-1816-2F48-C4F6-303CE46707A5}"/>
              </a:ext>
            </a:extLst>
          </p:cNvPr>
          <p:cNvSpPr/>
          <p:nvPr/>
        </p:nvSpPr>
        <p:spPr>
          <a:xfrm>
            <a:off x="6641136" y="2529202"/>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2200EFE-8070-E240-CECA-7761597726C4}"/>
              </a:ext>
            </a:extLst>
          </p:cNvPr>
          <p:cNvSpPr/>
          <p:nvPr/>
        </p:nvSpPr>
        <p:spPr>
          <a:xfrm>
            <a:off x="6641136" y="1873090"/>
            <a:ext cx="180000" cy="180000"/>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0F7C7F3-B6C9-4CD3-E26E-13F577AA07DB}"/>
              </a:ext>
            </a:extLst>
          </p:cNvPr>
          <p:cNvSpPr/>
          <p:nvPr/>
        </p:nvSpPr>
        <p:spPr>
          <a:xfrm>
            <a:off x="6637678" y="1431647"/>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FAE604DE-9FCE-7065-FEDF-9D0AED010C04}"/>
              </a:ext>
            </a:extLst>
          </p:cNvPr>
          <p:cNvSpPr/>
          <p:nvPr/>
        </p:nvSpPr>
        <p:spPr>
          <a:xfrm>
            <a:off x="6637678" y="1646944"/>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69F70DD-62B5-D06E-F601-51F355BD4721}"/>
              </a:ext>
            </a:extLst>
          </p:cNvPr>
          <p:cNvSpPr/>
          <p:nvPr/>
        </p:nvSpPr>
        <p:spPr>
          <a:xfrm>
            <a:off x="6637678" y="2085046"/>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B704883-575D-2A19-F9F6-B1BE799C8594}"/>
              </a:ext>
            </a:extLst>
          </p:cNvPr>
          <p:cNvSpPr/>
          <p:nvPr/>
        </p:nvSpPr>
        <p:spPr>
          <a:xfrm>
            <a:off x="6637678" y="2300343"/>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FE28CA1-E178-2966-BD23-73D70141BF28}"/>
              </a:ext>
            </a:extLst>
          </p:cNvPr>
          <p:cNvSpPr/>
          <p:nvPr/>
        </p:nvSpPr>
        <p:spPr>
          <a:xfrm>
            <a:off x="7545143" y="1216020"/>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5DAF1B2A-114B-F969-2E2E-49D16E3EEE28}"/>
              </a:ext>
            </a:extLst>
          </p:cNvPr>
          <p:cNvSpPr/>
          <p:nvPr/>
        </p:nvSpPr>
        <p:spPr>
          <a:xfrm>
            <a:off x="7545143" y="2525639"/>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170CD91F-3B85-E3D2-176E-FE677A5670B3}"/>
              </a:ext>
            </a:extLst>
          </p:cNvPr>
          <p:cNvSpPr/>
          <p:nvPr/>
        </p:nvSpPr>
        <p:spPr>
          <a:xfrm>
            <a:off x="7545143" y="1869527"/>
            <a:ext cx="180000" cy="180000"/>
          </a:xfrm>
          <a:prstGeom prst="ellipse">
            <a:avLst/>
          </a:prstGeom>
          <a:solidFill>
            <a:srgbClr val="C0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06EB62E4-1C68-AD65-F3DE-17A02B2C28C6}"/>
              </a:ext>
            </a:extLst>
          </p:cNvPr>
          <p:cNvSpPr/>
          <p:nvPr/>
        </p:nvSpPr>
        <p:spPr>
          <a:xfrm>
            <a:off x="7541685" y="1428084"/>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CD26EB3-4BF7-654F-7B1F-D5C7B041A93D}"/>
              </a:ext>
            </a:extLst>
          </p:cNvPr>
          <p:cNvSpPr/>
          <p:nvPr/>
        </p:nvSpPr>
        <p:spPr>
          <a:xfrm>
            <a:off x="7541685" y="1643381"/>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D929D2D-AED2-0C7C-16E1-38E37846C222}"/>
              </a:ext>
            </a:extLst>
          </p:cNvPr>
          <p:cNvSpPr/>
          <p:nvPr/>
        </p:nvSpPr>
        <p:spPr>
          <a:xfrm>
            <a:off x="7541685" y="2081483"/>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ABF8308-F01B-5CBC-3815-2F6E40118EEC}"/>
              </a:ext>
            </a:extLst>
          </p:cNvPr>
          <p:cNvSpPr/>
          <p:nvPr/>
        </p:nvSpPr>
        <p:spPr>
          <a:xfrm>
            <a:off x="7541685" y="2296780"/>
            <a:ext cx="180000" cy="180000"/>
          </a:xfrm>
          <a:prstGeom prst="ellipse">
            <a:avLst/>
          </a:prstGeom>
          <a:solidFill>
            <a:srgbClr val="6292F7"/>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ight Arrow 76">
            <a:extLst>
              <a:ext uri="{FF2B5EF4-FFF2-40B4-BE49-F238E27FC236}">
                <a16:creationId xmlns:a16="http://schemas.microsoft.com/office/drawing/2014/main" id="{6ABA89DE-0BB3-8C70-0AC4-26288B9803F9}"/>
              </a:ext>
            </a:extLst>
          </p:cNvPr>
          <p:cNvSpPr/>
          <p:nvPr/>
        </p:nvSpPr>
        <p:spPr>
          <a:xfrm>
            <a:off x="3421271" y="1470602"/>
            <a:ext cx="2692509" cy="610881"/>
          </a:xfrm>
          <a:prstGeom prst="rightArrow">
            <a:avLst>
              <a:gd name="adj1" fmla="val 38078"/>
              <a:gd name="adj2" fmla="val 6987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E2B829F7-9F43-448A-D823-650CD828E89A}"/>
              </a:ext>
            </a:extLst>
          </p:cNvPr>
          <p:cNvSpPr txBox="1"/>
          <p:nvPr/>
        </p:nvSpPr>
        <p:spPr>
          <a:xfrm>
            <a:off x="3342021" y="2019800"/>
            <a:ext cx="2690610" cy="369332"/>
          </a:xfrm>
          <a:prstGeom prst="rect">
            <a:avLst/>
          </a:prstGeom>
          <a:noFill/>
        </p:spPr>
        <p:txBody>
          <a:bodyPr wrap="square" rtlCol="0">
            <a:spAutoFit/>
          </a:bodyPr>
          <a:lstStyle/>
          <a:p>
            <a:pPr algn="ctr"/>
            <a:r>
              <a:rPr lang="en-US" dirty="0">
                <a:latin typeface="+mj-lt"/>
              </a:rPr>
              <a:t>Technology node scaling</a:t>
            </a:r>
          </a:p>
        </p:txBody>
      </p:sp>
      <p:sp>
        <p:nvSpPr>
          <p:cNvPr id="79" name="Lightning Bolt 78">
            <a:extLst>
              <a:ext uri="{FF2B5EF4-FFF2-40B4-BE49-F238E27FC236}">
                <a16:creationId xmlns:a16="http://schemas.microsoft.com/office/drawing/2014/main" id="{CE042B6C-F4B7-D423-C677-F706BD9D0CED}"/>
              </a:ext>
            </a:extLst>
          </p:cNvPr>
          <p:cNvSpPr/>
          <p:nvPr/>
        </p:nvSpPr>
        <p:spPr>
          <a:xfrm>
            <a:off x="975723" y="942912"/>
            <a:ext cx="522514" cy="449634"/>
          </a:xfrm>
          <a:prstGeom prst="lightningBolt">
            <a:avLst/>
          </a:prstGeom>
          <a:solidFill>
            <a:schemeClr val="accent4"/>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Lightning Bolt 80">
            <a:extLst>
              <a:ext uri="{FF2B5EF4-FFF2-40B4-BE49-F238E27FC236}">
                <a16:creationId xmlns:a16="http://schemas.microsoft.com/office/drawing/2014/main" id="{F9FC8ECC-5DED-2D23-269A-DBB7024AC956}"/>
              </a:ext>
            </a:extLst>
          </p:cNvPr>
          <p:cNvSpPr/>
          <p:nvPr/>
        </p:nvSpPr>
        <p:spPr>
          <a:xfrm>
            <a:off x="2269251" y="2264341"/>
            <a:ext cx="522514" cy="449634"/>
          </a:xfrm>
          <a:prstGeom prst="lightningBolt">
            <a:avLst/>
          </a:prstGeom>
          <a:solidFill>
            <a:schemeClr val="accent4"/>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Lightning Bolt 81">
            <a:extLst>
              <a:ext uri="{FF2B5EF4-FFF2-40B4-BE49-F238E27FC236}">
                <a16:creationId xmlns:a16="http://schemas.microsoft.com/office/drawing/2014/main" id="{454F998A-77E0-297A-795D-AEC85212E5F9}"/>
              </a:ext>
            </a:extLst>
          </p:cNvPr>
          <p:cNvSpPr/>
          <p:nvPr/>
        </p:nvSpPr>
        <p:spPr>
          <a:xfrm>
            <a:off x="6613638" y="1603155"/>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Lightning Bolt 83">
            <a:extLst>
              <a:ext uri="{FF2B5EF4-FFF2-40B4-BE49-F238E27FC236}">
                <a16:creationId xmlns:a16="http://schemas.microsoft.com/office/drawing/2014/main" id="{E32075D9-345C-FE60-C2AD-E1A1FB52771B}"/>
              </a:ext>
            </a:extLst>
          </p:cNvPr>
          <p:cNvSpPr/>
          <p:nvPr/>
        </p:nvSpPr>
        <p:spPr>
          <a:xfrm>
            <a:off x="6834252" y="2064877"/>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Lightning Bolt 84">
            <a:extLst>
              <a:ext uri="{FF2B5EF4-FFF2-40B4-BE49-F238E27FC236}">
                <a16:creationId xmlns:a16="http://schemas.microsoft.com/office/drawing/2014/main" id="{4596B635-1B91-EBCD-7011-C0A69AEEE185}"/>
              </a:ext>
            </a:extLst>
          </p:cNvPr>
          <p:cNvSpPr/>
          <p:nvPr/>
        </p:nvSpPr>
        <p:spPr>
          <a:xfrm>
            <a:off x="7059776" y="2058653"/>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Lightning Bolt 85">
            <a:extLst>
              <a:ext uri="{FF2B5EF4-FFF2-40B4-BE49-F238E27FC236}">
                <a16:creationId xmlns:a16="http://schemas.microsoft.com/office/drawing/2014/main" id="{79A9432D-1532-62A4-3F5A-9D71F33B9C50}"/>
              </a:ext>
            </a:extLst>
          </p:cNvPr>
          <p:cNvSpPr/>
          <p:nvPr/>
        </p:nvSpPr>
        <p:spPr>
          <a:xfrm>
            <a:off x="7286500" y="1603440"/>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Lightning Bolt 86">
            <a:extLst>
              <a:ext uri="{FF2B5EF4-FFF2-40B4-BE49-F238E27FC236}">
                <a16:creationId xmlns:a16="http://schemas.microsoft.com/office/drawing/2014/main" id="{8D51E862-6C3D-BBF9-F2DE-664BE7C98BD2}"/>
              </a:ext>
            </a:extLst>
          </p:cNvPr>
          <p:cNvSpPr/>
          <p:nvPr/>
        </p:nvSpPr>
        <p:spPr>
          <a:xfrm>
            <a:off x="6613638" y="2280945"/>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Lightning Bolt 87">
            <a:extLst>
              <a:ext uri="{FF2B5EF4-FFF2-40B4-BE49-F238E27FC236}">
                <a16:creationId xmlns:a16="http://schemas.microsoft.com/office/drawing/2014/main" id="{7055D68A-DDDA-F2C3-EA7E-7951E437A83A}"/>
              </a:ext>
            </a:extLst>
          </p:cNvPr>
          <p:cNvSpPr/>
          <p:nvPr/>
        </p:nvSpPr>
        <p:spPr>
          <a:xfrm>
            <a:off x="7057196" y="2264254"/>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Lightning Bolt 88">
            <a:extLst>
              <a:ext uri="{FF2B5EF4-FFF2-40B4-BE49-F238E27FC236}">
                <a16:creationId xmlns:a16="http://schemas.microsoft.com/office/drawing/2014/main" id="{C2EE4269-C362-2DCF-D453-11078C010018}"/>
              </a:ext>
            </a:extLst>
          </p:cNvPr>
          <p:cNvSpPr/>
          <p:nvPr/>
        </p:nvSpPr>
        <p:spPr>
          <a:xfrm>
            <a:off x="7495753" y="2065769"/>
            <a:ext cx="216000" cy="216000"/>
          </a:xfrm>
          <a:prstGeom prst="lightningBolt">
            <a:avLst/>
          </a:prstGeom>
          <a:solidFill>
            <a:schemeClr val="accent4"/>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a:extLst>
              <a:ext uri="{FF2B5EF4-FFF2-40B4-BE49-F238E27FC236}">
                <a16:creationId xmlns:a16="http://schemas.microsoft.com/office/drawing/2014/main" id="{7E7018A6-A5F7-F297-5D3E-EC8446BAC752}"/>
              </a:ext>
            </a:extLst>
          </p:cNvPr>
          <p:cNvGraphicFramePr>
            <a:graphicFrameLocks/>
          </p:cNvGraphicFramePr>
          <p:nvPr/>
        </p:nvGraphicFramePr>
        <p:xfrm>
          <a:off x="273896" y="2674289"/>
          <a:ext cx="8870104" cy="259340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6A9388FA-0B6D-1C65-0A23-8866B6DE024F}"/>
              </a:ext>
            </a:extLst>
          </p:cNvPr>
          <p:cNvSpPr txBox="1"/>
          <p:nvPr/>
        </p:nvSpPr>
        <p:spPr>
          <a:xfrm>
            <a:off x="152400" y="4184969"/>
            <a:ext cx="1695592" cy="369332"/>
          </a:xfrm>
          <a:prstGeom prst="rect">
            <a:avLst/>
          </a:prstGeom>
          <a:noFill/>
        </p:spPr>
        <p:txBody>
          <a:bodyPr wrap="none" rtlCol="0">
            <a:spAutoFit/>
          </a:bodyPr>
          <a:lstStyle/>
          <a:p>
            <a:r>
              <a:rPr lang="en-US" dirty="0">
                <a:latin typeface="+mj-lt"/>
              </a:rPr>
              <a:t>[Luo+, ISCA’23]</a:t>
            </a:r>
          </a:p>
        </p:txBody>
      </p:sp>
      <p:sp>
        <p:nvSpPr>
          <p:cNvPr id="9" name="TextBox 8">
            <a:extLst>
              <a:ext uri="{FF2B5EF4-FFF2-40B4-BE49-F238E27FC236}">
                <a16:creationId xmlns:a16="http://schemas.microsoft.com/office/drawing/2014/main" id="{F0BEC62F-E8DB-D97D-4099-9939E1DD205C}"/>
              </a:ext>
            </a:extLst>
          </p:cNvPr>
          <p:cNvSpPr txBox="1"/>
          <p:nvPr/>
        </p:nvSpPr>
        <p:spPr>
          <a:xfrm>
            <a:off x="152400" y="3633074"/>
            <a:ext cx="1646861" cy="369332"/>
          </a:xfrm>
          <a:prstGeom prst="rect">
            <a:avLst/>
          </a:prstGeom>
          <a:noFill/>
        </p:spPr>
        <p:txBody>
          <a:bodyPr wrap="none" rtlCol="0">
            <a:spAutoFit/>
          </a:bodyPr>
          <a:lstStyle/>
          <a:p>
            <a:r>
              <a:rPr lang="en-US" dirty="0">
                <a:latin typeface="+mj-lt"/>
              </a:rPr>
              <a:t>[Kim+, ISCA’20]</a:t>
            </a:r>
          </a:p>
        </p:txBody>
      </p:sp>
      <p:sp>
        <p:nvSpPr>
          <p:cNvPr id="11" name="TextBox 10">
            <a:extLst>
              <a:ext uri="{FF2B5EF4-FFF2-40B4-BE49-F238E27FC236}">
                <a16:creationId xmlns:a16="http://schemas.microsoft.com/office/drawing/2014/main" id="{EAF2DF7C-C543-4A45-F110-D38E9AEB6135}"/>
              </a:ext>
            </a:extLst>
          </p:cNvPr>
          <p:cNvSpPr txBox="1"/>
          <p:nvPr/>
        </p:nvSpPr>
        <p:spPr>
          <a:xfrm>
            <a:off x="152400" y="3102243"/>
            <a:ext cx="1646861" cy="369332"/>
          </a:xfrm>
          <a:prstGeom prst="rect">
            <a:avLst/>
          </a:prstGeom>
          <a:noFill/>
        </p:spPr>
        <p:txBody>
          <a:bodyPr wrap="none" rtlCol="0">
            <a:spAutoFit/>
          </a:bodyPr>
          <a:lstStyle/>
          <a:p>
            <a:r>
              <a:rPr lang="en-US" dirty="0">
                <a:latin typeface="+mj-lt"/>
              </a:rPr>
              <a:t>[Kim+, ISCA’14]</a:t>
            </a:r>
          </a:p>
        </p:txBody>
      </p:sp>
      <p:sp>
        <p:nvSpPr>
          <p:cNvPr id="13" name="Alt Bilgi Yer Tutucusu 3">
            <a:extLst>
              <a:ext uri="{FF2B5EF4-FFF2-40B4-BE49-F238E27FC236}">
                <a16:creationId xmlns:a16="http://schemas.microsoft.com/office/drawing/2014/main" id="{0A524F6E-DDCA-9608-1487-EFD87F9A38F7}"/>
              </a:ext>
            </a:extLst>
          </p:cNvPr>
          <p:cNvSpPr>
            <a:spLocks noGrp="1"/>
          </p:cNvSpPr>
          <p:nvPr>
            <p:ph type="ftr" sz="quarter" idx="11"/>
          </p:nvPr>
        </p:nvSpPr>
        <p:spPr>
          <a:xfrm>
            <a:off x="1671145" y="6517178"/>
            <a:ext cx="6558455" cy="204298"/>
          </a:xfrm>
        </p:spPr>
        <p:txBody>
          <a:bodyPr/>
          <a:lstStyle/>
          <a:p>
            <a:r>
              <a:rPr lang="en-US" b="1" dirty="0">
                <a:solidFill>
                  <a:prstClr val="black"/>
                </a:solidFill>
                <a:ea typeface="ＭＳ Ｐゴシック" charset="0"/>
                <a:cs typeface="ＭＳ Ｐゴシック" charset="0"/>
              </a:rPr>
              <a:t>[</a:t>
            </a:r>
            <a:r>
              <a:rPr lang="tr-TR" b="1" dirty="0">
                <a:solidFill>
                  <a:prstClr val="black"/>
                </a:solidFill>
                <a:ea typeface="ＭＳ Ｐゴシック" charset="0"/>
                <a:cs typeface="ＭＳ Ｐゴシック" charset="0"/>
              </a:rPr>
              <a:t>Yağlıkçı</a:t>
            </a:r>
            <a:r>
              <a:rPr lang="en-US" b="1" dirty="0">
                <a:solidFill>
                  <a:prstClr val="black"/>
                </a:solidFill>
                <a:ea typeface="ＭＳ Ｐゴシック" charset="0"/>
                <a:cs typeface="ＭＳ Ｐゴシック" charset="0"/>
              </a:rPr>
              <a:t>, PhD Defense]</a:t>
            </a:r>
            <a:endParaRPr kumimoji="0" lang="en-US" sz="1200" b="1" i="0" u="none" strike="noStrike" kern="1200" cap="none" spc="0" normalizeH="0" baseline="0" noProof="0" dirty="0">
              <a:ln>
                <a:noFill/>
              </a:ln>
              <a:solidFill>
                <a:prstClr val="black"/>
              </a:solidFill>
              <a:effectLst/>
              <a:uLnTx/>
              <a:uFillTx/>
              <a:ea typeface="ＭＳ Ｐゴシック" charset="0"/>
              <a:cs typeface="ＭＳ Ｐゴシック" charset="0"/>
            </a:endParaRPr>
          </a:p>
        </p:txBody>
      </p:sp>
    </p:spTree>
    <p:extLst>
      <p:ext uri="{BB962C8B-B14F-4D97-AF65-F5344CB8AC3E}">
        <p14:creationId xmlns:p14="http://schemas.microsoft.com/office/powerpoint/2010/main" val="365643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3" grpId="0">
        <p:bldAsOne/>
      </p:bldGraphic>
      <p:bldP spid="8" grpId="0"/>
      <p:bldP spid="9" grpId="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44050-8684-72F5-EB75-9073656E6DC3}"/>
              </a:ext>
            </a:extLst>
          </p:cNvPr>
          <p:cNvSpPr>
            <a:spLocks noGrp="1"/>
          </p:cNvSpPr>
          <p:nvPr>
            <p:ph type="title"/>
          </p:nvPr>
        </p:nvSpPr>
        <p:spPr/>
        <p:txBody>
          <a:bodyPr/>
          <a:lstStyle/>
          <a:p>
            <a:r>
              <a:rPr lang="en-US" dirty="0"/>
              <a:t>Latest Industry Defenses for </a:t>
            </a:r>
            <a:r>
              <a:rPr lang="en-US" dirty="0" err="1"/>
              <a:t>RowHammer</a:t>
            </a:r>
            <a:endParaRPr lang="en-US" dirty="0"/>
          </a:p>
        </p:txBody>
      </p:sp>
      <p:sp>
        <p:nvSpPr>
          <p:cNvPr id="4" name="Footer Placeholder 3">
            <a:extLst>
              <a:ext uri="{FF2B5EF4-FFF2-40B4-BE49-F238E27FC236}">
                <a16:creationId xmlns:a16="http://schemas.microsoft.com/office/drawing/2014/main" id="{AB54B6D2-374E-5068-780B-D89E29C36523}"/>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78FF1C5B-1262-BF4F-1B61-FADA8935E981}"/>
              </a:ext>
            </a:extLst>
          </p:cNvPr>
          <p:cNvSpPr>
            <a:spLocks noGrp="1"/>
          </p:cNvSpPr>
          <p:nvPr>
            <p:ph type="sldNum" sz="quarter" idx="12"/>
          </p:nvPr>
        </p:nvSpPr>
        <p:spPr/>
        <p:txBody>
          <a:bodyPr/>
          <a:lstStyle/>
          <a:p>
            <a:fld id="{CBE5B309-C2CE-4D90-B104-F7E98438FC65}" type="slidenum">
              <a:rPr lang="tr-TR" smtClean="0"/>
              <a:pPr/>
              <a:t>50</a:t>
            </a:fld>
            <a:endParaRPr lang="tr-TR" dirty="0"/>
          </a:p>
        </p:txBody>
      </p:sp>
      <p:grpSp>
        <p:nvGrpSpPr>
          <p:cNvPr id="9" name="Group 8">
            <a:extLst>
              <a:ext uri="{FF2B5EF4-FFF2-40B4-BE49-F238E27FC236}">
                <a16:creationId xmlns:a16="http://schemas.microsoft.com/office/drawing/2014/main" id="{E5FCBE64-7920-E146-DF69-037A555C376C}"/>
              </a:ext>
            </a:extLst>
          </p:cNvPr>
          <p:cNvGrpSpPr/>
          <p:nvPr/>
        </p:nvGrpSpPr>
        <p:grpSpPr>
          <a:xfrm>
            <a:off x="4641419" y="2479818"/>
            <a:ext cx="3844728" cy="3300542"/>
            <a:chOff x="4641419" y="2176281"/>
            <a:chExt cx="3844728" cy="3300542"/>
          </a:xfrm>
        </p:grpSpPr>
        <p:pic>
          <p:nvPicPr>
            <p:cNvPr id="8" name="Picture 7">
              <a:extLst>
                <a:ext uri="{FF2B5EF4-FFF2-40B4-BE49-F238E27FC236}">
                  <a16:creationId xmlns:a16="http://schemas.microsoft.com/office/drawing/2014/main" id="{C9DED7FF-D497-AE0E-43B9-DDA4007A5B44}"/>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4726" t="21295" r="5001" b="22250"/>
            <a:stretch/>
          </p:blipFill>
          <p:spPr>
            <a:xfrm rot="10800000">
              <a:off x="5307743" y="2176282"/>
              <a:ext cx="2402959" cy="1103474"/>
            </a:xfrm>
            <a:prstGeom prst="rect">
              <a:avLst/>
            </a:prstGeom>
          </p:spPr>
        </p:pic>
        <p:grpSp>
          <p:nvGrpSpPr>
            <p:cNvPr id="14" name="Content Placeholder 7" descr="Repeat outline">
              <a:extLst>
                <a:ext uri="{FF2B5EF4-FFF2-40B4-BE49-F238E27FC236}">
                  <a16:creationId xmlns:a16="http://schemas.microsoft.com/office/drawing/2014/main" id="{62902CB5-8257-55D2-E769-90EBC3E85099}"/>
                </a:ext>
              </a:extLst>
            </p:cNvPr>
            <p:cNvGrpSpPr/>
            <p:nvPr/>
          </p:nvGrpSpPr>
          <p:grpSpPr>
            <a:xfrm>
              <a:off x="5817814" y="2176281"/>
              <a:ext cx="1382813" cy="1003673"/>
              <a:chOff x="5727539" y="1929935"/>
              <a:chExt cx="1382813" cy="1003673"/>
            </a:xfrm>
            <a:solidFill>
              <a:srgbClr val="FF0000"/>
            </a:solidFill>
          </p:grpSpPr>
          <p:sp>
            <p:nvSpPr>
              <p:cNvPr id="15" name="Freeform: Shape 14">
                <a:extLst>
                  <a:ext uri="{FF2B5EF4-FFF2-40B4-BE49-F238E27FC236}">
                    <a16:creationId xmlns:a16="http://schemas.microsoft.com/office/drawing/2014/main" id="{EA89649C-26E5-562C-3357-BBEC4DD6A499}"/>
                  </a:ext>
                </a:extLst>
              </p:cNvPr>
              <p:cNvSpPr/>
              <p:nvPr/>
            </p:nvSpPr>
            <p:spPr>
              <a:xfrm>
                <a:off x="5727539" y="1929935"/>
                <a:ext cx="1145657" cy="644708"/>
              </a:xfrm>
              <a:custGeom>
                <a:avLst/>
                <a:gdLst>
                  <a:gd name="connsiteX0" fmla="*/ 443938 w 1145657"/>
                  <a:gd name="connsiteY0" fmla="*/ 422740 h 644708"/>
                  <a:gd name="connsiteX1" fmla="*/ 422462 w 1145657"/>
                  <a:gd name="connsiteY1" fmla="*/ 401249 h 644708"/>
                  <a:gd name="connsiteX2" fmla="*/ 229912 w 1145657"/>
                  <a:gd name="connsiteY2" fmla="*/ 593814 h 644708"/>
                  <a:gd name="connsiteX3" fmla="*/ 229698 w 1145657"/>
                  <a:gd name="connsiteY3" fmla="*/ 593814 h 644708"/>
                  <a:gd name="connsiteX4" fmla="*/ 229654 w 1145657"/>
                  <a:gd name="connsiteY4" fmla="*/ 593723 h 644708"/>
                  <a:gd name="connsiteX5" fmla="*/ 599535 w 1145657"/>
                  <a:gd name="connsiteY5" fmla="*/ 40071 h 644708"/>
                  <a:gd name="connsiteX6" fmla="*/ 1118137 w 1145657"/>
                  <a:gd name="connsiteY6" fmla="*/ 302878 h 644708"/>
                  <a:gd name="connsiteX7" fmla="*/ 1145658 w 1145657"/>
                  <a:gd name="connsiteY7" fmla="*/ 290014 h 644708"/>
                  <a:gd name="connsiteX8" fmla="*/ 480054 w 1145657"/>
                  <a:gd name="connsiteY8" fmla="*/ 46800 h 644708"/>
                  <a:gd name="connsiteX9" fmla="*/ 195633 w 1145657"/>
                  <a:gd name="connsiteY9" fmla="*/ 575073 h 644708"/>
                  <a:gd name="connsiteX10" fmla="*/ 195553 w 1145657"/>
                  <a:gd name="connsiteY10" fmla="*/ 575249 h 644708"/>
                  <a:gd name="connsiteX11" fmla="*/ 195390 w 1145657"/>
                  <a:gd name="connsiteY11" fmla="*/ 575194 h 644708"/>
                  <a:gd name="connsiteX12" fmla="*/ 21475 w 1145657"/>
                  <a:gd name="connsiteY12" fmla="*/ 401249 h 644708"/>
                  <a:gd name="connsiteX13" fmla="*/ 0 w 1145657"/>
                  <a:gd name="connsiteY13" fmla="*/ 422740 h 644708"/>
                  <a:gd name="connsiteX14" fmla="*/ 221969 w 1145657"/>
                  <a:gd name="connsiteY14" fmla="*/ 644709 h 64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7" h="644708">
                    <a:moveTo>
                      <a:pt x="443938" y="422740"/>
                    </a:moveTo>
                    <a:lnTo>
                      <a:pt x="422462" y="401249"/>
                    </a:lnTo>
                    <a:lnTo>
                      <a:pt x="229912" y="593814"/>
                    </a:lnTo>
                    <a:cubicBezTo>
                      <a:pt x="229853" y="593874"/>
                      <a:pt x="229757" y="593874"/>
                      <a:pt x="229698" y="593814"/>
                    </a:cubicBezTo>
                    <a:cubicBezTo>
                      <a:pt x="229674" y="593790"/>
                      <a:pt x="229657" y="593758"/>
                      <a:pt x="229654" y="593723"/>
                    </a:cubicBezTo>
                    <a:cubicBezTo>
                      <a:pt x="178907" y="338697"/>
                      <a:pt x="344508" y="90817"/>
                      <a:pt x="599535" y="40071"/>
                    </a:cubicBezTo>
                    <a:cubicBezTo>
                      <a:pt x="812305" y="-2268"/>
                      <a:pt x="1026463" y="106257"/>
                      <a:pt x="1118137" y="302878"/>
                    </a:cubicBezTo>
                    <a:lnTo>
                      <a:pt x="1145658" y="290014"/>
                    </a:lnTo>
                    <a:cubicBezTo>
                      <a:pt x="1029017" y="39051"/>
                      <a:pt x="731017" y="-69839"/>
                      <a:pt x="480054" y="46800"/>
                    </a:cubicBezTo>
                    <a:cubicBezTo>
                      <a:pt x="278654" y="140405"/>
                      <a:pt x="162896" y="355411"/>
                      <a:pt x="195633" y="575073"/>
                    </a:cubicBezTo>
                    <a:cubicBezTo>
                      <a:pt x="195659" y="575144"/>
                      <a:pt x="195623" y="575222"/>
                      <a:pt x="195553" y="575249"/>
                    </a:cubicBezTo>
                    <a:cubicBezTo>
                      <a:pt x="195492" y="575270"/>
                      <a:pt x="195425" y="575247"/>
                      <a:pt x="195390" y="575194"/>
                    </a:cubicBezTo>
                    <a:lnTo>
                      <a:pt x="21475" y="401249"/>
                    </a:lnTo>
                    <a:lnTo>
                      <a:pt x="0" y="422740"/>
                    </a:lnTo>
                    <a:lnTo>
                      <a:pt x="221969" y="644709"/>
                    </a:lnTo>
                    <a:close/>
                  </a:path>
                </a:pathLst>
              </a:custGeom>
              <a:grpFill/>
              <a:ln w="60722" cap="flat">
                <a:solidFill>
                  <a:srgbClr val="FF5F25"/>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51AE942-5C05-3A76-EB5F-8E085B106006}"/>
                  </a:ext>
                </a:extLst>
              </p:cNvPr>
              <p:cNvSpPr/>
              <p:nvPr/>
            </p:nvSpPr>
            <p:spPr>
              <a:xfrm>
                <a:off x="5976101" y="2320446"/>
                <a:ext cx="1134251" cy="613162"/>
              </a:xfrm>
              <a:custGeom>
                <a:avLst/>
                <a:gdLst>
                  <a:gd name="connsiteX0" fmla="*/ 690283 w 1134251"/>
                  <a:gd name="connsiteY0" fmla="*/ 221984 h 613162"/>
                  <a:gd name="connsiteX1" fmla="*/ 711759 w 1134251"/>
                  <a:gd name="connsiteY1" fmla="*/ 243460 h 613162"/>
                  <a:gd name="connsiteX2" fmla="*/ 908592 w 1134251"/>
                  <a:gd name="connsiteY2" fmla="*/ 46626 h 613162"/>
                  <a:gd name="connsiteX3" fmla="*/ 908806 w 1134251"/>
                  <a:gd name="connsiteY3" fmla="*/ 46626 h 613162"/>
                  <a:gd name="connsiteX4" fmla="*/ 908850 w 1134251"/>
                  <a:gd name="connsiteY4" fmla="*/ 46718 h 613162"/>
                  <a:gd name="connsiteX5" fmla="*/ 511759 w 1134251"/>
                  <a:gd name="connsiteY5" fmla="*/ 577681 h 613162"/>
                  <a:gd name="connsiteX6" fmla="*/ 442829 w 1134251"/>
                  <a:gd name="connsiteY6" fmla="*/ 582481 h 613162"/>
                  <a:gd name="connsiteX7" fmla="*/ 26822 w 1134251"/>
                  <a:gd name="connsiteY7" fmla="*/ 332354 h 613162"/>
                  <a:gd name="connsiteX8" fmla="*/ 0 w 1134251"/>
                  <a:gd name="connsiteY8" fmla="*/ 346600 h 613162"/>
                  <a:gd name="connsiteX9" fmla="*/ 677562 w 1134251"/>
                  <a:gd name="connsiteY9" fmla="*/ 554696 h 613162"/>
                  <a:gd name="connsiteX10" fmla="*/ 944025 w 1134251"/>
                  <a:gd name="connsiteY10" fmla="*/ 111660 h 613162"/>
                  <a:gd name="connsiteX11" fmla="*/ 942506 w 1134251"/>
                  <a:gd name="connsiteY11" fmla="*/ 73539 h 613162"/>
                  <a:gd name="connsiteX12" fmla="*/ 942658 w 1134251"/>
                  <a:gd name="connsiteY12" fmla="*/ 73387 h 613162"/>
                  <a:gd name="connsiteX13" fmla="*/ 942749 w 1134251"/>
                  <a:gd name="connsiteY13" fmla="*/ 73418 h 613162"/>
                  <a:gd name="connsiteX14" fmla="*/ 1112776 w 1134251"/>
                  <a:gd name="connsiteY14" fmla="*/ 243520 h 613162"/>
                  <a:gd name="connsiteX15" fmla="*/ 1134252 w 1134251"/>
                  <a:gd name="connsiteY15" fmla="*/ 222045 h 613162"/>
                  <a:gd name="connsiteX16" fmla="*/ 912252 w 1134251"/>
                  <a:gd name="connsiteY16" fmla="*/ 0 h 6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251" h="613162">
                    <a:moveTo>
                      <a:pt x="690283" y="221984"/>
                    </a:moveTo>
                    <a:lnTo>
                      <a:pt x="711759" y="243460"/>
                    </a:lnTo>
                    <a:lnTo>
                      <a:pt x="908592" y="46626"/>
                    </a:lnTo>
                    <a:cubicBezTo>
                      <a:pt x="908651" y="46567"/>
                      <a:pt x="908747" y="46567"/>
                      <a:pt x="908806" y="46626"/>
                    </a:cubicBezTo>
                    <a:cubicBezTo>
                      <a:pt x="908830" y="46651"/>
                      <a:pt x="908847" y="46683"/>
                      <a:pt x="908850" y="46718"/>
                    </a:cubicBezTo>
                    <a:cubicBezTo>
                      <a:pt x="945819" y="302993"/>
                      <a:pt x="768034" y="540714"/>
                      <a:pt x="511759" y="577681"/>
                    </a:cubicBezTo>
                    <a:cubicBezTo>
                      <a:pt x="488932" y="580974"/>
                      <a:pt x="465893" y="582579"/>
                      <a:pt x="442829" y="582481"/>
                    </a:cubicBezTo>
                    <a:cubicBezTo>
                      <a:pt x="268522" y="582642"/>
                      <a:pt x="108422" y="486382"/>
                      <a:pt x="26822" y="332354"/>
                    </a:cubicBezTo>
                    <a:lnTo>
                      <a:pt x="0" y="346600"/>
                    </a:lnTo>
                    <a:cubicBezTo>
                      <a:pt x="129640" y="591168"/>
                      <a:pt x="432994" y="684336"/>
                      <a:pt x="677562" y="554696"/>
                    </a:cubicBezTo>
                    <a:cubicBezTo>
                      <a:pt x="841573" y="467758"/>
                      <a:pt x="944101" y="297290"/>
                      <a:pt x="944025" y="111660"/>
                    </a:cubicBezTo>
                    <a:cubicBezTo>
                      <a:pt x="944025" y="98948"/>
                      <a:pt x="943433" y="86221"/>
                      <a:pt x="942506" y="73539"/>
                    </a:cubicBezTo>
                    <a:cubicBezTo>
                      <a:pt x="942506" y="73456"/>
                      <a:pt x="942575" y="73387"/>
                      <a:pt x="942658" y="73387"/>
                    </a:cubicBezTo>
                    <a:cubicBezTo>
                      <a:pt x="942692" y="73387"/>
                      <a:pt x="942723" y="73398"/>
                      <a:pt x="942749" y="73418"/>
                    </a:cubicBezTo>
                    <a:lnTo>
                      <a:pt x="1112776" y="243520"/>
                    </a:lnTo>
                    <a:lnTo>
                      <a:pt x="1134252" y="222045"/>
                    </a:lnTo>
                    <a:lnTo>
                      <a:pt x="912252" y="0"/>
                    </a:lnTo>
                    <a:close/>
                  </a:path>
                </a:pathLst>
              </a:custGeom>
              <a:grpFill/>
              <a:ln w="60722" cap="flat">
                <a:solidFill>
                  <a:srgbClr val="FF5F25"/>
                </a:solidFill>
                <a:prstDash val="solid"/>
                <a:miter/>
              </a:ln>
            </p:spPr>
            <p:txBody>
              <a:bodyPr rtlCol="0" anchor="ctr"/>
              <a:lstStyle/>
              <a:p>
                <a:endParaRPr lang="en-US" dirty="0"/>
              </a:p>
            </p:txBody>
          </p:sp>
        </p:grpSp>
        <p:sp>
          <p:nvSpPr>
            <p:cNvPr id="11" name="TextBox 10">
              <a:extLst>
                <a:ext uri="{FF2B5EF4-FFF2-40B4-BE49-F238E27FC236}">
                  <a16:creationId xmlns:a16="http://schemas.microsoft.com/office/drawing/2014/main" id="{BCC7929C-B5A5-663F-C736-D6E3C4C0B106}"/>
                </a:ext>
              </a:extLst>
            </p:cNvPr>
            <p:cNvSpPr txBox="1"/>
            <p:nvPr/>
          </p:nvSpPr>
          <p:spPr>
            <a:xfrm>
              <a:off x="4641419" y="3537831"/>
              <a:ext cx="3844728" cy="1938992"/>
            </a:xfrm>
            <a:prstGeom prst="rect">
              <a:avLst/>
            </a:prstGeom>
            <a:noFill/>
          </p:spPr>
          <p:txBody>
            <a:bodyPr wrap="square" rtlCol="0">
              <a:spAutoFit/>
            </a:bodyPr>
            <a:lstStyle/>
            <a:p>
              <a:pPr algn="ctr"/>
              <a:r>
                <a:rPr lang="en-US" sz="2000" dirty="0"/>
                <a:t>A command to </a:t>
              </a:r>
              <a:br>
                <a:rPr lang="en-US" sz="2000" dirty="0">
                  <a:solidFill>
                    <a:srgbClr val="FF5F25"/>
                  </a:solidFill>
                </a:rPr>
              </a:br>
              <a:r>
                <a:rPr lang="en-US" sz="2000" dirty="0">
                  <a:solidFill>
                    <a:srgbClr val="FF5F25"/>
                  </a:solidFill>
                </a:rPr>
                <a:t>provide</a:t>
              </a:r>
              <a:r>
                <a:rPr lang="en-US" sz="2000" dirty="0"/>
                <a:t> </a:t>
              </a:r>
              <a:r>
                <a:rPr lang="en-US" sz="2000" dirty="0">
                  <a:solidFill>
                    <a:srgbClr val="FF5F25"/>
                  </a:solidFill>
                </a:rPr>
                <a:t>DRAM with the time</a:t>
              </a:r>
              <a:r>
                <a:rPr lang="en-US" sz="2000" dirty="0"/>
                <a:t> </a:t>
              </a:r>
              <a:br>
                <a:rPr lang="en-US" sz="2000" dirty="0"/>
              </a:br>
              <a:r>
                <a:rPr lang="en-US" sz="2000" dirty="0"/>
                <a:t>for </a:t>
              </a:r>
              <a:r>
                <a:rPr lang="en-US" sz="2000" dirty="0">
                  <a:solidFill>
                    <a:srgbClr val="FF5F25"/>
                  </a:solidFill>
                </a:rPr>
                <a:t>performing preventive actions</a:t>
              </a:r>
            </a:p>
            <a:p>
              <a:pPr algn="ctr"/>
              <a:endParaRPr lang="en-US" sz="2000" dirty="0"/>
            </a:p>
            <a:p>
              <a:pPr algn="ctr"/>
              <a:r>
                <a:rPr lang="en-US" sz="2000" b="1" dirty="0">
                  <a:solidFill>
                    <a:srgbClr val="FF5F25"/>
                  </a:solidFill>
                </a:rPr>
                <a:t>Refresh Management (RFM)</a:t>
              </a:r>
              <a:endParaRPr lang="en-US" sz="2000" dirty="0">
                <a:solidFill>
                  <a:srgbClr val="FF5F25"/>
                </a:solidFill>
              </a:endParaRPr>
            </a:p>
            <a:p>
              <a:pPr algn="ctr"/>
              <a:r>
                <a:rPr lang="en-US" sz="2000" i="1" dirty="0"/>
                <a:t>before 2024</a:t>
              </a:r>
            </a:p>
          </p:txBody>
        </p:sp>
      </p:grpSp>
      <p:sp>
        <p:nvSpPr>
          <p:cNvPr id="12" name="TextBox 11">
            <a:extLst>
              <a:ext uri="{FF2B5EF4-FFF2-40B4-BE49-F238E27FC236}">
                <a16:creationId xmlns:a16="http://schemas.microsoft.com/office/drawing/2014/main" id="{0B06C1CD-9D7C-83C1-E488-2E53740684B3}"/>
              </a:ext>
            </a:extLst>
          </p:cNvPr>
          <p:cNvSpPr txBox="1"/>
          <p:nvPr/>
        </p:nvSpPr>
        <p:spPr>
          <a:xfrm>
            <a:off x="133004" y="983738"/>
            <a:ext cx="9058666" cy="954107"/>
          </a:xfrm>
          <a:prstGeom prst="rect">
            <a:avLst/>
          </a:prstGeom>
          <a:noFill/>
        </p:spPr>
        <p:txBody>
          <a:bodyPr wrap="square" rtlCol="0">
            <a:spAutoFit/>
          </a:bodyPr>
          <a:lstStyle/>
          <a:p>
            <a:r>
              <a:rPr lang="en-US" sz="2800" dirty="0"/>
              <a:t>Recent DDR5 specifications introduce </a:t>
            </a:r>
            <a:r>
              <a:rPr lang="en-US" sz="2800" dirty="0">
                <a:solidFill>
                  <a:srgbClr val="E1257C"/>
                </a:solidFill>
              </a:rPr>
              <a:t>two new defense frameworks </a:t>
            </a:r>
            <a:r>
              <a:rPr lang="en-US" sz="2800" dirty="0"/>
              <a:t>to </a:t>
            </a:r>
            <a:r>
              <a:rPr lang="en-US" sz="2800" dirty="0">
                <a:solidFill>
                  <a:srgbClr val="00B050"/>
                </a:solidFill>
              </a:rPr>
              <a:t>mitigate </a:t>
            </a:r>
            <a:r>
              <a:rPr lang="en-US" sz="2800" dirty="0" err="1">
                <a:solidFill>
                  <a:srgbClr val="00B050"/>
                </a:solidFill>
              </a:rPr>
              <a:t>RowHammer</a:t>
            </a:r>
            <a:r>
              <a:rPr lang="en-US" sz="2800" dirty="0">
                <a:solidFill>
                  <a:srgbClr val="00B050"/>
                </a:solidFill>
              </a:rPr>
              <a:t> bitflips</a:t>
            </a:r>
            <a:r>
              <a:rPr lang="en-US" sz="2800" dirty="0"/>
              <a:t>:</a:t>
            </a:r>
          </a:p>
        </p:txBody>
      </p:sp>
      <p:grpSp>
        <p:nvGrpSpPr>
          <p:cNvPr id="18" name="Group 17">
            <a:extLst>
              <a:ext uri="{FF2B5EF4-FFF2-40B4-BE49-F238E27FC236}">
                <a16:creationId xmlns:a16="http://schemas.microsoft.com/office/drawing/2014/main" id="{AACC4274-5D81-A639-D44F-E87BD3CFF097}"/>
              </a:ext>
            </a:extLst>
          </p:cNvPr>
          <p:cNvGrpSpPr/>
          <p:nvPr/>
        </p:nvGrpSpPr>
        <p:grpSpPr>
          <a:xfrm>
            <a:off x="584200" y="2221151"/>
            <a:ext cx="4057219" cy="3861585"/>
            <a:chOff x="584200" y="1914913"/>
            <a:chExt cx="4057219" cy="3861585"/>
          </a:xfrm>
        </p:grpSpPr>
        <p:sp>
          <p:nvSpPr>
            <p:cNvPr id="10" name="TextBox 9">
              <a:extLst>
                <a:ext uri="{FF2B5EF4-FFF2-40B4-BE49-F238E27FC236}">
                  <a16:creationId xmlns:a16="http://schemas.microsoft.com/office/drawing/2014/main" id="{B34F7268-1AF0-5BFD-8D2E-2B771B946028}"/>
                </a:ext>
              </a:extLst>
            </p:cNvPr>
            <p:cNvSpPr txBox="1"/>
            <p:nvPr/>
          </p:nvSpPr>
          <p:spPr>
            <a:xfrm>
              <a:off x="584200" y="3529729"/>
              <a:ext cx="4057219" cy="2246769"/>
            </a:xfrm>
            <a:prstGeom prst="rect">
              <a:avLst/>
            </a:prstGeom>
            <a:noFill/>
          </p:spPr>
          <p:txBody>
            <a:bodyPr wrap="square" rtlCol="0">
              <a:spAutoFit/>
            </a:bodyPr>
            <a:lstStyle/>
            <a:p>
              <a:pPr algn="ctr"/>
              <a:r>
                <a:rPr lang="en-US" sz="2000" dirty="0">
                  <a:solidFill>
                    <a:srgbClr val="316CE3"/>
                  </a:solidFill>
                </a:rPr>
                <a:t>Per-row activation counters</a:t>
              </a:r>
              <a:r>
                <a:rPr lang="en-US" sz="2000" dirty="0"/>
                <a:t> </a:t>
              </a:r>
              <a:br>
                <a:rPr lang="en-US" sz="2000" dirty="0"/>
              </a:br>
              <a:r>
                <a:rPr lang="en-US" sz="2000" dirty="0"/>
                <a:t>to accurately </a:t>
              </a:r>
              <a:r>
                <a:rPr lang="en-US" sz="2000" dirty="0">
                  <a:solidFill>
                    <a:srgbClr val="316CE3"/>
                  </a:solidFill>
                </a:rPr>
                <a:t>track</a:t>
              </a:r>
              <a:r>
                <a:rPr lang="en-US" sz="2000" dirty="0"/>
                <a:t> aggressor rows' </a:t>
              </a:r>
              <a:r>
                <a:rPr lang="en-US" sz="2000" dirty="0">
                  <a:solidFill>
                    <a:srgbClr val="316CE3"/>
                  </a:solidFill>
                </a:rPr>
                <a:t>activation counts</a:t>
              </a:r>
            </a:p>
            <a:p>
              <a:pPr algn="ctr"/>
              <a:endParaRPr lang="en-US" sz="2000" dirty="0"/>
            </a:p>
            <a:p>
              <a:pPr algn="ctr"/>
              <a:r>
                <a:rPr lang="en-US" sz="2000" b="1" dirty="0">
                  <a:solidFill>
                    <a:srgbClr val="316CE3"/>
                  </a:solidFill>
                </a:rPr>
                <a:t>Per Row Activation Counting (PRAC)</a:t>
              </a:r>
            </a:p>
            <a:p>
              <a:pPr algn="ctr"/>
              <a:r>
                <a:rPr lang="en-US" sz="2000" i="1" dirty="0"/>
                <a:t>as of April 2024</a:t>
              </a:r>
            </a:p>
          </p:txBody>
        </p:sp>
        <p:pic>
          <p:nvPicPr>
            <p:cNvPr id="7" name="Picture 6">
              <a:extLst>
                <a:ext uri="{FF2B5EF4-FFF2-40B4-BE49-F238E27FC236}">
                  <a16:creationId xmlns:a16="http://schemas.microsoft.com/office/drawing/2014/main" id="{09812E8D-FE72-80F4-946A-7D57072A9E2A}"/>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4726" t="21295" r="5001" b="22250"/>
            <a:stretch/>
          </p:blipFill>
          <p:spPr>
            <a:xfrm rot="10800000">
              <a:off x="1520439" y="2176282"/>
              <a:ext cx="2402959" cy="1103474"/>
            </a:xfrm>
            <a:prstGeom prst="rect">
              <a:avLst/>
            </a:prstGeom>
          </p:spPr>
        </p:pic>
        <p:pic>
          <p:nvPicPr>
            <p:cNvPr id="6" name="Graphic 5" descr="Target outline">
              <a:extLst>
                <a:ext uri="{FF2B5EF4-FFF2-40B4-BE49-F238E27FC236}">
                  <a16:creationId xmlns:a16="http://schemas.microsoft.com/office/drawing/2014/main" id="{687C60C3-4337-B2F7-4516-A40F7ED226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294" y="1914913"/>
              <a:ext cx="1490941" cy="1490941"/>
            </a:xfrm>
            <a:prstGeom prst="rect">
              <a:avLst/>
            </a:prstGeom>
          </p:spPr>
        </p:pic>
      </p:grpSp>
    </p:spTree>
    <p:extLst>
      <p:ext uri="{BB962C8B-B14F-4D97-AF65-F5344CB8AC3E}">
        <p14:creationId xmlns:p14="http://schemas.microsoft.com/office/powerpoint/2010/main" val="382779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03D9-6871-C141-C339-5C26A3B91E8E}"/>
              </a:ext>
            </a:extLst>
          </p:cNvPr>
          <p:cNvSpPr>
            <a:spLocks noGrp="1"/>
          </p:cNvSpPr>
          <p:nvPr>
            <p:ph type="title"/>
          </p:nvPr>
        </p:nvSpPr>
        <p:spPr/>
        <p:txBody>
          <a:bodyPr anchor="ctr">
            <a:noAutofit/>
          </a:bodyPr>
          <a:lstStyle/>
          <a:p>
            <a:r>
              <a:rPr lang="en-US" dirty="0">
                <a:solidFill>
                  <a:srgbClr val="316CE3"/>
                </a:solidFill>
              </a:rPr>
              <a:t>Problem</a:t>
            </a:r>
          </a:p>
        </p:txBody>
      </p:sp>
      <p:sp>
        <p:nvSpPr>
          <p:cNvPr id="3" name="Text Placeholder 2">
            <a:extLst>
              <a:ext uri="{FF2B5EF4-FFF2-40B4-BE49-F238E27FC236}">
                <a16:creationId xmlns:a16="http://schemas.microsoft.com/office/drawing/2014/main" id="{0F901470-5B98-719E-B2DD-9B6B8CC005A8}"/>
              </a:ext>
            </a:extLst>
          </p:cNvPr>
          <p:cNvSpPr>
            <a:spLocks noGrp="1"/>
          </p:cNvSpPr>
          <p:nvPr>
            <p:ph idx="1"/>
          </p:nvPr>
        </p:nvSpPr>
        <p:spPr>
          <a:xfrm>
            <a:off x="133004" y="1088968"/>
            <a:ext cx="8463219" cy="4838008"/>
          </a:xfrm>
        </p:spPr>
        <p:txBody>
          <a:bodyPr anchor="b"/>
          <a:lstStyle/>
          <a:p>
            <a:pPr marL="0" indent="0" algn="r">
              <a:buNone/>
            </a:pPr>
            <a:r>
              <a:rPr lang="en-US" i="1" dirty="0">
                <a:latin typeface="+mj-lt"/>
              </a:rPr>
              <a:t>Unfortunately, yes.</a:t>
            </a:r>
          </a:p>
        </p:txBody>
      </p:sp>
      <p:sp>
        <p:nvSpPr>
          <p:cNvPr id="4" name="Footer Placeholder 3">
            <a:extLst>
              <a:ext uri="{FF2B5EF4-FFF2-40B4-BE49-F238E27FC236}">
                <a16:creationId xmlns:a16="http://schemas.microsoft.com/office/drawing/2014/main" id="{F4995B34-A560-8BD8-26F3-996A9654EB85}"/>
              </a:ext>
            </a:extLst>
          </p:cNvPr>
          <p:cNvSpPr>
            <a:spLocks noGrp="1"/>
          </p:cNvSpPr>
          <p:nvPr>
            <p:ph type="ftr" sz="quarter" idx="11"/>
          </p:nvPr>
        </p:nvSpPr>
        <p:spPr/>
        <p:txBody>
          <a:bodyPr/>
          <a:lstStyle/>
          <a:p>
            <a:endParaRPr lang="tr-TR"/>
          </a:p>
        </p:txBody>
      </p:sp>
      <p:sp>
        <p:nvSpPr>
          <p:cNvPr id="8" name="Slide Number Placeholder 4">
            <a:extLst>
              <a:ext uri="{FF2B5EF4-FFF2-40B4-BE49-F238E27FC236}">
                <a16:creationId xmlns:a16="http://schemas.microsoft.com/office/drawing/2014/main" id="{E181C3FF-34E6-DE5D-2DD4-DC1AE4A1CB17}"/>
              </a:ext>
            </a:extLst>
          </p:cNvPr>
          <p:cNvSpPr>
            <a:spLocks noGrp="1"/>
          </p:cNvSpPr>
          <p:nvPr>
            <p:ph type="sldNum" sz="quarter" idx="12"/>
          </p:nvPr>
        </p:nvSpPr>
        <p:spPr/>
        <p:txBody>
          <a:bodyPr/>
          <a:lstStyle/>
          <a:p>
            <a:fld id="{CBE5B309-C2CE-4D90-B104-F7E98438FC65}" type="slidenum">
              <a:rPr lang="tr-TR" sz="1800" smtClean="0"/>
              <a:pPr/>
              <a:t>51</a:t>
            </a:fld>
            <a:endParaRPr lang="tr-TR" sz="1800" dirty="0"/>
          </a:p>
        </p:txBody>
      </p:sp>
      <p:sp>
        <p:nvSpPr>
          <p:cNvPr id="5" name="Title 1">
            <a:extLst>
              <a:ext uri="{FF2B5EF4-FFF2-40B4-BE49-F238E27FC236}">
                <a16:creationId xmlns:a16="http://schemas.microsoft.com/office/drawing/2014/main" id="{B616F91C-58D3-0BAD-0A17-58FD25D57FDF}"/>
              </a:ext>
            </a:extLst>
          </p:cNvPr>
          <p:cNvSpPr txBox="1">
            <a:spLocks/>
          </p:cNvSpPr>
          <p:nvPr/>
        </p:nvSpPr>
        <p:spPr>
          <a:xfrm>
            <a:off x="124691" y="2528501"/>
            <a:ext cx="8894618" cy="23733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rgbClr val="2963E3"/>
                </a:solidFill>
                <a:latin typeface="+mj-lt"/>
                <a:ea typeface="+mj-ea"/>
                <a:cs typeface="+mj-cs"/>
              </a:defRPr>
            </a:lvl1pPr>
          </a:lstStyle>
          <a:p>
            <a:pPr algn="ctr"/>
            <a:r>
              <a:rPr lang="en-US" sz="4000" b="0" dirty="0">
                <a:solidFill>
                  <a:srgbClr val="316CE3"/>
                </a:solidFill>
              </a:rPr>
              <a:t>Do industrial and academic</a:t>
            </a:r>
            <a:br>
              <a:rPr lang="en-US" sz="4000" b="0" dirty="0">
                <a:solidFill>
                  <a:srgbClr val="316CE3"/>
                </a:solidFill>
              </a:rPr>
            </a:br>
            <a:r>
              <a:rPr lang="en-US" sz="4000" b="0" dirty="0" err="1">
                <a:solidFill>
                  <a:srgbClr val="316CE3"/>
                </a:solidFill>
              </a:rPr>
              <a:t>RowHammer</a:t>
            </a:r>
            <a:r>
              <a:rPr lang="en-US" sz="4000" b="0" dirty="0">
                <a:solidFill>
                  <a:srgbClr val="316CE3"/>
                </a:solidFill>
              </a:rPr>
              <a:t> defenses introduce </a:t>
            </a:r>
            <a:br>
              <a:rPr lang="en-US" sz="4000" b="0" dirty="0">
                <a:solidFill>
                  <a:srgbClr val="316CE3"/>
                </a:solidFill>
              </a:rPr>
            </a:br>
            <a:r>
              <a:rPr lang="en-US" sz="4000" dirty="0">
                <a:solidFill>
                  <a:srgbClr val="316CE3"/>
                </a:solidFill>
              </a:rPr>
              <a:t>new covert and side channel vulnerabilities?</a:t>
            </a:r>
          </a:p>
        </p:txBody>
      </p:sp>
      <p:sp>
        <p:nvSpPr>
          <p:cNvPr id="6" name="TextBox 5">
            <a:extLst>
              <a:ext uri="{FF2B5EF4-FFF2-40B4-BE49-F238E27FC236}">
                <a16:creationId xmlns:a16="http://schemas.microsoft.com/office/drawing/2014/main" id="{2BF1DE10-8703-D6ED-B31A-8CA76C6B3752}"/>
              </a:ext>
            </a:extLst>
          </p:cNvPr>
          <p:cNvSpPr txBox="1"/>
          <p:nvPr/>
        </p:nvSpPr>
        <p:spPr>
          <a:xfrm>
            <a:off x="0" y="1045062"/>
            <a:ext cx="9144000" cy="461665"/>
          </a:xfrm>
          <a:prstGeom prst="rect">
            <a:avLst/>
          </a:prstGeom>
          <a:noFill/>
        </p:spPr>
        <p:txBody>
          <a:bodyPr wrap="square" rtlCol="0">
            <a:spAutoFit/>
          </a:bodyPr>
          <a:lstStyle/>
          <a:p>
            <a:endParaRPr lang="en-US" sz="2400" dirty="0">
              <a:solidFill>
                <a:srgbClr val="F23F00"/>
              </a:solidFill>
            </a:endParaRPr>
          </a:p>
        </p:txBody>
      </p:sp>
    </p:spTree>
    <p:extLst>
      <p:ext uri="{BB962C8B-B14F-4D97-AF65-F5344CB8AC3E}">
        <p14:creationId xmlns:p14="http://schemas.microsoft.com/office/powerpoint/2010/main" val="161108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555F8-D025-BC19-2056-7370A8876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7B4FC-8DC1-FDF8-60BB-6D889404F7C9}"/>
              </a:ext>
            </a:extLst>
          </p:cNvPr>
          <p:cNvSpPr>
            <a:spLocks noGrp="1"/>
          </p:cNvSpPr>
          <p:nvPr>
            <p:ph type="title"/>
          </p:nvPr>
        </p:nvSpPr>
        <p:spPr/>
        <p:txBody>
          <a:bodyPr/>
          <a:lstStyle/>
          <a:p>
            <a:r>
              <a:rPr lang="en-US" dirty="0"/>
              <a:t>Talk Outline</a:t>
            </a:r>
          </a:p>
        </p:txBody>
      </p:sp>
      <p:sp>
        <p:nvSpPr>
          <p:cNvPr id="3" name="Content Placeholder 2">
            <a:extLst>
              <a:ext uri="{FF2B5EF4-FFF2-40B4-BE49-F238E27FC236}">
                <a16:creationId xmlns:a16="http://schemas.microsoft.com/office/drawing/2014/main" id="{6D3411FE-F57B-BF35-55F0-E8074E5735CC}"/>
              </a:ext>
            </a:extLst>
          </p:cNvPr>
          <p:cNvSpPr>
            <a:spLocks noGrp="1"/>
          </p:cNvSpPr>
          <p:nvPr>
            <p:ph idx="1"/>
          </p:nvPr>
        </p:nvSpPr>
        <p:spPr/>
        <p:txBody>
          <a:bodyPr>
            <a:normAutofit/>
          </a:bodyPr>
          <a:lstStyle/>
          <a:p>
            <a:pPr marL="571500" indent="-571500">
              <a:lnSpc>
                <a:spcPct val="150000"/>
              </a:lnSpc>
              <a:buFont typeface="+mj-lt"/>
              <a:buAutoNum type="romanUcPeriod"/>
            </a:pPr>
            <a:r>
              <a:rPr lang="en-US" sz="3200" dirty="0">
                <a:solidFill>
                  <a:schemeClr val="tx1">
                    <a:lumMod val="50000"/>
                    <a:lumOff val="50000"/>
                  </a:schemeClr>
                </a:solidFill>
              </a:rPr>
              <a:t>Motivation and Problem</a:t>
            </a:r>
          </a:p>
          <a:p>
            <a:pPr marL="571500" indent="-571500">
              <a:lnSpc>
                <a:spcPct val="150000"/>
              </a:lnSpc>
              <a:buFont typeface="+mj-lt"/>
              <a:buAutoNum type="romanUcPeriod"/>
            </a:pPr>
            <a:r>
              <a:rPr lang="en-US" sz="3200" b="1" dirty="0"/>
              <a:t>Key Observation</a:t>
            </a:r>
          </a:p>
          <a:p>
            <a:pPr marL="571500" indent="-571500">
              <a:lnSpc>
                <a:spcPct val="150000"/>
              </a:lnSpc>
              <a:buFont typeface="+mj-lt"/>
              <a:buAutoNum type="romanUcPeriod"/>
            </a:pPr>
            <a:r>
              <a:rPr lang="en-US" sz="3200" dirty="0" err="1">
                <a:solidFill>
                  <a:schemeClr val="tx1">
                    <a:lumMod val="50000"/>
                    <a:lumOff val="50000"/>
                  </a:schemeClr>
                </a:solidFill>
              </a:rPr>
              <a:t>LeakyHammer</a:t>
            </a:r>
            <a:r>
              <a:rPr lang="en-US" sz="3200" dirty="0">
                <a:solidFill>
                  <a:schemeClr val="tx1">
                    <a:lumMod val="50000"/>
                    <a:lumOff val="50000"/>
                  </a:schemeClr>
                </a:solidFill>
              </a:rPr>
              <a:t> and Case Studies</a:t>
            </a:r>
          </a:p>
          <a:p>
            <a:pPr marL="571500" indent="-571500">
              <a:lnSpc>
                <a:spcPct val="150000"/>
              </a:lnSpc>
              <a:buFont typeface="+mj-lt"/>
              <a:buAutoNum type="romanUcPeriod"/>
            </a:pPr>
            <a:r>
              <a:rPr lang="en-US" sz="3200" dirty="0">
                <a:solidFill>
                  <a:schemeClr val="tx1">
                    <a:lumMod val="50000"/>
                    <a:lumOff val="50000"/>
                  </a:schemeClr>
                </a:solidFill>
              </a:rPr>
              <a:t>Mitigating </a:t>
            </a:r>
            <a:r>
              <a:rPr lang="en-US" sz="3200" dirty="0" err="1">
                <a:solidFill>
                  <a:schemeClr val="tx1">
                    <a:lumMod val="50000"/>
                    <a:lumOff val="50000"/>
                  </a:schemeClr>
                </a:solidFill>
              </a:rPr>
              <a:t>LeakyHammer</a:t>
            </a:r>
            <a:endParaRPr lang="en-US" sz="3200" dirty="0">
              <a:solidFill>
                <a:schemeClr val="tx1">
                  <a:lumMod val="50000"/>
                  <a:lumOff val="50000"/>
                </a:schemeClr>
              </a:solidFill>
            </a:endParaRPr>
          </a:p>
          <a:p>
            <a:pPr marL="571500" indent="-571500">
              <a:lnSpc>
                <a:spcPct val="150000"/>
              </a:lnSpc>
              <a:buFont typeface="+mj-lt"/>
              <a:buAutoNum type="romanUcPeriod"/>
            </a:pPr>
            <a:r>
              <a:rPr lang="en-US" sz="3200" dirty="0">
                <a:solidFill>
                  <a:schemeClr val="tx1">
                    <a:lumMod val="50000"/>
                    <a:lumOff val="50000"/>
                  </a:schemeClr>
                </a:solidFill>
              </a:rPr>
              <a:t>Conclusion</a:t>
            </a:r>
          </a:p>
        </p:txBody>
      </p:sp>
      <p:sp>
        <p:nvSpPr>
          <p:cNvPr id="4" name="Footer Placeholder 3">
            <a:extLst>
              <a:ext uri="{FF2B5EF4-FFF2-40B4-BE49-F238E27FC236}">
                <a16:creationId xmlns:a16="http://schemas.microsoft.com/office/drawing/2014/main" id="{17511C05-F26E-0EFE-D2B8-3F96F519694E}"/>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C8F02100-009F-684E-2CE2-EC59246DD99B}"/>
              </a:ext>
            </a:extLst>
          </p:cNvPr>
          <p:cNvSpPr>
            <a:spLocks noGrp="1"/>
          </p:cNvSpPr>
          <p:nvPr>
            <p:ph type="sldNum" sz="quarter" idx="12"/>
          </p:nvPr>
        </p:nvSpPr>
        <p:spPr/>
        <p:txBody>
          <a:bodyPr/>
          <a:lstStyle/>
          <a:p>
            <a:fld id="{CBE5B309-C2CE-4D90-B104-F7E98438FC65}" type="slidenum">
              <a:rPr lang="tr-TR" smtClean="0"/>
              <a:pPr/>
              <a:t>52</a:t>
            </a:fld>
            <a:endParaRPr lang="tr-TR" dirty="0"/>
          </a:p>
        </p:txBody>
      </p:sp>
    </p:spTree>
    <p:extLst>
      <p:ext uri="{BB962C8B-B14F-4D97-AF65-F5344CB8AC3E}">
        <p14:creationId xmlns:p14="http://schemas.microsoft.com/office/powerpoint/2010/main" val="3308375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BA5E3-F576-1230-705C-79ACA2B1B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8F639-E8B1-7D05-6C9B-B1A7E6EFC210}"/>
              </a:ext>
            </a:extLst>
          </p:cNvPr>
          <p:cNvSpPr>
            <a:spLocks noGrp="1"/>
          </p:cNvSpPr>
          <p:nvPr>
            <p:ph type="title"/>
          </p:nvPr>
        </p:nvSpPr>
        <p:spPr/>
        <p:txBody>
          <a:bodyPr/>
          <a:lstStyle/>
          <a:p>
            <a:r>
              <a:rPr lang="en-US" dirty="0"/>
              <a:t>Key Observation (I)</a:t>
            </a:r>
          </a:p>
        </p:txBody>
      </p:sp>
      <p:sp>
        <p:nvSpPr>
          <p:cNvPr id="3" name="Content Placeholder 2">
            <a:extLst>
              <a:ext uri="{FF2B5EF4-FFF2-40B4-BE49-F238E27FC236}">
                <a16:creationId xmlns:a16="http://schemas.microsoft.com/office/drawing/2014/main" id="{03D82ECD-0893-FA77-2F56-9F9F3A3097C3}"/>
              </a:ext>
            </a:extLst>
          </p:cNvPr>
          <p:cNvSpPr>
            <a:spLocks noGrp="1"/>
          </p:cNvSpPr>
          <p:nvPr>
            <p:ph idx="1"/>
          </p:nvPr>
        </p:nvSpPr>
        <p:spPr>
          <a:xfrm>
            <a:off x="-1" y="931025"/>
            <a:ext cx="9143999" cy="5245938"/>
          </a:xfrm>
        </p:spPr>
        <p:txBody>
          <a:bodyPr>
            <a:normAutofit/>
          </a:bodyPr>
          <a:lstStyle/>
          <a:p>
            <a:r>
              <a:rPr lang="en-US" sz="2400" dirty="0"/>
              <a:t>Preventive actions have </a:t>
            </a:r>
            <a:r>
              <a:rPr lang="en-US" sz="2400" b="1" dirty="0"/>
              <a:t>two fundamental features</a:t>
            </a:r>
            <a:r>
              <a:rPr lang="en-US" sz="2400" dirty="0"/>
              <a:t> that </a:t>
            </a:r>
            <a:r>
              <a:rPr lang="en-US" sz="2400" dirty="0">
                <a:solidFill>
                  <a:srgbClr val="FF0000"/>
                </a:solidFill>
              </a:rPr>
              <a:t>enable covert channels and side channels</a:t>
            </a:r>
            <a:r>
              <a:rPr lang="en-US" sz="2400" dirty="0"/>
              <a:t>:</a:t>
            </a:r>
          </a:p>
        </p:txBody>
      </p:sp>
      <p:sp>
        <p:nvSpPr>
          <p:cNvPr id="4" name="Footer Placeholder 3">
            <a:extLst>
              <a:ext uri="{FF2B5EF4-FFF2-40B4-BE49-F238E27FC236}">
                <a16:creationId xmlns:a16="http://schemas.microsoft.com/office/drawing/2014/main" id="{264BC667-B7EF-DB02-6156-9A75F6DEE121}"/>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EC6DB973-5435-F4E3-2D84-DA804F118A62}"/>
              </a:ext>
            </a:extLst>
          </p:cNvPr>
          <p:cNvSpPr>
            <a:spLocks noGrp="1"/>
          </p:cNvSpPr>
          <p:nvPr>
            <p:ph type="sldNum" sz="quarter" idx="12"/>
          </p:nvPr>
        </p:nvSpPr>
        <p:spPr/>
        <p:txBody>
          <a:bodyPr/>
          <a:lstStyle/>
          <a:p>
            <a:fld id="{CBE5B309-C2CE-4D90-B104-F7E98438FC65}" type="slidenum">
              <a:rPr lang="tr-TR" smtClean="0"/>
              <a:pPr/>
              <a:t>53</a:t>
            </a:fld>
            <a:endParaRPr lang="tr-TR" dirty="0"/>
          </a:p>
        </p:txBody>
      </p:sp>
      <p:grpSp>
        <p:nvGrpSpPr>
          <p:cNvPr id="8" name="Group 7">
            <a:extLst>
              <a:ext uri="{FF2B5EF4-FFF2-40B4-BE49-F238E27FC236}">
                <a16:creationId xmlns:a16="http://schemas.microsoft.com/office/drawing/2014/main" id="{C8BF4B3F-0583-DC64-68CA-F76F449F7EA7}"/>
              </a:ext>
            </a:extLst>
          </p:cNvPr>
          <p:cNvGrpSpPr/>
          <p:nvPr/>
        </p:nvGrpSpPr>
        <p:grpSpPr>
          <a:xfrm>
            <a:off x="1535667" y="3972153"/>
            <a:ext cx="6144657" cy="1022589"/>
            <a:chOff x="2061760" y="1640758"/>
            <a:chExt cx="7806874" cy="1299214"/>
          </a:xfrm>
        </p:grpSpPr>
        <p:pic>
          <p:nvPicPr>
            <p:cNvPr id="9" name="Picture 8">
              <a:extLst>
                <a:ext uri="{FF2B5EF4-FFF2-40B4-BE49-F238E27FC236}">
                  <a16:creationId xmlns:a16="http://schemas.microsoft.com/office/drawing/2014/main" id="{AD2C0DA1-9F4B-CAEF-741A-8376E431B644}"/>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7103993" y="1640758"/>
              <a:ext cx="2764641" cy="1269564"/>
            </a:xfrm>
            <a:prstGeom prst="rect">
              <a:avLst/>
            </a:prstGeom>
          </p:spPr>
        </p:pic>
        <p:pic>
          <p:nvPicPr>
            <p:cNvPr id="10" name="Picture 9">
              <a:extLst>
                <a:ext uri="{FF2B5EF4-FFF2-40B4-BE49-F238E27FC236}">
                  <a16:creationId xmlns:a16="http://schemas.microsoft.com/office/drawing/2014/main" id="{D7AAAE46-500F-644A-8BF5-BF3E92E6AEFC}"/>
                </a:ext>
              </a:extLst>
            </p:cNvPr>
            <p:cNvPicPr>
              <a:picLocks noChangeAspect="1"/>
            </p:cNvPicPr>
            <p:nvPr/>
          </p:nvPicPr>
          <p:blipFill>
            <a:blip r:embed="rId4" cstate="print">
              <a:extLst>
                <a:ext uri="{28A0092B-C50C-407E-A947-70E740481C1C}">
                  <a14:useLocalDpi xmlns:a14="http://schemas.microsoft.com/office/drawing/2010/main" val="0"/>
                </a:ext>
              </a:extLst>
            </a:blip>
            <a:srcRect l="9323" t="5852" r="5171" b="9872"/>
            <a:stretch/>
          </p:blipFill>
          <p:spPr>
            <a:xfrm>
              <a:off x="2061760" y="1681649"/>
              <a:ext cx="1276707" cy="1258323"/>
            </a:xfrm>
            <a:prstGeom prst="rect">
              <a:avLst/>
            </a:prstGeom>
          </p:spPr>
        </p:pic>
        <p:cxnSp>
          <p:nvCxnSpPr>
            <p:cNvPr id="11" name="Straight Arrow Connector 10">
              <a:extLst>
                <a:ext uri="{FF2B5EF4-FFF2-40B4-BE49-F238E27FC236}">
                  <a16:creationId xmlns:a16="http://schemas.microsoft.com/office/drawing/2014/main" id="{C79E6F0D-586D-856A-025A-7816E2EB7588}"/>
                </a:ext>
              </a:extLst>
            </p:cNvPr>
            <p:cNvCxnSpPr>
              <a:cxnSpLocks/>
            </p:cNvCxnSpPr>
            <p:nvPr/>
          </p:nvCxnSpPr>
          <p:spPr>
            <a:xfrm>
              <a:off x="3415553" y="2275539"/>
              <a:ext cx="3512949" cy="0"/>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7F2ED4F9-CD25-BA6F-8AAE-DA0E9C960EC6}"/>
              </a:ext>
            </a:extLst>
          </p:cNvPr>
          <p:cNvSpPr/>
          <p:nvPr/>
        </p:nvSpPr>
        <p:spPr>
          <a:xfrm>
            <a:off x="2540541" y="4036574"/>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27" name="Rectangle 26">
            <a:extLst>
              <a:ext uri="{FF2B5EF4-FFF2-40B4-BE49-F238E27FC236}">
                <a16:creationId xmlns:a16="http://schemas.microsoft.com/office/drawing/2014/main" id="{2F750EF0-27CA-C834-F895-23255901D2FE}"/>
              </a:ext>
            </a:extLst>
          </p:cNvPr>
          <p:cNvSpPr/>
          <p:nvPr/>
        </p:nvSpPr>
        <p:spPr>
          <a:xfrm>
            <a:off x="2848745" y="4121046"/>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28" name="Rectangle 27">
            <a:extLst>
              <a:ext uri="{FF2B5EF4-FFF2-40B4-BE49-F238E27FC236}">
                <a16:creationId xmlns:a16="http://schemas.microsoft.com/office/drawing/2014/main" id="{C43B1BDA-A3CE-8D81-7836-661DCAC715DA}"/>
              </a:ext>
            </a:extLst>
          </p:cNvPr>
          <p:cNvSpPr/>
          <p:nvPr/>
        </p:nvSpPr>
        <p:spPr>
          <a:xfrm>
            <a:off x="2540541" y="4659442"/>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29" name="Rectangle 28">
            <a:extLst>
              <a:ext uri="{FF2B5EF4-FFF2-40B4-BE49-F238E27FC236}">
                <a16:creationId xmlns:a16="http://schemas.microsoft.com/office/drawing/2014/main" id="{6642001B-30AD-F2D1-41C2-4C552B3AAF67}"/>
              </a:ext>
            </a:extLst>
          </p:cNvPr>
          <p:cNvSpPr/>
          <p:nvPr/>
        </p:nvSpPr>
        <p:spPr>
          <a:xfrm>
            <a:off x="2895602" y="4733916"/>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pic>
        <p:nvPicPr>
          <p:cNvPr id="33" name="Graphic 32" descr="Hourglass 60% with solid fill">
            <a:extLst>
              <a:ext uri="{FF2B5EF4-FFF2-40B4-BE49-F238E27FC236}">
                <a16:creationId xmlns:a16="http://schemas.microsoft.com/office/drawing/2014/main" id="{C0D4D641-080B-90DA-1CCD-0604BC37BF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6814" y="3688754"/>
            <a:ext cx="822159" cy="822159"/>
          </a:xfrm>
          <a:prstGeom prst="rect">
            <a:avLst/>
          </a:prstGeom>
        </p:spPr>
      </p:pic>
      <p:grpSp>
        <p:nvGrpSpPr>
          <p:cNvPr id="36" name="Group 35">
            <a:extLst>
              <a:ext uri="{FF2B5EF4-FFF2-40B4-BE49-F238E27FC236}">
                <a16:creationId xmlns:a16="http://schemas.microsoft.com/office/drawing/2014/main" id="{6204ECAD-E563-1A57-B2EA-C770440D3A7D}"/>
              </a:ext>
            </a:extLst>
          </p:cNvPr>
          <p:cNvGrpSpPr/>
          <p:nvPr/>
        </p:nvGrpSpPr>
        <p:grpSpPr>
          <a:xfrm>
            <a:off x="5953099" y="3733250"/>
            <a:ext cx="1382813" cy="1003673"/>
            <a:chOff x="6180810" y="1992415"/>
            <a:chExt cx="1382813" cy="1003673"/>
          </a:xfrm>
        </p:grpSpPr>
        <p:sp>
          <p:nvSpPr>
            <p:cNvPr id="34" name="Freeform: Shape 33">
              <a:extLst>
                <a:ext uri="{FF2B5EF4-FFF2-40B4-BE49-F238E27FC236}">
                  <a16:creationId xmlns:a16="http://schemas.microsoft.com/office/drawing/2014/main" id="{5C6776EB-6BA9-B3EF-DC32-3260695A1163}"/>
                </a:ext>
              </a:extLst>
            </p:cNvPr>
            <p:cNvSpPr/>
            <p:nvPr/>
          </p:nvSpPr>
          <p:spPr>
            <a:xfrm>
              <a:off x="6180810" y="1992415"/>
              <a:ext cx="1145657" cy="644708"/>
            </a:xfrm>
            <a:custGeom>
              <a:avLst/>
              <a:gdLst>
                <a:gd name="connsiteX0" fmla="*/ 443938 w 1145657"/>
                <a:gd name="connsiteY0" fmla="*/ 422740 h 644708"/>
                <a:gd name="connsiteX1" fmla="*/ 422462 w 1145657"/>
                <a:gd name="connsiteY1" fmla="*/ 401249 h 644708"/>
                <a:gd name="connsiteX2" fmla="*/ 229912 w 1145657"/>
                <a:gd name="connsiteY2" fmla="*/ 593814 h 644708"/>
                <a:gd name="connsiteX3" fmla="*/ 229698 w 1145657"/>
                <a:gd name="connsiteY3" fmla="*/ 593814 h 644708"/>
                <a:gd name="connsiteX4" fmla="*/ 229654 w 1145657"/>
                <a:gd name="connsiteY4" fmla="*/ 593723 h 644708"/>
                <a:gd name="connsiteX5" fmla="*/ 599535 w 1145657"/>
                <a:gd name="connsiteY5" fmla="*/ 40071 h 644708"/>
                <a:gd name="connsiteX6" fmla="*/ 1118137 w 1145657"/>
                <a:gd name="connsiteY6" fmla="*/ 302878 h 644708"/>
                <a:gd name="connsiteX7" fmla="*/ 1145658 w 1145657"/>
                <a:gd name="connsiteY7" fmla="*/ 290014 h 644708"/>
                <a:gd name="connsiteX8" fmla="*/ 480054 w 1145657"/>
                <a:gd name="connsiteY8" fmla="*/ 46800 h 644708"/>
                <a:gd name="connsiteX9" fmla="*/ 195633 w 1145657"/>
                <a:gd name="connsiteY9" fmla="*/ 575073 h 644708"/>
                <a:gd name="connsiteX10" fmla="*/ 195553 w 1145657"/>
                <a:gd name="connsiteY10" fmla="*/ 575249 h 644708"/>
                <a:gd name="connsiteX11" fmla="*/ 195390 w 1145657"/>
                <a:gd name="connsiteY11" fmla="*/ 575194 h 644708"/>
                <a:gd name="connsiteX12" fmla="*/ 21475 w 1145657"/>
                <a:gd name="connsiteY12" fmla="*/ 401249 h 644708"/>
                <a:gd name="connsiteX13" fmla="*/ 0 w 1145657"/>
                <a:gd name="connsiteY13" fmla="*/ 422740 h 644708"/>
                <a:gd name="connsiteX14" fmla="*/ 221969 w 1145657"/>
                <a:gd name="connsiteY14" fmla="*/ 644709 h 64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7" h="644708">
                  <a:moveTo>
                    <a:pt x="443938" y="422740"/>
                  </a:moveTo>
                  <a:lnTo>
                    <a:pt x="422462" y="401249"/>
                  </a:lnTo>
                  <a:lnTo>
                    <a:pt x="229912" y="593814"/>
                  </a:lnTo>
                  <a:cubicBezTo>
                    <a:pt x="229853" y="593874"/>
                    <a:pt x="229757" y="593874"/>
                    <a:pt x="229698" y="593814"/>
                  </a:cubicBezTo>
                  <a:cubicBezTo>
                    <a:pt x="229674" y="593790"/>
                    <a:pt x="229657" y="593758"/>
                    <a:pt x="229654" y="593723"/>
                  </a:cubicBezTo>
                  <a:cubicBezTo>
                    <a:pt x="178907" y="338697"/>
                    <a:pt x="344508" y="90817"/>
                    <a:pt x="599535" y="40071"/>
                  </a:cubicBezTo>
                  <a:cubicBezTo>
                    <a:pt x="812305" y="-2268"/>
                    <a:pt x="1026463" y="106257"/>
                    <a:pt x="1118137" y="302878"/>
                  </a:cubicBezTo>
                  <a:lnTo>
                    <a:pt x="1145658" y="290014"/>
                  </a:lnTo>
                  <a:cubicBezTo>
                    <a:pt x="1029017" y="39051"/>
                    <a:pt x="731017" y="-69839"/>
                    <a:pt x="480054" y="46800"/>
                  </a:cubicBezTo>
                  <a:cubicBezTo>
                    <a:pt x="278654" y="140405"/>
                    <a:pt x="162896" y="355411"/>
                    <a:pt x="195633" y="575073"/>
                  </a:cubicBezTo>
                  <a:cubicBezTo>
                    <a:pt x="195659" y="575144"/>
                    <a:pt x="195623" y="575222"/>
                    <a:pt x="195553" y="575249"/>
                  </a:cubicBezTo>
                  <a:cubicBezTo>
                    <a:pt x="195492" y="575270"/>
                    <a:pt x="195425" y="575247"/>
                    <a:pt x="195390" y="575194"/>
                  </a:cubicBezTo>
                  <a:lnTo>
                    <a:pt x="21475" y="401249"/>
                  </a:lnTo>
                  <a:lnTo>
                    <a:pt x="0" y="422740"/>
                  </a:lnTo>
                  <a:lnTo>
                    <a:pt x="221969" y="644709"/>
                  </a:lnTo>
                  <a:close/>
                </a:path>
              </a:pathLst>
            </a:custGeom>
            <a:solidFill>
              <a:srgbClr val="FF0000"/>
            </a:solidFill>
            <a:ln w="60722" cap="flat">
              <a:solidFill>
                <a:srgbClr val="FF5F25"/>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3357F7C-4DE9-6C32-3BC0-86B6B27DEACC}"/>
                </a:ext>
              </a:extLst>
            </p:cNvPr>
            <p:cNvSpPr/>
            <p:nvPr/>
          </p:nvSpPr>
          <p:spPr>
            <a:xfrm>
              <a:off x="6429372" y="2382926"/>
              <a:ext cx="1134251" cy="613162"/>
            </a:xfrm>
            <a:custGeom>
              <a:avLst/>
              <a:gdLst>
                <a:gd name="connsiteX0" fmla="*/ 690283 w 1134251"/>
                <a:gd name="connsiteY0" fmla="*/ 221984 h 613162"/>
                <a:gd name="connsiteX1" fmla="*/ 711759 w 1134251"/>
                <a:gd name="connsiteY1" fmla="*/ 243460 h 613162"/>
                <a:gd name="connsiteX2" fmla="*/ 908592 w 1134251"/>
                <a:gd name="connsiteY2" fmla="*/ 46626 h 613162"/>
                <a:gd name="connsiteX3" fmla="*/ 908806 w 1134251"/>
                <a:gd name="connsiteY3" fmla="*/ 46626 h 613162"/>
                <a:gd name="connsiteX4" fmla="*/ 908850 w 1134251"/>
                <a:gd name="connsiteY4" fmla="*/ 46718 h 613162"/>
                <a:gd name="connsiteX5" fmla="*/ 511759 w 1134251"/>
                <a:gd name="connsiteY5" fmla="*/ 577681 h 613162"/>
                <a:gd name="connsiteX6" fmla="*/ 442829 w 1134251"/>
                <a:gd name="connsiteY6" fmla="*/ 582481 h 613162"/>
                <a:gd name="connsiteX7" fmla="*/ 26822 w 1134251"/>
                <a:gd name="connsiteY7" fmla="*/ 332354 h 613162"/>
                <a:gd name="connsiteX8" fmla="*/ 0 w 1134251"/>
                <a:gd name="connsiteY8" fmla="*/ 346600 h 613162"/>
                <a:gd name="connsiteX9" fmla="*/ 677562 w 1134251"/>
                <a:gd name="connsiteY9" fmla="*/ 554696 h 613162"/>
                <a:gd name="connsiteX10" fmla="*/ 944025 w 1134251"/>
                <a:gd name="connsiteY10" fmla="*/ 111660 h 613162"/>
                <a:gd name="connsiteX11" fmla="*/ 942506 w 1134251"/>
                <a:gd name="connsiteY11" fmla="*/ 73539 h 613162"/>
                <a:gd name="connsiteX12" fmla="*/ 942658 w 1134251"/>
                <a:gd name="connsiteY12" fmla="*/ 73387 h 613162"/>
                <a:gd name="connsiteX13" fmla="*/ 942749 w 1134251"/>
                <a:gd name="connsiteY13" fmla="*/ 73418 h 613162"/>
                <a:gd name="connsiteX14" fmla="*/ 1112776 w 1134251"/>
                <a:gd name="connsiteY14" fmla="*/ 243520 h 613162"/>
                <a:gd name="connsiteX15" fmla="*/ 1134252 w 1134251"/>
                <a:gd name="connsiteY15" fmla="*/ 222045 h 613162"/>
                <a:gd name="connsiteX16" fmla="*/ 912252 w 1134251"/>
                <a:gd name="connsiteY16" fmla="*/ 0 h 6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251" h="613162">
                  <a:moveTo>
                    <a:pt x="690283" y="221984"/>
                  </a:moveTo>
                  <a:lnTo>
                    <a:pt x="711759" y="243460"/>
                  </a:lnTo>
                  <a:lnTo>
                    <a:pt x="908592" y="46626"/>
                  </a:lnTo>
                  <a:cubicBezTo>
                    <a:pt x="908651" y="46567"/>
                    <a:pt x="908747" y="46567"/>
                    <a:pt x="908806" y="46626"/>
                  </a:cubicBezTo>
                  <a:cubicBezTo>
                    <a:pt x="908830" y="46651"/>
                    <a:pt x="908847" y="46683"/>
                    <a:pt x="908850" y="46718"/>
                  </a:cubicBezTo>
                  <a:cubicBezTo>
                    <a:pt x="945819" y="302993"/>
                    <a:pt x="768034" y="540714"/>
                    <a:pt x="511759" y="577681"/>
                  </a:cubicBezTo>
                  <a:cubicBezTo>
                    <a:pt x="488932" y="580974"/>
                    <a:pt x="465893" y="582579"/>
                    <a:pt x="442829" y="582481"/>
                  </a:cubicBezTo>
                  <a:cubicBezTo>
                    <a:pt x="268522" y="582642"/>
                    <a:pt x="108422" y="486382"/>
                    <a:pt x="26822" y="332354"/>
                  </a:cubicBezTo>
                  <a:lnTo>
                    <a:pt x="0" y="346600"/>
                  </a:lnTo>
                  <a:cubicBezTo>
                    <a:pt x="129640" y="591168"/>
                    <a:pt x="432994" y="684336"/>
                    <a:pt x="677562" y="554696"/>
                  </a:cubicBezTo>
                  <a:cubicBezTo>
                    <a:pt x="841573" y="467758"/>
                    <a:pt x="944101" y="297290"/>
                    <a:pt x="944025" y="111660"/>
                  </a:cubicBezTo>
                  <a:cubicBezTo>
                    <a:pt x="944025" y="98948"/>
                    <a:pt x="943433" y="86221"/>
                    <a:pt x="942506" y="73539"/>
                  </a:cubicBezTo>
                  <a:cubicBezTo>
                    <a:pt x="942506" y="73456"/>
                    <a:pt x="942575" y="73387"/>
                    <a:pt x="942658" y="73387"/>
                  </a:cubicBezTo>
                  <a:cubicBezTo>
                    <a:pt x="942692" y="73387"/>
                    <a:pt x="942723" y="73398"/>
                    <a:pt x="942749" y="73418"/>
                  </a:cubicBezTo>
                  <a:lnTo>
                    <a:pt x="1112776" y="243520"/>
                  </a:lnTo>
                  <a:lnTo>
                    <a:pt x="1134252" y="222045"/>
                  </a:lnTo>
                  <a:lnTo>
                    <a:pt x="912252" y="0"/>
                  </a:lnTo>
                  <a:close/>
                </a:path>
              </a:pathLst>
            </a:custGeom>
            <a:solidFill>
              <a:srgbClr val="FF0000"/>
            </a:solidFill>
            <a:ln w="60722" cap="flat">
              <a:solidFill>
                <a:srgbClr val="FF5F25"/>
              </a:solidFill>
              <a:prstDash val="solid"/>
              <a:miter/>
            </a:ln>
          </p:spPr>
          <p:txBody>
            <a:bodyPr rtlCol="0" anchor="ctr"/>
            <a:lstStyle/>
            <a:p>
              <a:endParaRPr lang="en-US" dirty="0"/>
            </a:p>
          </p:txBody>
        </p:sp>
      </p:grpSp>
      <p:grpSp>
        <p:nvGrpSpPr>
          <p:cNvPr id="40" name="Group 39">
            <a:extLst>
              <a:ext uri="{FF2B5EF4-FFF2-40B4-BE49-F238E27FC236}">
                <a16:creationId xmlns:a16="http://schemas.microsoft.com/office/drawing/2014/main" id="{79357E26-D538-2616-024A-307CB29FE2E6}"/>
              </a:ext>
            </a:extLst>
          </p:cNvPr>
          <p:cNvGrpSpPr/>
          <p:nvPr/>
        </p:nvGrpSpPr>
        <p:grpSpPr>
          <a:xfrm>
            <a:off x="3869303" y="4276716"/>
            <a:ext cx="4138218" cy="1427977"/>
            <a:chOff x="4169669" y="2517396"/>
            <a:chExt cx="4138218" cy="1427977"/>
          </a:xfrm>
        </p:grpSpPr>
        <p:sp>
          <p:nvSpPr>
            <p:cNvPr id="37" name="TextBox 36">
              <a:extLst>
                <a:ext uri="{FF2B5EF4-FFF2-40B4-BE49-F238E27FC236}">
                  <a16:creationId xmlns:a16="http://schemas.microsoft.com/office/drawing/2014/main" id="{6C9A4468-BD3B-562B-B245-3691BC67EEDE}"/>
                </a:ext>
              </a:extLst>
            </p:cNvPr>
            <p:cNvSpPr txBox="1"/>
            <p:nvPr/>
          </p:nvSpPr>
          <p:spPr>
            <a:xfrm>
              <a:off x="4169669" y="3237487"/>
              <a:ext cx="4022281" cy="707886"/>
            </a:xfrm>
            <a:prstGeom prst="rect">
              <a:avLst/>
            </a:prstGeom>
            <a:noFill/>
          </p:spPr>
          <p:txBody>
            <a:bodyPr wrap="square" rtlCol="0">
              <a:spAutoFit/>
            </a:bodyPr>
            <a:lstStyle/>
            <a:p>
              <a:pPr algn="ctr"/>
              <a:r>
                <a:rPr lang="en-US" sz="2000" dirty="0">
                  <a:latin typeface="+mj-lt"/>
                </a:rPr>
                <a:t>Preventive actions have </a:t>
              </a:r>
              <a:r>
                <a:rPr lang="en-US" sz="2000" dirty="0">
                  <a:solidFill>
                    <a:srgbClr val="F23F00"/>
                  </a:solidFill>
                  <a:latin typeface="+mj-lt"/>
                </a:rPr>
                <a:t>high latency</a:t>
              </a:r>
              <a:br>
                <a:rPr lang="en-US" sz="2000" dirty="0">
                  <a:solidFill>
                    <a:srgbClr val="F23F00"/>
                  </a:solidFill>
                  <a:latin typeface="+mj-lt"/>
                </a:rPr>
              </a:br>
              <a:r>
                <a:rPr lang="en-US" sz="2000" i="1" dirty="0">
                  <a:latin typeface="+mj-lt"/>
                </a:rPr>
                <a:t>(e.g., 1400 ns for PRAC)</a:t>
              </a:r>
            </a:p>
          </p:txBody>
        </p:sp>
        <p:sp>
          <p:nvSpPr>
            <p:cNvPr id="39" name="Freeform: Shape 38">
              <a:extLst>
                <a:ext uri="{FF2B5EF4-FFF2-40B4-BE49-F238E27FC236}">
                  <a16:creationId xmlns:a16="http://schemas.microsoft.com/office/drawing/2014/main" id="{CB3C8CAD-2FD4-C5AD-7D80-4D0A7D19E30E}"/>
                </a:ext>
              </a:extLst>
            </p:cNvPr>
            <p:cNvSpPr/>
            <p:nvPr/>
          </p:nvSpPr>
          <p:spPr>
            <a:xfrm>
              <a:off x="8114502" y="2517396"/>
              <a:ext cx="193385" cy="914400"/>
            </a:xfrm>
            <a:custGeom>
              <a:avLst/>
              <a:gdLst>
                <a:gd name="connsiteX0" fmla="*/ 0 w 193385"/>
                <a:gd name="connsiteY0" fmla="*/ 0 h 914400"/>
                <a:gd name="connsiteX1" fmla="*/ 161925 w 193385"/>
                <a:gd name="connsiteY1" fmla="*/ 257175 h 914400"/>
                <a:gd name="connsiteX2" fmla="*/ 180975 w 193385"/>
                <a:gd name="connsiteY2" fmla="*/ 600075 h 914400"/>
                <a:gd name="connsiteX3" fmla="*/ 19050 w 19338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93385" h="914400">
                  <a:moveTo>
                    <a:pt x="0" y="0"/>
                  </a:moveTo>
                  <a:cubicBezTo>
                    <a:pt x="65881" y="78581"/>
                    <a:pt x="131763" y="157163"/>
                    <a:pt x="161925" y="257175"/>
                  </a:cubicBezTo>
                  <a:cubicBezTo>
                    <a:pt x="192088" y="357188"/>
                    <a:pt x="204787" y="490538"/>
                    <a:pt x="180975" y="600075"/>
                  </a:cubicBezTo>
                  <a:cubicBezTo>
                    <a:pt x="157163" y="709612"/>
                    <a:pt x="88106" y="812006"/>
                    <a:pt x="19050" y="91440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23E16EE4-DDCA-CE31-F06E-EBFEECB25E9C}"/>
              </a:ext>
            </a:extLst>
          </p:cNvPr>
          <p:cNvGrpSpPr/>
          <p:nvPr/>
        </p:nvGrpSpPr>
        <p:grpSpPr>
          <a:xfrm>
            <a:off x="5" y="1867062"/>
            <a:ext cx="9144000" cy="1200329"/>
            <a:chOff x="0" y="4154503"/>
            <a:chExt cx="9204671" cy="1507302"/>
          </a:xfrm>
        </p:grpSpPr>
        <p:sp>
          <p:nvSpPr>
            <p:cNvPr id="6" name="Rectangle 5">
              <a:extLst>
                <a:ext uri="{FF2B5EF4-FFF2-40B4-BE49-F238E27FC236}">
                  <a16:creationId xmlns:a16="http://schemas.microsoft.com/office/drawing/2014/main" id="{C8BBAD49-3D1E-4337-9F6D-CF1D5DB568D2}"/>
                </a:ext>
              </a:extLst>
            </p:cNvPr>
            <p:cNvSpPr/>
            <p:nvPr/>
          </p:nvSpPr>
          <p:spPr>
            <a:xfrm>
              <a:off x="0" y="4264061"/>
              <a:ext cx="9204671" cy="1272433"/>
            </a:xfrm>
            <a:prstGeom prst="rect">
              <a:avLst/>
            </a:prstGeom>
            <a:solidFill>
              <a:srgbClr val="FFE0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r>
                <a:rPr lang="en-US" sz="2800" dirty="0">
                  <a:solidFill>
                    <a:schemeClr val="tx1"/>
                  </a:solidFill>
                  <a:latin typeface="+mj-lt"/>
                </a:rPr>
                <a:t>Preventive actions often result in </a:t>
              </a:r>
              <a:r>
                <a:rPr lang="en-US" sz="2800" b="1" dirty="0">
                  <a:solidFill>
                    <a:schemeClr val="tx1"/>
                  </a:solidFill>
                  <a:latin typeface="+mj-lt"/>
                </a:rPr>
                <a:t>high memory access latencies </a:t>
              </a:r>
              <a:r>
                <a:rPr lang="en-US" sz="2800" dirty="0">
                  <a:solidFill>
                    <a:schemeClr val="tx1"/>
                  </a:solidFill>
                  <a:latin typeface="+mj-lt"/>
                </a:rPr>
                <a:t>for regular memory requests</a:t>
              </a:r>
            </a:p>
          </p:txBody>
        </p:sp>
        <p:sp>
          <p:nvSpPr>
            <p:cNvPr id="41" name="TextBox 40">
              <a:extLst>
                <a:ext uri="{FF2B5EF4-FFF2-40B4-BE49-F238E27FC236}">
                  <a16:creationId xmlns:a16="http://schemas.microsoft.com/office/drawing/2014/main" id="{29C8BE94-F765-D20D-A8DE-E6ACED328693}"/>
                </a:ext>
              </a:extLst>
            </p:cNvPr>
            <p:cNvSpPr txBox="1"/>
            <p:nvPr/>
          </p:nvSpPr>
          <p:spPr>
            <a:xfrm>
              <a:off x="57128" y="4154503"/>
              <a:ext cx="822159" cy="1507302"/>
            </a:xfrm>
            <a:prstGeom prst="rect">
              <a:avLst/>
            </a:prstGeom>
            <a:noFill/>
          </p:spPr>
          <p:txBody>
            <a:bodyPr wrap="square" rtlCol="0" anchor="ctr">
              <a:spAutoFit/>
            </a:bodyPr>
            <a:lstStyle/>
            <a:p>
              <a:pPr algn="ctr"/>
              <a:r>
                <a:rPr lang="en-US" sz="7200" dirty="0">
                  <a:solidFill>
                    <a:schemeClr val="tx1">
                      <a:lumMod val="50000"/>
                      <a:lumOff val="50000"/>
                    </a:schemeClr>
                  </a:solidFill>
                </a:rPr>
                <a:t>1</a:t>
              </a:r>
            </a:p>
          </p:txBody>
        </p:sp>
      </p:grpSp>
      <p:grpSp>
        <p:nvGrpSpPr>
          <p:cNvPr id="43" name="Group 42">
            <a:extLst>
              <a:ext uri="{FF2B5EF4-FFF2-40B4-BE49-F238E27FC236}">
                <a16:creationId xmlns:a16="http://schemas.microsoft.com/office/drawing/2014/main" id="{FAC7A906-ACC9-8AEE-1EA9-4963390C03A8}"/>
              </a:ext>
            </a:extLst>
          </p:cNvPr>
          <p:cNvGrpSpPr/>
          <p:nvPr/>
        </p:nvGrpSpPr>
        <p:grpSpPr>
          <a:xfrm>
            <a:off x="242417" y="4191716"/>
            <a:ext cx="4022281" cy="1328502"/>
            <a:chOff x="242413" y="3341366"/>
            <a:chExt cx="4022281" cy="1328502"/>
          </a:xfrm>
        </p:grpSpPr>
        <p:sp>
          <p:nvSpPr>
            <p:cNvPr id="32" name="TextBox 31">
              <a:extLst>
                <a:ext uri="{FF2B5EF4-FFF2-40B4-BE49-F238E27FC236}">
                  <a16:creationId xmlns:a16="http://schemas.microsoft.com/office/drawing/2014/main" id="{27CDACAF-B34D-4AB0-7E3B-D3E4121548D1}"/>
                </a:ext>
              </a:extLst>
            </p:cNvPr>
            <p:cNvSpPr txBox="1"/>
            <p:nvPr/>
          </p:nvSpPr>
          <p:spPr>
            <a:xfrm>
              <a:off x="242413" y="4269758"/>
              <a:ext cx="4022281" cy="400110"/>
            </a:xfrm>
            <a:prstGeom prst="rect">
              <a:avLst/>
            </a:prstGeom>
            <a:noFill/>
          </p:spPr>
          <p:txBody>
            <a:bodyPr wrap="square" rtlCol="0">
              <a:spAutoFit/>
            </a:bodyPr>
            <a:lstStyle/>
            <a:p>
              <a:pPr algn="ctr"/>
              <a:r>
                <a:rPr lang="en-US" sz="2000" i="1" dirty="0">
                  <a:solidFill>
                    <a:srgbClr val="F23F00"/>
                  </a:solidFill>
                  <a:latin typeface="+mj-lt"/>
                </a:rPr>
                <a:t>higher memory access latencies</a:t>
              </a:r>
            </a:p>
          </p:txBody>
        </p:sp>
        <p:sp>
          <p:nvSpPr>
            <p:cNvPr id="38" name="Freeform: Shape 37">
              <a:extLst>
                <a:ext uri="{FF2B5EF4-FFF2-40B4-BE49-F238E27FC236}">
                  <a16:creationId xmlns:a16="http://schemas.microsoft.com/office/drawing/2014/main" id="{55F6B675-9082-F52E-3C2A-350927B6DC4C}"/>
                </a:ext>
              </a:extLst>
            </p:cNvPr>
            <p:cNvSpPr/>
            <p:nvPr/>
          </p:nvSpPr>
          <p:spPr>
            <a:xfrm rot="1264442" flipH="1">
              <a:off x="967718" y="3341366"/>
              <a:ext cx="193385" cy="914400"/>
            </a:xfrm>
            <a:custGeom>
              <a:avLst/>
              <a:gdLst>
                <a:gd name="connsiteX0" fmla="*/ 0 w 193385"/>
                <a:gd name="connsiteY0" fmla="*/ 0 h 914400"/>
                <a:gd name="connsiteX1" fmla="*/ 161925 w 193385"/>
                <a:gd name="connsiteY1" fmla="*/ 257175 h 914400"/>
                <a:gd name="connsiteX2" fmla="*/ 180975 w 193385"/>
                <a:gd name="connsiteY2" fmla="*/ 600075 h 914400"/>
                <a:gd name="connsiteX3" fmla="*/ 19050 w 19338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93385" h="914400">
                  <a:moveTo>
                    <a:pt x="0" y="0"/>
                  </a:moveTo>
                  <a:cubicBezTo>
                    <a:pt x="65881" y="78581"/>
                    <a:pt x="131763" y="157163"/>
                    <a:pt x="161925" y="257175"/>
                  </a:cubicBezTo>
                  <a:cubicBezTo>
                    <a:pt x="192088" y="357188"/>
                    <a:pt x="204787" y="490538"/>
                    <a:pt x="180975" y="600075"/>
                  </a:cubicBezTo>
                  <a:cubicBezTo>
                    <a:pt x="157163" y="709612"/>
                    <a:pt x="88106" y="812006"/>
                    <a:pt x="19050" y="91440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5425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1000" fill="hold"/>
                                        <p:tgtEl>
                                          <p:spTgt spid="36"/>
                                        </p:tgtEl>
                                        <p:attrNameLst>
                                          <p:attrName>r</p:attrName>
                                        </p:attrNameLst>
                                      </p:cBhvr>
                                    </p:animRo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25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75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30AAD-4A0A-4CC5-555F-7D7CBEEEB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A5A58-FCEE-60B3-BBB9-BF066CE17ED6}"/>
              </a:ext>
            </a:extLst>
          </p:cNvPr>
          <p:cNvSpPr>
            <a:spLocks noGrp="1"/>
          </p:cNvSpPr>
          <p:nvPr>
            <p:ph type="title"/>
          </p:nvPr>
        </p:nvSpPr>
        <p:spPr/>
        <p:txBody>
          <a:bodyPr/>
          <a:lstStyle/>
          <a:p>
            <a:r>
              <a:rPr lang="en-US" dirty="0"/>
              <a:t>Key Observation (II)</a:t>
            </a:r>
          </a:p>
        </p:txBody>
      </p:sp>
      <p:sp>
        <p:nvSpPr>
          <p:cNvPr id="3" name="Content Placeholder 2">
            <a:extLst>
              <a:ext uri="{FF2B5EF4-FFF2-40B4-BE49-F238E27FC236}">
                <a16:creationId xmlns:a16="http://schemas.microsoft.com/office/drawing/2014/main" id="{FF559B3D-BE60-665C-5434-9F0E6B3AA8C8}"/>
              </a:ext>
            </a:extLst>
          </p:cNvPr>
          <p:cNvSpPr>
            <a:spLocks noGrp="1"/>
          </p:cNvSpPr>
          <p:nvPr>
            <p:ph idx="1"/>
          </p:nvPr>
        </p:nvSpPr>
        <p:spPr>
          <a:xfrm>
            <a:off x="-1" y="931025"/>
            <a:ext cx="9143999" cy="5245938"/>
          </a:xfrm>
        </p:spPr>
        <p:txBody>
          <a:bodyPr>
            <a:normAutofit/>
          </a:bodyPr>
          <a:lstStyle/>
          <a:p>
            <a:r>
              <a:rPr lang="en-US" sz="2400" dirty="0"/>
              <a:t>Preventive actions have </a:t>
            </a:r>
            <a:r>
              <a:rPr lang="en-US" sz="2400" b="1" dirty="0"/>
              <a:t>two fundamental features</a:t>
            </a:r>
            <a:r>
              <a:rPr lang="en-US" sz="2400" dirty="0"/>
              <a:t> that </a:t>
            </a:r>
            <a:r>
              <a:rPr lang="en-US" sz="2400" dirty="0">
                <a:solidFill>
                  <a:srgbClr val="FF0000"/>
                </a:solidFill>
              </a:rPr>
              <a:t>enable covert channels and side channels</a:t>
            </a:r>
            <a:r>
              <a:rPr lang="en-US" sz="2400" dirty="0"/>
              <a:t>:</a:t>
            </a:r>
          </a:p>
        </p:txBody>
      </p:sp>
      <p:sp>
        <p:nvSpPr>
          <p:cNvPr id="4" name="Footer Placeholder 3">
            <a:extLst>
              <a:ext uri="{FF2B5EF4-FFF2-40B4-BE49-F238E27FC236}">
                <a16:creationId xmlns:a16="http://schemas.microsoft.com/office/drawing/2014/main" id="{879902CE-DB86-2E03-2694-CBBE31F05AA3}"/>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18CD2411-3EF8-B4C6-ADE6-FBD980B43F7C}"/>
              </a:ext>
            </a:extLst>
          </p:cNvPr>
          <p:cNvSpPr>
            <a:spLocks noGrp="1"/>
          </p:cNvSpPr>
          <p:nvPr>
            <p:ph type="sldNum" sz="quarter" idx="12"/>
          </p:nvPr>
        </p:nvSpPr>
        <p:spPr/>
        <p:txBody>
          <a:bodyPr/>
          <a:lstStyle/>
          <a:p>
            <a:fld id="{CBE5B309-C2CE-4D90-B104-F7E98438FC65}" type="slidenum">
              <a:rPr lang="tr-TR" smtClean="0"/>
              <a:pPr/>
              <a:t>54</a:t>
            </a:fld>
            <a:endParaRPr lang="tr-TR" dirty="0"/>
          </a:p>
        </p:txBody>
      </p:sp>
      <p:grpSp>
        <p:nvGrpSpPr>
          <p:cNvPr id="8" name="Group 7">
            <a:extLst>
              <a:ext uri="{FF2B5EF4-FFF2-40B4-BE49-F238E27FC236}">
                <a16:creationId xmlns:a16="http://schemas.microsoft.com/office/drawing/2014/main" id="{54083A1B-CD2D-0473-A83A-701831AF1F69}"/>
              </a:ext>
            </a:extLst>
          </p:cNvPr>
          <p:cNvGrpSpPr/>
          <p:nvPr/>
        </p:nvGrpSpPr>
        <p:grpSpPr>
          <a:xfrm>
            <a:off x="1535667" y="3980815"/>
            <a:ext cx="6144657" cy="1022589"/>
            <a:chOff x="2061760" y="1640758"/>
            <a:chExt cx="7806874" cy="1299214"/>
          </a:xfrm>
        </p:grpSpPr>
        <p:pic>
          <p:nvPicPr>
            <p:cNvPr id="9" name="Picture 8">
              <a:extLst>
                <a:ext uri="{FF2B5EF4-FFF2-40B4-BE49-F238E27FC236}">
                  <a16:creationId xmlns:a16="http://schemas.microsoft.com/office/drawing/2014/main" id="{D8C15591-C7AD-745A-56F4-A61DBF34BAED}"/>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7103993" y="1640758"/>
              <a:ext cx="2764641" cy="1269564"/>
            </a:xfrm>
            <a:prstGeom prst="rect">
              <a:avLst/>
            </a:prstGeom>
          </p:spPr>
        </p:pic>
        <p:pic>
          <p:nvPicPr>
            <p:cNvPr id="10" name="Picture 9">
              <a:extLst>
                <a:ext uri="{FF2B5EF4-FFF2-40B4-BE49-F238E27FC236}">
                  <a16:creationId xmlns:a16="http://schemas.microsoft.com/office/drawing/2014/main" id="{8D6D99CE-4992-3106-B730-62D7405F7D12}"/>
                </a:ext>
              </a:extLst>
            </p:cNvPr>
            <p:cNvPicPr>
              <a:picLocks noChangeAspect="1"/>
            </p:cNvPicPr>
            <p:nvPr/>
          </p:nvPicPr>
          <p:blipFill>
            <a:blip r:embed="rId4" cstate="print">
              <a:extLst>
                <a:ext uri="{28A0092B-C50C-407E-A947-70E740481C1C}">
                  <a14:useLocalDpi xmlns:a14="http://schemas.microsoft.com/office/drawing/2010/main" val="0"/>
                </a:ext>
              </a:extLst>
            </a:blip>
            <a:srcRect l="9323" t="5852" r="5171" b="9872"/>
            <a:stretch/>
          </p:blipFill>
          <p:spPr>
            <a:xfrm>
              <a:off x="2061760" y="1681649"/>
              <a:ext cx="1276707" cy="1258323"/>
            </a:xfrm>
            <a:prstGeom prst="rect">
              <a:avLst/>
            </a:prstGeom>
          </p:spPr>
        </p:pic>
        <p:cxnSp>
          <p:nvCxnSpPr>
            <p:cNvPr id="11" name="Straight Arrow Connector 10">
              <a:extLst>
                <a:ext uri="{FF2B5EF4-FFF2-40B4-BE49-F238E27FC236}">
                  <a16:creationId xmlns:a16="http://schemas.microsoft.com/office/drawing/2014/main" id="{C9EC7827-357E-295F-F947-022AFD217FC1}"/>
                </a:ext>
              </a:extLst>
            </p:cNvPr>
            <p:cNvCxnSpPr>
              <a:cxnSpLocks/>
            </p:cNvCxnSpPr>
            <p:nvPr/>
          </p:nvCxnSpPr>
          <p:spPr>
            <a:xfrm>
              <a:off x="3415553" y="2275539"/>
              <a:ext cx="3512949" cy="0"/>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pic>
        <p:nvPicPr>
          <p:cNvPr id="33" name="Graphic 32" descr="Hourglass 60% with solid fill">
            <a:extLst>
              <a:ext uri="{FF2B5EF4-FFF2-40B4-BE49-F238E27FC236}">
                <a16:creationId xmlns:a16="http://schemas.microsoft.com/office/drawing/2014/main" id="{4CAB70FD-A22A-82CA-F115-17809774D9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6814" y="3697416"/>
            <a:ext cx="822159" cy="822159"/>
          </a:xfrm>
          <a:prstGeom prst="rect">
            <a:avLst/>
          </a:prstGeom>
        </p:spPr>
      </p:pic>
      <p:grpSp>
        <p:nvGrpSpPr>
          <p:cNvPr id="36" name="Group 35">
            <a:extLst>
              <a:ext uri="{FF2B5EF4-FFF2-40B4-BE49-F238E27FC236}">
                <a16:creationId xmlns:a16="http://schemas.microsoft.com/office/drawing/2014/main" id="{5E0CE52D-BF2A-F0C0-4EF7-BCDD52CC3EC4}"/>
              </a:ext>
            </a:extLst>
          </p:cNvPr>
          <p:cNvGrpSpPr/>
          <p:nvPr/>
        </p:nvGrpSpPr>
        <p:grpSpPr>
          <a:xfrm>
            <a:off x="5953099" y="3741912"/>
            <a:ext cx="1382813" cy="1003673"/>
            <a:chOff x="6180810" y="1992415"/>
            <a:chExt cx="1382813" cy="1003673"/>
          </a:xfrm>
        </p:grpSpPr>
        <p:sp>
          <p:nvSpPr>
            <p:cNvPr id="34" name="Freeform: Shape 33">
              <a:extLst>
                <a:ext uri="{FF2B5EF4-FFF2-40B4-BE49-F238E27FC236}">
                  <a16:creationId xmlns:a16="http://schemas.microsoft.com/office/drawing/2014/main" id="{15744386-6B0D-28DF-33E0-30F6F0AFE525}"/>
                </a:ext>
              </a:extLst>
            </p:cNvPr>
            <p:cNvSpPr/>
            <p:nvPr/>
          </p:nvSpPr>
          <p:spPr>
            <a:xfrm>
              <a:off x="6180810" y="1992415"/>
              <a:ext cx="1145657" cy="644708"/>
            </a:xfrm>
            <a:custGeom>
              <a:avLst/>
              <a:gdLst>
                <a:gd name="connsiteX0" fmla="*/ 443938 w 1145657"/>
                <a:gd name="connsiteY0" fmla="*/ 422740 h 644708"/>
                <a:gd name="connsiteX1" fmla="*/ 422462 w 1145657"/>
                <a:gd name="connsiteY1" fmla="*/ 401249 h 644708"/>
                <a:gd name="connsiteX2" fmla="*/ 229912 w 1145657"/>
                <a:gd name="connsiteY2" fmla="*/ 593814 h 644708"/>
                <a:gd name="connsiteX3" fmla="*/ 229698 w 1145657"/>
                <a:gd name="connsiteY3" fmla="*/ 593814 h 644708"/>
                <a:gd name="connsiteX4" fmla="*/ 229654 w 1145657"/>
                <a:gd name="connsiteY4" fmla="*/ 593723 h 644708"/>
                <a:gd name="connsiteX5" fmla="*/ 599535 w 1145657"/>
                <a:gd name="connsiteY5" fmla="*/ 40071 h 644708"/>
                <a:gd name="connsiteX6" fmla="*/ 1118137 w 1145657"/>
                <a:gd name="connsiteY6" fmla="*/ 302878 h 644708"/>
                <a:gd name="connsiteX7" fmla="*/ 1145658 w 1145657"/>
                <a:gd name="connsiteY7" fmla="*/ 290014 h 644708"/>
                <a:gd name="connsiteX8" fmla="*/ 480054 w 1145657"/>
                <a:gd name="connsiteY8" fmla="*/ 46800 h 644708"/>
                <a:gd name="connsiteX9" fmla="*/ 195633 w 1145657"/>
                <a:gd name="connsiteY9" fmla="*/ 575073 h 644708"/>
                <a:gd name="connsiteX10" fmla="*/ 195553 w 1145657"/>
                <a:gd name="connsiteY10" fmla="*/ 575249 h 644708"/>
                <a:gd name="connsiteX11" fmla="*/ 195390 w 1145657"/>
                <a:gd name="connsiteY11" fmla="*/ 575194 h 644708"/>
                <a:gd name="connsiteX12" fmla="*/ 21475 w 1145657"/>
                <a:gd name="connsiteY12" fmla="*/ 401249 h 644708"/>
                <a:gd name="connsiteX13" fmla="*/ 0 w 1145657"/>
                <a:gd name="connsiteY13" fmla="*/ 422740 h 644708"/>
                <a:gd name="connsiteX14" fmla="*/ 221969 w 1145657"/>
                <a:gd name="connsiteY14" fmla="*/ 644709 h 64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7" h="644708">
                  <a:moveTo>
                    <a:pt x="443938" y="422740"/>
                  </a:moveTo>
                  <a:lnTo>
                    <a:pt x="422462" y="401249"/>
                  </a:lnTo>
                  <a:lnTo>
                    <a:pt x="229912" y="593814"/>
                  </a:lnTo>
                  <a:cubicBezTo>
                    <a:pt x="229853" y="593874"/>
                    <a:pt x="229757" y="593874"/>
                    <a:pt x="229698" y="593814"/>
                  </a:cubicBezTo>
                  <a:cubicBezTo>
                    <a:pt x="229674" y="593790"/>
                    <a:pt x="229657" y="593758"/>
                    <a:pt x="229654" y="593723"/>
                  </a:cubicBezTo>
                  <a:cubicBezTo>
                    <a:pt x="178907" y="338697"/>
                    <a:pt x="344508" y="90817"/>
                    <a:pt x="599535" y="40071"/>
                  </a:cubicBezTo>
                  <a:cubicBezTo>
                    <a:pt x="812305" y="-2268"/>
                    <a:pt x="1026463" y="106257"/>
                    <a:pt x="1118137" y="302878"/>
                  </a:cubicBezTo>
                  <a:lnTo>
                    <a:pt x="1145658" y="290014"/>
                  </a:lnTo>
                  <a:cubicBezTo>
                    <a:pt x="1029017" y="39051"/>
                    <a:pt x="731017" y="-69839"/>
                    <a:pt x="480054" y="46800"/>
                  </a:cubicBezTo>
                  <a:cubicBezTo>
                    <a:pt x="278654" y="140405"/>
                    <a:pt x="162896" y="355411"/>
                    <a:pt x="195633" y="575073"/>
                  </a:cubicBezTo>
                  <a:cubicBezTo>
                    <a:pt x="195659" y="575144"/>
                    <a:pt x="195623" y="575222"/>
                    <a:pt x="195553" y="575249"/>
                  </a:cubicBezTo>
                  <a:cubicBezTo>
                    <a:pt x="195492" y="575270"/>
                    <a:pt x="195425" y="575247"/>
                    <a:pt x="195390" y="575194"/>
                  </a:cubicBezTo>
                  <a:lnTo>
                    <a:pt x="21475" y="401249"/>
                  </a:lnTo>
                  <a:lnTo>
                    <a:pt x="0" y="422740"/>
                  </a:lnTo>
                  <a:lnTo>
                    <a:pt x="221969" y="644709"/>
                  </a:lnTo>
                  <a:close/>
                </a:path>
              </a:pathLst>
            </a:custGeom>
            <a:solidFill>
              <a:srgbClr val="FF0000"/>
            </a:solidFill>
            <a:ln w="60722" cap="flat">
              <a:solidFill>
                <a:srgbClr val="FF5F25"/>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EEA990A-6C83-7F30-F9F7-3685B415F60C}"/>
                </a:ext>
              </a:extLst>
            </p:cNvPr>
            <p:cNvSpPr/>
            <p:nvPr/>
          </p:nvSpPr>
          <p:spPr>
            <a:xfrm>
              <a:off x="6429372" y="2382926"/>
              <a:ext cx="1134251" cy="613162"/>
            </a:xfrm>
            <a:custGeom>
              <a:avLst/>
              <a:gdLst>
                <a:gd name="connsiteX0" fmla="*/ 690283 w 1134251"/>
                <a:gd name="connsiteY0" fmla="*/ 221984 h 613162"/>
                <a:gd name="connsiteX1" fmla="*/ 711759 w 1134251"/>
                <a:gd name="connsiteY1" fmla="*/ 243460 h 613162"/>
                <a:gd name="connsiteX2" fmla="*/ 908592 w 1134251"/>
                <a:gd name="connsiteY2" fmla="*/ 46626 h 613162"/>
                <a:gd name="connsiteX3" fmla="*/ 908806 w 1134251"/>
                <a:gd name="connsiteY3" fmla="*/ 46626 h 613162"/>
                <a:gd name="connsiteX4" fmla="*/ 908850 w 1134251"/>
                <a:gd name="connsiteY4" fmla="*/ 46718 h 613162"/>
                <a:gd name="connsiteX5" fmla="*/ 511759 w 1134251"/>
                <a:gd name="connsiteY5" fmla="*/ 577681 h 613162"/>
                <a:gd name="connsiteX6" fmla="*/ 442829 w 1134251"/>
                <a:gd name="connsiteY6" fmla="*/ 582481 h 613162"/>
                <a:gd name="connsiteX7" fmla="*/ 26822 w 1134251"/>
                <a:gd name="connsiteY7" fmla="*/ 332354 h 613162"/>
                <a:gd name="connsiteX8" fmla="*/ 0 w 1134251"/>
                <a:gd name="connsiteY8" fmla="*/ 346600 h 613162"/>
                <a:gd name="connsiteX9" fmla="*/ 677562 w 1134251"/>
                <a:gd name="connsiteY9" fmla="*/ 554696 h 613162"/>
                <a:gd name="connsiteX10" fmla="*/ 944025 w 1134251"/>
                <a:gd name="connsiteY10" fmla="*/ 111660 h 613162"/>
                <a:gd name="connsiteX11" fmla="*/ 942506 w 1134251"/>
                <a:gd name="connsiteY11" fmla="*/ 73539 h 613162"/>
                <a:gd name="connsiteX12" fmla="*/ 942658 w 1134251"/>
                <a:gd name="connsiteY12" fmla="*/ 73387 h 613162"/>
                <a:gd name="connsiteX13" fmla="*/ 942749 w 1134251"/>
                <a:gd name="connsiteY13" fmla="*/ 73418 h 613162"/>
                <a:gd name="connsiteX14" fmla="*/ 1112776 w 1134251"/>
                <a:gd name="connsiteY14" fmla="*/ 243520 h 613162"/>
                <a:gd name="connsiteX15" fmla="*/ 1134252 w 1134251"/>
                <a:gd name="connsiteY15" fmla="*/ 222045 h 613162"/>
                <a:gd name="connsiteX16" fmla="*/ 912252 w 1134251"/>
                <a:gd name="connsiteY16" fmla="*/ 0 h 6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251" h="613162">
                  <a:moveTo>
                    <a:pt x="690283" y="221984"/>
                  </a:moveTo>
                  <a:lnTo>
                    <a:pt x="711759" y="243460"/>
                  </a:lnTo>
                  <a:lnTo>
                    <a:pt x="908592" y="46626"/>
                  </a:lnTo>
                  <a:cubicBezTo>
                    <a:pt x="908651" y="46567"/>
                    <a:pt x="908747" y="46567"/>
                    <a:pt x="908806" y="46626"/>
                  </a:cubicBezTo>
                  <a:cubicBezTo>
                    <a:pt x="908830" y="46651"/>
                    <a:pt x="908847" y="46683"/>
                    <a:pt x="908850" y="46718"/>
                  </a:cubicBezTo>
                  <a:cubicBezTo>
                    <a:pt x="945819" y="302993"/>
                    <a:pt x="768034" y="540714"/>
                    <a:pt x="511759" y="577681"/>
                  </a:cubicBezTo>
                  <a:cubicBezTo>
                    <a:pt x="488932" y="580974"/>
                    <a:pt x="465893" y="582579"/>
                    <a:pt x="442829" y="582481"/>
                  </a:cubicBezTo>
                  <a:cubicBezTo>
                    <a:pt x="268522" y="582642"/>
                    <a:pt x="108422" y="486382"/>
                    <a:pt x="26822" y="332354"/>
                  </a:cubicBezTo>
                  <a:lnTo>
                    <a:pt x="0" y="346600"/>
                  </a:lnTo>
                  <a:cubicBezTo>
                    <a:pt x="129640" y="591168"/>
                    <a:pt x="432994" y="684336"/>
                    <a:pt x="677562" y="554696"/>
                  </a:cubicBezTo>
                  <a:cubicBezTo>
                    <a:pt x="841573" y="467758"/>
                    <a:pt x="944101" y="297290"/>
                    <a:pt x="944025" y="111660"/>
                  </a:cubicBezTo>
                  <a:cubicBezTo>
                    <a:pt x="944025" y="98948"/>
                    <a:pt x="943433" y="86221"/>
                    <a:pt x="942506" y="73539"/>
                  </a:cubicBezTo>
                  <a:cubicBezTo>
                    <a:pt x="942506" y="73456"/>
                    <a:pt x="942575" y="73387"/>
                    <a:pt x="942658" y="73387"/>
                  </a:cubicBezTo>
                  <a:cubicBezTo>
                    <a:pt x="942692" y="73387"/>
                    <a:pt x="942723" y="73398"/>
                    <a:pt x="942749" y="73418"/>
                  </a:cubicBezTo>
                  <a:lnTo>
                    <a:pt x="1112776" y="243520"/>
                  </a:lnTo>
                  <a:lnTo>
                    <a:pt x="1134252" y="222045"/>
                  </a:lnTo>
                  <a:lnTo>
                    <a:pt x="912252" y="0"/>
                  </a:lnTo>
                  <a:close/>
                </a:path>
              </a:pathLst>
            </a:custGeom>
            <a:solidFill>
              <a:srgbClr val="FF0000"/>
            </a:solidFill>
            <a:ln w="60722" cap="flat">
              <a:solidFill>
                <a:srgbClr val="FF5F25"/>
              </a:solid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434DF652-4E81-D51A-AE87-65C9628A95E9}"/>
              </a:ext>
            </a:extLst>
          </p:cNvPr>
          <p:cNvGrpSpPr/>
          <p:nvPr/>
        </p:nvGrpSpPr>
        <p:grpSpPr>
          <a:xfrm>
            <a:off x="-2" y="1856552"/>
            <a:ext cx="9144000" cy="1200329"/>
            <a:chOff x="0" y="4161180"/>
            <a:chExt cx="9204671" cy="1493951"/>
          </a:xfrm>
        </p:grpSpPr>
        <p:sp>
          <p:nvSpPr>
            <p:cNvPr id="13" name="Rectangle 12">
              <a:extLst>
                <a:ext uri="{FF2B5EF4-FFF2-40B4-BE49-F238E27FC236}">
                  <a16:creationId xmlns:a16="http://schemas.microsoft.com/office/drawing/2014/main" id="{D7CCB9C2-D65A-7D61-ADFF-97C527F29155}"/>
                </a:ext>
              </a:extLst>
            </p:cNvPr>
            <p:cNvSpPr/>
            <p:nvPr/>
          </p:nvSpPr>
          <p:spPr>
            <a:xfrm>
              <a:off x="0" y="4292807"/>
              <a:ext cx="9204671" cy="1243688"/>
            </a:xfrm>
            <a:prstGeom prst="rect">
              <a:avLst/>
            </a:prstGeom>
            <a:solidFill>
              <a:srgbClr val="FFE0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r>
                <a:rPr lang="en-US" sz="2800" dirty="0">
                  <a:solidFill>
                    <a:schemeClr val="tx1"/>
                  </a:solidFill>
                  <a:latin typeface="+mj-lt"/>
                </a:rPr>
                <a:t>A user can leverage memory access patterns </a:t>
              </a:r>
              <a:br>
                <a:rPr lang="en-US" sz="2800" dirty="0">
                  <a:solidFill>
                    <a:schemeClr val="tx1"/>
                  </a:solidFill>
                  <a:latin typeface="+mj-lt"/>
                </a:rPr>
              </a:br>
              <a:r>
                <a:rPr lang="en-US" sz="2800" dirty="0">
                  <a:solidFill>
                    <a:schemeClr val="tx1"/>
                  </a:solidFill>
                  <a:latin typeface="+mj-lt"/>
                </a:rPr>
                <a:t>to </a:t>
              </a:r>
              <a:r>
                <a:rPr lang="en-US" sz="2800" b="1" dirty="0">
                  <a:solidFill>
                    <a:schemeClr val="tx1"/>
                  </a:solidFill>
                  <a:latin typeface="+mj-lt"/>
                </a:rPr>
                <a:t>intentionally trigger a preventive action </a:t>
              </a:r>
            </a:p>
          </p:txBody>
        </p:sp>
        <p:sp>
          <p:nvSpPr>
            <p:cNvPr id="14" name="TextBox 13">
              <a:extLst>
                <a:ext uri="{FF2B5EF4-FFF2-40B4-BE49-F238E27FC236}">
                  <a16:creationId xmlns:a16="http://schemas.microsoft.com/office/drawing/2014/main" id="{E2F84A78-3F3B-6108-2D7D-46C1A3F34782}"/>
                </a:ext>
              </a:extLst>
            </p:cNvPr>
            <p:cNvSpPr txBox="1"/>
            <p:nvPr/>
          </p:nvSpPr>
          <p:spPr>
            <a:xfrm>
              <a:off x="54147" y="4161180"/>
              <a:ext cx="822159" cy="1493951"/>
            </a:xfrm>
            <a:prstGeom prst="rect">
              <a:avLst/>
            </a:prstGeom>
            <a:noFill/>
          </p:spPr>
          <p:txBody>
            <a:bodyPr wrap="square" rtlCol="0" anchor="ctr">
              <a:spAutoFit/>
            </a:bodyPr>
            <a:lstStyle/>
            <a:p>
              <a:pPr algn="ctr"/>
              <a:r>
                <a:rPr lang="en-US" sz="7200" dirty="0">
                  <a:solidFill>
                    <a:schemeClr val="tx1">
                      <a:lumMod val="50000"/>
                      <a:lumOff val="50000"/>
                    </a:schemeClr>
                  </a:solidFill>
                </a:rPr>
                <a:t>2</a:t>
              </a:r>
            </a:p>
          </p:txBody>
        </p:sp>
      </p:grpSp>
      <p:grpSp>
        <p:nvGrpSpPr>
          <p:cNvPr id="20" name="Group 19">
            <a:extLst>
              <a:ext uri="{FF2B5EF4-FFF2-40B4-BE49-F238E27FC236}">
                <a16:creationId xmlns:a16="http://schemas.microsoft.com/office/drawing/2014/main" id="{5F6F0B84-8328-83D0-0E4B-1818414D8B4D}"/>
              </a:ext>
            </a:extLst>
          </p:cNvPr>
          <p:cNvGrpSpPr/>
          <p:nvPr/>
        </p:nvGrpSpPr>
        <p:grpSpPr>
          <a:xfrm>
            <a:off x="2721778" y="4045236"/>
            <a:ext cx="1359935" cy="934831"/>
            <a:chOff x="2603461" y="4569210"/>
            <a:chExt cx="1359935" cy="934831"/>
          </a:xfrm>
        </p:grpSpPr>
        <p:sp>
          <p:nvSpPr>
            <p:cNvPr id="15" name="Rectangle 14">
              <a:extLst>
                <a:ext uri="{FF2B5EF4-FFF2-40B4-BE49-F238E27FC236}">
                  <a16:creationId xmlns:a16="http://schemas.microsoft.com/office/drawing/2014/main" id="{06078A12-0CD6-E155-A0A2-FE3E25E4B37A}"/>
                </a:ext>
              </a:extLst>
            </p:cNvPr>
            <p:cNvSpPr/>
            <p:nvPr/>
          </p:nvSpPr>
          <p:spPr>
            <a:xfrm>
              <a:off x="2603461" y="4569210"/>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16" name="Rectangle 15">
              <a:extLst>
                <a:ext uri="{FF2B5EF4-FFF2-40B4-BE49-F238E27FC236}">
                  <a16:creationId xmlns:a16="http://schemas.microsoft.com/office/drawing/2014/main" id="{4D81E77B-3FD8-4CA7-61D0-0B1FAD8E7E07}"/>
                </a:ext>
              </a:extLst>
            </p:cNvPr>
            <p:cNvSpPr/>
            <p:nvPr/>
          </p:nvSpPr>
          <p:spPr>
            <a:xfrm>
              <a:off x="2911665" y="4653682"/>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17" name="Rectangle 16">
              <a:extLst>
                <a:ext uri="{FF2B5EF4-FFF2-40B4-BE49-F238E27FC236}">
                  <a16:creationId xmlns:a16="http://schemas.microsoft.com/office/drawing/2014/main" id="{FFEE4BBA-7B39-420E-FF77-CF05010AD8B4}"/>
                </a:ext>
              </a:extLst>
            </p:cNvPr>
            <p:cNvSpPr/>
            <p:nvPr/>
          </p:nvSpPr>
          <p:spPr>
            <a:xfrm>
              <a:off x="2603461" y="5192078"/>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sp>
          <p:nvSpPr>
            <p:cNvPr id="19" name="Rectangle 18">
              <a:extLst>
                <a:ext uri="{FF2B5EF4-FFF2-40B4-BE49-F238E27FC236}">
                  <a16:creationId xmlns:a16="http://schemas.microsoft.com/office/drawing/2014/main" id="{D692EED6-44F0-ACEB-EE37-7B12AA95622A}"/>
                </a:ext>
              </a:extLst>
            </p:cNvPr>
            <p:cNvSpPr/>
            <p:nvPr/>
          </p:nvSpPr>
          <p:spPr>
            <a:xfrm>
              <a:off x="2958522" y="5266552"/>
              <a:ext cx="1004874" cy="237489"/>
            </a:xfrm>
            <a:prstGeom prst="rect">
              <a:avLst/>
            </a:prstGeom>
            <a:solidFill>
              <a:schemeClr val="accent6">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a:t>
              </a:r>
            </a:p>
          </p:txBody>
        </p:sp>
      </p:grpSp>
      <p:pic>
        <p:nvPicPr>
          <p:cNvPr id="31" name="Graphic 30" descr="Hammer1 with solid fill">
            <a:extLst>
              <a:ext uri="{FF2B5EF4-FFF2-40B4-BE49-F238E27FC236}">
                <a16:creationId xmlns:a16="http://schemas.microsoft.com/office/drawing/2014/main" id="{173FB929-F7AB-C94A-F5BE-DB2ED9FCB3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06024" y="3540638"/>
            <a:ext cx="914400" cy="914400"/>
          </a:xfrm>
          <a:prstGeom prst="rect">
            <a:avLst/>
          </a:prstGeom>
        </p:spPr>
      </p:pic>
      <p:grpSp>
        <p:nvGrpSpPr>
          <p:cNvPr id="43" name="Group 42">
            <a:extLst>
              <a:ext uri="{FF2B5EF4-FFF2-40B4-BE49-F238E27FC236}">
                <a16:creationId xmlns:a16="http://schemas.microsoft.com/office/drawing/2014/main" id="{0D2612C0-CA16-CB8C-1E95-F05A3133AABC}"/>
              </a:ext>
            </a:extLst>
          </p:cNvPr>
          <p:cNvGrpSpPr/>
          <p:nvPr/>
        </p:nvGrpSpPr>
        <p:grpSpPr>
          <a:xfrm>
            <a:off x="242417" y="4200378"/>
            <a:ext cx="4022281" cy="1328502"/>
            <a:chOff x="242413" y="3341366"/>
            <a:chExt cx="4022281" cy="1328502"/>
          </a:xfrm>
        </p:grpSpPr>
        <p:sp>
          <p:nvSpPr>
            <p:cNvPr id="32" name="TextBox 31">
              <a:extLst>
                <a:ext uri="{FF2B5EF4-FFF2-40B4-BE49-F238E27FC236}">
                  <a16:creationId xmlns:a16="http://schemas.microsoft.com/office/drawing/2014/main" id="{9363D3DD-A8EE-2967-6C7A-3B2F45BA8248}"/>
                </a:ext>
              </a:extLst>
            </p:cNvPr>
            <p:cNvSpPr txBox="1"/>
            <p:nvPr/>
          </p:nvSpPr>
          <p:spPr>
            <a:xfrm>
              <a:off x="242413" y="4269758"/>
              <a:ext cx="4022281" cy="400110"/>
            </a:xfrm>
            <a:prstGeom prst="rect">
              <a:avLst/>
            </a:prstGeom>
            <a:noFill/>
          </p:spPr>
          <p:txBody>
            <a:bodyPr wrap="square" rtlCol="0">
              <a:spAutoFit/>
            </a:bodyPr>
            <a:lstStyle/>
            <a:p>
              <a:pPr algn="ctr"/>
              <a:r>
                <a:rPr lang="en-US" sz="2000" i="1" dirty="0">
                  <a:solidFill>
                    <a:srgbClr val="F23F00"/>
                  </a:solidFill>
                  <a:latin typeface="+mj-lt"/>
                </a:rPr>
                <a:t>higher memory access latencies</a:t>
              </a:r>
            </a:p>
          </p:txBody>
        </p:sp>
        <p:sp>
          <p:nvSpPr>
            <p:cNvPr id="38" name="Freeform: Shape 37">
              <a:extLst>
                <a:ext uri="{FF2B5EF4-FFF2-40B4-BE49-F238E27FC236}">
                  <a16:creationId xmlns:a16="http://schemas.microsoft.com/office/drawing/2014/main" id="{D5766FC5-2AD8-3E7B-5BA5-E728D0336C98}"/>
                </a:ext>
              </a:extLst>
            </p:cNvPr>
            <p:cNvSpPr/>
            <p:nvPr/>
          </p:nvSpPr>
          <p:spPr>
            <a:xfrm rot="1264442" flipH="1">
              <a:off x="967718" y="3341366"/>
              <a:ext cx="193385" cy="914400"/>
            </a:xfrm>
            <a:custGeom>
              <a:avLst/>
              <a:gdLst>
                <a:gd name="connsiteX0" fmla="*/ 0 w 193385"/>
                <a:gd name="connsiteY0" fmla="*/ 0 h 914400"/>
                <a:gd name="connsiteX1" fmla="*/ 161925 w 193385"/>
                <a:gd name="connsiteY1" fmla="*/ 257175 h 914400"/>
                <a:gd name="connsiteX2" fmla="*/ 180975 w 193385"/>
                <a:gd name="connsiteY2" fmla="*/ 600075 h 914400"/>
                <a:gd name="connsiteX3" fmla="*/ 19050 w 19338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93385" h="914400">
                  <a:moveTo>
                    <a:pt x="0" y="0"/>
                  </a:moveTo>
                  <a:cubicBezTo>
                    <a:pt x="65881" y="78581"/>
                    <a:pt x="131763" y="157163"/>
                    <a:pt x="161925" y="257175"/>
                  </a:cubicBezTo>
                  <a:cubicBezTo>
                    <a:pt x="192088" y="357188"/>
                    <a:pt x="204787" y="490538"/>
                    <a:pt x="180975" y="600075"/>
                  </a:cubicBezTo>
                  <a:cubicBezTo>
                    <a:pt x="157163" y="709612"/>
                    <a:pt x="88106" y="812006"/>
                    <a:pt x="19050" y="91440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5" name="Graphic 44" descr="Devil face with solid fill with solid fill">
            <a:extLst>
              <a:ext uri="{FF2B5EF4-FFF2-40B4-BE49-F238E27FC236}">
                <a16:creationId xmlns:a16="http://schemas.microsoft.com/office/drawing/2014/main" id="{7EDDFA6C-5835-962F-28B2-51CC5B4E3BE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5252" y="3412779"/>
            <a:ext cx="585890" cy="585890"/>
          </a:xfrm>
          <a:prstGeom prst="rect">
            <a:avLst/>
          </a:prstGeom>
        </p:spPr>
      </p:pic>
    </p:spTree>
    <p:extLst>
      <p:ext uri="{BB962C8B-B14F-4D97-AF65-F5344CB8AC3E}">
        <p14:creationId xmlns:p14="http://schemas.microsoft.com/office/powerpoint/2010/main" val="312742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63" presetClass="path" presetSubtype="0" accel="50000" decel="50000" fill="hold" nodeType="withEffect">
                                  <p:stCondLst>
                                    <p:cond delay="0"/>
                                  </p:stCondLst>
                                  <p:childTnLst>
                                    <p:animMotion origin="layout" path="M 1.38889E-6 -3.7037E-7 L 0.25 -3.7037E-7 " pathEditMode="relative" rAng="0" ptsTypes="AA">
                                      <p:cBhvr>
                                        <p:cTn id="14" dur="1000" fill="hold"/>
                                        <p:tgtEl>
                                          <p:spTgt spid="20"/>
                                        </p:tgtEl>
                                        <p:attrNameLst>
                                          <p:attrName>ppt_x</p:attrName>
                                          <p:attrName>ppt_y</p:attrName>
                                        </p:attrNameLst>
                                      </p:cBhvr>
                                      <p:rCtr x="12500" y="0"/>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D88FA-9F96-6DA7-A7D6-35C1F4640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52CF0-5069-99B2-89F7-C8B7CBAFD712}"/>
              </a:ext>
            </a:extLst>
          </p:cNvPr>
          <p:cNvSpPr>
            <a:spLocks noGrp="1"/>
          </p:cNvSpPr>
          <p:nvPr>
            <p:ph type="title"/>
          </p:nvPr>
        </p:nvSpPr>
        <p:spPr/>
        <p:txBody>
          <a:bodyPr/>
          <a:lstStyle/>
          <a:p>
            <a:r>
              <a:rPr lang="en-US" dirty="0"/>
              <a:t>Talk Outline</a:t>
            </a:r>
          </a:p>
        </p:txBody>
      </p:sp>
      <p:sp>
        <p:nvSpPr>
          <p:cNvPr id="3" name="Content Placeholder 2">
            <a:extLst>
              <a:ext uri="{FF2B5EF4-FFF2-40B4-BE49-F238E27FC236}">
                <a16:creationId xmlns:a16="http://schemas.microsoft.com/office/drawing/2014/main" id="{DFCBC399-325C-2E04-B740-D1C4046932C2}"/>
              </a:ext>
            </a:extLst>
          </p:cNvPr>
          <p:cNvSpPr>
            <a:spLocks noGrp="1"/>
          </p:cNvSpPr>
          <p:nvPr>
            <p:ph idx="1"/>
          </p:nvPr>
        </p:nvSpPr>
        <p:spPr/>
        <p:txBody>
          <a:bodyPr>
            <a:normAutofit/>
          </a:bodyPr>
          <a:lstStyle/>
          <a:p>
            <a:pPr marL="571500" indent="-571500">
              <a:lnSpc>
                <a:spcPct val="150000"/>
              </a:lnSpc>
              <a:buFont typeface="+mj-lt"/>
              <a:buAutoNum type="romanUcPeriod"/>
            </a:pPr>
            <a:r>
              <a:rPr lang="en-US" sz="3200" dirty="0">
                <a:solidFill>
                  <a:schemeClr val="tx1">
                    <a:lumMod val="50000"/>
                    <a:lumOff val="50000"/>
                  </a:schemeClr>
                </a:solidFill>
              </a:rPr>
              <a:t>Motivation and Problem</a:t>
            </a:r>
          </a:p>
          <a:p>
            <a:pPr marL="571500" indent="-571500">
              <a:lnSpc>
                <a:spcPct val="150000"/>
              </a:lnSpc>
              <a:buFont typeface="+mj-lt"/>
              <a:buAutoNum type="romanUcPeriod"/>
            </a:pPr>
            <a:r>
              <a:rPr lang="en-US" sz="3200" dirty="0">
                <a:solidFill>
                  <a:schemeClr val="tx1">
                    <a:lumMod val="50000"/>
                    <a:lumOff val="50000"/>
                  </a:schemeClr>
                </a:solidFill>
              </a:rPr>
              <a:t>Key Observation</a:t>
            </a:r>
          </a:p>
          <a:p>
            <a:pPr marL="571500" indent="-571500">
              <a:lnSpc>
                <a:spcPct val="150000"/>
              </a:lnSpc>
              <a:buFont typeface="+mj-lt"/>
              <a:buAutoNum type="romanUcPeriod"/>
            </a:pPr>
            <a:r>
              <a:rPr lang="en-US" sz="3200" b="1" dirty="0" err="1"/>
              <a:t>LeakyHammer</a:t>
            </a:r>
            <a:r>
              <a:rPr lang="en-US" sz="3200" b="1" dirty="0"/>
              <a:t> and Case Studies</a:t>
            </a:r>
          </a:p>
          <a:p>
            <a:pPr marL="571500" indent="-571500">
              <a:lnSpc>
                <a:spcPct val="150000"/>
              </a:lnSpc>
              <a:buFont typeface="+mj-lt"/>
              <a:buAutoNum type="romanUcPeriod"/>
            </a:pPr>
            <a:r>
              <a:rPr lang="en-US" sz="3200" dirty="0">
                <a:solidFill>
                  <a:schemeClr val="tx1">
                    <a:lumMod val="50000"/>
                    <a:lumOff val="50000"/>
                  </a:schemeClr>
                </a:solidFill>
              </a:rPr>
              <a:t>Mitigating </a:t>
            </a:r>
            <a:r>
              <a:rPr lang="en-US" sz="3200" dirty="0" err="1">
                <a:solidFill>
                  <a:schemeClr val="tx1">
                    <a:lumMod val="50000"/>
                    <a:lumOff val="50000"/>
                  </a:schemeClr>
                </a:solidFill>
              </a:rPr>
              <a:t>LeakyHammer</a:t>
            </a:r>
            <a:endParaRPr lang="en-US" sz="3200" dirty="0">
              <a:solidFill>
                <a:schemeClr val="tx1">
                  <a:lumMod val="50000"/>
                  <a:lumOff val="50000"/>
                </a:schemeClr>
              </a:solidFill>
            </a:endParaRPr>
          </a:p>
          <a:p>
            <a:pPr marL="571500" indent="-571500">
              <a:lnSpc>
                <a:spcPct val="150000"/>
              </a:lnSpc>
              <a:buFont typeface="+mj-lt"/>
              <a:buAutoNum type="romanUcPeriod"/>
            </a:pPr>
            <a:r>
              <a:rPr lang="en-US" sz="3200" dirty="0">
                <a:solidFill>
                  <a:schemeClr val="tx1">
                    <a:lumMod val="50000"/>
                    <a:lumOff val="50000"/>
                  </a:schemeClr>
                </a:solidFill>
              </a:rPr>
              <a:t>Conclusion</a:t>
            </a:r>
          </a:p>
        </p:txBody>
      </p:sp>
      <p:sp>
        <p:nvSpPr>
          <p:cNvPr id="4" name="Footer Placeholder 3">
            <a:extLst>
              <a:ext uri="{FF2B5EF4-FFF2-40B4-BE49-F238E27FC236}">
                <a16:creationId xmlns:a16="http://schemas.microsoft.com/office/drawing/2014/main" id="{B35C04B0-B93D-6F9F-D00C-E55A0AADCEA3}"/>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7EC99E17-3C2C-F3C9-6538-1D971B919766}"/>
              </a:ext>
            </a:extLst>
          </p:cNvPr>
          <p:cNvSpPr>
            <a:spLocks noGrp="1"/>
          </p:cNvSpPr>
          <p:nvPr>
            <p:ph type="sldNum" sz="quarter" idx="12"/>
          </p:nvPr>
        </p:nvSpPr>
        <p:spPr/>
        <p:txBody>
          <a:bodyPr/>
          <a:lstStyle/>
          <a:p>
            <a:fld id="{CBE5B309-C2CE-4D90-B104-F7E98438FC65}" type="slidenum">
              <a:rPr lang="tr-TR" smtClean="0"/>
              <a:pPr/>
              <a:t>55</a:t>
            </a:fld>
            <a:endParaRPr lang="tr-TR" dirty="0"/>
          </a:p>
        </p:txBody>
      </p:sp>
    </p:spTree>
    <p:extLst>
      <p:ext uri="{BB962C8B-B14F-4D97-AF65-F5344CB8AC3E}">
        <p14:creationId xmlns:p14="http://schemas.microsoft.com/office/powerpoint/2010/main" val="22555056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74E00CE-85DE-AD04-0CD2-D24D7B87658A}"/>
              </a:ext>
            </a:extLst>
          </p:cNvPr>
          <p:cNvSpPr>
            <a:spLocks noGrp="1"/>
          </p:cNvSpPr>
          <p:nvPr>
            <p:ph type="title"/>
          </p:nvPr>
        </p:nvSpPr>
        <p:spPr/>
        <p:txBody>
          <a:bodyPr/>
          <a:lstStyle/>
          <a:p>
            <a:endParaRPr lang="en-US"/>
          </a:p>
        </p:txBody>
      </p:sp>
      <p:sp>
        <p:nvSpPr>
          <p:cNvPr id="29" name="Content Placeholder 28">
            <a:extLst>
              <a:ext uri="{FF2B5EF4-FFF2-40B4-BE49-F238E27FC236}">
                <a16:creationId xmlns:a16="http://schemas.microsoft.com/office/drawing/2014/main" id="{B94D38B0-533C-38BB-9728-A55D2F66CF92}"/>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6723C01E-31BB-EA41-EB0E-34723D3EC3B7}"/>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38E7875A-71E5-E99F-098C-BD3DE486147D}"/>
              </a:ext>
            </a:extLst>
          </p:cNvPr>
          <p:cNvSpPr>
            <a:spLocks noGrp="1"/>
          </p:cNvSpPr>
          <p:nvPr>
            <p:ph type="sldNum" sz="quarter" idx="12"/>
          </p:nvPr>
        </p:nvSpPr>
        <p:spPr/>
        <p:txBody>
          <a:bodyPr/>
          <a:lstStyle/>
          <a:p>
            <a:fld id="{CBE5B309-C2CE-4D90-B104-F7E98438FC65}" type="slidenum">
              <a:rPr lang="tr-TR" smtClean="0"/>
              <a:pPr/>
              <a:t>56</a:t>
            </a:fld>
            <a:endParaRPr lang="tr-TR" dirty="0"/>
          </a:p>
        </p:txBody>
      </p:sp>
      <p:grpSp>
        <p:nvGrpSpPr>
          <p:cNvPr id="21" name="Group 20">
            <a:extLst>
              <a:ext uri="{FF2B5EF4-FFF2-40B4-BE49-F238E27FC236}">
                <a16:creationId xmlns:a16="http://schemas.microsoft.com/office/drawing/2014/main" id="{CEB65EC9-5ADD-4764-4910-9B96833D6287}"/>
              </a:ext>
            </a:extLst>
          </p:cNvPr>
          <p:cNvGrpSpPr/>
          <p:nvPr/>
        </p:nvGrpSpPr>
        <p:grpSpPr>
          <a:xfrm>
            <a:off x="1418523" y="783949"/>
            <a:ext cx="6556192" cy="1167036"/>
            <a:chOff x="1839662" y="1689983"/>
            <a:chExt cx="6556192" cy="1167036"/>
          </a:xfrm>
        </p:grpSpPr>
        <p:grpSp>
          <p:nvGrpSpPr>
            <p:cNvPr id="17" name="Group 16">
              <a:extLst>
                <a:ext uri="{FF2B5EF4-FFF2-40B4-BE49-F238E27FC236}">
                  <a16:creationId xmlns:a16="http://schemas.microsoft.com/office/drawing/2014/main" id="{24DFF153-3A79-BC59-E854-56D5C8C874CB}"/>
                </a:ext>
              </a:extLst>
            </p:cNvPr>
            <p:cNvGrpSpPr/>
            <p:nvPr/>
          </p:nvGrpSpPr>
          <p:grpSpPr>
            <a:xfrm>
              <a:off x="1839662" y="1689983"/>
              <a:ext cx="1204673" cy="1167036"/>
              <a:chOff x="2188764" y="2016772"/>
              <a:chExt cx="1435855" cy="1390994"/>
            </a:xfrm>
          </p:grpSpPr>
          <p:graphicFrame>
            <p:nvGraphicFramePr>
              <p:cNvPr id="15" name="Object 14">
                <a:extLst>
                  <a:ext uri="{FF2B5EF4-FFF2-40B4-BE49-F238E27FC236}">
                    <a16:creationId xmlns:a16="http://schemas.microsoft.com/office/drawing/2014/main" id="{22348CE4-9DD0-02A0-D5E9-2B6685E09657}"/>
                  </a:ext>
                </a:extLst>
              </p:cNvPr>
              <p:cNvGraphicFramePr>
                <a:graphicFrameLocks noChangeAspect="1"/>
              </p:cNvGraphicFramePr>
              <p:nvPr/>
            </p:nvGraphicFramePr>
            <p:xfrm>
              <a:off x="2294940" y="2075945"/>
              <a:ext cx="1329679" cy="1331821"/>
            </p:xfrm>
            <a:graphic>
              <a:graphicData uri="http://schemas.openxmlformats.org/presentationml/2006/ole">
                <mc:AlternateContent xmlns:mc="http://schemas.openxmlformats.org/markup-compatibility/2006">
                  <mc:Choice xmlns:v="urn:schemas-microsoft-com:vml" Requires="v">
                    <p:oleObj name="Image" r:id="rId2" imgW="5914622" imgH="5924052" progId="Photoshop.Image.18">
                      <p:embed/>
                    </p:oleObj>
                  </mc:Choice>
                  <mc:Fallback>
                    <p:oleObj name="Image" r:id="rId2" imgW="5914622" imgH="5924052" progId="Photoshop.Image.18">
                      <p:embed/>
                      <p:pic>
                        <p:nvPicPr>
                          <p:cNvPr id="15" name="Object 14">
                            <a:extLst>
                              <a:ext uri="{FF2B5EF4-FFF2-40B4-BE49-F238E27FC236}">
                                <a16:creationId xmlns:a16="http://schemas.microsoft.com/office/drawing/2014/main" id="{22348CE4-9DD0-02A0-D5E9-2B6685E09657}"/>
                              </a:ext>
                            </a:extLst>
                          </p:cNvPr>
                          <p:cNvPicPr/>
                          <p:nvPr/>
                        </p:nvPicPr>
                        <p:blipFill>
                          <a:blip r:embed="rId3"/>
                          <a:stretch>
                            <a:fillRect/>
                          </a:stretch>
                        </p:blipFill>
                        <p:spPr>
                          <a:xfrm>
                            <a:off x="2294940" y="2075945"/>
                            <a:ext cx="1329679" cy="1331821"/>
                          </a:xfrm>
                          <a:prstGeom prst="rect">
                            <a:avLst/>
                          </a:prstGeom>
                        </p:spPr>
                      </p:pic>
                    </p:oleObj>
                  </mc:Fallback>
                </mc:AlternateContent>
              </a:graphicData>
            </a:graphic>
          </p:graphicFrame>
          <p:sp>
            <p:nvSpPr>
              <p:cNvPr id="16" name="Oval 15">
                <a:extLst>
                  <a:ext uri="{FF2B5EF4-FFF2-40B4-BE49-F238E27FC236}">
                    <a16:creationId xmlns:a16="http://schemas.microsoft.com/office/drawing/2014/main" id="{2503E2A7-46AB-8303-A061-D48C6C9BD86D}"/>
                  </a:ext>
                </a:extLst>
              </p:cNvPr>
              <p:cNvSpPr/>
              <p:nvPr/>
            </p:nvSpPr>
            <p:spPr>
              <a:xfrm>
                <a:off x="2188764" y="2016772"/>
                <a:ext cx="1370675" cy="1370673"/>
              </a:xfrm>
              <a:prstGeom prst="ellipse">
                <a:avLst/>
              </a:prstGeom>
              <a:noFill/>
              <a:ln w="57150">
                <a:solidFill>
                  <a:srgbClr val="316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9B9CA43C-8CD9-7AFD-5260-3170E670A73B}"/>
                </a:ext>
              </a:extLst>
            </p:cNvPr>
            <p:cNvSpPr txBox="1"/>
            <p:nvPr/>
          </p:nvSpPr>
          <p:spPr>
            <a:xfrm>
              <a:off x="3097480" y="1741822"/>
              <a:ext cx="5298374" cy="1015663"/>
            </a:xfrm>
            <a:prstGeom prst="rect">
              <a:avLst/>
            </a:prstGeom>
            <a:noFill/>
          </p:spPr>
          <p:txBody>
            <a:bodyPr wrap="none" rtlCol="0">
              <a:spAutoFit/>
            </a:bodyPr>
            <a:lstStyle/>
            <a:p>
              <a:r>
                <a:rPr lang="en-US" sz="6000" b="1" dirty="0" err="1">
                  <a:solidFill>
                    <a:srgbClr val="316CE3"/>
                  </a:solidFill>
                </a:rPr>
                <a:t>LeakyHammer</a:t>
              </a:r>
              <a:endParaRPr lang="en-US" sz="6000" b="1" dirty="0">
                <a:solidFill>
                  <a:srgbClr val="316CE3"/>
                </a:solidFill>
              </a:endParaRPr>
            </a:p>
          </p:txBody>
        </p:sp>
      </p:grpSp>
      <p:sp>
        <p:nvSpPr>
          <p:cNvPr id="22" name="Rectangle 21">
            <a:extLst>
              <a:ext uri="{FF2B5EF4-FFF2-40B4-BE49-F238E27FC236}">
                <a16:creationId xmlns:a16="http://schemas.microsoft.com/office/drawing/2014/main" id="{43DA83CD-1B58-7BA2-4763-1BD21806D424}"/>
              </a:ext>
            </a:extLst>
          </p:cNvPr>
          <p:cNvSpPr/>
          <p:nvPr/>
        </p:nvSpPr>
        <p:spPr>
          <a:xfrm>
            <a:off x="-107832" y="2160885"/>
            <a:ext cx="9359660" cy="1046554"/>
          </a:xfrm>
          <a:prstGeom prst="rect">
            <a:avLst/>
          </a:prstGeom>
          <a:solidFill>
            <a:srgbClr val="316CE3"/>
          </a:solidFill>
          <a:ln w="38100">
            <a:solidFill>
              <a:srgbClr val="316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mj-lt"/>
              </a:rPr>
              <a:t>A new class of attacks that exploit</a:t>
            </a:r>
            <a:br>
              <a:rPr lang="en-US" sz="2800" dirty="0">
                <a:solidFill>
                  <a:schemeClr val="bg1"/>
                </a:solidFill>
                <a:latin typeface="+mj-lt"/>
              </a:rPr>
            </a:br>
            <a:r>
              <a:rPr lang="en-US" sz="2800" dirty="0" err="1">
                <a:solidFill>
                  <a:schemeClr val="bg1"/>
                </a:solidFill>
                <a:latin typeface="+mj-lt"/>
              </a:rPr>
              <a:t>RowHammer</a:t>
            </a:r>
            <a:r>
              <a:rPr lang="en-US" sz="2800" dirty="0">
                <a:solidFill>
                  <a:schemeClr val="bg1"/>
                </a:solidFill>
                <a:latin typeface="+mj-lt"/>
              </a:rPr>
              <a:t> defense-induced memory latency differences </a:t>
            </a:r>
          </a:p>
        </p:txBody>
      </p:sp>
      <p:grpSp>
        <p:nvGrpSpPr>
          <p:cNvPr id="27" name="Group 26">
            <a:extLst>
              <a:ext uri="{FF2B5EF4-FFF2-40B4-BE49-F238E27FC236}">
                <a16:creationId xmlns:a16="http://schemas.microsoft.com/office/drawing/2014/main" id="{85497746-F995-FDCB-27F8-4ACCA7DB01A3}"/>
              </a:ext>
            </a:extLst>
          </p:cNvPr>
          <p:cNvGrpSpPr/>
          <p:nvPr/>
        </p:nvGrpSpPr>
        <p:grpSpPr>
          <a:xfrm>
            <a:off x="358186" y="3293169"/>
            <a:ext cx="4208463" cy="2792575"/>
            <a:chOff x="238918" y="4206302"/>
            <a:chExt cx="4208463" cy="2792575"/>
          </a:xfrm>
        </p:grpSpPr>
        <p:pic>
          <p:nvPicPr>
            <p:cNvPr id="8" name="Picture 7">
              <a:extLst>
                <a:ext uri="{FF2B5EF4-FFF2-40B4-BE49-F238E27FC236}">
                  <a16:creationId xmlns:a16="http://schemas.microsoft.com/office/drawing/2014/main" id="{96D420B4-987C-890E-7A83-3ED2180C3DB8}"/>
                </a:ext>
              </a:extLst>
            </p:cNvPr>
            <p:cNvPicPr>
              <a:picLocks noChangeAspect="1"/>
            </p:cNvPicPr>
            <p:nvPr/>
          </p:nvPicPr>
          <p:blipFill rotWithShape="1">
            <a:blip r:embed="rId4">
              <a:extLst>
                <a:ext uri="{28A0092B-C50C-407E-A947-70E740481C1C}">
                  <a14:useLocalDpi xmlns:a14="http://schemas.microsoft.com/office/drawing/2010/main" val="0"/>
                </a:ext>
              </a:extLst>
            </a:blip>
            <a:srcRect l="4726" t="21295" r="5001" b="22250"/>
            <a:stretch/>
          </p:blipFill>
          <p:spPr>
            <a:xfrm rot="10800000">
              <a:off x="1255148" y="4682731"/>
              <a:ext cx="2176002" cy="999252"/>
            </a:xfrm>
            <a:prstGeom prst="rect">
              <a:avLst/>
            </a:prstGeom>
          </p:spPr>
        </p:pic>
        <p:sp>
          <p:nvSpPr>
            <p:cNvPr id="10" name="TextBox 9">
              <a:extLst>
                <a:ext uri="{FF2B5EF4-FFF2-40B4-BE49-F238E27FC236}">
                  <a16:creationId xmlns:a16="http://schemas.microsoft.com/office/drawing/2014/main" id="{A9AF391E-49B3-FCC6-321E-F1ADA4993C44}"/>
                </a:ext>
              </a:extLst>
            </p:cNvPr>
            <p:cNvSpPr txBox="1"/>
            <p:nvPr/>
          </p:nvSpPr>
          <p:spPr>
            <a:xfrm>
              <a:off x="238918" y="5983214"/>
              <a:ext cx="4208463" cy="1015663"/>
            </a:xfrm>
            <a:prstGeom prst="rect">
              <a:avLst/>
            </a:prstGeom>
            <a:noFill/>
          </p:spPr>
          <p:txBody>
            <a:bodyPr wrap="square" rtlCol="0">
              <a:spAutoFit/>
            </a:bodyPr>
            <a:lstStyle/>
            <a:p>
              <a:pPr algn="ctr"/>
              <a:r>
                <a:rPr lang="en-US" sz="2000" dirty="0">
                  <a:latin typeface="+mj-lt"/>
                </a:rPr>
                <a:t>Deterministically and intentionally </a:t>
              </a:r>
              <a:r>
                <a:rPr lang="en-US" sz="2000" dirty="0">
                  <a:solidFill>
                    <a:srgbClr val="F23F00"/>
                  </a:solidFill>
                  <a:latin typeface="+mj-lt"/>
                </a:rPr>
                <a:t>impose observable latency overheads</a:t>
              </a:r>
              <a:br>
                <a:rPr lang="en-US" sz="2000" dirty="0">
                  <a:solidFill>
                    <a:srgbClr val="F23F00"/>
                  </a:solidFill>
                  <a:latin typeface="+mj-lt"/>
                </a:rPr>
              </a:br>
              <a:r>
                <a:rPr lang="en-US" sz="2000" dirty="0">
                  <a:latin typeface="+mj-lt"/>
                </a:rPr>
                <a:t>on requests via preventive actions</a:t>
              </a:r>
            </a:p>
          </p:txBody>
        </p:sp>
        <p:pic>
          <p:nvPicPr>
            <p:cNvPr id="18" name="Graphic 17" descr="Hourglass 90% with solid fill">
              <a:extLst>
                <a:ext uri="{FF2B5EF4-FFF2-40B4-BE49-F238E27FC236}">
                  <a16:creationId xmlns:a16="http://schemas.microsoft.com/office/drawing/2014/main" id="{78F80DE8-2A14-1D30-A748-ABD406FB00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24811" y="4977595"/>
              <a:ext cx="914400" cy="914400"/>
            </a:xfrm>
            <a:prstGeom prst="rect">
              <a:avLst/>
            </a:prstGeom>
          </p:spPr>
        </p:pic>
        <p:pic>
          <p:nvPicPr>
            <p:cNvPr id="9" name="Graphic 8" descr="Hammer with solid fill">
              <a:extLst>
                <a:ext uri="{FF2B5EF4-FFF2-40B4-BE49-F238E27FC236}">
                  <a16:creationId xmlns:a16="http://schemas.microsoft.com/office/drawing/2014/main" id="{8983A5C0-D065-928C-791E-D17F936DBB2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500000">
              <a:off x="851907" y="4206302"/>
              <a:ext cx="1113001" cy="1113001"/>
            </a:xfrm>
            <a:prstGeom prst="rect">
              <a:avLst/>
            </a:prstGeom>
          </p:spPr>
        </p:pic>
      </p:grpSp>
      <p:grpSp>
        <p:nvGrpSpPr>
          <p:cNvPr id="24" name="Group 23">
            <a:extLst>
              <a:ext uri="{FF2B5EF4-FFF2-40B4-BE49-F238E27FC236}">
                <a16:creationId xmlns:a16="http://schemas.microsoft.com/office/drawing/2014/main" id="{B02E868A-A61E-6FD0-4957-E39FB36A3428}"/>
              </a:ext>
            </a:extLst>
          </p:cNvPr>
          <p:cNvGrpSpPr/>
          <p:nvPr/>
        </p:nvGrpSpPr>
        <p:grpSpPr>
          <a:xfrm>
            <a:off x="4686300" y="3769598"/>
            <a:ext cx="4196206" cy="2316145"/>
            <a:chOff x="4686300" y="3769598"/>
            <a:chExt cx="4196206" cy="2316145"/>
          </a:xfrm>
        </p:grpSpPr>
        <p:pic>
          <p:nvPicPr>
            <p:cNvPr id="11" name="Picture 10">
              <a:extLst>
                <a:ext uri="{FF2B5EF4-FFF2-40B4-BE49-F238E27FC236}">
                  <a16:creationId xmlns:a16="http://schemas.microsoft.com/office/drawing/2014/main" id="{D49A1F6A-2295-C341-C48E-45B9A53D9A08}"/>
                </a:ext>
              </a:extLst>
            </p:cNvPr>
            <p:cNvPicPr>
              <a:picLocks noChangeAspect="1"/>
            </p:cNvPicPr>
            <p:nvPr/>
          </p:nvPicPr>
          <p:blipFill rotWithShape="1">
            <a:blip r:embed="rId4">
              <a:extLst>
                <a:ext uri="{28A0092B-C50C-407E-A947-70E740481C1C}">
                  <a14:useLocalDpi xmlns:a14="http://schemas.microsoft.com/office/drawing/2010/main" val="0"/>
                </a:ext>
              </a:extLst>
            </a:blip>
            <a:srcRect l="4726" t="21295" r="5001" b="22250"/>
            <a:stretch/>
          </p:blipFill>
          <p:spPr>
            <a:xfrm rot="10800000">
              <a:off x="5712849" y="3769598"/>
              <a:ext cx="2176002" cy="999252"/>
            </a:xfrm>
            <a:prstGeom prst="rect">
              <a:avLst/>
            </a:prstGeom>
          </p:spPr>
        </p:pic>
        <p:pic>
          <p:nvPicPr>
            <p:cNvPr id="13" name="Graphic 12" descr="Magnifying glass with solid fill">
              <a:extLst>
                <a:ext uri="{FF2B5EF4-FFF2-40B4-BE49-F238E27FC236}">
                  <a16:creationId xmlns:a16="http://schemas.microsoft.com/office/drawing/2014/main" id="{8362636B-E859-2A8F-8085-C1D2589689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47574" y="3875232"/>
              <a:ext cx="1024228" cy="1024228"/>
            </a:xfrm>
            <a:prstGeom prst="rect">
              <a:avLst/>
            </a:prstGeom>
          </p:spPr>
        </p:pic>
        <p:sp>
          <p:nvSpPr>
            <p:cNvPr id="19" name="TextBox 18">
              <a:extLst>
                <a:ext uri="{FF2B5EF4-FFF2-40B4-BE49-F238E27FC236}">
                  <a16:creationId xmlns:a16="http://schemas.microsoft.com/office/drawing/2014/main" id="{8D8739E0-8BA8-2AAF-ACE5-9886055DD907}"/>
                </a:ext>
              </a:extLst>
            </p:cNvPr>
            <p:cNvSpPr txBox="1"/>
            <p:nvPr/>
          </p:nvSpPr>
          <p:spPr>
            <a:xfrm>
              <a:off x="4686300" y="5070080"/>
              <a:ext cx="4196206" cy="1015663"/>
            </a:xfrm>
            <a:prstGeom prst="rect">
              <a:avLst/>
            </a:prstGeom>
            <a:noFill/>
          </p:spPr>
          <p:txBody>
            <a:bodyPr wrap="square" rtlCol="0">
              <a:spAutoFit/>
            </a:bodyPr>
            <a:lstStyle/>
            <a:p>
              <a:pPr algn="ctr"/>
              <a:r>
                <a:rPr lang="en-US" sz="2000" dirty="0">
                  <a:latin typeface="+mj-lt"/>
                </a:rPr>
                <a:t>Accurately </a:t>
              </a:r>
              <a:r>
                <a:rPr lang="en-US" sz="2000" dirty="0">
                  <a:solidFill>
                    <a:srgbClr val="F23F00"/>
                  </a:solidFill>
                  <a:latin typeface="+mj-lt"/>
                </a:rPr>
                <a:t>infer victims' </a:t>
              </a:r>
              <a:br>
                <a:rPr lang="en-US" sz="2000" dirty="0">
                  <a:solidFill>
                    <a:srgbClr val="F23F00"/>
                  </a:solidFill>
                  <a:latin typeface="+mj-lt"/>
                </a:rPr>
              </a:br>
              <a:r>
                <a:rPr lang="en-US" sz="2000" dirty="0">
                  <a:solidFill>
                    <a:srgbClr val="F23F00"/>
                  </a:solidFill>
                  <a:latin typeface="+mj-lt"/>
                </a:rPr>
                <a:t>memory access patterns </a:t>
              </a:r>
              <a:br>
                <a:rPr lang="en-US" sz="2000" dirty="0">
                  <a:latin typeface="+mj-lt"/>
                </a:rPr>
              </a:br>
              <a:r>
                <a:rPr lang="en-US" sz="2000" dirty="0">
                  <a:latin typeface="+mj-lt"/>
                </a:rPr>
                <a:t>that result in preventive actions</a:t>
              </a:r>
            </a:p>
          </p:txBody>
        </p:sp>
      </p:grpSp>
    </p:spTree>
    <p:extLst>
      <p:ext uri="{BB962C8B-B14F-4D97-AF65-F5344CB8AC3E}">
        <p14:creationId xmlns:p14="http://schemas.microsoft.com/office/powerpoint/2010/main" val="207642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6187E-C09B-CEE5-88E7-EF5D9BF79E1D}"/>
              </a:ext>
            </a:extLst>
          </p:cNvPr>
          <p:cNvSpPr>
            <a:spLocks noGrp="1"/>
          </p:cNvSpPr>
          <p:nvPr>
            <p:ph type="title"/>
          </p:nvPr>
        </p:nvSpPr>
        <p:spPr/>
        <p:txBody>
          <a:bodyPr/>
          <a:lstStyle/>
          <a:p>
            <a:r>
              <a:rPr lang="en-US" dirty="0" err="1"/>
              <a:t>LeakyHammer</a:t>
            </a:r>
            <a:r>
              <a:rPr lang="en-US" dirty="0"/>
              <a:t> Case Studies</a:t>
            </a:r>
          </a:p>
        </p:txBody>
      </p:sp>
      <p:sp>
        <p:nvSpPr>
          <p:cNvPr id="3" name="Content Placeholder 2">
            <a:extLst>
              <a:ext uri="{FF2B5EF4-FFF2-40B4-BE49-F238E27FC236}">
                <a16:creationId xmlns:a16="http://schemas.microsoft.com/office/drawing/2014/main" id="{AA121E1B-08C0-8ECE-40FB-FDF5FE8A495D}"/>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26ABD832-8D1A-AD04-E271-B184BABB73FF}"/>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A94BAB2A-138E-5F95-AADA-52E9DA0440C6}"/>
              </a:ext>
            </a:extLst>
          </p:cNvPr>
          <p:cNvSpPr>
            <a:spLocks noGrp="1"/>
          </p:cNvSpPr>
          <p:nvPr>
            <p:ph type="sldNum" sz="quarter" idx="12"/>
          </p:nvPr>
        </p:nvSpPr>
        <p:spPr/>
        <p:txBody>
          <a:bodyPr/>
          <a:lstStyle/>
          <a:p>
            <a:fld id="{CBE5B309-C2CE-4D90-B104-F7E98438FC65}" type="slidenum">
              <a:rPr lang="tr-TR" smtClean="0"/>
              <a:pPr/>
              <a:t>57</a:t>
            </a:fld>
            <a:endParaRPr lang="tr-TR" dirty="0"/>
          </a:p>
        </p:txBody>
      </p:sp>
      <p:sp>
        <p:nvSpPr>
          <p:cNvPr id="6" name="Rectangle: Rounded Corners 5">
            <a:extLst>
              <a:ext uri="{FF2B5EF4-FFF2-40B4-BE49-F238E27FC236}">
                <a16:creationId xmlns:a16="http://schemas.microsoft.com/office/drawing/2014/main" id="{A5BFC31C-B0C6-A88F-FE44-BBA236480586}"/>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67F00"/>
                </a:solidFill>
                <a:latin typeface="+mj-lt"/>
              </a:rPr>
              <a:t>CS1: PRAC-Based Covert Channel Attack</a:t>
            </a:r>
          </a:p>
        </p:txBody>
      </p:sp>
      <p:sp>
        <p:nvSpPr>
          <p:cNvPr id="7" name="Rectangle: Rounded Corners 6">
            <a:extLst>
              <a:ext uri="{FF2B5EF4-FFF2-40B4-BE49-F238E27FC236}">
                <a16:creationId xmlns:a16="http://schemas.microsoft.com/office/drawing/2014/main" id="{3CE09845-ECCE-65D8-D16D-F7933DD53FA7}"/>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67F00"/>
                </a:solidFill>
                <a:latin typeface="+mj-lt"/>
              </a:rPr>
              <a:t>CS2: RFM-Based Covert Channel Attack</a:t>
            </a:r>
          </a:p>
        </p:txBody>
      </p:sp>
      <p:sp>
        <p:nvSpPr>
          <p:cNvPr id="8" name="Rectangle: Rounded Corners 7">
            <a:extLst>
              <a:ext uri="{FF2B5EF4-FFF2-40B4-BE49-F238E27FC236}">
                <a16:creationId xmlns:a16="http://schemas.microsoft.com/office/drawing/2014/main" id="{A333277E-9817-D0FB-52CD-409E24E2078E}"/>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67F00"/>
                </a:solidFill>
                <a:latin typeface="+mj-lt"/>
              </a:rPr>
              <a:t>CS3: PRAC-Based Website Fingerprinting</a:t>
            </a:r>
          </a:p>
        </p:txBody>
      </p:sp>
    </p:spTree>
    <p:extLst>
      <p:ext uri="{BB962C8B-B14F-4D97-AF65-F5344CB8AC3E}">
        <p14:creationId xmlns:p14="http://schemas.microsoft.com/office/powerpoint/2010/main" val="176083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5292D5-F8C1-AD30-C072-08A7640D06F1}"/>
              </a:ext>
            </a:extLst>
          </p:cNvPr>
          <p:cNvSpPr>
            <a:spLocks noGrp="1"/>
          </p:cNvSpPr>
          <p:nvPr>
            <p:ph type="title"/>
          </p:nvPr>
        </p:nvSpPr>
        <p:spPr/>
        <p:txBody>
          <a:bodyPr/>
          <a:lstStyle/>
          <a:p>
            <a:r>
              <a:rPr lang="en-US" dirty="0"/>
              <a:t>Evaluation Methodology</a:t>
            </a:r>
            <a:endParaRPr lang="tr-TR" dirty="0"/>
          </a:p>
        </p:txBody>
      </p:sp>
      <p:sp>
        <p:nvSpPr>
          <p:cNvPr id="3" name="İçerik Yer Tutucusu 2">
            <a:extLst>
              <a:ext uri="{FF2B5EF4-FFF2-40B4-BE49-F238E27FC236}">
                <a16:creationId xmlns:a16="http://schemas.microsoft.com/office/drawing/2014/main" id="{3DF2AF44-2599-F2B6-96FB-27FFBD96AED8}"/>
              </a:ext>
            </a:extLst>
          </p:cNvPr>
          <p:cNvSpPr>
            <a:spLocks noGrp="1"/>
          </p:cNvSpPr>
          <p:nvPr>
            <p:ph idx="1"/>
          </p:nvPr>
        </p:nvSpPr>
        <p:spPr>
          <a:xfrm>
            <a:off x="-1" y="1009650"/>
            <a:ext cx="9143999" cy="5507528"/>
          </a:xfrm>
        </p:spPr>
        <p:txBody>
          <a:bodyPr>
            <a:normAutofit/>
          </a:bodyPr>
          <a:lstStyle/>
          <a:p>
            <a:r>
              <a:rPr lang="en-US" sz="2400" b="1" dirty="0">
                <a:solidFill>
                  <a:srgbClr val="E1257C"/>
                </a:solidFill>
                <a:latin typeface="+mj-lt"/>
              </a:rPr>
              <a:t>Environment: </a:t>
            </a:r>
            <a:r>
              <a:rPr lang="en-US" sz="2400" dirty="0"/>
              <a:t>S</a:t>
            </a:r>
            <a:r>
              <a:rPr lang="en-US" sz="2400" dirty="0">
                <a:latin typeface="+mj-lt"/>
              </a:rPr>
              <a:t>ystem simulation using </a:t>
            </a:r>
            <a:r>
              <a:rPr lang="en-US" sz="2400" dirty="0">
                <a:solidFill>
                  <a:srgbClr val="316CE3"/>
                </a:solidFill>
                <a:latin typeface="+mj-lt"/>
              </a:rPr>
              <a:t>gem5</a:t>
            </a:r>
            <a:r>
              <a:rPr lang="en-US" sz="2400" dirty="0">
                <a:latin typeface="+mj-lt"/>
              </a:rPr>
              <a:t> [</a:t>
            </a:r>
            <a:r>
              <a:rPr lang="en-US" sz="2400" dirty="0"/>
              <a:t>Lowe-Power+ '20</a:t>
            </a:r>
            <a:r>
              <a:rPr lang="en-US" sz="2400" dirty="0">
                <a:latin typeface="+mj-lt"/>
              </a:rPr>
              <a:t>] integrated with cycle-level DRAM simulator </a:t>
            </a:r>
            <a:r>
              <a:rPr lang="en-US" sz="2400" dirty="0" err="1">
                <a:solidFill>
                  <a:srgbClr val="316CE3"/>
                </a:solidFill>
                <a:latin typeface="+mj-lt"/>
              </a:rPr>
              <a:t>Ramulator</a:t>
            </a:r>
            <a:r>
              <a:rPr lang="en-US" sz="2400" dirty="0">
                <a:solidFill>
                  <a:srgbClr val="316CE3"/>
                </a:solidFill>
                <a:latin typeface="+mj-lt"/>
              </a:rPr>
              <a:t> 2.0</a:t>
            </a:r>
            <a:r>
              <a:rPr lang="en-US" sz="2400" dirty="0">
                <a:latin typeface="+mj-lt"/>
              </a:rPr>
              <a:t> </a:t>
            </a:r>
            <a:br>
              <a:rPr lang="en-US" sz="2400" dirty="0">
                <a:latin typeface="+mj-lt"/>
              </a:rPr>
            </a:br>
            <a:r>
              <a:rPr lang="en-US" sz="2400" dirty="0">
                <a:latin typeface="+mj-lt"/>
              </a:rPr>
              <a:t>[Kim+ CAL</a:t>
            </a:r>
            <a:r>
              <a:rPr lang="en-US" sz="2400" dirty="0"/>
              <a:t>'</a:t>
            </a:r>
            <a:r>
              <a:rPr lang="en-US" sz="2400" dirty="0">
                <a:latin typeface="+mj-lt"/>
              </a:rPr>
              <a:t>15</a:t>
            </a:r>
            <a:r>
              <a:rPr lang="en-US" sz="2400" dirty="0"/>
              <a:t>, </a:t>
            </a:r>
            <a:r>
              <a:rPr lang="en-US" sz="2400" dirty="0">
                <a:latin typeface="+mj-lt"/>
              </a:rPr>
              <a:t>Luo+ CAL'24]</a:t>
            </a:r>
          </a:p>
          <a:p>
            <a:endParaRPr lang="en-US" sz="1500" dirty="0">
              <a:latin typeface="+mj-lt"/>
            </a:endParaRPr>
          </a:p>
          <a:p>
            <a:r>
              <a:rPr lang="en-US" sz="2400" b="1" dirty="0">
                <a:solidFill>
                  <a:srgbClr val="6D40DC"/>
                </a:solidFill>
                <a:latin typeface="+mj-lt"/>
              </a:rPr>
              <a:t>System Configuration:</a:t>
            </a:r>
          </a:p>
          <a:p>
            <a:pPr marL="457200" lvl="1" indent="0">
              <a:buNone/>
            </a:pPr>
            <a:r>
              <a:rPr lang="en-US" sz="1900" b="1" dirty="0">
                <a:latin typeface="+mj-lt"/>
              </a:rPr>
              <a:t>Processor</a:t>
            </a:r>
            <a:r>
              <a:rPr lang="en-US" sz="1900" dirty="0">
                <a:latin typeface="+mj-lt"/>
              </a:rPr>
              <a:t> 		1</a:t>
            </a:r>
            <a:r>
              <a:rPr lang="en-US" sz="1900" dirty="0"/>
              <a:t>-, 2-, and 4-</a:t>
            </a:r>
            <a:r>
              <a:rPr lang="en-US" sz="1900" dirty="0">
                <a:latin typeface="+mj-lt"/>
              </a:rPr>
              <a:t>core, out-of-order, 3GHz clock frequency</a:t>
            </a:r>
          </a:p>
          <a:p>
            <a:pPr marL="457200" lvl="1" indent="0">
              <a:buNone/>
            </a:pPr>
            <a:r>
              <a:rPr lang="en-US" sz="1900" b="1" dirty="0">
                <a:latin typeface="+mj-lt"/>
              </a:rPr>
              <a:t>DRAM</a:t>
            </a:r>
            <a:r>
              <a:rPr lang="en-US" sz="1900" dirty="0">
                <a:latin typeface="+mj-lt"/>
              </a:rPr>
              <a:t> 		DDR5, 1 channel, 2 rank/channel, 8 bank groups,</a:t>
            </a:r>
          </a:p>
          <a:p>
            <a:pPr marL="457200" lvl="1" indent="0">
              <a:buNone/>
            </a:pPr>
            <a:r>
              <a:rPr lang="en-US" sz="1900" dirty="0">
                <a:latin typeface="+mj-lt"/>
              </a:rPr>
              <a:t>			4 banks/bank group, 128K rows/bank</a:t>
            </a:r>
          </a:p>
          <a:p>
            <a:pPr marL="457200" lvl="1" indent="0">
              <a:buNone/>
            </a:pPr>
            <a:r>
              <a:rPr lang="en-US" sz="1900" b="1" dirty="0">
                <a:latin typeface="+mj-lt"/>
              </a:rPr>
              <a:t>Memory Ctrl.</a:t>
            </a:r>
            <a:r>
              <a:rPr lang="en-US" sz="1900" dirty="0">
                <a:latin typeface="+mj-lt"/>
              </a:rPr>
              <a:t>		64-entry read and write requests queues,</a:t>
            </a:r>
          </a:p>
          <a:p>
            <a:pPr marL="457200" lvl="1" indent="0">
              <a:buNone/>
            </a:pPr>
            <a:r>
              <a:rPr lang="en-US" sz="1900" dirty="0">
                <a:latin typeface="+mj-lt"/>
              </a:rPr>
              <a:t>			Scheduling policy: FR-FCFS with a column cap of 16 				Last-level </a:t>
            </a:r>
            <a:r>
              <a:rPr lang="en-US" sz="1900" dirty="0"/>
              <a:t>c</a:t>
            </a:r>
            <a:r>
              <a:rPr lang="en-US" sz="1900" dirty="0">
                <a:latin typeface="+mj-lt"/>
              </a:rPr>
              <a:t>ache 4 MiB (per-core), 16-way</a:t>
            </a:r>
          </a:p>
          <a:p>
            <a:pPr marL="457200" lvl="1" indent="0">
              <a:buNone/>
            </a:pPr>
            <a:r>
              <a:rPr lang="en-US" sz="1900" b="1" dirty="0"/>
              <a:t>PRAC		</a:t>
            </a:r>
            <a:r>
              <a:rPr lang="en-US" sz="1900" i="1" dirty="0"/>
              <a:t>N</a:t>
            </a:r>
            <a:r>
              <a:rPr lang="en-US" sz="1900" i="1" baseline="-25000" dirty="0"/>
              <a:t>BO</a:t>
            </a:r>
            <a:r>
              <a:rPr lang="en-US" sz="1900" dirty="0"/>
              <a:t>=128 activations, 4 RFMs per back-off</a:t>
            </a:r>
          </a:p>
          <a:p>
            <a:pPr marL="457200" lvl="1" indent="0">
              <a:buNone/>
            </a:pPr>
            <a:r>
              <a:rPr lang="en-US" sz="1900" b="1" dirty="0"/>
              <a:t>PRFM 		</a:t>
            </a:r>
            <a:r>
              <a:rPr lang="en-US" sz="1900" i="1" dirty="0"/>
              <a:t>T</a:t>
            </a:r>
            <a:r>
              <a:rPr lang="en-US" sz="1900" i="1" baseline="-25000" dirty="0"/>
              <a:t>RFM</a:t>
            </a:r>
            <a:r>
              <a:rPr lang="en-US" sz="1900" dirty="0"/>
              <a:t>=40 activations</a:t>
            </a:r>
          </a:p>
          <a:p>
            <a:pPr marL="457200" lvl="1" indent="0">
              <a:buNone/>
            </a:pPr>
            <a:endParaRPr lang="en-US" sz="1500" b="1" dirty="0">
              <a:solidFill>
                <a:srgbClr val="6D40DC"/>
              </a:solidFill>
            </a:endParaRPr>
          </a:p>
        </p:txBody>
      </p:sp>
      <p:sp>
        <p:nvSpPr>
          <p:cNvPr id="4" name="Alt Bilgi Yer Tutucusu 3">
            <a:extLst>
              <a:ext uri="{FF2B5EF4-FFF2-40B4-BE49-F238E27FC236}">
                <a16:creationId xmlns:a16="http://schemas.microsoft.com/office/drawing/2014/main" id="{B06F337D-0B82-934B-BB1B-F0C6683233D5}"/>
              </a:ext>
            </a:extLst>
          </p:cNvPr>
          <p:cNvSpPr>
            <a:spLocks noGrp="1"/>
          </p:cNvSpPr>
          <p:nvPr>
            <p:ph type="ftr" sz="quarter" idx="11"/>
          </p:nvPr>
        </p:nvSpPr>
        <p:spPr/>
        <p:txBody>
          <a:bodyPr/>
          <a:lstStyle/>
          <a:p>
            <a:endParaRPr lang="tr-TR" dirty="0"/>
          </a:p>
        </p:txBody>
      </p:sp>
      <p:sp>
        <p:nvSpPr>
          <p:cNvPr id="5" name="Slayt Numarası Yer Tutucusu 4">
            <a:extLst>
              <a:ext uri="{FF2B5EF4-FFF2-40B4-BE49-F238E27FC236}">
                <a16:creationId xmlns:a16="http://schemas.microsoft.com/office/drawing/2014/main" id="{BF35BAA8-F1E3-965B-9DAA-B551ED12D67E}"/>
              </a:ext>
            </a:extLst>
          </p:cNvPr>
          <p:cNvSpPr>
            <a:spLocks noGrp="1"/>
          </p:cNvSpPr>
          <p:nvPr>
            <p:ph type="sldNum" sz="quarter" idx="12"/>
          </p:nvPr>
        </p:nvSpPr>
        <p:spPr/>
        <p:txBody>
          <a:bodyPr/>
          <a:lstStyle/>
          <a:p>
            <a:fld id="{CBE5B309-C2CE-4D90-B104-F7E98438FC65}" type="slidenum">
              <a:rPr lang="tr-TR" smtClean="0"/>
              <a:t>58</a:t>
            </a:fld>
            <a:endParaRPr lang="tr-TR"/>
          </a:p>
        </p:txBody>
      </p:sp>
      <p:sp>
        <p:nvSpPr>
          <p:cNvPr id="7" name="TextBox 6">
            <a:extLst>
              <a:ext uri="{FF2B5EF4-FFF2-40B4-BE49-F238E27FC236}">
                <a16:creationId xmlns:a16="http://schemas.microsoft.com/office/drawing/2014/main" id="{4471FAD4-B7F7-0C0A-F1D9-61BB7D5885CA}"/>
              </a:ext>
            </a:extLst>
          </p:cNvPr>
          <p:cNvSpPr txBox="1"/>
          <p:nvPr/>
        </p:nvSpPr>
        <p:spPr>
          <a:xfrm>
            <a:off x="1849447" y="6396335"/>
            <a:ext cx="6287328" cy="461665"/>
          </a:xfrm>
          <a:prstGeom prst="rect">
            <a:avLst/>
          </a:prstGeom>
          <a:noFill/>
        </p:spPr>
        <p:txBody>
          <a:bodyPr wrap="square" rtlCol="0">
            <a:spAutoFit/>
          </a:bodyPr>
          <a:lstStyle/>
          <a:p>
            <a:pPr algn="ctr"/>
            <a:r>
              <a:rPr lang="en-US" sz="2400" u="sng" dirty="0">
                <a:latin typeface="+mj-lt"/>
                <a:hlinkClick r:id="rId3"/>
              </a:rPr>
              <a:t>https://github.com/CMU-SAFARI/LeakyHammer</a:t>
            </a:r>
            <a:endParaRPr lang="en-US" sz="2400" u="sng" dirty="0">
              <a:latin typeface="+mj-lt"/>
            </a:endParaRPr>
          </a:p>
        </p:txBody>
      </p:sp>
    </p:spTree>
    <p:extLst>
      <p:ext uri="{BB962C8B-B14F-4D97-AF65-F5344CB8AC3E}">
        <p14:creationId xmlns:p14="http://schemas.microsoft.com/office/powerpoint/2010/main" val="312655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6C94-F992-423E-7D2E-3404874ED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B4D87-B7E6-A4B2-47E0-54CD4C091134}"/>
              </a:ext>
            </a:extLst>
          </p:cNvPr>
          <p:cNvSpPr>
            <a:spLocks noGrp="1"/>
          </p:cNvSpPr>
          <p:nvPr>
            <p:ph type="title"/>
          </p:nvPr>
        </p:nvSpPr>
        <p:spPr/>
        <p:txBody>
          <a:bodyPr/>
          <a:lstStyle/>
          <a:p>
            <a:r>
              <a:rPr lang="en-US" dirty="0" err="1"/>
              <a:t>LeakyHammer</a:t>
            </a:r>
            <a:r>
              <a:rPr lang="en-US" dirty="0"/>
              <a:t> Case Studies</a:t>
            </a:r>
          </a:p>
        </p:txBody>
      </p:sp>
      <p:sp>
        <p:nvSpPr>
          <p:cNvPr id="3" name="Content Placeholder 2">
            <a:extLst>
              <a:ext uri="{FF2B5EF4-FFF2-40B4-BE49-F238E27FC236}">
                <a16:creationId xmlns:a16="http://schemas.microsoft.com/office/drawing/2014/main" id="{475F1A46-34E0-161A-C941-D9C395B5294A}"/>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C4AA47E2-8D32-49D1-8432-6751514480E6}"/>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73953BD6-F09E-740B-CD91-40E43698776D}"/>
              </a:ext>
            </a:extLst>
          </p:cNvPr>
          <p:cNvSpPr>
            <a:spLocks noGrp="1"/>
          </p:cNvSpPr>
          <p:nvPr>
            <p:ph type="sldNum" sz="quarter" idx="12"/>
          </p:nvPr>
        </p:nvSpPr>
        <p:spPr/>
        <p:txBody>
          <a:bodyPr/>
          <a:lstStyle/>
          <a:p>
            <a:fld id="{CBE5B309-C2CE-4D90-B104-F7E98438FC65}" type="slidenum">
              <a:rPr lang="tr-TR" smtClean="0"/>
              <a:pPr/>
              <a:t>59</a:t>
            </a:fld>
            <a:endParaRPr lang="tr-TR" dirty="0"/>
          </a:p>
        </p:txBody>
      </p:sp>
      <p:sp>
        <p:nvSpPr>
          <p:cNvPr id="6" name="Rectangle: Rounded Corners 5">
            <a:extLst>
              <a:ext uri="{FF2B5EF4-FFF2-40B4-BE49-F238E27FC236}">
                <a16:creationId xmlns:a16="http://schemas.microsoft.com/office/drawing/2014/main" id="{94B45EC9-54E6-53A0-2EEF-1DC7949F77C9}"/>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CS1: PRAC-Based Covert Channel Attack</a:t>
            </a:r>
          </a:p>
        </p:txBody>
      </p:sp>
      <p:sp>
        <p:nvSpPr>
          <p:cNvPr id="7" name="Rectangle: Rounded Corners 6">
            <a:extLst>
              <a:ext uri="{FF2B5EF4-FFF2-40B4-BE49-F238E27FC236}">
                <a16:creationId xmlns:a16="http://schemas.microsoft.com/office/drawing/2014/main" id="{80C41EB4-A4E6-BD98-D56B-6D58D65BA283}"/>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CS2: RFM-Based Covert Channel Attack</a:t>
            </a:r>
          </a:p>
        </p:txBody>
      </p:sp>
      <p:sp>
        <p:nvSpPr>
          <p:cNvPr id="8" name="Rectangle: Rounded Corners 7">
            <a:extLst>
              <a:ext uri="{FF2B5EF4-FFF2-40B4-BE49-F238E27FC236}">
                <a16:creationId xmlns:a16="http://schemas.microsoft.com/office/drawing/2014/main" id="{1EFE56EB-5F20-89F8-2286-A017B788BB0D}"/>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CS3: PRAC-Based Website Fingerprinting</a:t>
            </a:r>
          </a:p>
        </p:txBody>
      </p:sp>
      <p:sp>
        <p:nvSpPr>
          <p:cNvPr id="9" name="Rectangle 8">
            <a:extLst>
              <a:ext uri="{FF2B5EF4-FFF2-40B4-BE49-F238E27FC236}">
                <a16:creationId xmlns:a16="http://schemas.microsoft.com/office/drawing/2014/main" id="{1E2B186C-B814-ACEC-91DB-B72A0E448641}"/>
              </a:ext>
            </a:extLst>
          </p:cNvPr>
          <p:cNvSpPr/>
          <p:nvPr/>
        </p:nvSpPr>
        <p:spPr>
          <a:xfrm>
            <a:off x="119928" y="2838448"/>
            <a:ext cx="8894618" cy="3253569"/>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05887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1D49-61D9-2FB6-8134-36D8947482F0}"/>
              </a:ext>
            </a:extLst>
          </p:cNvPr>
          <p:cNvSpPr>
            <a:spLocks noGrp="1"/>
          </p:cNvSpPr>
          <p:nvPr>
            <p:ph type="title"/>
          </p:nvPr>
        </p:nvSpPr>
        <p:spPr/>
        <p:txBody>
          <a:bodyPr/>
          <a:lstStyle/>
          <a:p>
            <a:r>
              <a:rPr lang="en-US" dirty="0"/>
              <a:t>Per Row Activation Counting in DDR5</a:t>
            </a:r>
          </a:p>
        </p:txBody>
      </p:sp>
      <p:sp>
        <p:nvSpPr>
          <p:cNvPr id="3" name="Content Placeholder 2">
            <a:extLst>
              <a:ext uri="{FF2B5EF4-FFF2-40B4-BE49-F238E27FC236}">
                <a16:creationId xmlns:a16="http://schemas.microsoft.com/office/drawing/2014/main" id="{EB48F412-BF4E-B081-79EC-DAFF97F16BC3}"/>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0E4AE720-C235-2079-FEBB-4F9593AC6A50}"/>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6E99C7F3-0187-0296-F13E-61222FC6E1FD}"/>
              </a:ext>
            </a:extLst>
          </p:cNvPr>
          <p:cNvSpPr>
            <a:spLocks noGrp="1"/>
          </p:cNvSpPr>
          <p:nvPr>
            <p:ph type="sldNum" sz="quarter" idx="12"/>
          </p:nvPr>
        </p:nvSpPr>
        <p:spPr/>
        <p:txBody>
          <a:bodyPr/>
          <a:lstStyle/>
          <a:p>
            <a:fld id="{CBE5B309-C2CE-4D90-B104-F7E98438FC65}" type="slidenum">
              <a:rPr lang="tr-TR" smtClean="0"/>
              <a:pPr/>
              <a:t>60</a:t>
            </a:fld>
            <a:endParaRPr lang="tr-TR" dirty="0"/>
          </a:p>
        </p:txBody>
      </p:sp>
      <p:grpSp>
        <p:nvGrpSpPr>
          <p:cNvPr id="56" name="Group 55">
            <a:extLst>
              <a:ext uri="{FF2B5EF4-FFF2-40B4-BE49-F238E27FC236}">
                <a16:creationId xmlns:a16="http://schemas.microsoft.com/office/drawing/2014/main" id="{098670AC-E1D8-C96D-5A3B-12FED2F5AF52}"/>
              </a:ext>
            </a:extLst>
          </p:cNvPr>
          <p:cNvGrpSpPr/>
          <p:nvPr/>
        </p:nvGrpSpPr>
        <p:grpSpPr>
          <a:xfrm>
            <a:off x="1586977" y="1602727"/>
            <a:ext cx="5970046" cy="1348487"/>
            <a:chOff x="1586977" y="1602727"/>
            <a:chExt cx="5970046" cy="1348487"/>
          </a:xfrm>
        </p:grpSpPr>
        <p:pic>
          <p:nvPicPr>
            <p:cNvPr id="6" name="Picture 5">
              <a:extLst>
                <a:ext uri="{FF2B5EF4-FFF2-40B4-BE49-F238E27FC236}">
                  <a16:creationId xmlns:a16="http://schemas.microsoft.com/office/drawing/2014/main" id="{0C8CFAC4-E40F-38DC-4311-C37EE84EB55F}"/>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4792382" y="1640758"/>
              <a:ext cx="2764641" cy="1269564"/>
            </a:xfrm>
            <a:prstGeom prst="rect">
              <a:avLst/>
            </a:prstGeom>
          </p:spPr>
        </p:pic>
        <p:pic>
          <p:nvPicPr>
            <p:cNvPr id="7" name="Picture 6">
              <a:extLst>
                <a:ext uri="{FF2B5EF4-FFF2-40B4-BE49-F238E27FC236}">
                  <a16:creationId xmlns:a16="http://schemas.microsoft.com/office/drawing/2014/main" id="{2786F95A-AA9E-A721-E4A8-612BBDC8BF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6977" y="1602727"/>
              <a:ext cx="1348487" cy="1348487"/>
            </a:xfrm>
            <a:prstGeom prst="rect">
              <a:avLst/>
            </a:prstGeom>
          </p:spPr>
        </p:pic>
        <p:cxnSp>
          <p:nvCxnSpPr>
            <p:cNvPr id="9" name="Straight Arrow Connector 8">
              <a:extLst>
                <a:ext uri="{FF2B5EF4-FFF2-40B4-BE49-F238E27FC236}">
                  <a16:creationId xmlns:a16="http://schemas.microsoft.com/office/drawing/2014/main" id="{1ADD1E34-AF44-5F9C-625C-31601752EE48}"/>
                </a:ext>
              </a:extLst>
            </p:cNvPr>
            <p:cNvCxnSpPr/>
            <p:nvPr/>
          </p:nvCxnSpPr>
          <p:spPr>
            <a:xfrm>
              <a:off x="3003498" y="2275539"/>
              <a:ext cx="1651121" cy="0"/>
            </a:xfrm>
            <a:prstGeom prst="straightConnector1">
              <a:avLst/>
            </a:prstGeom>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0" name="Rectangle: Rounded Corners 9">
            <a:extLst>
              <a:ext uri="{FF2B5EF4-FFF2-40B4-BE49-F238E27FC236}">
                <a16:creationId xmlns:a16="http://schemas.microsoft.com/office/drawing/2014/main" id="{6B16A881-0E10-A968-FBAD-B28E8E0B430D}"/>
              </a:ext>
            </a:extLst>
          </p:cNvPr>
          <p:cNvSpPr/>
          <p:nvPr/>
        </p:nvSpPr>
        <p:spPr>
          <a:xfrm>
            <a:off x="5038477" y="2324533"/>
            <a:ext cx="368359" cy="160346"/>
          </a:xfrm>
          <a:prstGeom prst="roundRect">
            <a:avLst>
              <a:gd name="adj" fmla="val 37880"/>
            </a:avLst>
          </a:prstGeom>
          <a:noFill/>
          <a:ln w="28575">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4889066B-B665-37C8-9530-F9CE49711FDD}"/>
              </a:ext>
            </a:extLst>
          </p:cNvPr>
          <p:cNvSpPr/>
          <p:nvPr/>
        </p:nvSpPr>
        <p:spPr>
          <a:xfrm>
            <a:off x="5304387" y="5413240"/>
            <a:ext cx="1867804" cy="710204"/>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7EAC570F-99C8-828A-D55B-3A955734490C}"/>
              </a:ext>
            </a:extLst>
          </p:cNvPr>
          <p:cNvGrpSpPr/>
          <p:nvPr/>
        </p:nvGrpSpPr>
        <p:grpSpPr>
          <a:xfrm>
            <a:off x="2055672" y="2404706"/>
            <a:ext cx="3351164" cy="2583324"/>
            <a:chOff x="4616817" y="2404706"/>
            <a:chExt cx="3351164" cy="2583324"/>
          </a:xfrm>
        </p:grpSpPr>
        <p:cxnSp>
          <p:nvCxnSpPr>
            <p:cNvPr id="14" name="Straight Connector 13">
              <a:extLst>
                <a:ext uri="{FF2B5EF4-FFF2-40B4-BE49-F238E27FC236}">
                  <a16:creationId xmlns:a16="http://schemas.microsoft.com/office/drawing/2014/main" id="{37D369A7-3CF8-3163-C41D-BA60374ED3F3}"/>
                </a:ext>
              </a:extLst>
            </p:cNvPr>
            <p:cNvCxnSpPr>
              <a:cxnSpLocks/>
            </p:cNvCxnSpPr>
            <p:nvPr/>
          </p:nvCxnSpPr>
          <p:spPr>
            <a:xfrm flipH="1">
              <a:off x="4648815" y="2413675"/>
              <a:ext cx="2903468" cy="648050"/>
            </a:xfrm>
            <a:prstGeom prst="line">
              <a:avLst/>
            </a:prstGeom>
            <a:ln w="38100">
              <a:solidFill>
                <a:srgbClr val="FF5F25"/>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A693AD5-CB5C-0AE0-319B-0062C261CF27}"/>
                </a:ext>
              </a:extLst>
            </p:cNvPr>
            <p:cNvCxnSpPr>
              <a:cxnSpLocks/>
              <a:stCxn id="10" idx="3"/>
            </p:cNvCxnSpPr>
            <p:nvPr/>
          </p:nvCxnSpPr>
          <p:spPr>
            <a:xfrm flipH="1">
              <a:off x="7798378" y="2404706"/>
              <a:ext cx="169603" cy="706781"/>
            </a:xfrm>
            <a:prstGeom prst="line">
              <a:avLst/>
            </a:prstGeom>
            <a:ln w="38100">
              <a:solidFill>
                <a:srgbClr val="FF5F25"/>
              </a:solidFill>
              <a:prstDash val="sysDash"/>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98D5DAE2-9F14-DCA7-62D0-B1B2845D796F}"/>
                </a:ext>
              </a:extLst>
            </p:cNvPr>
            <p:cNvSpPr/>
            <p:nvPr/>
          </p:nvSpPr>
          <p:spPr>
            <a:xfrm>
              <a:off x="4616817" y="3048457"/>
              <a:ext cx="3158213" cy="1939573"/>
            </a:xfrm>
            <a:prstGeom prst="roundRect">
              <a:avLst>
                <a:gd name="adj" fmla="val 4746"/>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2" name="Table 11">
            <a:extLst>
              <a:ext uri="{FF2B5EF4-FFF2-40B4-BE49-F238E27FC236}">
                <a16:creationId xmlns:a16="http://schemas.microsoft.com/office/drawing/2014/main" id="{116D60AD-9369-058E-254A-F59F1A772685}"/>
              </a:ext>
            </a:extLst>
          </p:cNvPr>
          <p:cNvGraphicFramePr>
            <a:graphicFrameLocks noGrp="1"/>
          </p:cNvGraphicFramePr>
          <p:nvPr/>
        </p:nvGraphicFramePr>
        <p:xfrm>
          <a:off x="2263966" y="3038291"/>
          <a:ext cx="1407798" cy="1737360"/>
        </p:xfrm>
        <a:graphic>
          <a:graphicData uri="http://schemas.openxmlformats.org/drawingml/2006/table">
            <a:tbl>
              <a:tblPr bandRow="1">
                <a:tableStyleId>{69012ECD-51FC-41F1-AA8D-1B2483CD663E}</a:tableStyleId>
              </a:tblPr>
              <a:tblGrid>
                <a:gridCol w="1407798">
                  <a:extLst>
                    <a:ext uri="{9D8B030D-6E8A-4147-A177-3AD203B41FA5}">
                      <a16:colId xmlns:a16="http://schemas.microsoft.com/office/drawing/2014/main" val="2630129014"/>
                    </a:ext>
                  </a:extLst>
                </a:gridCol>
              </a:tblGrid>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t>DRAM</a:t>
                      </a:r>
                      <a:br>
                        <a:rPr lang="en-US" i="1" dirty="0"/>
                      </a:br>
                      <a:r>
                        <a:rPr lang="en-US" i="1" dirty="0"/>
                        <a:t>Rows</a:t>
                      </a:r>
                    </a:p>
                  </a:txBody>
                  <a:tcPr anchor="b">
                    <a:lnL w="6350" cap="flat" cmpd="sng" algn="ctr">
                      <a:noFill/>
                      <a:prstDash val="solid"/>
                      <a:miter lim="800000"/>
                    </a:lnL>
                    <a:lnR w="6350" cap="flat" cmpd="sng" algn="ctr">
                      <a:noFill/>
                      <a:prstDash val="solid"/>
                      <a:miter lim="800000"/>
                    </a:lnR>
                    <a:lnT w="6350" cap="flat" cmpd="sng" algn="ctr">
                      <a:noFill/>
                      <a:prstDash val="solid"/>
                      <a:miter lim="800000"/>
                    </a:lnT>
                    <a:lnB w="19050" cap="flat" cmpd="sng" algn="ctr">
                      <a:solidFill>
                        <a:srgbClr val="FF5F2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2030210"/>
                  </a:ext>
                </a:extLst>
              </a:tr>
              <a:tr h="246091">
                <a:tc>
                  <a:txBody>
                    <a:bodyPr/>
                    <a:lstStyle/>
                    <a:p>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292337727"/>
                  </a:ext>
                </a:extLst>
              </a:tr>
              <a:tr h="246091">
                <a:tc>
                  <a:txBody>
                    <a:bodyPr/>
                    <a:lstStyle/>
                    <a:p>
                      <a:pPr algn="ctr"/>
                      <a:r>
                        <a:rPr lang="en-US" i="1" dirty="0"/>
                        <a:t>0xA</a:t>
                      </a:r>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930314675"/>
                  </a:ext>
                </a:extLst>
              </a:tr>
              <a:tr h="246091">
                <a:tc>
                  <a:txBody>
                    <a:bodyPr/>
                    <a:lstStyle/>
                    <a:p>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aphicFrame>
        <p:nvGraphicFramePr>
          <p:cNvPr id="35" name="Table 34">
            <a:extLst>
              <a:ext uri="{FF2B5EF4-FFF2-40B4-BE49-F238E27FC236}">
                <a16:creationId xmlns:a16="http://schemas.microsoft.com/office/drawing/2014/main" id="{784A5123-21C9-F95A-0686-22A0649C85AE}"/>
              </a:ext>
            </a:extLst>
          </p:cNvPr>
          <p:cNvGraphicFramePr>
            <a:graphicFrameLocks noGrp="1"/>
          </p:cNvGraphicFramePr>
          <p:nvPr/>
        </p:nvGraphicFramePr>
        <p:xfrm>
          <a:off x="3872643" y="3039836"/>
          <a:ext cx="1139116" cy="1737360"/>
        </p:xfrm>
        <a:graphic>
          <a:graphicData uri="http://schemas.openxmlformats.org/drawingml/2006/table">
            <a:tbl>
              <a:tblPr bandRow="1">
                <a:tableStyleId>{69012ECD-51FC-41F1-AA8D-1B2483CD663E}</a:tableStyleId>
              </a:tblPr>
              <a:tblGrid>
                <a:gridCol w="1139116">
                  <a:extLst>
                    <a:ext uri="{9D8B030D-6E8A-4147-A177-3AD203B41FA5}">
                      <a16:colId xmlns:a16="http://schemas.microsoft.com/office/drawing/2014/main" val="2630129014"/>
                    </a:ext>
                  </a:extLst>
                </a:gridCol>
              </a:tblGrid>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t>PRAC Counters</a:t>
                      </a:r>
                    </a:p>
                  </a:txBody>
                  <a:tcPr anchor="b">
                    <a:lnL w="6350" cap="flat" cmpd="sng" algn="ctr">
                      <a:noFill/>
                      <a:prstDash val="solid"/>
                      <a:miter lim="800000"/>
                    </a:lnL>
                    <a:lnR w="6350" cap="flat" cmpd="sng" algn="ctr">
                      <a:noFill/>
                      <a:prstDash val="solid"/>
                      <a:miter lim="800000"/>
                    </a:lnR>
                    <a:lnT w="6350" cap="flat" cmpd="sng" algn="ctr">
                      <a:noFill/>
                      <a:prstDash val="solid"/>
                      <a:miter lim="800000"/>
                    </a:lnT>
                    <a:lnB w="19050" cap="flat" cmpd="sng" algn="ctr">
                      <a:solidFill>
                        <a:srgbClr val="FF5F2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2030210"/>
                  </a:ext>
                </a:extLst>
              </a:tr>
              <a:tr h="246091">
                <a:tc>
                  <a:txBody>
                    <a:bodyPr/>
                    <a:lstStyle/>
                    <a:p>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292337727"/>
                  </a:ext>
                </a:extLst>
              </a:tr>
              <a:tr h="246091">
                <a:tc>
                  <a:txBody>
                    <a:bodyPr/>
                    <a:lstStyle/>
                    <a:p>
                      <a:pPr algn="ctr"/>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930314675"/>
                  </a:ext>
                </a:extLst>
              </a:tr>
              <a:tr h="246091">
                <a:tc>
                  <a:txBody>
                    <a:bodyPr/>
                    <a:lstStyle/>
                    <a:p>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cxnSp>
        <p:nvCxnSpPr>
          <p:cNvPr id="43" name="Straight Arrow Connector 42">
            <a:extLst>
              <a:ext uri="{FF2B5EF4-FFF2-40B4-BE49-F238E27FC236}">
                <a16:creationId xmlns:a16="http://schemas.microsoft.com/office/drawing/2014/main" id="{9B43C005-0177-0B02-6962-600E473EC2AB}"/>
              </a:ext>
            </a:extLst>
          </p:cNvPr>
          <p:cNvCxnSpPr>
            <a:cxnSpLocks/>
          </p:cNvCxnSpPr>
          <p:nvPr/>
        </p:nvCxnSpPr>
        <p:spPr>
          <a:xfrm>
            <a:off x="927401" y="5769033"/>
            <a:ext cx="7536216"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6030937-80CD-51F6-D391-B23ABABC8ED3}"/>
              </a:ext>
            </a:extLst>
          </p:cNvPr>
          <p:cNvSpPr txBox="1"/>
          <p:nvPr/>
        </p:nvSpPr>
        <p:spPr>
          <a:xfrm>
            <a:off x="1924140" y="6044677"/>
            <a:ext cx="5317388" cy="369332"/>
          </a:xfrm>
          <a:prstGeom prst="rect">
            <a:avLst/>
          </a:prstGeom>
          <a:noFill/>
        </p:spPr>
        <p:txBody>
          <a:bodyPr wrap="square" rtlCol="0">
            <a:spAutoFit/>
          </a:bodyPr>
          <a:lstStyle/>
          <a:p>
            <a:pPr algn="ctr"/>
            <a:r>
              <a:rPr lang="en-US" i="1" dirty="0"/>
              <a:t>DRAM Command Timeline</a:t>
            </a:r>
          </a:p>
        </p:txBody>
      </p:sp>
      <p:sp>
        <p:nvSpPr>
          <p:cNvPr id="48" name="Rectangle 47">
            <a:extLst>
              <a:ext uri="{FF2B5EF4-FFF2-40B4-BE49-F238E27FC236}">
                <a16:creationId xmlns:a16="http://schemas.microsoft.com/office/drawing/2014/main" id="{DCF6EFBE-D2F2-A53D-D24C-843A1DC1C4E7}"/>
              </a:ext>
            </a:extLst>
          </p:cNvPr>
          <p:cNvSpPr/>
          <p:nvPr/>
        </p:nvSpPr>
        <p:spPr>
          <a:xfrm>
            <a:off x="2433564" y="1899915"/>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49" name="Rectangle 48">
            <a:extLst>
              <a:ext uri="{FF2B5EF4-FFF2-40B4-BE49-F238E27FC236}">
                <a16:creationId xmlns:a16="http://schemas.microsoft.com/office/drawing/2014/main" id="{C078854F-3500-BBF4-2CA2-52D30BD74073}"/>
              </a:ext>
            </a:extLst>
          </p:cNvPr>
          <p:cNvSpPr/>
          <p:nvPr/>
        </p:nvSpPr>
        <p:spPr>
          <a:xfrm>
            <a:off x="1482329" y="5650288"/>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52" name="TextBox 51">
            <a:extLst>
              <a:ext uri="{FF2B5EF4-FFF2-40B4-BE49-F238E27FC236}">
                <a16:creationId xmlns:a16="http://schemas.microsoft.com/office/drawing/2014/main" id="{90F9A333-0479-982C-0C47-ACAAD42DCBC3}"/>
              </a:ext>
            </a:extLst>
          </p:cNvPr>
          <p:cNvSpPr txBox="1"/>
          <p:nvPr/>
        </p:nvSpPr>
        <p:spPr>
          <a:xfrm>
            <a:off x="4190849" y="4040246"/>
            <a:ext cx="502703" cy="369332"/>
          </a:xfrm>
          <a:prstGeom prst="rect">
            <a:avLst/>
          </a:prstGeom>
          <a:noFill/>
        </p:spPr>
        <p:txBody>
          <a:bodyPr wrap="square" rtlCol="0" anchor="ctr">
            <a:spAutoFit/>
          </a:bodyPr>
          <a:lstStyle/>
          <a:p>
            <a:pPr algn="ctr"/>
            <a:r>
              <a:rPr lang="en-US" i="1" dirty="0"/>
              <a:t>1</a:t>
            </a:r>
          </a:p>
        </p:txBody>
      </p:sp>
      <p:sp>
        <p:nvSpPr>
          <p:cNvPr id="53" name="Rectangle 52">
            <a:extLst>
              <a:ext uri="{FF2B5EF4-FFF2-40B4-BE49-F238E27FC236}">
                <a16:creationId xmlns:a16="http://schemas.microsoft.com/office/drawing/2014/main" id="{5A0D37B1-6E47-64D6-9A7D-B62AE69987F9}"/>
              </a:ext>
            </a:extLst>
          </p:cNvPr>
          <p:cNvSpPr/>
          <p:nvPr/>
        </p:nvSpPr>
        <p:spPr>
          <a:xfrm>
            <a:off x="2433563" y="1899915"/>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54" name="Rectangle 53">
            <a:extLst>
              <a:ext uri="{FF2B5EF4-FFF2-40B4-BE49-F238E27FC236}">
                <a16:creationId xmlns:a16="http://schemas.microsoft.com/office/drawing/2014/main" id="{E8C52939-C9BD-34EB-2A5E-EAB5EF155E38}"/>
              </a:ext>
            </a:extLst>
          </p:cNvPr>
          <p:cNvSpPr/>
          <p:nvPr/>
        </p:nvSpPr>
        <p:spPr>
          <a:xfrm>
            <a:off x="2433563" y="5650287"/>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55" name="TextBox 54">
            <a:extLst>
              <a:ext uri="{FF2B5EF4-FFF2-40B4-BE49-F238E27FC236}">
                <a16:creationId xmlns:a16="http://schemas.microsoft.com/office/drawing/2014/main" id="{192DCC10-23C2-7AD8-575B-86128C622E9A}"/>
              </a:ext>
            </a:extLst>
          </p:cNvPr>
          <p:cNvSpPr txBox="1"/>
          <p:nvPr/>
        </p:nvSpPr>
        <p:spPr>
          <a:xfrm>
            <a:off x="4190849" y="4040246"/>
            <a:ext cx="502703" cy="369332"/>
          </a:xfrm>
          <a:prstGeom prst="rect">
            <a:avLst/>
          </a:prstGeom>
          <a:noFill/>
        </p:spPr>
        <p:txBody>
          <a:bodyPr wrap="square" rtlCol="0" anchor="ctr">
            <a:spAutoFit/>
          </a:bodyPr>
          <a:lstStyle/>
          <a:p>
            <a:pPr algn="ctr"/>
            <a:r>
              <a:rPr lang="en-US" i="1" dirty="0"/>
              <a:t>2</a:t>
            </a:r>
          </a:p>
        </p:txBody>
      </p:sp>
      <p:sp>
        <p:nvSpPr>
          <p:cNvPr id="57" name="TextBox 56">
            <a:extLst>
              <a:ext uri="{FF2B5EF4-FFF2-40B4-BE49-F238E27FC236}">
                <a16:creationId xmlns:a16="http://schemas.microsoft.com/office/drawing/2014/main" id="{15DA3EE8-8576-CF6B-5AC0-F03F3ED0010A}"/>
              </a:ext>
            </a:extLst>
          </p:cNvPr>
          <p:cNvSpPr txBox="1"/>
          <p:nvPr/>
        </p:nvSpPr>
        <p:spPr>
          <a:xfrm>
            <a:off x="3304528" y="5413240"/>
            <a:ext cx="845061" cy="369332"/>
          </a:xfrm>
          <a:prstGeom prst="rect">
            <a:avLst/>
          </a:prstGeom>
          <a:noFill/>
        </p:spPr>
        <p:txBody>
          <a:bodyPr wrap="square" rtlCol="0">
            <a:spAutoFit/>
          </a:bodyPr>
          <a:lstStyle/>
          <a:p>
            <a:r>
              <a:rPr lang="en-US" dirty="0"/>
              <a:t>...</a:t>
            </a:r>
          </a:p>
        </p:txBody>
      </p:sp>
      <p:sp>
        <p:nvSpPr>
          <p:cNvPr id="58" name="Rectangle 57">
            <a:extLst>
              <a:ext uri="{FF2B5EF4-FFF2-40B4-BE49-F238E27FC236}">
                <a16:creationId xmlns:a16="http://schemas.microsoft.com/office/drawing/2014/main" id="{DE9CE5BF-55AE-C6A6-BD2F-E5A69E65AA1E}"/>
              </a:ext>
            </a:extLst>
          </p:cNvPr>
          <p:cNvSpPr/>
          <p:nvPr/>
        </p:nvSpPr>
        <p:spPr>
          <a:xfrm>
            <a:off x="2441281" y="1896317"/>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59" name="Rectangle 58">
            <a:extLst>
              <a:ext uri="{FF2B5EF4-FFF2-40B4-BE49-F238E27FC236}">
                <a16:creationId xmlns:a16="http://schemas.microsoft.com/office/drawing/2014/main" id="{5E93141D-BEFC-9B53-482C-E431521EF102}"/>
              </a:ext>
            </a:extLst>
          </p:cNvPr>
          <p:cNvSpPr/>
          <p:nvPr/>
        </p:nvSpPr>
        <p:spPr>
          <a:xfrm>
            <a:off x="3840601" y="5650286"/>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 A</a:t>
            </a:r>
          </a:p>
        </p:txBody>
      </p:sp>
      <p:sp>
        <p:nvSpPr>
          <p:cNvPr id="60" name="TextBox 59">
            <a:extLst>
              <a:ext uri="{FF2B5EF4-FFF2-40B4-BE49-F238E27FC236}">
                <a16:creationId xmlns:a16="http://schemas.microsoft.com/office/drawing/2014/main" id="{BEB7B570-D319-C5ED-BD13-4A7964A12B53}"/>
              </a:ext>
            </a:extLst>
          </p:cNvPr>
          <p:cNvSpPr txBox="1"/>
          <p:nvPr/>
        </p:nvSpPr>
        <p:spPr>
          <a:xfrm>
            <a:off x="4148577" y="4040246"/>
            <a:ext cx="735477" cy="369332"/>
          </a:xfrm>
          <a:prstGeom prst="rect">
            <a:avLst/>
          </a:prstGeom>
          <a:noFill/>
        </p:spPr>
        <p:txBody>
          <a:bodyPr wrap="square" rtlCol="0" anchor="ctr">
            <a:spAutoFit/>
          </a:bodyPr>
          <a:lstStyle/>
          <a:p>
            <a:pPr algn="ctr"/>
            <a:r>
              <a:rPr lang="en-US" i="1" dirty="0">
                <a:solidFill>
                  <a:srgbClr val="C00000"/>
                </a:solidFill>
              </a:rPr>
              <a:t>N</a:t>
            </a:r>
            <a:r>
              <a:rPr lang="en-US" i="1" baseline="-25000" dirty="0">
                <a:solidFill>
                  <a:srgbClr val="C00000"/>
                </a:solidFill>
              </a:rPr>
              <a:t>BO</a:t>
            </a:r>
          </a:p>
        </p:txBody>
      </p:sp>
      <p:pic>
        <p:nvPicPr>
          <p:cNvPr id="61" name="Graphic 60" descr="Target outline">
            <a:extLst>
              <a:ext uri="{FF2B5EF4-FFF2-40B4-BE49-F238E27FC236}">
                <a16:creationId xmlns:a16="http://schemas.microsoft.com/office/drawing/2014/main" id="{A2FCB230-5FAD-4346-6CD9-AC2AF6C773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4494" y="3883187"/>
            <a:ext cx="676052" cy="676052"/>
          </a:xfrm>
          <a:prstGeom prst="rect">
            <a:avLst/>
          </a:prstGeom>
        </p:spPr>
      </p:pic>
      <p:grpSp>
        <p:nvGrpSpPr>
          <p:cNvPr id="67" name="Group 66">
            <a:extLst>
              <a:ext uri="{FF2B5EF4-FFF2-40B4-BE49-F238E27FC236}">
                <a16:creationId xmlns:a16="http://schemas.microsoft.com/office/drawing/2014/main" id="{FACC9F7D-6652-D992-F909-640B6D184FB1}"/>
              </a:ext>
            </a:extLst>
          </p:cNvPr>
          <p:cNvGrpSpPr/>
          <p:nvPr/>
        </p:nvGrpSpPr>
        <p:grpSpPr>
          <a:xfrm>
            <a:off x="4838075" y="4383048"/>
            <a:ext cx="2549853" cy="923330"/>
            <a:chOff x="5569389" y="4711012"/>
            <a:chExt cx="2549853" cy="923330"/>
          </a:xfrm>
        </p:grpSpPr>
        <p:sp>
          <p:nvSpPr>
            <p:cNvPr id="62" name="TextBox 61">
              <a:extLst>
                <a:ext uri="{FF2B5EF4-FFF2-40B4-BE49-F238E27FC236}">
                  <a16:creationId xmlns:a16="http://schemas.microsoft.com/office/drawing/2014/main" id="{C4A1409A-D96C-9B12-0AE8-CE3E276171AE}"/>
                </a:ext>
              </a:extLst>
            </p:cNvPr>
            <p:cNvSpPr txBox="1"/>
            <p:nvPr/>
          </p:nvSpPr>
          <p:spPr>
            <a:xfrm>
              <a:off x="6208704" y="4711012"/>
              <a:ext cx="1910538" cy="923330"/>
            </a:xfrm>
            <a:prstGeom prst="rect">
              <a:avLst/>
            </a:prstGeom>
            <a:noFill/>
          </p:spPr>
          <p:txBody>
            <a:bodyPr wrap="square" rtlCol="0">
              <a:spAutoFit/>
            </a:bodyPr>
            <a:lstStyle/>
            <a:p>
              <a:r>
                <a:rPr lang="en-US" i="1" dirty="0">
                  <a:solidFill>
                    <a:srgbClr val="316CE3"/>
                  </a:solidFill>
                </a:rPr>
                <a:t>accurately</a:t>
              </a:r>
              <a:r>
                <a:rPr lang="en-US" i="1" dirty="0"/>
                <a:t> </a:t>
              </a:r>
              <a:r>
                <a:rPr lang="en-US" i="1" dirty="0">
                  <a:solidFill>
                    <a:srgbClr val="316CE3"/>
                  </a:solidFill>
                </a:rPr>
                <a:t>tracks</a:t>
              </a:r>
              <a:r>
                <a:rPr lang="en-US" i="1" dirty="0"/>
                <a:t> </a:t>
              </a:r>
              <a:br>
                <a:rPr lang="en-US" i="1" dirty="0"/>
              </a:br>
              <a:r>
                <a:rPr lang="en-US" i="1" dirty="0"/>
                <a:t>activation counts </a:t>
              </a:r>
              <a:br>
                <a:rPr lang="en-US" i="1" dirty="0"/>
              </a:br>
              <a:r>
                <a:rPr lang="en-US" i="1" dirty="0"/>
                <a:t>of each row</a:t>
              </a:r>
            </a:p>
          </p:txBody>
        </p:sp>
        <p:cxnSp>
          <p:nvCxnSpPr>
            <p:cNvPr id="64" name="Connector: Curved 63">
              <a:extLst>
                <a:ext uri="{FF2B5EF4-FFF2-40B4-BE49-F238E27FC236}">
                  <a16:creationId xmlns:a16="http://schemas.microsoft.com/office/drawing/2014/main" id="{C65961D3-C61A-74A5-2A15-93F957FAB752}"/>
                </a:ext>
              </a:extLst>
            </p:cNvPr>
            <p:cNvCxnSpPr>
              <a:cxnSpLocks/>
            </p:cNvCxnSpPr>
            <p:nvPr/>
          </p:nvCxnSpPr>
          <p:spPr>
            <a:xfrm rot="10800000" flipH="1" flipV="1">
              <a:off x="5569389" y="4922680"/>
              <a:ext cx="676350" cy="413170"/>
            </a:xfrm>
            <a:prstGeom prst="curvedConnector3">
              <a:avLst>
                <a:gd name="adj1" fmla="val 5000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75F56826-FCBD-0DE6-1B4A-8B8C03F62821}"/>
              </a:ext>
            </a:extLst>
          </p:cNvPr>
          <p:cNvGrpSpPr/>
          <p:nvPr/>
        </p:nvGrpSpPr>
        <p:grpSpPr>
          <a:xfrm>
            <a:off x="395206" y="4182859"/>
            <a:ext cx="1862395" cy="923330"/>
            <a:chOff x="4733471" y="4707334"/>
            <a:chExt cx="1862395" cy="923330"/>
          </a:xfrm>
        </p:grpSpPr>
        <p:sp>
          <p:nvSpPr>
            <p:cNvPr id="69" name="TextBox 68">
              <a:extLst>
                <a:ext uri="{FF2B5EF4-FFF2-40B4-BE49-F238E27FC236}">
                  <a16:creationId xmlns:a16="http://schemas.microsoft.com/office/drawing/2014/main" id="{47FB512B-29F7-5336-A400-EDF2E8FBFF47}"/>
                </a:ext>
              </a:extLst>
            </p:cNvPr>
            <p:cNvSpPr txBox="1"/>
            <p:nvPr/>
          </p:nvSpPr>
          <p:spPr>
            <a:xfrm>
              <a:off x="4733471" y="4707334"/>
              <a:ext cx="1285624" cy="923330"/>
            </a:xfrm>
            <a:prstGeom prst="rect">
              <a:avLst/>
            </a:prstGeom>
            <a:noFill/>
          </p:spPr>
          <p:txBody>
            <a:bodyPr wrap="square" rtlCol="0">
              <a:spAutoFit/>
            </a:bodyPr>
            <a:lstStyle/>
            <a:p>
              <a:pPr algn="r"/>
              <a:r>
                <a:rPr lang="en-US" i="1" dirty="0"/>
                <a:t>requires</a:t>
              </a:r>
            </a:p>
            <a:p>
              <a:pPr algn="r"/>
              <a:r>
                <a:rPr lang="en-US" i="1" dirty="0">
                  <a:solidFill>
                    <a:schemeClr val="accent6">
                      <a:lumMod val="75000"/>
                    </a:schemeClr>
                  </a:solidFill>
                </a:rPr>
                <a:t>preventive </a:t>
              </a:r>
            </a:p>
            <a:p>
              <a:pPr algn="r"/>
              <a:r>
                <a:rPr lang="en-US" i="1" dirty="0">
                  <a:solidFill>
                    <a:schemeClr val="accent6">
                      <a:lumMod val="75000"/>
                    </a:schemeClr>
                  </a:solidFill>
                </a:rPr>
                <a:t>action</a:t>
              </a:r>
            </a:p>
          </p:txBody>
        </p:sp>
        <p:cxnSp>
          <p:nvCxnSpPr>
            <p:cNvPr id="70" name="Connector: Curved 69">
              <a:extLst>
                <a:ext uri="{FF2B5EF4-FFF2-40B4-BE49-F238E27FC236}">
                  <a16:creationId xmlns:a16="http://schemas.microsoft.com/office/drawing/2014/main" id="{5FA81DB4-F347-F6AB-2ADC-03DB0FBCB152}"/>
                </a:ext>
              </a:extLst>
            </p:cNvPr>
            <p:cNvCxnSpPr>
              <a:cxnSpLocks/>
            </p:cNvCxnSpPr>
            <p:nvPr/>
          </p:nvCxnSpPr>
          <p:spPr>
            <a:xfrm flipH="1">
              <a:off x="6044301" y="4729010"/>
              <a:ext cx="551565" cy="457549"/>
            </a:xfrm>
            <a:prstGeom prst="curvedConnector3">
              <a:avLst>
                <a:gd name="adj1" fmla="val 5000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88" name="Rectangle 87">
            <a:extLst>
              <a:ext uri="{FF2B5EF4-FFF2-40B4-BE49-F238E27FC236}">
                <a16:creationId xmlns:a16="http://schemas.microsoft.com/office/drawing/2014/main" id="{0B38F33B-8553-6F2A-C580-32109E2B449A}"/>
              </a:ext>
            </a:extLst>
          </p:cNvPr>
          <p:cNvSpPr/>
          <p:nvPr/>
        </p:nvSpPr>
        <p:spPr>
          <a:xfrm>
            <a:off x="4485325" y="1902267"/>
            <a:ext cx="1106305" cy="23748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Back-off</a:t>
            </a:r>
          </a:p>
        </p:txBody>
      </p:sp>
      <p:grpSp>
        <p:nvGrpSpPr>
          <p:cNvPr id="91" name="Group 90">
            <a:extLst>
              <a:ext uri="{FF2B5EF4-FFF2-40B4-BE49-F238E27FC236}">
                <a16:creationId xmlns:a16="http://schemas.microsoft.com/office/drawing/2014/main" id="{B1158A17-725D-B6C4-96E3-A2A451582D13}"/>
              </a:ext>
            </a:extLst>
          </p:cNvPr>
          <p:cNvGrpSpPr/>
          <p:nvPr/>
        </p:nvGrpSpPr>
        <p:grpSpPr>
          <a:xfrm>
            <a:off x="2763678" y="3710783"/>
            <a:ext cx="408373" cy="296405"/>
            <a:chOff x="5727539" y="2075553"/>
            <a:chExt cx="1382813" cy="1003673"/>
          </a:xfrm>
        </p:grpSpPr>
        <p:sp>
          <p:nvSpPr>
            <p:cNvPr id="89" name="Freeform: Shape 88">
              <a:extLst>
                <a:ext uri="{FF2B5EF4-FFF2-40B4-BE49-F238E27FC236}">
                  <a16:creationId xmlns:a16="http://schemas.microsoft.com/office/drawing/2014/main" id="{281B64B0-065B-D031-7BC9-93C16B942DD7}"/>
                </a:ext>
              </a:extLst>
            </p:cNvPr>
            <p:cNvSpPr/>
            <p:nvPr/>
          </p:nvSpPr>
          <p:spPr>
            <a:xfrm>
              <a:off x="5727539" y="2075553"/>
              <a:ext cx="1145657" cy="644708"/>
            </a:xfrm>
            <a:custGeom>
              <a:avLst/>
              <a:gdLst>
                <a:gd name="connsiteX0" fmla="*/ 443938 w 1145657"/>
                <a:gd name="connsiteY0" fmla="*/ 422740 h 644708"/>
                <a:gd name="connsiteX1" fmla="*/ 422462 w 1145657"/>
                <a:gd name="connsiteY1" fmla="*/ 401249 h 644708"/>
                <a:gd name="connsiteX2" fmla="*/ 229912 w 1145657"/>
                <a:gd name="connsiteY2" fmla="*/ 593814 h 644708"/>
                <a:gd name="connsiteX3" fmla="*/ 229698 w 1145657"/>
                <a:gd name="connsiteY3" fmla="*/ 593814 h 644708"/>
                <a:gd name="connsiteX4" fmla="*/ 229654 w 1145657"/>
                <a:gd name="connsiteY4" fmla="*/ 593723 h 644708"/>
                <a:gd name="connsiteX5" fmla="*/ 599535 w 1145657"/>
                <a:gd name="connsiteY5" fmla="*/ 40071 h 644708"/>
                <a:gd name="connsiteX6" fmla="*/ 1118137 w 1145657"/>
                <a:gd name="connsiteY6" fmla="*/ 302878 h 644708"/>
                <a:gd name="connsiteX7" fmla="*/ 1145658 w 1145657"/>
                <a:gd name="connsiteY7" fmla="*/ 290014 h 644708"/>
                <a:gd name="connsiteX8" fmla="*/ 480054 w 1145657"/>
                <a:gd name="connsiteY8" fmla="*/ 46800 h 644708"/>
                <a:gd name="connsiteX9" fmla="*/ 195633 w 1145657"/>
                <a:gd name="connsiteY9" fmla="*/ 575073 h 644708"/>
                <a:gd name="connsiteX10" fmla="*/ 195553 w 1145657"/>
                <a:gd name="connsiteY10" fmla="*/ 575249 h 644708"/>
                <a:gd name="connsiteX11" fmla="*/ 195390 w 1145657"/>
                <a:gd name="connsiteY11" fmla="*/ 575194 h 644708"/>
                <a:gd name="connsiteX12" fmla="*/ 21475 w 1145657"/>
                <a:gd name="connsiteY12" fmla="*/ 401249 h 644708"/>
                <a:gd name="connsiteX13" fmla="*/ 0 w 1145657"/>
                <a:gd name="connsiteY13" fmla="*/ 422740 h 644708"/>
                <a:gd name="connsiteX14" fmla="*/ 221969 w 1145657"/>
                <a:gd name="connsiteY14" fmla="*/ 644709 h 64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7" h="644708">
                  <a:moveTo>
                    <a:pt x="443938" y="422740"/>
                  </a:moveTo>
                  <a:lnTo>
                    <a:pt x="422462" y="401249"/>
                  </a:lnTo>
                  <a:lnTo>
                    <a:pt x="229912" y="593814"/>
                  </a:lnTo>
                  <a:cubicBezTo>
                    <a:pt x="229853" y="593874"/>
                    <a:pt x="229757" y="593874"/>
                    <a:pt x="229698" y="593814"/>
                  </a:cubicBezTo>
                  <a:cubicBezTo>
                    <a:pt x="229674" y="593790"/>
                    <a:pt x="229657" y="593758"/>
                    <a:pt x="229654" y="593723"/>
                  </a:cubicBezTo>
                  <a:cubicBezTo>
                    <a:pt x="178907" y="338697"/>
                    <a:pt x="344508" y="90817"/>
                    <a:pt x="599535" y="40071"/>
                  </a:cubicBezTo>
                  <a:cubicBezTo>
                    <a:pt x="812305" y="-2268"/>
                    <a:pt x="1026463" y="106257"/>
                    <a:pt x="1118137" y="302878"/>
                  </a:cubicBezTo>
                  <a:lnTo>
                    <a:pt x="1145658" y="290014"/>
                  </a:lnTo>
                  <a:cubicBezTo>
                    <a:pt x="1029017" y="39051"/>
                    <a:pt x="731017" y="-69839"/>
                    <a:pt x="480054" y="46800"/>
                  </a:cubicBezTo>
                  <a:cubicBezTo>
                    <a:pt x="278654" y="140405"/>
                    <a:pt x="162896" y="355411"/>
                    <a:pt x="195633" y="575073"/>
                  </a:cubicBezTo>
                  <a:cubicBezTo>
                    <a:pt x="195659" y="575144"/>
                    <a:pt x="195623" y="575222"/>
                    <a:pt x="195553" y="575249"/>
                  </a:cubicBezTo>
                  <a:cubicBezTo>
                    <a:pt x="195492" y="575270"/>
                    <a:pt x="195425" y="575247"/>
                    <a:pt x="195390" y="575194"/>
                  </a:cubicBezTo>
                  <a:lnTo>
                    <a:pt x="21475" y="401249"/>
                  </a:lnTo>
                  <a:lnTo>
                    <a:pt x="0" y="422740"/>
                  </a:lnTo>
                  <a:lnTo>
                    <a:pt x="221969" y="644709"/>
                  </a:lnTo>
                  <a:close/>
                </a:path>
              </a:pathLst>
            </a:custGeom>
            <a:solidFill>
              <a:srgbClr val="000000"/>
            </a:solidFill>
            <a:ln w="19050" cap="flat">
              <a:solidFill>
                <a:schemeClr val="accent6">
                  <a:lumMod val="75000"/>
                </a:schemeClr>
              </a:solid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0763F80-0A6E-605B-586C-19BB2A25C818}"/>
                </a:ext>
              </a:extLst>
            </p:cNvPr>
            <p:cNvSpPr/>
            <p:nvPr/>
          </p:nvSpPr>
          <p:spPr>
            <a:xfrm>
              <a:off x="5976101" y="2466064"/>
              <a:ext cx="1134251" cy="613162"/>
            </a:xfrm>
            <a:custGeom>
              <a:avLst/>
              <a:gdLst>
                <a:gd name="connsiteX0" fmla="*/ 690283 w 1134251"/>
                <a:gd name="connsiteY0" fmla="*/ 221984 h 613162"/>
                <a:gd name="connsiteX1" fmla="*/ 711759 w 1134251"/>
                <a:gd name="connsiteY1" fmla="*/ 243460 h 613162"/>
                <a:gd name="connsiteX2" fmla="*/ 908592 w 1134251"/>
                <a:gd name="connsiteY2" fmla="*/ 46626 h 613162"/>
                <a:gd name="connsiteX3" fmla="*/ 908806 w 1134251"/>
                <a:gd name="connsiteY3" fmla="*/ 46626 h 613162"/>
                <a:gd name="connsiteX4" fmla="*/ 908850 w 1134251"/>
                <a:gd name="connsiteY4" fmla="*/ 46718 h 613162"/>
                <a:gd name="connsiteX5" fmla="*/ 511759 w 1134251"/>
                <a:gd name="connsiteY5" fmla="*/ 577681 h 613162"/>
                <a:gd name="connsiteX6" fmla="*/ 442829 w 1134251"/>
                <a:gd name="connsiteY6" fmla="*/ 582481 h 613162"/>
                <a:gd name="connsiteX7" fmla="*/ 26822 w 1134251"/>
                <a:gd name="connsiteY7" fmla="*/ 332354 h 613162"/>
                <a:gd name="connsiteX8" fmla="*/ 0 w 1134251"/>
                <a:gd name="connsiteY8" fmla="*/ 346600 h 613162"/>
                <a:gd name="connsiteX9" fmla="*/ 677562 w 1134251"/>
                <a:gd name="connsiteY9" fmla="*/ 554696 h 613162"/>
                <a:gd name="connsiteX10" fmla="*/ 944025 w 1134251"/>
                <a:gd name="connsiteY10" fmla="*/ 111660 h 613162"/>
                <a:gd name="connsiteX11" fmla="*/ 942506 w 1134251"/>
                <a:gd name="connsiteY11" fmla="*/ 73539 h 613162"/>
                <a:gd name="connsiteX12" fmla="*/ 942658 w 1134251"/>
                <a:gd name="connsiteY12" fmla="*/ 73387 h 613162"/>
                <a:gd name="connsiteX13" fmla="*/ 942749 w 1134251"/>
                <a:gd name="connsiteY13" fmla="*/ 73418 h 613162"/>
                <a:gd name="connsiteX14" fmla="*/ 1112776 w 1134251"/>
                <a:gd name="connsiteY14" fmla="*/ 243520 h 613162"/>
                <a:gd name="connsiteX15" fmla="*/ 1134252 w 1134251"/>
                <a:gd name="connsiteY15" fmla="*/ 222045 h 613162"/>
                <a:gd name="connsiteX16" fmla="*/ 912252 w 1134251"/>
                <a:gd name="connsiteY16" fmla="*/ 0 h 6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251" h="613162">
                  <a:moveTo>
                    <a:pt x="690283" y="221984"/>
                  </a:moveTo>
                  <a:lnTo>
                    <a:pt x="711759" y="243460"/>
                  </a:lnTo>
                  <a:lnTo>
                    <a:pt x="908592" y="46626"/>
                  </a:lnTo>
                  <a:cubicBezTo>
                    <a:pt x="908651" y="46567"/>
                    <a:pt x="908747" y="46567"/>
                    <a:pt x="908806" y="46626"/>
                  </a:cubicBezTo>
                  <a:cubicBezTo>
                    <a:pt x="908830" y="46651"/>
                    <a:pt x="908847" y="46683"/>
                    <a:pt x="908850" y="46718"/>
                  </a:cubicBezTo>
                  <a:cubicBezTo>
                    <a:pt x="945819" y="302993"/>
                    <a:pt x="768034" y="540714"/>
                    <a:pt x="511759" y="577681"/>
                  </a:cubicBezTo>
                  <a:cubicBezTo>
                    <a:pt x="488932" y="580974"/>
                    <a:pt x="465893" y="582579"/>
                    <a:pt x="442829" y="582481"/>
                  </a:cubicBezTo>
                  <a:cubicBezTo>
                    <a:pt x="268522" y="582642"/>
                    <a:pt x="108422" y="486382"/>
                    <a:pt x="26822" y="332354"/>
                  </a:cubicBezTo>
                  <a:lnTo>
                    <a:pt x="0" y="346600"/>
                  </a:lnTo>
                  <a:cubicBezTo>
                    <a:pt x="129640" y="591168"/>
                    <a:pt x="432994" y="684336"/>
                    <a:pt x="677562" y="554696"/>
                  </a:cubicBezTo>
                  <a:cubicBezTo>
                    <a:pt x="841573" y="467758"/>
                    <a:pt x="944101" y="297290"/>
                    <a:pt x="944025" y="111660"/>
                  </a:cubicBezTo>
                  <a:cubicBezTo>
                    <a:pt x="944025" y="98948"/>
                    <a:pt x="943433" y="86221"/>
                    <a:pt x="942506" y="73539"/>
                  </a:cubicBezTo>
                  <a:cubicBezTo>
                    <a:pt x="942506" y="73456"/>
                    <a:pt x="942575" y="73387"/>
                    <a:pt x="942658" y="73387"/>
                  </a:cubicBezTo>
                  <a:cubicBezTo>
                    <a:pt x="942692" y="73387"/>
                    <a:pt x="942723" y="73398"/>
                    <a:pt x="942749" y="73418"/>
                  </a:cubicBezTo>
                  <a:lnTo>
                    <a:pt x="1112776" y="243520"/>
                  </a:lnTo>
                  <a:lnTo>
                    <a:pt x="1134252" y="222045"/>
                  </a:lnTo>
                  <a:lnTo>
                    <a:pt x="912252" y="0"/>
                  </a:lnTo>
                  <a:close/>
                </a:path>
              </a:pathLst>
            </a:custGeom>
            <a:solidFill>
              <a:srgbClr val="000000"/>
            </a:solidFill>
            <a:ln w="19050" cap="flat">
              <a:solidFill>
                <a:schemeClr val="accent6">
                  <a:lumMod val="75000"/>
                </a:schemeClr>
              </a:solidFill>
              <a:prstDash val="solid"/>
              <a:miter/>
            </a:ln>
          </p:spPr>
          <p:txBody>
            <a:bodyPr rtlCol="0" anchor="ctr"/>
            <a:lstStyle/>
            <a:p>
              <a:endParaRPr lang="en-US"/>
            </a:p>
          </p:txBody>
        </p:sp>
      </p:grpSp>
      <p:sp>
        <p:nvSpPr>
          <p:cNvPr id="94" name="Rectangle 93">
            <a:extLst>
              <a:ext uri="{FF2B5EF4-FFF2-40B4-BE49-F238E27FC236}">
                <a16:creationId xmlns:a16="http://schemas.microsoft.com/office/drawing/2014/main" id="{6F7448ED-B3EE-D9D7-EB25-77936384F1D7}"/>
              </a:ext>
            </a:extLst>
          </p:cNvPr>
          <p:cNvSpPr/>
          <p:nvPr/>
        </p:nvSpPr>
        <p:spPr>
          <a:xfrm>
            <a:off x="2441281" y="1894046"/>
            <a:ext cx="771843" cy="237489"/>
          </a:xfrm>
          <a:prstGeom prst="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RFM</a:t>
            </a:r>
          </a:p>
        </p:txBody>
      </p:sp>
      <p:sp>
        <p:nvSpPr>
          <p:cNvPr id="95" name="Rectangle 94">
            <a:extLst>
              <a:ext uri="{FF2B5EF4-FFF2-40B4-BE49-F238E27FC236}">
                <a16:creationId xmlns:a16="http://schemas.microsoft.com/office/drawing/2014/main" id="{285C9EF5-C3E3-14E6-6ED4-C19B4CA3AC7A}"/>
              </a:ext>
            </a:extLst>
          </p:cNvPr>
          <p:cNvSpPr/>
          <p:nvPr/>
        </p:nvSpPr>
        <p:spPr>
          <a:xfrm>
            <a:off x="4956142" y="5655614"/>
            <a:ext cx="771843" cy="237489"/>
          </a:xfrm>
          <a:prstGeom prst="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RFM</a:t>
            </a:r>
          </a:p>
        </p:txBody>
      </p:sp>
      <p:grpSp>
        <p:nvGrpSpPr>
          <p:cNvPr id="113" name="Group 112">
            <a:extLst>
              <a:ext uri="{FF2B5EF4-FFF2-40B4-BE49-F238E27FC236}">
                <a16:creationId xmlns:a16="http://schemas.microsoft.com/office/drawing/2014/main" id="{405EEAED-6D74-78B9-3CA8-43A178377D3D}"/>
              </a:ext>
            </a:extLst>
          </p:cNvPr>
          <p:cNvGrpSpPr/>
          <p:nvPr/>
        </p:nvGrpSpPr>
        <p:grpSpPr>
          <a:xfrm>
            <a:off x="7029182" y="4387439"/>
            <a:ext cx="2077228" cy="1200329"/>
            <a:chOff x="4431307" y="4288123"/>
            <a:chExt cx="2077228" cy="1200329"/>
          </a:xfrm>
        </p:grpSpPr>
        <p:sp>
          <p:nvSpPr>
            <p:cNvPr id="114" name="TextBox 113">
              <a:extLst>
                <a:ext uri="{FF2B5EF4-FFF2-40B4-BE49-F238E27FC236}">
                  <a16:creationId xmlns:a16="http://schemas.microsoft.com/office/drawing/2014/main" id="{2D349D58-4F13-C5B0-91AA-8FC1DA09F3E1}"/>
                </a:ext>
              </a:extLst>
            </p:cNvPr>
            <p:cNvSpPr txBox="1"/>
            <p:nvPr/>
          </p:nvSpPr>
          <p:spPr>
            <a:xfrm>
              <a:off x="4959148" y="4288123"/>
              <a:ext cx="1549387" cy="1200329"/>
            </a:xfrm>
            <a:prstGeom prst="rect">
              <a:avLst/>
            </a:prstGeom>
            <a:noFill/>
          </p:spPr>
          <p:txBody>
            <a:bodyPr wrap="square" rtlCol="0">
              <a:spAutoFit/>
            </a:bodyPr>
            <a:lstStyle/>
            <a:p>
              <a:r>
                <a:rPr lang="en-US" i="1" dirty="0"/>
                <a:t>allocates a fixed time for </a:t>
              </a:r>
              <a:r>
                <a:rPr lang="en-US" i="1" dirty="0">
                  <a:solidFill>
                    <a:schemeClr val="accent6">
                      <a:lumMod val="75000"/>
                    </a:schemeClr>
                  </a:solidFill>
                </a:rPr>
                <a:t>preventive refresh</a:t>
              </a:r>
            </a:p>
          </p:txBody>
        </p:sp>
        <p:cxnSp>
          <p:nvCxnSpPr>
            <p:cNvPr id="115" name="Connector: Curved 114">
              <a:extLst>
                <a:ext uri="{FF2B5EF4-FFF2-40B4-BE49-F238E27FC236}">
                  <a16:creationId xmlns:a16="http://schemas.microsoft.com/office/drawing/2014/main" id="{73F0A7ED-260A-7DE1-6DA9-6DFBA93F76C8}"/>
                </a:ext>
              </a:extLst>
            </p:cNvPr>
            <p:cNvCxnSpPr>
              <a:cxnSpLocks/>
            </p:cNvCxnSpPr>
            <p:nvPr/>
          </p:nvCxnSpPr>
          <p:spPr>
            <a:xfrm flipV="1">
              <a:off x="4431307" y="5018602"/>
              <a:ext cx="491254" cy="349755"/>
            </a:xfrm>
            <a:prstGeom prst="curvedConnector3">
              <a:avLst>
                <a:gd name="adj1" fmla="val 5000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B74EECAB-078F-B9BE-D644-9D7A31E1C07D}"/>
              </a:ext>
            </a:extLst>
          </p:cNvPr>
          <p:cNvGrpSpPr/>
          <p:nvPr/>
        </p:nvGrpSpPr>
        <p:grpSpPr>
          <a:xfrm>
            <a:off x="2763678" y="4456219"/>
            <a:ext cx="408373" cy="296405"/>
            <a:chOff x="5727539" y="2075553"/>
            <a:chExt cx="1382813" cy="1003673"/>
          </a:xfrm>
        </p:grpSpPr>
        <p:sp>
          <p:nvSpPr>
            <p:cNvPr id="121" name="Freeform: Shape 120">
              <a:extLst>
                <a:ext uri="{FF2B5EF4-FFF2-40B4-BE49-F238E27FC236}">
                  <a16:creationId xmlns:a16="http://schemas.microsoft.com/office/drawing/2014/main" id="{C3A09FA2-D236-FDAB-54CB-01C91752EBC5}"/>
                </a:ext>
              </a:extLst>
            </p:cNvPr>
            <p:cNvSpPr/>
            <p:nvPr/>
          </p:nvSpPr>
          <p:spPr>
            <a:xfrm>
              <a:off x="5727539" y="2075553"/>
              <a:ext cx="1145657" cy="644708"/>
            </a:xfrm>
            <a:custGeom>
              <a:avLst/>
              <a:gdLst>
                <a:gd name="connsiteX0" fmla="*/ 443938 w 1145657"/>
                <a:gd name="connsiteY0" fmla="*/ 422740 h 644708"/>
                <a:gd name="connsiteX1" fmla="*/ 422462 w 1145657"/>
                <a:gd name="connsiteY1" fmla="*/ 401249 h 644708"/>
                <a:gd name="connsiteX2" fmla="*/ 229912 w 1145657"/>
                <a:gd name="connsiteY2" fmla="*/ 593814 h 644708"/>
                <a:gd name="connsiteX3" fmla="*/ 229698 w 1145657"/>
                <a:gd name="connsiteY3" fmla="*/ 593814 h 644708"/>
                <a:gd name="connsiteX4" fmla="*/ 229654 w 1145657"/>
                <a:gd name="connsiteY4" fmla="*/ 593723 h 644708"/>
                <a:gd name="connsiteX5" fmla="*/ 599535 w 1145657"/>
                <a:gd name="connsiteY5" fmla="*/ 40071 h 644708"/>
                <a:gd name="connsiteX6" fmla="*/ 1118137 w 1145657"/>
                <a:gd name="connsiteY6" fmla="*/ 302878 h 644708"/>
                <a:gd name="connsiteX7" fmla="*/ 1145658 w 1145657"/>
                <a:gd name="connsiteY7" fmla="*/ 290014 h 644708"/>
                <a:gd name="connsiteX8" fmla="*/ 480054 w 1145657"/>
                <a:gd name="connsiteY8" fmla="*/ 46800 h 644708"/>
                <a:gd name="connsiteX9" fmla="*/ 195633 w 1145657"/>
                <a:gd name="connsiteY9" fmla="*/ 575073 h 644708"/>
                <a:gd name="connsiteX10" fmla="*/ 195553 w 1145657"/>
                <a:gd name="connsiteY10" fmla="*/ 575249 h 644708"/>
                <a:gd name="connsiteX11" fmla="*/ 195390 w 1145657"/>
                <a:gd name="connsiteY11" fmla="*/ 575194 h 644708"/>
                <a:gd name="connsiteX12" fmla="*/ 21475 w 1145657"/>
                <a:gd name="connsiteY12" fmla="*/ 401249 h 644708"/>
                <a:gd name="connsiteX13" fmla="*/ 0 w 1145657"/>
                <a:gd name="connsiteY13" fmla="*/ 422740 h 644708"/>
                <a:gd name="connsiteX14" fmla="*/ 221969 w 1145657"/>
                <a:gd name="connsiteY14" fmla="*/ 644709 h 64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7" h="644708">
                  <a:moveTo>
                    <a:pt x="443938" y="422740"/>
                  </a:moveTo>
                  <a:lnTo>
                    <a:pt x="422462" y="401249"/>
                  </a:lnTo>
                  <a:lnTo>
                    <a:pt x="229912" y="593814"/>
                  </a:lnTo>
                  <a:cubicBezTo>
                    <a:pt x="229853" y="593874"/>
                    <a:pt x="229757" y="593874"/>
                    <a:pt x="229698" y="593814"/>
                  </a:cubicBezTo>
                  <a:cubicBezTo>
                    <a:pt x="229674" y="593790"/>
                    <a:pt x="229657" y="593758"/>
                    <a:pt x="229654" y="593723"/>
                  </a:cubicBezTo>
                  <a:cubicBezTo>
                    <a:pt x="178907" y="338697"/>
                    <a:pt x="344508" y="90817"/>
                    <a:pt x="599535" y="40071"/>
                  </a:cubicBezTo>
                  <a:cubicBezTo>
                    <a:pt x="812305" y="-2268"/>
                    <a:pt x="1026463" y="106257"/>
                    <a:pt x="1118137" y="302878"/>
                  </a:cubicBezTo>
                  <a:lnTo>
                    <a:pt x="1145658" y="290014"/>
                  </a:lnTo>
                  <a:cubicBezTo>
                    <a:pt x="1029017" y="39051"/>
                    <a:pt x="731017" y="-69839"/>
                    <a:pt x="480054" y="46800"/>
                  </a:cubicBezTo>
                  <a:cubicBezTo>
                    <a:pt x="278654" y="140405"/>
                    <a:pt x="162896" y="355411"/>
                    <a:pt x="195633" y="575073"/>
                  </a:cubicBezTo>
                  <a:cubicBezTo>
                    <a:pt x="195659" y="575144"/>
                    <a:pt x="195623" y="575222"/>
                    <a:pt x="195553" y="575249"/>
                  </a:cubicBezTo>
                  <a:cubicBezTo>
                    <a:pt x="195492" y="575270"/>
                    <a:pt x="195425" y="575247"/>
                    <a:pt x="195390" y="575194"/>
                  </a:cubicBezTo>
                  <a:lnTo>
                    <a:pt x="21475" y="401249"/>
                  </a:lnTo>
                  <a:lnTo>
                    <a:pt x="0" y="422740"/>
                  </a:lnTo>
                  <a:lnTo>
                    <a:pt x="221969" y="644709"/>
                  </a:lnTo>
                  <a:close/>
                </a:path>
              </a:pathLst>
            </a:custGeom>
            <a:solidFill>
              <a:srgbClr val="000000"/>
            </a:solidFill>
            <a:ln w="19050" cap="flat">
              <a:solidFill>
                <a:schemeClr val="accent6">
                  <a:lumMod val="75000"/>
                </a:schemeClr>
              </a:solid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E70D9A4B-EA8D-3988-0D25-08EF1EF1E635}"/>
                </a:ext>
              </a:extLst>
            </p:cNvPr>
            <p:cNvSpPr/>
            <p:nvPr/>
          </p:nvSpPr>
          <p:spPr>
            <a:xfrm>
              <a:off x="5976101" y="2466064"/>
              <a:ext cx="1134251" cy="613162"/>
            </a:xfrm>
            <a:custGeom>
              <a:avLst/>
              <a:gdLst>
                <a:gd name="connsiteX0" fmla="*/ 690283 w 1134251"/>
                <a:gd name="connsiteY0" fmla="*/ 221984 h 613162"/>
                <a:gd name="connsiteX1" fmla="*/ 711759 w 1134251"/>
                <a:gd name="connsiteY1" fmla="*/ 243460 h 613162"/>
                <a:gd name="connsiteX2" fmla="*/ 908592 w 1134251"/>
                <a:gd name="connsiteY2" fmla="*/ 46626 h 613162"/>
                <a:gd name="connsiteX3" fmla="*/ 908806 w 1134251"/>
                <a:gd name="connsiteY3" fmla="*/ 46626 h 613162"/>
                <a:gd name="connsiteX4" fmla="*/ 908850 w 1134251"/>
                <a:gd name="connsiteY4" fmla="*/ 46718 h 613162"/>
                <a:gd name="connsiteX5" fmla="*/ 511759 w 1134251"/>
                <a:gd name="connsiteY5" fmla="*/ 577681 h 613162"/>
                <a:gd name="connsiteX6" fmla="*/ 442829 w 1134251"/>
                <a:gd name="connsiteY6" fmla="*/ 582481 h 613162"/>
                <a:gd name="connsiteX7" fmla="*/ 26822 w 1134251"/>
                <a:gd name="connsiteY7" fmla="*/ 332354 h 613162"/>
                <a:gd name="connsiteX8" fmla="*/ 0 w 1134251"/>
                <a:gd name="connsiteY8" fmla="*/ 346600 h 613162"/>
                <a:gd name="connsiteX9" fmla="*/ 677562 w 1134251"/>
                <a:gd name="connsiteY9" fmla="*/ 554696 h 613162"/>
                <a:gd name="connsiteX10" fmla="*/ 944025 w 1134251"/>
                <a:gd name="connsiteY10" fmla="*/ 111660 h 613162"/>
                <a:gd name="connsiteX11" fmla="*/ 942506 w 1134251"/>
                <a:gd name="connsiteY11" fmla="*/ 73539 h 613162"/>
                <a:gd name="connsiteX12" fmla="*/ 942658 w 1134251"/>
                <a:gd name="connsiteY12" fmla="*/ 73387 h 613162"/>
                <a:gd name="connsiteX13" fmla="*/ 942749 w 1134251"/>
                <a:gd name="connsiteY13" fmla="*/ 73418 h 613162"/>
                <a:gd name="connsiteX14" fmla="*/ 1112776 w 1134251"/>
                <a:gd name="connsiteY14" fmla="*/ 243520 h 613162"/>
                <a:gd name="connsiteX15" fmla="*/ 1134252 w 1134251"/>
                <a:gd name="connsiteY15" fmla="*/ 222045 h 613162"/>
                <a:gd name="connsiteX16" fmla="*/ 912252 w 1134251"/>
                <a:gd name="connsiteY16" fmla="*/ 0 h 61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4251" h="613162">
                  <a:moveTo>
                    <a:pt x="690283" y="221984"/>
                  </a:moveTo>
                  <a:lnTo>
                    <a:pt x="711759" y="243460"/>
                  </a:lnTo>
                  <a:lnTo>
                    <a:pt x="908592" y="46626"/>
                  </a:lnTo>
                  <a:cubicBezTo>
                    <a:pt x="908651" y="46567"/>
                    <a:pt x="908747" y="46567"/>
                    <a:pt x="908806" y="46626"/>
                  </a:cubicBezTo>
                  <a:cubicBezTo>
                    <a:pt x="908830" y="46651"/>
                    <a:pt x="908847" y="46683"/>
                    <a:pt x="908850" y="46718"/>
                  </a:cubicBezTo>
                  <a:cubicBezTo>
                    <a:pt x="945819" y="302993"/>
                    <a:pt x="768034" y="540714"/>
                    <a:pt x="511759" y="577681"/>
                  </a:cubicBezTo>
                  <a:cubicBezTo>
                    <a:pt x="488932" y="580974"/>
                    <a:pt x="465893" y="582579"/>
                    <a:pt x="442829" y="582481"/>
                  </a:cubicBezTo>
                  <a:cubicBezTo>
                    <a:pt x="268522" y="582642"/>
                    <a:pt x="108422" y="486382"/>
                    <a:pt x="26822" y="332354"/>
                  </a:cubicBezTo>
                  <a:lnTo>
                    <a:pt x="0" y="346600"/>
                  </a:lnTo>
                  <a:cubicBezTo>
                    <a:pt x="129640" y="591168"/>
                    <a:pt x="432994" y="684336"/>
                    <a:pt x="677562" y="554696"/>
                  </a:cubicBezTo>
                  <a:cubicBezTo>
                    <a:pt x="841573" y="467758"/>
                    <a:pt x="944101" y="297290"/>
                    <a:pt x="944025" y="111660"/>
                  </a:cubicBezTo>
                  <a:cubicBezTo>
                    <a:pt x="944025" y="98948"/>
                    <a:pt x="943433" y="86221"/>
                    <a:pt x="942506" y="73539"/>
                  </a:cubicBezTo>
                  <a:cubicBezTo>
                    <a:pt x="942506" y="73456"/>
                    <a:pt x="942575" y="73387"/>
                    <a:pt x="942658" y="73387"/>
                  </a:cubicBezTo>
                  <a:cubicBezTo>
                    <a:pt x="942692" y="73387"/>
                    <a:pt x="942723" y="73398"/>
                    <a:pt x="942749" y="73418"/>
                  </a:cubicBezTo>
                  <a:lnTo>
                    <a:pt x="1112776" y="243520"/>
                  </a:lnTo>
                  <a:lnTo>
                    <a:pt x="1134252" y="222045"/>
                  </a:lnTo>
                  <a:lnTo>
                    <a:pt x="912252" y="0"/>
                  </a:lnTo>
                  <a:close/>
                </a:path>
              </a:pathLst>
            </a:custGeom>
            <a:solidFill>
              <a:srgbClr val="000000"/>
            </a:solidFill>
            <a:ln w="19050" cap="flat">
              <a:solidFill>
                <a:schemeClr val="accent6">
                  <a:lumMod val="75000"/>
                </a:schemeClr>
              </a:solidFill>
              <a:prstDash val="solid"/>
              <a:miter/>
            </a:ln>
          </p:spPr>
          <p:txBody>
            <a:bodyPr rtlCol="0" anchor="ctr"/>
            <a:lstStyle/>
            <a:p>
              <a:endParaRPr lang="en-US"/>
            </a:p>
          </p:txBody>
        </p:sp>
      </p:grpSp>
      <p:sp>
        <p:nvSpPr>
          <p:cNvPr id="123" name="Rectangle 122">
            <a:extLst>
              <a:ext uri="{FF2B5EF4-FFF2-40B4-BE49-F238E27FC236}">
                <a16:creationId xmlns:a16="http://schemas.microsoft.com/office/drawing/2014/main" id="{B825BA46-6D9D-5F34-4535-AFBAFA5B0559}"/>
              </a:ext>
            </a:extLst>
          </p:cNvPr>
          <p:cNvSpPr/>
          <p:nvPr/>
        </p:nvSpPr>
        <p:spPr>
          <a:xfrm>
            <a:off x="7229809" y="5652539"/>
            <a:ext cx="771843" cy="237489"/>
          </a:xfrm>
          <a:prstGeom prst="rect">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127" name="Rectangle 126">
            <a:extLst>
              <a:ext uri="{FF2B5EF4-FFF2-40B4-BE49-F238E27FC236}">
                <a16:creationId xmlns:a16="http://schemas.microsoft.com/office/drawing/2014/main" id="{53D2466F-8C96-008E-F3DB-712C824B2E73}"/>
              </a:ext>
            </a:extLst>
          </p:cNvPr>
          <p:cNvSpPr/>
          <p:nvPr/>
        </p:nvSpPr>
        <p:spPr>
          <a:xfrm>
            <a:off x="4624130" y="1346353"/>
            <a:ext cx="3115894" cy="268979"/>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cap="all" dirty="0"/>
              <a:t>Unavailable</a:t>
            </a:r>
          </a:p>
        </p:txBody>
      </p:sp>
      <p:cxnSp>
        <p:nvCxnSpPr>
          <p:cNvPr id="129" name="Straight Connector 128">
            <a:extLst>
              <a:ext uri="{FF2B5EF4-FFF2-40B4-BE49-F238E27FC236}">
                <a16:creationId xmlns:a16="http://schemas.microsoft.com/office/drawing/2014/main" id="{6E9652A6-1D9D-D0A3-D888-621A3BB12C5E}"/>
              </a:ext>
            </a:extLst>
          </p:cNvPr>
          <p:cNvCxnSpPr>
            <a:cxnSpLocks/>
          </p:cNvCxnSpPr>
          <p:nvPr/>
        </p:nvCxnSpPr>
        <p:spPr>
          <a:xfrm>
            <a:off x="4792382" y="5413240"/>
            <a:ext cx="0" cy="657785"/>
          </a:xfrm>
          <a:prstGeom prst="line">
            <a:avLst/>
          </a:prstGeom>
          <a:ln w="381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6ECE0127-0B83-21FC-B52F-896FAD3C896C}"/>
              </a:ext>
            </a:extLst>
          </p:cNvPr>
          <p:cNvSpPr txBox="1"/>
          <p:nvPr/>
        </p:nvSpPr>
        <p:spPr>
          <a:xfrm>
            <a:off x="4191340" y="5095417"/>
            <a:ext cx="1121229" cy="369332"/>
          </a:xfrm>
          <a:prstGeom prst="rect">
            <a:avLst/>
          </a:prstGeom>
          <a:noFill/>
        </p:spPr>
        <p:txBody>
          <a:bodyPr wrap="square" rtlCol="0">
            <a:spAutoFit/>
          </a:bodyPr>
          <a:lstStyle/>
          <a:p>
            <a:r>
              <a:rPr lang="en-US" b="1" i="1" dirty="0">
                <a:solidFill>
                  <a:srgbClr val="C00000"/>
                </a:solidFill>
              </a:rPr>
              <a:t>Back-off</a:t>
            </a:r>
          </a:p>
        </p:txBody>
      </p:sp>
      <p:grpSp>
        <p:nvGrpSpPr>
          <p:cNvPr id="133" name="Group 132">
            <a:extLst>
              <a:ext uri="{FF2B5EF4-FFF2-40B4-BE49-F238E27FC236}">
                <a16:creationId xmlns:a16="http://schemas.microsoft.com/office/drawing/2014/main" id="{ADEC1D6E-EB4B-508E-76F7-57781011E022}"/>
              </a:ext>
            </a:extLst>
          </p:cNvPr>
          <p:cNvGrpSpPr/>
          <p:nvPr/>
        </p:nvGrpSpPr>
        <p:grpSpPr>
          <a:xfrm>
            <a:off x="6967778" y="2553804"/>
            <a:ext cx="2141044" cy="923330"/>
            <a:chOff x="4216582" y="4326489"/>
            <a:chExt cx="2141044" cy="923330"/>
          </a:xfrm>
        </p:grpSpPr>
        <p:sp>
          <p:nvSpPr>
            <p:cNvPr id="134" name="TextBox 133">
              <a:extLst>
                <a:ext uri="{FF2B5EF4-FFF2-40B4-BE49-F238E27FC236}">
                  <a16:creationId xmlns:a16="http://schemas.microsoft.com/office/drawing/2014/main" id="{B64E3C7F-9B72-AD25-4CBC-F04486423BBE}"/>
                </a:ext>
              </a:extLst>
            </p:cNvPr>
            <p:cNvSpPr txBox="1"/>
            <p:nvPr/>
          </p:nvSpPr>
          <p:spPr>
            <a:xfrm>
              <a:off x="4931689" y="4326489"/>
              <a:ext cx="1425937" cy="923330"/>
            </a:xfrm>
            <a:prstGeom prst="rect">
              <a:avLst/>
            </a:prstGeom>
            <a:noFill/>
          </p:spPr>
          <p:txBody>
            <a:bodyPr wrap="square" rtlCol="0">
              <a:spAutoFit/>
            </a:bodyPr>
            <a:lstStyle/>
            <a:p>
              <a:r>
                <a:rPr lang="en-US" i="1" dirty="0"/>
                <a:t>becomes available again</a:t>
              </a:r>
              <a:endParaRPr lang="en-US" i="1" dirty="0">
                <a:solidFill>
                  <a:schemeClr val="accent6">
                    <a:lumMod val="75000"/>
                  </a:schemeClr>
                </a:solidFill>
              </a:endParaRPr>
            </a:p>
          </p:txBody>
        </p:sp>
        <p:cxnSp>
          <p:nvCxnSpPr>
            <p:cNvPr id="135" name="Connector: Curved 134">
              <a:extLst>
                <a:ext uri="{FF2B5EF4-FFF2-40B4-BE49-F238E27FC236}">
                  <a16:creationId xmlns:a16="http://schemas.microsoft.com/office/drawing/2014/main" id="{557DE2BA-74C5-A091-9066-90DF804A5B08}"/>
                </a:ext>
              </a:extLst>
            </p:cNvPr>
            <p:cNvCxnSpPr>
              <a:cxnSpLocks/>
            </p:cNvCxnSpPr>
            <p:nvPr/>
          </p:nvCxnSpPr>
          <p:spPr>
            <a:xfrm>
              <a:off x="4216582" y="4511554"/>
              <a:ext cx="634877" cy="372618"/>
            </a:xfrm>
            <a:prstGeom prst="curvedConnector3">
              <a:avLst>
                <a:gd name="adj1" fmla="val 5000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943377FC-5CA5-BA6E-5642-6AACAC0EC6EF}"/>
              </a:ext>
            </a:extLst>
          </p:cNvPr>
          <p:cNvGrpSpPr/>
          <p:nvPr/>
        </p:nvGrpSpPr>
        <p:grpSpPr>
          <a:xfrm>
            <a:off x="7331286" y="3815615"/>
            <a:ext cx="1848017" cy="1726957"/>
            <a:chOff x="4410948" y="4706965"/>
            <a:chExt cx="1848017" cy="1726957"/>
          </a:xfrm>
        </p:grpSpPr>
        <p:sp>
          <p:nvSpPr>
            <p:cNvPr id="19" name="TextBox 18">
              <a:extLst>
                <a:ext uri="{FF2B5EF4-FFF2-40B4-BE49-F238E27FC236}">
                  <a16:creationId xmlns:a16="http://schemas.microsoft.com/office/drawing/2014/main" id="{4EFF37A5-FB1D-3646-EE80-21BF22F29836}"/>
                </a:ext>
              </a:extLst>
            </p:cNvPr>
            <p:cNvSpPr txBox="1"/>
            <p:nvPr/>
          </p:nvSpPr>
          <p:spPr>
            <a:xfrm>
              <a:off x="4410948" y="4706965"/>
              <a:ext cx="1848017" cy="646331"/>
            </a:xfrm>
            <a:prstGeom prst="rect">
              <a:avLst/>
            </a:prstGeom>
            <a:noFill/>
          </p:spPr>
          <p:txBody>
            <a:bodyPr wrap="square" rtlCol="0">
              <a:spAutoFit/>
            </a:bodyPr>
            <a:lstStyle/>
            <a:p>
              <a:r>
                <a:rPr lang="en-US" i="1" dirty="0"/>
                <a:t>continues to </a:t>
              </a:r>
              <a:br>
                <a:rPr lang="en-US" i="1" dirty="0"/>
              </a:br>
              <a:r>
                <a:rPr lang="en-US" i="1" dirty="0"/>
                <a:t>send commands</a:t>
              </a:r>
              <a:endParaRPr lang="en-US" i="1" dirty="0">
                <a:solidFill>
                  <a:schemeClr val="accent6">
                    <a:lumMod val="75000"/>
                  </a:schemeClr>
                </a:solidFill>
              </a:endParaRPr>
            </a:p>
          </p:txBody>
        </p:sp>
        <p:cxnSp>
          <p:nvCxnSpPr>
            <p:cNvPr id="20" name="Connector: Curved 19">
              <a:extLst>
                <a:ext uri="{FF2B5EF4-FFF2-40B4-BE49-F238E27FC236}">
                  <a16:creationId xmlns:a16="http://schemas.microsoft.com/office/drawing/2014/main" id="{C089976F-1449-8E63-E580-7E4992248C79}"/>
                </a:ext>
              </a:extLst>
            </p:cNvPr>
            <p:cNvCxnSpPr>
              <a:cxnSpLocks/>
            </p:cNvCxnSpPr>
            <p:nvPr/>
          </p:nvCxnSpPr>
          <p:spPr>
            <a:xfrm rot="5400000" flipH="1" flipV="1">
              <a:off x="4597503" y="5532788"/>
              <a:ext cx="902729" cy="899540"/>
            </a:xfrm>
            <a:prstGeom prst="curvedConnector3">
              <a:avLst>
                <a:gd name="adj1" fmla="val 5000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19A4919F-9F63-3765-8C91-1C785CD34D2D}"/>
              </a:ext>
            </a:extLst>
          </p:cNvPr>
          <p:cNvGrpSpPr/>
          <p:nvPr/>
        </p:nvGrpSpPr>
        <p:grpSpPr>
          <a:xfrm>
            <a:off x="4815925" y="3430964"/>
            <a:ext cx="2249808" cy="795333"/>
            <a:chOff x="369249" y="3406237"/>
            <a:chExt cx="2249808" cy="795333"/>
          </a:xfrm>
        </p:grpSpPr>
        <p:sp>
          <p:nvSpPr>
            <p:cNvPr id="13" name="TextBox 12">
              <a:extLst>
                <a:ext uri="{FF2B5EF4-FFF2-40B4-BE49-F238E27FC236}">
                  <a16:creationId xmlns:a16="http://schemas.microsoft.com/office/drawing/2014/main" id="{0A6F76B4-8671-36D3-4734-A4BED2A802D7}"/>
                </a:ext>
              </a:extLst>
            </p:cNvPr>
            <p:cNvSpPr txBox="1"/>
            <p:nvPr/>
          </p:nvSpPr>
          <p:spPr>
            <a:xfrm>
              <a:off x="847440" y="3406237"/>
              <a:ext cx="1771617" cy="646331"/>
            </a:xfrm>
            <a:prstGeom prst="rect">
              <a:avLst/>
            </a:prstGeom>
            <a:noFill/>
          </p:spPr>
          <p:txBody>
            <a:bodyPr wrap="square" rtlCol="0">
              <a:spAutoFit/>
            </a:bodyPr>
            <a:lstStyle/>
            <a:p>
              <a:r>
                <a:rPr lang="en-US" i="1" dirty="0">
                  <a:solidFill>
                    <a:srgbClr val="C00000"/>
                  </a:solidFill>
                </a:rPr>
                <a:t>back-off threshold</a:t>
              </a:r>
            </a:p>
          </p:txBody>
        </p:sp>
        <p:cxnSp>
          <p:nvCxnSpPr>
            <p:cNvPr id="23" name="Connector: Curved 22">
              <a:extLst>
                <a:ext uri="{FF2B5EF4-FFF2-40B4-BE49-F238E27FC236}">
                  <a16:creationId xmlns:a16="http://schemas.microsoft.com/office/drawing/2014/main" id="{31919B0E-0B3D-A2DE-AEA0-703F714161CF}"/>
                </a:ext>
              </a:extLst>
            </p:cNvPr>
            <p:cNvCxnSpPr>
              <a:cxnSpLocks/>
            </p:cNvCxnSpPr>
            <p:nvPr/>
          </p:nvCxnSpPr>
          <p:spPr>
            <a:xfrm rot="10800000" flipH="1">
              <a:off x="369249" y="3763352"/>
              <a:ext cx="610181" cy="438218"/>
            </a:xfrm>
            <a:prstGeom prst="curvedConnector3">
              <a:avLst>
                <a:gd name="adj1" fmla="val 5000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240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6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par>
                          <p:cTn id="31" fill="hold">
                            <p:stCondLst>
                              <p:cond delay="0"/>
                            </p:stCondLst>
                            <p:childTnLst>
                              <p:par>
                                <p:cTn id="32" presetID="63" presetClass="path" presetSubtype="0" accel="50000" decel="50000" fill="hold" grpId="1" nodeType="afterEffect">
                                  <p:stCondLst>
                                    <p:cond delay="0"/>
                                  </p:stCondLst>
                                  <p:childTnLst>
                                    <p:animMotion origin="layout" path="M 0 0 L 0.25 0 E" pathEditMode="relative" ptsTypes="">
                                      <p:cBhvr>
                                        <p:cTn id="33" dur="2000" fill="hold"/>
                                        <p:tgtEl>
                                          <p:spTgt spid="48"/>
                                        </p:tgtEl>
                                        <p:attrNameLst>
                                          <p:attrName>ppt_x</p:attrName>
                                          <p:attrName>ppt_y</p:attrName>
                                        </p:attrNameLst>
                                      </p:cBhvr>
                                    </p:animMotion>
                                  </p:childTnLst>
                                </p:cTn>
                              </p:par>
                            </p:childTnLst>
                          </p:cTn>
                        </p:par>
                        <p:par>
                          <p:cTn id="34" fill="hold">
                            <p:stCondLst>
                              <p:cond delay="2000"/>
                            </p:stCondLst>
                            <p:childTnLst>
                              <p:par>
                                <p:cTn id="35" presetID="1" presetClass="exit" presetSubtype="0" fill="hold" grpId="2" nodeType="afterEffect">
                                  <p:stCondLst>
                                    <p:cond delay="0"/>
                                  </p:stCondLst>
                                  <p:childTnLst>
                                    <p:set>
                                      <p:cBhvr>
                                        <p:cTn id="36" dur="1" fill="hold">
                                          <p:stCondLst>
                                            <p:cond delay="0"/>
                                          </p:stCondLst>
                                        </p:cTn>
                                        <p:tgtEl>
                                          <p:spTgt spid="48"/>
                                        </p:tgtEl>
                                        <p:attrNameLst>
                                          <p:attrName>style.visibility</p:attrName>
                                        </p:attrNameLst>
                                      </p:cBhvr>
                                      <p:to>
                                        <p:strVal val="hidden"/>
                                      </p:to>
                                    </p:set>
                                  </p:childTnLst>
                                </p:cTn>
                              </p:par>
                            </p:childTnLst>
                          </p:cTn>
                        </p:par>
                        <p:par>
                          <p:cTn id="37" fill="hold">
                            <p:stCondLst>
                              <p:cond delay="2000"/>
                            </p:stCondLst>
                            <p:childTnLst>
                              <p:par>
                                <p:cTn id="38" presetID="1" presetClass="entr" presetSubtype="0" fill="hold" grpId="0" nodeType="after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childTnLst>
                                </p:cTn>
                              </p:par>
                            </p:childTnLst>
                          </p:cTn>
                        </p:par>
                        <p:par>
                          <p:cTn id="46" fill="hold">
                            <p:stCondLst>
                              <p:cond delay="0"/>
                            </p:stCondLst>
                            <p:childTnLst>
                              <p:par>
                                <p:cTn id="47" presetID="63" presetClass="path" presetSubtype="0" accel="50000" decel="50000" fill="hold" grpId="1" nodeType="afterEffect">
                                  <p:stCondLst>
                                    <p:cond delay="0"/>
                                  </p:stCondLst>
                                  <p:childTnLst>
                                    <p:animMotion origin="layout" path="M -3.33333E-6 -2.96296E-6 L 0.25 -2.96296E-6 " pathEditMode="relative" rAng="0" ptsTypes="AA">
                                      <p:cBhvr>
                                        <p:cTn id="48" dur="1000" fill="hold"/>
                                        <p:tgtEl>
                                          <p:spTgt spid="53"/>
                                        </p:tgtEl>
                                        <p:attrNameLst>
                                          <p:attrName>ppt_x</p:attrName>
                                          <p:attrName>ppt_y</p:attrName>
                                        </p:attrNameLst>
                                      </p:cBhvr>
                                      <p:rCtr x="12500" y="0"/>
                                    </p:animMotion>
                                  </p:childTnLst>
                                </p:cTn>
                              </p:par>
                            </p:childTnLst>
                          </p:cTn>
                        </p:par>
                        <p:par>
                          <p:cTn id="49" fill="hold">
                            <p:stCondLst>
                              <p:cond delay="1000"/>
                            </p:stCondLst>
                            <p:childTnLst>
                              <p:par>
                                <p:cTn id="50" presetID="1" presetClass="exit" presetSubtype="0" fill="hold" grpId="2" nodeType="afterEffect">
                                  <p:stCondLst>
                                    <p:cond delay="0"/>
                                  </p:stCondLst>
                                  <p:childTnLst>
                                    <p:set>
                                      <p:cBhvr>
                                        <p:cTn id="51" dur="1" fill="hold">
                                          <p:stCondLst>
                                            <p:cond delay="0"/>
                                          </p:stCondLst>
                                        </p:cTn>
                                        <p:tgtEl>
                                          <p:spTgt spid="53"/>
                                        </p:tgtEl>
                                        <p:attrNameLst>
                                          <p:attrName>style.visibility</p:attrName>
                                        </p:attrNameLst>
                                      </p:cBhvr>
                                      <p:to>
                                        <p:strVal val="hidden"/>
                                      </p:to>
                                    </p:set>
                                  </p:childTnLst>
                                </p:cTn>
                              </p:par>
                            </p:childTnLst>
                          </p:cTn>
                        </p:par>
                        <p:par>
                          <p:cTn id="52" fill="hold">
                            <p:stCondLst>
                              <p:cond delay="1000"/>
                            </p:stCondLst>
                            <p:childTnLst>
                              <p:par>
                                <p:cTn id="53" presetID="1" presetClass="entr" presetSubtype="0" fill="hold" grpId="0" nodeType="after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52"/>
                                        </p:tgtEl>
                                        <p:attrNameLst>
                                          <p:attrName>style.visibility</p:attrName>
                                        </p:attrNameLst>
                                      </p:cBhvr>
                                      <p:to>
                                        <p:strVal val="hidden"/>
                                      </p:to>
                                    </p:set>
                                  </p:childTnLst>
                                </p:cTn>
                              </p:par>
                            </p:childTnLst>
                          </p:cTn>
                        </p:par>
                        <p:par>
                          <p:cTn id="57" fill="hold">
                            <p:stCondLst>
                              <p:cond delay="1000"/>
                            </p:stCondLst>
                            <p:childTnLst>
                              <p:par>
                                <p:cTn id="58" presetID="1" presetClass="entr" presetSubtype="0" fill="hold" grpId="0" nodeType="afterEffect">
                                  <p:stCondLst>
                                    <p:cond delay="0"/>
                                  </p:stCondLst>
                                  <p:childTnLst>
                                    <p:set>
                                      <p:cBhvr>
                                        <p:cTn id="59" dur="1" fill="hold">
                                          <p:stCondLst>
                                            <p:cond delay="0"/>
                                          </p:stCondLst>
                                        </p:cTn>
                                        <p:tgtEl>
                                          <p:spTgt spid="5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9"/>
                                        </p:tgtEl>
                                        <p:attrNameLst>
                                          <p:attrName>style.visibility</p:attrName>
                                        </p:attrNameLst>
                                      </p:cBhvr>
                                      <p:to>
                                        <p:strVal val="visible"/>
                                      </p:to>
                                    </p:set>
                                  </p:childTnLst>
                                </p:cTn>
                              </p:par>
                            </p:childTnLst>
                          </p:cTn>
                        </p:par>
                        <p:par>
                          <p:cTn id="64" fill="hold">
                            <p:stCondLst>
                              <p:cond delay="1000"/>
                            </p:stCondLst>
                            <p:childTnLst>
                              <p:par>
                                <p:cTn id="65" presetID="63" presetClass="path" presetSubtype="0" accel="50000" decel="50000" fill="hold" grpId="1" nodeType="afterEffect">
                                  <p:stCondLst>
                                    <p:cond delay="0"/>
                                  </p:stCondLst>
                                  <p:childTnLst>
                                    <p:animMotion origin="layout" path="M -1.38889E-6 0 L 0.25 0 " pathEditMode="relative" rAng="0" ptsTypes="AA">
                                      <p:cBhvr>
                                        <p:cTn id="66" dur="1000" fill="hold"/>
                                        <p:tgtEl>
                                          <p:spTgt spid="58"/>
                                        </p:tgtEl>
                                        <p:attrNameLst>
                                          <p:attrName>ppt_x</p:attrName>
                                          <p:attrName>ppt_y</p:attrName>
                                        </p:attrNameLst>
                                      </p:cBhvr>
                                      <p:rCtr x="12500" y="0"/>
                                    </p:animMotion>
                                  </p:childTnLst>
                                </p:cTn>
                              </p:par>
                            </p:childTnLst>
                          </p:cTn>
                        </p:par>
                        <p:par>
                          <p:cTn id="67" fill="hold">
                            <p:stCondLst>
                              <p:cond delay="2000"/>
                            </p:stCondLst>
                            <p:childTnLst>
                              <p:par>
                                <p:cTn id="68" presetID="1" presetClass="exit" presetSubtype="0" fill="hold" grpId="2" nodeType="afterEffect">
                                  <p:stCondLst>
                                    <p:cond delay="0"/>
                                  </p:stCondLst>
                                  <p:childTnLst>
                                    <p:set>
                                      <p:cBhvr>
                                        <p:cTn id="69" dur="1" fill="hold">
                                          <p:stCondLst>
                                            <p:cond delay="0"/>
                                          </p:stCondLst>
                                        </p:cTn>
                                        <p:tgtEl>
                                          <p:spTgt spid="58"/>
                                        </p:tgtEl>
                                        <p:attrNameLst>
                                          <p:attrName>style.visibility</p:attrName>
                                        </p:attrNameLst>
                                      </p:cBhvr>
                                      <p:to>
                                        <p:strVal val="hidden"/>
                                      </p:to>
                                    </p:set>
                                  </p:childTnLst>
                                </p:cTn>
                              </p:par>
                            </p:childTnLst>
                          </p:cTn>
                        </p:par>
                        <p:par>
                          <p:cTn id="70" fill="hold">
                            <p:stCondLst>
                              <p:cond delay="2000"/>
                            </p:stCondLst>
                            <p:childTnLst>
                              <p:par>
                                <p:cTn id="71" presetID="1" presetClass="entr" presetSubtype="0" fill="hold" grpId="0" nodeType="after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55"/>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88"/>
                                        </p:tgtEl>
                                        <p:attrNameLst>
                                          <p:attrName>style.visibility</p:attrName>
                                        </p:attrNameLst>
                                      </p:cBhvr>
                                      <p:to>
                                        <p:strVal val="visible"/>
                                      </p:to>
                                    </p:set>
                                  </p:childTnLst>
                                </p:cTn>
                              </p:par>
                            </p:childTnLst>
                          </p:cTn>
                        </p:par>
                        <p:par>
                          <p:cTn id="87" fill="hold">
                            <p:stCondLst>
                              <p:cond delay="0"/>
                            </p:stCondLst>
                            <p:childTnLst>
                              <p:par>
                                <p:cTn id="88" presetID="35" presetClass="path" presetSubtype="0" accel="50000" decel="50000" fill="hold" grpId="1" nodeType="afterEffect">
                                  <p:stCondLst>
                                    <p:cond delay="0"/>
                                  </p:stCondLst>
                                  <p:childTnLst>
                                    <p:animMotion origin="layout" path="M 1.94444E-6 4.07407E-6 L -0.25 4.07407E-6 " pathEditMode="relative" rAng="0" ptsTypes="AA">
                                      <p:cBhvr>
                                        <p:cTn id="89" dur="2000" fill="hold"/>
                                        <p:tgtEl>
                                          <p:spTgt spid="88"/>
                                        </p:tgtEl>
                                        <p:attrNameLst>
                                          <p:attrName>ppt_x</p:attrName>
                                          <p:attrName>ppt_y</p:attrName>
                                        </p:attrNameLst>
                                      </p:cBhvr>
                                      <p:rCtr x="-12500" y="0"/>
                                    </p:animMotion>
                                  </p:childTnLst>
                                </p:cTn>
                              </p:par>
                            </p:childTnLst>
                          </p:cTn>
                        </p:par>
                        <p:par>
                          <p:cTn id="90" fill="hold">
                            <p:stCondLst>
                              <p:cond delay="2000"/>
                            </p:stCondLst>
                            <p:childTnLst>
                              <p:par>
                                <p:cTn id="91" presetID="1" presetClass="exit" presetSubtype="0" fill="hold" grpId="2" nodeType="afterEffect">
                                  <p:stCondLst>
                                    <p:cond delay="0"/>
                                  </p:stCondLst>
                                  <p:childTnLst>
                                    <p:set>
                                      <p:cBhvr>
                                        <p:cTn id="92" dur="1" fill="hold">
                                          <p:stCondLst>
                                            <p:cond delay="0"/>
                                          </p:stCondLst>
                                        </p:cTn>
                                        <p:tgtEl>
                                          <p:spTgt spid="88"/>
                                        </p:tgtEl>
                                        <p:attrNameLst>
                                          <p:attrName>style.visibility</p:attrName>
                                        </p:attrNameLst>
                                      </p:cBhvr>
                                      <p:to>
                                        <p:strVal val="hidden"/>
                                      </p:to>
                                    </p:set>
                                  </p:childTnLst>
                                </p:cTn>
                              </p:par>
                              <p:par>
                                <p:cTn id="93" presetID="1" presetClass="entr" presetSubtype="0" fill="hold" grpId="0" nodeType="withEffect">
                                  <p:stCondLst>
                                    <p:cond delay="0"/>
                                  </p:stCondLst>
                                  <p:childTnLst>
                                    <p:set>
                                      <p:cBhvr>
                                        <p:cTn id="94" dur="1" fill="hold">
                                          <p:stCondLst>
                                            <p:cond delay="0"/>
                                          </p:stCondLst>
                                        </p:cTn>
                                        <p:tgtEl>
                                          <p:spTgt spid="13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2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5"/>
                                        </p:tgtEl>
                                        <p:attrNameLst>
                                          <p:attrName>style.visibility</p:attrName>
                                        </p:attrNameLst>
                                      </p:cBhvr>
                                      <p:to>
                                        <p:strVal val="visible"/>
                                      </p:to>
                                    </p:set>
                                  </p:childTnLst>
                                </p:cTn>
                              </p:par>
                            </p:childTnLst>
                          </p:cTn>
                        </p:par>
                        <p:par>
                          <p:cTn id="103" fill="hold">
                            <p:stCondLst>
                              <p:cond delay="0"/>
                            </p:stCondLst>
                            <p:childTnLst>
                              <p:par>
                                <p:cTn id="104" presetID="63" presetClass="path" presetSubtype="0" accel="50000" decel="50000" fill="hold" grpId="1" nodeType="afterEffect">
                                  <p:stCondLst>
                                    <p:cond delay="0"/>
                                  </p:stCondLst>
                                  <p:childTnLst>
                                    <p:animMotion origin="layout" path="M -1.38889E-6 1.48148E-6 L 0.25 1.48148E-6 " pathEditMode="relative" rAng="0" ptsTypes="AA">
                                      <p:cBhvr>
                                        <p:cTn id="105" dur="2000" fill="hold"/>
                                        <p:tgtEl>
                                          <p:spTgt spid="94"/>
                                        </p:tgtEl>
                                        <p:attrNameLst>
                                          <p:attrName>ppt_x</p:attrName>
                                          <p:attrName>ppt_y</p:attrName>
                                        </p:attrNameLst>
                                      </p:cBhvr>
                                      <p:rCtr x="12500" y="0"/>
                                    </p:animMotion>
                                  </p:childTnLst>
                                </p:cTn>
                              </p:par>
                            </p:childTnLst>
                          </p:cTn>
                        </p:par>
                        <p:par>
                          <p:cTn id="106" fill="hold">
                            <p:stCondLst>
                              <p:cond delay="2000"/>
                            </p:stCondLst>
                            <p:childTnLst>
                              <p:par>
                                <p:cTn id="107" presetID="1" presetClass="exit" presetSubtype="0" fill="hold" grpId="2" nodeType="afterEffect">
                                  <p:stCondLst>
                                    <p:cond delay="0"/>
                                  </p:stCondLst>
                                  <p:childTnLst>
                                    <p:set>
                                      <p:cBhvr>
                                        <p:cTn id="108" dur="1" fill="hold">
                                          <p:stCondLst>
                                            <p:cond delay="0"/>
                                          </p:stCondLst>
                                        </p:cTn>
                                        <p:tgtEl>
                                          <p:spTgt spid="94"/>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1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2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2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91"/>
                                        </p:tgtEl>
                                        <p:attrNameLst>
                                          <p:attrName>style.visibility</p:attrName>
                                        </p:attrNameLst>
                                      </p:cBhvr>
                                      <p:to>
                                        <p:strVal val="visible"/>
                                      </p:to>
                                    </p:set>
                                  </p:childTnLst>
                                </p:cTn>
                              </p:par>
                            </p:childTnLst>
                          </p:cTn>
                        </p:par>
                        <p:par>
                          <p:cTn id="125" fill="hold">
                            <p:stCondLst>
                              <p:cond delay="0"/>
                            </p:stCondLst>
                            <p:childTnLst>
                              <p:par>
                                <p:cTn id="126" presetID="8" presetClass="emph" presetSubtype="0" fill="hold" nodeType="afterEffect">
                                  <p:stCondLst>
                                    <p:cond delay="0"/>
                                  </p:stCondLst>
                                  <p:childTnLst>
                                    <p:animRot by="-21600000">
                                      <p:cBhvr>
                                        <p:cTn id="127" dur="2000" fill="hold"/>
                                        <p:tgtEl>
                                          <p:spTgt spid="120"/>
                                        </p:tgtEl>
                                        <p:attrNameLst>
                                          <p:attrName>r</p:attrName>
                                        </p:attrNameLst>
                                      </p:cBhvr>
                                    </p:animRot>
                                  </p:childTnLst>
                                </p:cTn>
                              </p:par>
                              <p:par>
                                <p:cTn id="128" presetID="8" presetClass="emph" presetSubtype="0" fill="hold" nodeType="withEffect">
                                  <p:stCondLst>
                                    <p:cond delay="0"/>
                                  </p:stCondLst>
                                  <p:childTnLst>
                                    <p:animRot by="-21600000">
                                      <p:cBhvr>
                                        <p:cTn id="129" dur="2000" fill="hold"/>
                                        <p:tgtEl>
                                          <p:spTgt spid="91"/>
                                        </p:tgtEl>
                                        <p:attrNameLst>
                                          <p:attrName>r</p:attrName>
                                        </p:attrNameLst>
                                      </p:cBhvr>
                                    </p:animRot>
                                  </p:childTnLst>
                                </p:cTn>
                              </p:par>
                              <p:par>
                                <p:cTn id="130" presetID="1" presetClass="exit" presetSubtype="0" fill="hold" nodeType="withEffect">
                                  <p:stCondLst>
                                    <p:cond delay="0"/>
                                  </p:stCondLst>
                                  <p:childTnLst>
                                    <p:set>
                                      <p:cBhvr>
                                        <p:cTn id="131" dur="1" fill="hold">
                                          <p:stCondLst>
                                            <p:cond delay="0"/>
                                          </p:stCondLst>
                                        </p:cTn>
                                        <p:tgtEl>
                                          <p:spTgt spid="68"/>
                                        </p:tgtEl>
                                        <p:attrNameLst>
                                          <p:attrName>style.visibility</p:attrName>
                                        </p:attrNameLst>
                                      </p:cBhvr>
                                      <p:to>
                                        <p:strVal val="hidden"/>
                                      </p:to>
                                    </p:set>
                                  </p:childTnLst>
                                </p:cTn>
                              </p:par>
                              <p:par>
                                <p:cTn id="132" presetID="1" presetClass="exit" presetSubtype="0" fill="hold" nodeType="withEffect">
                                  <p:stCondLst>
                                    <p:cond delay="0"/>
                                  </p:stCondLst>
                                  <p:childTnLst>
                                    <p:set>
                                      <p:cBhvr>
                                        <p:cTn id="133" dur="1" fill="hold">
                                          <p:stCondLst>
                                            <p:cond delay="0"/>
                                          </p:stCondLst>
                                        </p:cTn>
                                        <p:tgtEl>
                                          <p:spTgt spid="61"/>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nodeType="clickEffect">
                                  <p:stCondLst>
                                    <p:cond delay="0"/>
                                  </p:stCondLst>
                                  <p:childTnLst>
                                    <p:set>
                                      <p:cBhvr>
                                        <p:cTn id="137" dur="1" fill="hold">
                                          <p:stCondLst>
                                            <p:cond delay="0"/>
                                          </p:stCondLst>
                                        </p:cTn>
                                        <p:tgtEl>
                                          <p:spTgt spid="120"/>
                                        </p:tgtEl>
                                        <p:attrNameLst>
                                          <p:attrName>style.visibility</p:attrName>
                                        </p:attrNameLst>
                                      </p:cBhvr>
                                      <p:to>
                                        <p:strVal val="hidden"/>
                                      </p:to>
                                    </p:set>
                                  </p:childTnLst>
                                </p:cTn>
                              </p:par>
                              <p:par>
                                <p:cTn id="138" presetID="1" presetClass="exit" presetSubtype="0" fill="hold" nodeType="withEffect">
                                  <p:stCondLst>
                                    <p:cond delay="0"/>
                                  </p:stCondLst>
                                  <p:childTnLst>
                                    <p:set>
                                      <p:cBhvr>
                                        <p:cTn id="139" dur="1" fill="hold">
                                          <p:stCondLst>
                                            <p:cond delay="0"/>
                                          </p:stCondLst>
                                        </p:cTn>
                                        <p:tgtEl>
                                          <p:spTgt spid="91"/>
                                        </p:tgtEl>
                                        <p:attrNameLst>
                                          <p:attrName>style.visibility</p:attrName>
                                        </p:attrNameLst>
                                      </p:cBhvr>
                                      <p:to>
                                        <p:strVal val="hidden"/>
                                      </p:to>
                                    </p:set>
                                  </p:childTnLst>
                                </p:cTn>
                              </p:par>
                              <p:par>
                                <p:cTn id="140" presetID="1" presetClass="exit" presetSubtype="0" fill="hold" grpId="1" nodeType="withEffect">
                                  <p:stCondLst>
                                    <p:cond delay="0"/>
                                  </p:stCondLst>
                                  <p:childTnLst>
                                    <p:set>
                                      <p:cBhvr>
                                        <p:cTn id="141" dur="1" fill="hold">
                                          <p:stCondLst>
                                            <p:cond delay="0"/>
                                          </p:stCondLst>
                                        </p:cTn>
                                        <p:tgtEl>
                                          <p:spTgt spid="127"/>
                                        </p:tgtEl>
                                        <p:attrNameLst>
                                          <p:attrName>style.visibility</p:attrName>
                                        </p:attrNameLst>
                                      </p:cBhvr>
                                      <p:to>
                                        <p:strVal val="hidden"/>
                                      </p:to>
                                    </p:set>
                                  </p:childTnLst>
                                </p:cTn>
                              </p:par>
                              <p:par>
                                <p:cTn id="142" presetID="1" presetClass="entr" presetSubtype="0" fill="hold" nodeType="withEffect">
                                  <p:stCondLst>
                                    <p:cond delay="0"/>
                                  </p:stCondLst>
                                  <p:childTnLst>
                                    <p:set>
                                      <p:cBhvr>
                                        <p:cTn id="143" dur="1" fill="hold">
                                          <p:stCondLst>
                                            <p:cond delay="0"/>
                                          </p:stCondLst>
                                        </p:cTn>
                                        <p:tgtEl>
                                          <p:spTgt spid="133"/>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123"/>
                                        </p:tgtEl>
                                        <p:attrNameLst>
                                          <p:attrName>style.visibility</p:attrName>
                                        </p:attrNameLst>
                                      </p:cBhvr>
                                      <p:to>
                                        <p:strVal val="visible"/>
                                      </p:to>
                                    </p:set>
                                  </p:childTnLst>
                                </p:cTn>
                              </p:par>
                              <p:par>
                                <p:cTn id="148" presetID="1" presetClass="entr" presetSubtype="0" fill="hold" nodeType="withEffect">
                                  <p:stCondLst>
                                    <p:cond delay="0"/>
                                  </p:stCondLst>
                                  <p:childTnLst>
                                    <p:set>
                                      <p:cBhvr>
                                        <p:cTn id="149" dur="1" fill="hold">
                                          <p:stCondLst>
                                            <p:cond delay="0"/>
                                          </p:stCondLst>
                                        </p:cTn>
                                        <p:tgtEl>
                                          <p:spTgt spid="18"/>
                                        </p:tgtEl>
                                        <p:attrNameLst>
                                          <p:attrName>style.visibility</p:attrName>
                                        </p:attrNameLst>
                                      </p:cBhvr>
                                      <p:to>
                                        <p:strVal val="visible"/>
                                      </p:to>
                                    </p:set>
                                  </p:childTnLst>
                                </p:cTn>
                              </p:par>
                              <p:par>
                                <p:cTn id="150" presetID="1" presetClass="exit" presetSubtype="0" fill="hold" nodeType="withEffect">
                                  <p:stCondLst>
                                    <p:cond delay="0"/>
                                  </p:stCondLst>
                                  <p:childTnLst>
                                    <p:set>
                                      <p:cBhvr>
                                        <p:cTn id="151" dur="1" fill="hold">
                                          <p:stCondLst>
                                            <p:cond delay="0"/>
                                          </p:stCondLst>
                                        </p:cTn>
                                        <p:tgtEl>
                                          <p:spTgt spid="1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2" grpId="0" animBg="1"/>
      <p:bldP spid="45" grpId="0"/>
      <p:bldP spid="48" grpId="0" animBg="1"/>
      <p:bldP spid="48" grpId="1" animBg="1"/>
      <p:bldP spid="48" grpId="2" animBg="1"/>
      <p:bldP spid="49" grpId="0" animBg="1"/>
      <p:bldP spid="52" grpId="0"/>
      <p:bldP spid="52" grpId="1"/>
      <p:bldP spid="53" grpId="0" animBg="1"/>
      <p:bldP spid="53" grpId="1" animBg="1"/>
      <p:bldP spid="53" grpId="2" animBg="1"/>
      <p:bldP spid="54" grpId="0" animBg="1"/>
      <p:bldP spid="55" grpId="0"/>
      <p:bldP spid="55" grpId="1"/>
      <p:bldP spid="57" grpId="0"/>
      <p:bldP spid="58" grpId="0" animBg="1"/>
      <p:bldP spid="58" grpId="1" animBg="1"/>
      <p:bldP spid="58" grpId="2" animBg="1"/>
      <p:bldP spid="59" grpId="0" animBg="1"/>
      <p:bldP spid="60" grpId="0"/>
      <p:bldP spid="88" grpId="0" animBg="1"/>
      <p:bldP spid="88" grpId="1" animBg="1"/>
      <p:bldP spid="88" grpId="2" animBg="1"/>
      <p:bldP spid="94" grpId="0" animBg="1"/>
      <p:bldP spid="94" grpId="1" animBg="1"/>
      <p:bldP spid="94" grpId="2" animBg="1"/>
      <p:bldP spid="95" grpId="0" animBg="1"/>
      <p:bldP spid="123" grpId="0" animBg="1"/>
      <p:bldP spid="127" grpId="0" animBg="1"/>
      <p:bldP spid="127" grpId="1" animBg="1"/>
      <p:bldP spid="13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8C7E-0025-3967-2439-90255CD407C3}"/>
              </a:ext>
            </a:extLst>
          </p:cNvPr>
          <p:cNvSpPr>
            <a:spLocks noGrp="1"/>
          </p:cNvSpPr>
          <p:nvPr>
            <p:ph type="title"/>
          </p:nvPr>
        </p:nvSpPr>
        <p:spPr/>
        <p:txBody>
          <a:bodyPr/>
          <a:lstStyle/>
          <a:p>
            <a:r>
              <a:rPr lang="en-US" dirty="0"/>
              <a:t>Observing PRAC-Induced Latencies (I)</a:t>
            </a:r>
          </a:p>
        </p:txBody>
      </p:sp>
      <p:sp>
        <p:nvSpPr>
          <p:cNvPr id="3" name="Content Placeholder 2">
            <a:extLst>
              <a:ext uri="{FF2B5EF4-FFF2-40B4-BE49-F238E27FC236}">
                <a16:creationId xmlns:a16="http://schemas.microsoft.com/office/drawing/2014/main" id="{79138493-5ECA-13F9-4D83-56F97796C259}"/>
              </a:ext>
            </a:extLst>
          </p:cNvPr>
          <p:cNvSpPr>
            <a:spLocks noGrp="1"/>
          </p:cNvSpPr>
          <p:nvPr>
            <p:ph idx="1"/>
          </p:nvPr>
        </p:nvSpPr>
        <p:spPr/>
        <p:txBody>
          <a:bodyPr>
            <a:normAutofit/>
          </a:bodyPr>
          <a:lstStyle/>
          <a:p>
            <a:pPr marL="0" indent="0">
              <a:buNone/>
            </a:pPr>
            <a:r>
              <a:rPr lang="en-US" sz="2400" dirty="0"/>
              <a:t>We test if an application can: </a:t>
            </a:r>
          </a:p>
          <a:p>
            <a:pPr>
              <a:buFontTx/>
              <a:buChar char="-"/>
            </a:pPr>
            <a:r>
              <a:rPr lang="en-US" sz="2400" dirty="0"/>
              <a:t>intentionally trigger a PRAC back-off </a:t>
            </a:r>
          </a:p>
          <a:p>
            <a:pPr>
              <a:buFontTx/>
              <a:buChar char="-"/>
            </a:pPr>
            <a:r>
              <a:rPr lang="en-US" sz="2400" dirty="0"/>
              <a:t>observe PRAC-induced higher memory access latencies</a:t>
            </a:r>
          </a:p>
        </p:txBody>
      </p:sp>
      <p:sp>
        <p:nvSpPr>
          <p:cNvPr id="4" name="Footer Placeholder 3">
            <a:extLst>
              <a:ext uri="{FF2B5EF4-FFF2-40B4-BE49-F238E27FC236}">
                <a16:creationId xmlns:a16="http://schemas.microsoft.com/office/drawing/2014/main" id="{8EA3E7A2-1F82-F5CD-F54E-DE265FA45919}"/>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83203102-EFC8-9094-4340-C4D67F7ACCBF}"/>
              </a:ext>
            </a:extLst>
          </p:cNvPr>
          <p:cNvSpPr>
            <a:spLocks noGrp="1"/>
          </p:cNvSpPr>
          <p:nvPr>
            <p:ph type="sldNum" sz="quarter" idx="12"/>
          </p:nvPr>
        </p:nvSpPr>
        <p:spPr/>
        <p:txBody>
          <a:bodyPr/>
          <a:lstStyle/>
          <a:p>
            <a:fld id="{CBE5B309-C2CE-4D90-B104-F7E98438FC65}" type="slidenum">
              <a:rPr lang="tr-TR" smtClean="0"/>
              <a:pPr/>
              <a:t>61</a:t>
            </a:fld>
            <a:endParaRPr lang="tr-TR" dirty="0"/>
          </a:p>
        </p:txBody>
      </p:sp>
      <p:sp>
        <p:nvSpPr>
          <p:cNvPr id="9" name="Rectangle: Rounded Corners 8">
            <a:extLst>
              <a:ext uri="{FF2B5EF4-FFF2-40B4-BE49-F238E27FC236}">
                <a16:creationId xmlns:a16="http://schemas.microsoft.com/office/drawing/2014/main" id="{143C8DF8-7A04-4D4E-37C5-2B4ACEECD285}"/>
              </a:ext>
            </a:extLst>
          </p:cNvPr>
          <p:cNvSpPr/>
          <p:nvPr/>
        </p:nvSpPr>
        <p:spPr>
          <a:xfrm>
            <a:off x="5503736" y="2942127"/>
            <a:ext cx="3085558" cy="2189355"/>
          </a:xfrm>
          <a:prstGeom prst="roundRect">
            <a:avLst>
              <a:gd name="adj" fmla="val 3069"/>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5744E6C0-FC54-4EB1-F91A-8C72A498E0C1}"/>
              </a:ext>
            </a:extLst>
          </p:cNvPr>
          <p:cNvGraphicFramePr>
            <a:graphicFrameLocks noGrp="1"/>
          </p:cNvGraphicFramePr>
          <p:nvPr/>
        </p:nvGraphicFramePr>
        <p:xfrm>
          <a:off x="5720417" y="3318410"/>
          <a:ext cx="1648571" cy="1097280"/>
        </p:xfrm>
        <a:graphic>
          <a:graphicData uri="http://schemas.openxmlformats.org/drawingml/2006/table">
            <a:tbl>
              <a:tblPr bandRow="1">
                <a:tableStyleId>{69012ECD-51FC-41F1-AA8D-1B2483CD663E}</a:tableStyleId>
              </a:tblPr>
              <a:tblGrid>
                <a:gridCol w="1648571">
                  <a:extLst>
                    <a:ext uri="{9D8B030D-6E8A-4147-A177-3AD203B41FA5}">
                      <a16:colId xmlns:a16="http://schemas.microsoft.com/office/drawing/2014/main" val="2630129014"/>
                    </a:ext>
                  </a:extLst>
                </a:gridCol>
              </a:tblGrid>
              <a:tr h="246091">
                <a:tc>
                  <a:txBody>
                    <a:bodyPr/>
                    <a:lstStyle/>
                    <a:p>
                      <a:pPr algn="ctr"/>
                      <a:r>
                        <a:rPr lang="en-US" dirty="0"/>
                        <a:t>0xA</a:t>
                      </a:r>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292337727"/>
                  </a:ext>
                </a:extLst>
              </a:tr>
              <a:tr h="246091">
                <a:tc>
                  <a:txBody>
                    <a:bodyPr/>
                    <a:lstStyle/>
                    <a:p>
                      <a:pPr algn="ctr"/>
                      <a:r>
                        <a:rPr lang="en-US" i="1" dirty="0"/>
                        <a:t>…</a:t>
                      </a:r>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930314675"/>
                  </a:ext>
                </a:extLst>
              </a:tr>
              <a:tr h="246091">
                <a:tc>
                  <a:txBody>
                    <a:bodyPr/>
                    <a:lstStyle/>
                    <a:p>
                      <a:pPr algn="ctr"/>
                      <a:r>
                        <a:rPr lang="en-US" dirty="0"/>
                        <a:t>0xB</a:t>
                      </a:r>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sp>
        <p:nvSpPr>
          <p:cNvPr id="12" name="TextBox 11">
            <a:extLst>
              <a:ext uri="{FF2B5EF4-FFF2-40B4-BE49-F238E27FC236}">
                <a16:creationId xmlns:a16="http://schemas.microsoft.com/office/drawing/2014/main" id="{D54A4B8D-900B-B695-74AA-098955B6BD4C}"/>
              </a:ext>
            </a:extLst>
          </p:cNvPr>
          <p:cNvSpPr txBox="1"/>
          <p:nvPr/>
        </p:nvSpPr>
        <p:spPr>
          <a:xfrm>
            <a:off x="5447397" y="2560766"/>
            <a:ext cx="3141897" cy="381361"/>
          </a:xfrm>
          <a:prstGeom prst="rect">
            <a:avLst/>
          </a:prstGeom>
          <a:noFill/>
        </p:spPr>
        <p:txBody>
          <a:bodyPr wrap="square" rtlCol="0">
            <a:spAutoFit/>
          </a:bodyPr>
          <a:lstStyle/>
          <a:p>
            <a:pPr algn="ctr"/>
            <a:r>
              <a:rPr lang="en-US" i="1" dirty="0"/>
              <a:t>DRAM Bank</a:t>
            </a:r>
          </a:p>
        </p:txBody>
      </p:sp>
      <p:graphicFrame>
        <p:nvGraphicFramePr>
          <p:cNvPr id="19" name="Table 18">
            <a:extLst>
              <a:ext uri="{FF2B5EF4-FFF2-40B4-BE49-F238E27FC236}">
                <a16:creationId xmlns:a16="http://schemas.microsoft.com/office/drawing/2014/main" id="{E6273282-F710-952B-4387-2C7800FFAB65}"/>
              </a:ext>
            </a:extLst>
          </p:cNvPr>
          <p:cNvGraphicFramePr>
            <a:graphicFrameLocks noGrp="1"/>
          </p:cNvGraphicFramePr>
          <p:nvPr/>
        </p:nvGraphicFramePr>
        <p:xfrm>
          <a:off x="5720417" y="4531577"/>
          <a:ext cx="2648155" cy="36576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0">
                <a:tc>
                  <a:txBody>
                    <a:bodyPr/>
                    <a:lstStyle/>
                    <a:p>
                      <a:pPr algn="ctr"/>
                      <a:r>
                        <a:rPr lang="en-US" i="1" dirty="0"/>
                        <a:t>Row Buffer</a:t>
                      </a:r>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pSp>
        <p:nvGrpSpPr>
          <p:cNvPr id="30" name="Group 29">
            <a:extLst>
              <a:ext uri="{FF2B5EF4-FFF2-40B4-BE49-F238E27FC236}">
                <a16:creationId xmlns:a16="http://schemas.microsoft.com/office/drawing/2014/main" id="{341612C1-4352-5FAC-41FB-D090EB65CCDE}"/>
              </a:ext>
            </a:extLst>
          </p:cNvPr>
          <p:cNvGrpSpPr/>
          <p:nvPr/>
        </p:nvGrpSpPr>
        <p:grpSpPr>
          <a:xfrm>
            <a:off x="838563" y="2666278"/>
            <a:ext cx="3826610" cy="762722"/>
            <a:chOff x="745391" y="2834208"/>
            <a:chExt cx="3826610" cy="762722"/>
          </a:xfrm>
        </p:grpSpPr>
        <p:sp>
          <p:nvSpPr>
            <p:cNvPr id="29" name="Rectangle: Rounded Corners 28">
              <a:extLst>
                <a:ext uri="{FF2B5EF4-FFF2-40B4-BE49-F238E27FC236}">
                  <a16:creationId xmlns:a16="http://schemas.microsoft.com/office/drawing/2014/main" id="{571AC177-1320-8F80-9D2B-F858448BA20F}"/>
                </a:ext>
              </a:extLst>
            </p:cNvPr>
            <p:cNvSpPr/>
            <p:nvPr/>
          </p:nvSpPr>
          <p:spPr>
            <a:xfrm>
              <a:off x="745391" y="2834208"/>
              <a:ext cx="3826610" cy="762722"/>
            </a:xfrm>
            <a:prstGeom prst="roundRect">
              <a:avLst/>
            </a:prstGeom>
            <a:solidFill>
              <a:srgbClr val="FFEBCD"/>
            </a:solidFill>
            <a:ln w="19050">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DF10E790-BC07-4737-5EB6-0DD025BA7D53}"/>
                </a:ext>
              </a:extLst>
            </p:cNvPr>
            <p:cNvGrpSpPr/>
            <p:nvPr/>
          </p:nvGrpSpPr>
          <p:grpSpPr>
            <a:xfrm>
              <a:off x="819060" y="2897818"/>
              <a:ext cx="3696604" cy="646331"/>
              <a:chOff x="875394" y="2897818"/>
              <a:chExt cx="3696604" cy="646331"/>
            </a:xfrm>
          </p:grpSpPr>
          <p:sp>
            <p:nvSpPr>
              <p:cNvPr id="20" name="Oval 19">
                <a:extLst>
                  <a:ext uri="{FF2B5EF4-FFF2-40B4-BE49-F238E27FC236}">
                    <a16:creationId xmlns:a16="http://schemas.microsoft.com/office/drawing/2014/main" id="{824C4A73-597B-211F-C071-2BF63714137C}"/>
                  </a:ext>
                </a:extLst>
              </p:cNvPr>
              <p:cNvSpPr/>
              <p:nvPr/>
            </p:nvSpPr>
            <p:spPr>
              <a:xfrm>
                <a:off x="875394" y="3012969"/>
                <a:ext cx="416031" cy="41603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21" name="TextBox 20">
                <a:extLst>
                  <a:ext uri="{FF2B5EF4-FFF2-40B4-BE49-F238E27FC236}">
                    <a16:creationId xmlns:a16="http://schemas.microsoft.com/office/drawing/2014/main" id="{1A84F9C6-1842-978E-81E2-C2D1C1CDBC2C}"/>
                  </a:ext>
                </a:extLst>
              </p:cNvPr>
              <p:cNvSpPr txBox="1"/>
              <p:nvPr/>
            </p:nvSpPr>
            <p:spPr>
              <a:xfrm>
                <a:off x="1282760" y="2897818"/>
                <a:ext cx="3289238" cy="646331"/>
              </a:xfrm>
              <a:prstGeom prst="rect">
                <a:avLst/>
              </a:prstGeom>
              <a:noFill/>
            </p:spPr>
            <p:txBody>
              <a:bodyPr wrap="square" rtlCol="0">
                <a:spAutoFit/>
              </a:bodyPr>
              <a:lstStyle/>
              <a:p>
                <a:r>
                  <a:rPr lang="en-US" dirty="0"/>
                  <a:t>Allocate pages (0xA and 0xB) in different rows of a DRAM bank</a:t>
                </a:r>
              </a:p>
            </p:txBody>
          </p:sp>
        </p:grpSp>
      </p:grpSp>
      <p:grpSp>
        <p:nvGrpSpPr>
          <p:cNvPr id="31" name="Group 30">
            <a:extLst>
              <a:ext uri="{FF2B5EF4-FFF2-40B4-BE49-F238E27FC236}">
                <a16:creationId xmlns:a16="http://schemas.microsoft.com/office/drawing/2014/main" id="{85598C9C-2572-DC18-D621-228E6C7BB324}"/>
              </a:ext>
            </a:extLst>
          </p:cNvPr>
          <p:cNvGrpSpPr/>
          <p:nvPr/>
        </p:nvGrpSpPr>
        <p:grpSpPr>
          <a:xfrm>
            <a:off x="838563" y="3505100"/>
            <a:ext cx="3826610" cy="986940"/>
            <a:chOff x="745391" y="2834208"/>
            <a:chExt cx="3826610" cy="986940"/>
          </a:xfrm>
        </p:grpSpPr>
        <p:sp>
          <p:nvSpPr>
            <p:cNvPr id="32" name="Rectangle: Rounded Corners 31">
              <a:extLst>
                <a:ext uri="{FF2B5EF4-FFF2-40B4-BE49-F238E27FC236}">
                  <a16:creationId xmlns:a16="http://schemas.microsoft.com/office/drawing/2014/main" id="{7C757C98-4BA4-7566-A266-67D9E2F08458}"/>
                </a:ext>
              </a:extLst>
            </p:cNvPr>
            <p:cNvSpPr/>
            <p:nvPr/>
          </p:nvSpPr>
          <p:spPr>
            <a:xfrm>
              <a:off x="745391" y="2834208"/>
              <a:ext cx="3826610" cy="986940"/>
            </a:xfrm>
            <a:prstGeom prst="roundRect">
              <a:avLst/>
            </a:prstGeom>
            <a:solidFill>
              <a:srgbClr val="DAD3F9"/>
            </a:solidFill>
            <a:ln w="1905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12C639FF-A93D-BAD8-92C2-DCCE1AA4A5EE}"/>
                </a:ext>
              </a:extLst>
            </p:cNvPr>
            <p:cNvGrpSpPr/>
            <p:nvPr/>
          </p:nvGrpSpPr>
          <p:grpSpPr>
            <a:xfrm>
              <a:off x="819060" y="2897818"/>
              <a:ext cx="3696604" cy="923330"/>
              <a:chOff x="875394" y="2897818"/>
              <a:chExt cx="3696604" cy="923330"/>
            </a:xfrm>
          </p:grpSpPr>
          <p:sp>
            <p:nvSpPr>
              <p:cNvPr id="34" name="Oval 33">
                <a:extLst>
                  <a:ext uri="{FF2B5EF4-FFF2-40B4-BE49-F238E27FC236}">
                    <a16:creationId xmlns:a16="http://schemas.microsoft.com/office/drawing/2014/main" id="{417D5F7D-469D-002D-45C7-3F8BED3B62A6}"/>
                  </a:ext>
                </a:extLst>
              </p:cNvPr>
              <p:cNvSpPr/>
              <p:nvPr/>
            </p:nvSpPr>
            <p:spPr>
              <a:xfrm>
                <a:off x="875394" y="3131584"/>
                <a:ext cx="416031" cy="41603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2</a:t>
                </a:r>
              </a:p>
            </p:txBody>
          </p:sp>
          <p:sp>
            <p:nvSpPr>
              <p:cNvPr id="35" name="TextBox 34">
                <a:extLst>
                  <a:ext uri="{FF2B5EF4-FFF2-40B4-BE49-F238E27FC236}">
                    <a16:creationId xmlns:a16="http://schemas.microsoft.com/office/drawing/2014/main" id="{1B82D421-95A0-C651-FC24-AFB6DDA5C101}"/>
                  </a:ext>
                </a:extLst>
              </p:cNvPr>
              <p:cNvSpPr txBox="1"/>
              <p:nvPr/>
            </p:nvSpPr>
            <p:spPr>
              <a:xfrm>
                <a:off x="1282760" y="2897818"/>
                <a:ext cx="3289238" cy="923330"/>
              </a:xfrm>
              <a:prstGeom prst="rect">
                <a:avLst/>
              </a:prstGeom>
              <a:noFill/>
            </p:spPr>
            <p:txBody>
              <a:bodyPr wrap="square" rtlCol="0">
                <a:spAutoFit/>
              </a:bodyPr>
              <a:lstStyle/>
              <a:p>
                <a:r>
                  <a:rPr lang="en-US" dirty="0" err="1">
                    <a:latin typeface="Cascadia Code" panose="020B0509020204030204" pitchFamily="49" charset="0"/>
                  </a:rPr>
                  <a:t>clflush</a:t>
                </a:r>
                <a:r>
                  <a:rPr lang="en-US" dirty="0"/>
                  <a:t> 0xA</a:t>
                </a:r>
              </a:p>
              <a:p>
                <a:r>
                  <a:rPr lang="en-US" dirty="0"/>
                  <a:t>Read 0xA and measure access latency </a:t>
                </a:r>
              </a:p>
            </p:txBody>
          </p:sp>
        </p:grpSp>
      </p:grpSp>
      <p:grpSp>
        <p:nvGrpSpPr>
          <p:cNvPr id="36" name="Group 35">
            <a:extLst>
              <a:ext uri="{FF2B5EF4-FFF2-40B4-BE49-F238E27FC236}">
                <a16:creationId xmlns:a16="http://schemas.microsoft.com/office/drawing/2014/main" id="{8ABB16FB-AA18-CA59-A782-35F6433E734C}"/>
              </a:ext>
            </a:extLst>
          </p:cNvPr>
          <p:cNvGrpSpPr/>
          <p:nvPr/>
        </p:nvGrpSpPr>
        <p:grpSpPr>
          <a:xfrm>
            <a:off x="838563" y="4602235"/>
            <a:ext cx="3826610" cy="986940"/>
            <a:chOff x="745391" y="2834208"/>
            <a:chExt cx="3826610" cy="986940"/>
          </a:xfrm>
        </p:grpSpPr>
        <p:sp>
          <p:nvSpPr>
            <p:cNvPr id="37" name="Rectangle: Rounded Corners 36">
              <a:extLst>
                <a:ext uri="{FF2B5EF4-FFF2-40B4-BE49-F238E27FC236}">
                  <a16:creationId xmlns:a16="http://schemas.microsoft.com/office/drawing/2014/main" id="{4A615450-437C-B75A-56C9-8D11515B984C}"/>
                </a:ext>
              </a:extLst>
            </p:cNvPr>
            <p:cNvSpPr/>
            <p:nvPr/>
          </p:nvSpPr>
          <p:spPr>
            <a:xfrm>
              <a:off x="745391" y="2834208"/>
              <a:ext cx="3826610" cy="986940"/>
            </a:xfrm>
            <a:prstGeom prst="roundRect">
              <a:avLst/>
            </a:prstGeom>
            <a:solidFill>
              <a:srgbClr val="F9D3E4"/>
            </a:solidFill>
            <a:ln w="1905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3AE702CA-CFF7-B15E-1DD5-067996B35FEC}"/>
                </a:ext>
              </a:extLst>
            </p:cNvPr>
            <p:cNvGrpSpPr/>
            <p:nvPr/>
          </p:nvGrpSpPr>
          <p:grpSpPr>
            <a:xfrm>
              <a:off x="819060" y="2897818"/>
              <a:ext cx="3696604" cy="923330"/>
              <a:chOff x="875394" y="2897818"/>
              <a:chExt cx="3696604" cy="923330"/>
            </a:xfrm>
          </p:grpSpPr>
          <p:sp>
            <p:nvSpPr>
              <p:cNvPr id="39" name="Oval 38">
                <a:extLst>
                  <a:ext uri="{FF2B5EF4-FFF2-40B4-BE49-F238E27FC236}">
                    <a16:creationId xmlns:a16="http://schemas.microsoft.com/office/drawing/2014/main" id="{C35D660B-DF26-7879-CAE8-1BB233F97A76}"/>
                  </a:ext>
                </a:extLst>
              </p:cNvPr>
              <p:cNvSpPr/>
              <p:nvPr/>
            </p:nvSpPr>
            <p:spPr>
              <a:xfrm>
                <a:off x="875394" y="3131584"/>
                <a:ext cx="416031" cy="41603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3</a:t>
                </a:r>
              </a:p>
            </p:txBody>
          </p:sp>
          <p:sp>
            <p:nvSpPr>
              <p:cNvPr id="40" name="TextBox 39">
                <a:extLst>
                  <a:ext uri="{FF2B5EF4-FFF2-40B4-BE49-F238E27FC236}">
                    <a16:creationId xmlns:a16="http://schemas.microsoft.com/office/drawing/2014/main" id="{7E4DA98D-8176-4952-2C9F-96C0B29BC381}"/>
                  </a:ext>
                </a:extLst>
              </p:cNvPr>
              <p:cNvSpPr txBox="1"/>
              <p:nvPr/>
            </p:nvSpPr>
            <p:spPr>
              <a:xfrm>
                <a:off x="1282760" y="2897818"/>
                <a:ext cx="3289238" cy="923330"/>
              </a:xfrm>
              <a:prstGeom prst="rect">
                <a:avLst/>
              </a:prstGeom>
              <a:noFill/>
            </p:spPr>
            <p:txBody>
              <a:bodyPr wrap="square" rtlCol="0">
                <a:spAutoFit/>
              </a:bodyPr>
              <a:lstStyle/>
              <a:p>
                <a:r>
                  <a:rPr lang="en-US" dirty="0" err="1">
                    <a:latin typeface="Cascadia Code" panose="020B0509020204030204" pitchFamily="49" charset="0"/>
                  </a:rPr>
                  <a:t>clflush</a:t>
                </a:r>
                <a:r>
                  <a:rPr lang="en-US" dirty="0"/>
                  <a:t> 0xB</a:t>
                </a:r>
              </a:p>
              <a:p>
                <a:r>
                  <a:rPr lang="en-US" dirty="0"/>
                  <a:t>Read 0xB and measure access latency </a:t>
                </a:r>
              </a:p>
            </p:txBody>
          </p:sp>
        </p:grpSp>
      </p:grpSp>
      <p:grpSp>
        <p:nvGrpSpPr>
          <p:cNvPr id="43" name="Group 42">
            <a:extLst>
              <a:ext uri="{FF2B5EF4-FFF2-40B4-BE49-F238E27FC236}">
                <a16:creationId xmlns:a16="http://schemas.microsoft.com/office/drawing/2014/main" id="{14F15F19-2FC8-BE91-E9BE-E3C7F32EBD5F}"/>
              </a:ext>
            </a:extLst>
          </p:cNvPr>
          <p:cNvGrpSpPr/>
          <p:nvPr/>
        </p:nvGrpSpPr>
        <p:grpSpPr>
          <a:xfrm>
            <a:off x="148540" y="2729888"/>
            <a:ext cx="575179" cy="2842364"/>
            <a:chOff x="148540" y="2729888"/>
            <a:chExt cx="575179" cy="2842364"/>
          </a:xfrm>
        </p:grpSpPr>
        <p:sp>
          <p:nvSpPr>
            <p:cNvPr id="41" name="Left Brace 40">
              <a:extLst>
                <a:ext uri="{FF2B5EF4-FFF2-40B4-BE49-F238E27FC236}">
                  <a16:creationId xmlns:a16="http://schemas.microsoft.com/office/drawing/2014/main" id="{C3AAD037-7FD0-36AB-8935-5168C859A1C9}"/>
                </a:ext>
              </a:extLst>
            </p:cNvPr>
            <p:cNvSpPr/>
            <p:nvPr/>
          </p:nvSpPr>
          <p:spPr>
            <a:xfrm>
              <a:off x="554706" y="3505100"/>
              <a:ext cx="169013" cy="2067152"/>
            </a:xfrm>
            <a:prstGeom prst="leftBrace">
              <a:avLst>
                <a:gd name="adj1" fmla="val 7500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a:extLst>
                <a:ext uri="{FF2B5EF4-FFF2-40B4-BE49-F238E27FC236}">
                  <a16:creationId xmlns:a16="http://schemas.microsoft.com/office/drawing/2014/main" id="{88CF8F4F-34EB-8592-C3F2-1F92401AA9C6}"/>
                </a:ext>
              </a:extLst>
            </p:cNvPr>
            <p:cNvSpPr txBox="1"/>
            <p:nvPr/>
          </p:nvSpPr>
          <p:spPr>
            <a:xfrm rot="16200000">
              <a:off x="-795710" y="3674138"/>
              <a:ext cx="2257832" cy="369332"/>
            </a:xfrm>
            <a:prstGeom prst="rect">
              <a:avLst/>
            </a:prstGeom>
            <a:noFill/>
          </p:spPr>
          <p:txBody>
            <a:bodyPr wrap="square" rtlCol="0">
              <a:spAutoFit/>
            </a:bodyPr>
            <a:lstStyle/>
            <a:p>
              <a:r>
                <a:rPr lang="en-US" i="1" dirty="0"/>
                <a:t>Repeat</a:t>
              </a:r>
            </a:p>
          </p:txBody>
        </p:sp>
      </p:grpSp>
      <p:cxnSp>
        <p:nvCxnSpPr>
          <p:cNvPr id="45" name="Straight Arrow Connector 44">
            <a:extLst>
              <a:ext uri="{FF2B5EF4-FFF2-40B4-BE49-F238E27FC236}">
                <a16:creationId xmlns:a16="http://schemas.microsoft.com/office/drawing/2014/main" id="{94EEE53C-D734-3AD8-9EC2-F84B5C0A441E}"/>
              </a:ext>
            </a:extLst>
          </p:cNvPr>
          <p:cNvCxnSpPr/>
          <p:nvPr/>
        </p:nvCxnSpPr>
        <p:spPr>
          <a:xfrm>
            <a:off x="5109372" y="3505100"/>
            <a:ext cx="676049" cy="0"/>
          </a:xfrm>
          <a:prstGeom prst="straightConnector1">
            <a:avLst/>
          </a:prstGeom>
          <a:ln w="57150">
            <a:solidFill>
              <a:srgbClr val="6D40DC"/>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E8B4798-85A8-6C54-456A-8C6A05BC2B79}"/>
              </a:ext>
            </a:extLst>
          </p:cNvPr>
          <p:cNvCxnSpPr/>
          <p:nvPr/>
        </p:nvCxnSpPr>
        <p:spPr>
          <a:xfrm>
            <a:off x="5109372" y="4233183"/>
            <a:ext cx="676049" cy="0"/>
          </a:xfrm>
          <a:prstGeom prst="straightConnector1">
            <a:avLst/>
          </a:prstGeom>
          <a:ln w="57150">
            <a:solidFill>
              <a:srgbClr val="B3195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B74A87C5-2C10-E31D-35D4-C0104B390C75}"/>
              </a:ext>
            </a:extLst>
          </p:cNvPr>
          <p:cNvGraphicFramePr>
            <a:graphicFrameLocks noGrp="1"/>
          </p:cNvGraphicFramePr>
          <p:nvPr/>
        </p:nvGraphicFramePr>
        <p:xfrm>
          <a:off x="7407483" y="3318410"/>
          <a:ext cx="961090" cy="1097280"/>
        </p:xfrm>
        <a:graphic>
          <a:graphicData uri="http://schemas.openxmlformats.org/drawingml/2006/table">
            <a:tbl>
              <a:tblPr bandRow="1">
                <a:tableStyleId>{69012ECD-51FC-41F1-AA8D-1B2483CD663E}</a:tableStyleId>
              </a:tblPr>
              <a:tblGrid>
                <a:gridCol w="961090">
                  <a:extLst>
                    <a:ext uri="{9D8B030D-6E8A-4147-A177-3AD203B41FA5}">
                      <a16:colId xmlns:a16="http://schemas.microsoft.com/office/drawing/2014/main" val="2630129014"/>
                    </a:ext>
                  </a:extLst>
                </a:gridCol>
              </a:tblGrid>
              <a:tr h="246091">
                <a:tc>
                  <a:txBody>
                    <a:bodyPr/>
                    <a:lstStyle/>
                    <a:p>
                      <a:pPr algn="ctr"/>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292337727"/>
                  </a:ext>
                </a:extLst>
              </a:tr>
              <a:tr h="246091">
                <a:tc>
                  <a:txBody>
                    <a:bodyPr/>
                    <a:lstStyle/>
                    <a:p>
                      <a:pPr algn="ctr"/>
                      <a:endParaRPr lang="en-US" i="1"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2930314675"/>
                  </a:ext>
                </a:extLst>
              </a:tr>
              <a:tr h="246091">
                <a:tc>
                  <a:txBody>
                    <a:bodyPr/>
                    <a:lstStyle/>
                    <a:p>
                      <a:pPr algn="ctr"/>
                      <a:endParaRPr lang="en-US" dirty="0"/>
                    </a:p>
                  </a:txBody>
                  <a:tcPr>
                    <a:lnL w="19050" cap="flat" cmpd="sng" algn="ctr">
                      <a:solidFill>
                        <a:srgbClr val="FF5F25"/>
                      </a:solidFill>
                      <a:prstDash val="solid"/>
                      <a:round/>
                      <a:headEnd type="none" w="med" len="med"/>
                      <a:tailEnd type="none" w="med" len="med"/>
                    </a:lnL>
                    <a:lnR w="19050" cap="flat" cmpd="sng" algn="ctr">
                      <a:solidFill>
                        <a:srgbClr val="FF5F25"/>
                      </a:solidFill>
                      <a:prstDash val="solid"/>
                      <a:round/>
                      <a:headEnd type="none" w="med" len="med"/>
                      <a:tailEnd type="none" w="med" len="med"/>
                    </a:lnR>
                    <a:lnT w="19050" cap="flat" cmpd="sng" algn="ctr">
                      <a:solidFill>
                        <a:srgbClr val="FF5F25"/>
                      </a:solidFill>
                      <a:prstDash val="solid"/>
                      <a:round/>
                      <a:headEnd type="none" w="med" len="med"/>
                      <a:tailEnd type="none" w="med" len="med"/>
                    </a:lnT>
                    <a:lnB w="19050" cap="flat" cmpd="sng" algn="ctr">
                      <a:solidFill>
                        <a:srgbClr val="FF5F25"/>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sp>
        <p:nvSpPr>
          <p:cNvPr id="7" name="TextBox 6">
            <a:extLst>
              <a:ext uri="{FF2B5EF4-FFF2-40B4-BE49-F238E27FC236}">
                <a16:creationId xmlns:a16="http://schemas.microsoft.com/office/drawing/2014/main" id="{AA617DA3-FFB5-35F7-0A5E-997B9AD2B116}"/>
              </a:ext>
            </a:extLst>
          </p:cNvPr>
          <p:cNvSpPr txBox="1"/>
          <p:nvPr/>
        </p:nvSpPr>
        <p:spPr>
          <a:xfrm>
            <a:off x="7247448" y="2988821"/>
            <a:ext cx="1276645" cy="338554"/>
          </a:xfrm>
          <a:prstGeom prst="rect">
            <a:avLst/>
          </a:prstGeom>
          <a:noFill/>
        </p:spPr>
        <p:txBody>
          <a:bodyPr wrap="square" rtlCol="0">
            <a:spAutoFit/>
          </a:bodyPr>
          <a:lstStyle/>
          <a:p>
            <a:pPr algn="ctr"/>
            <a:r>
              <a:rPr lang="en-US" sz="1600" dirty="0"/>
              <a:t>PRAC </a:t>
            </a:r>
            <a:r>
              <a:rPr lang="en-US" sz="1600" dirty="0" err="1"/>
              <a:t>Ctrs</a:t>
            </a:r>
            <a:endParaRPr lang="en-US" sz="1600" dirty="0"/>
          </a:p>
        </p:txBody>
      </p:sp>
      <p:sp>
        <p:nvSpPr>
          <p:cNvPr id="8" name="TextBox 7">
            <a:extLst>
              <a:ext uri="{FF2B5EF4-FFF2-40B4-BE49-F238E27FC236}">
                <a16:creationId xmlns:a16="http://schemas.microsoft.com/office/drawing/2014/main" id="{2A26F454-C953-05BA-1A28-8A385CE522CE}"/>
              </a:ext>
            </a:extLst>
          </p:cNvPr>
          <p:cNvSpPr txBox="1"/>
          <p:nvPr/>
        </p:nvSpPr>
        <p:spPr>
          <a:xfrm>
            <a:off x="5711556" y="2981325"/>
            <a:ext cx="1648571" cy="338554"/>
          </a:xfrm>
          <a:prstGeom prst="rect">
            <a:avLst/>
          </a:prstGeom>
          <a:noFill/>
        </p:spPr>
        <p:txBody>
          <a:bodyPr wrap="square" rtlCol="0">
            <a:spAutoFit/>
          </a:bodyPr>
          <a:lstStyle/>
          <a:p>
            <a:pPr algn="ctr"/>
            <a:r>
              <a:rPr lang="en-US" sz="1600" dirty="0"/>
              <a:t>DRAM Rows</a:t>
            </a:r>
          </a:p>
        </p:txBody>
      </p:sp>
      <p:sp>
        <p:nvSpPr>
          <p:cNvPr id="11" name="Freeform: Shape 10">
            <a:extLst>
              <a:ext uri="{FF2B5EF4-FFF2-40B4-BE49-F238E27FC236}">
                <a16:creationId xmlns:a16="http://schemas.microsoft.com/office/drawing/2014/main" id="{22AD57BD-CCF7-E1CC-7E42-E71F3DA3F42F}"/>
              </a:ext>
            </a:extLst>
          </p:cNvPr>
          <p:cNvSpPr/>
          <p:nvPr/>
        </p:nvSpPr>
        <p:spPr>
          <a:xfrm>
            <a:off x="7647491" y="3356380"/>
            <a:ext cx="443471" cy="288298"/>
          </a:xfrm>
          <a:custGeom>
            <a:avLst/>
            <a:gdLst>
              <a:gd name="connsiteX0" fmla="*/ 149200 w 556383"/>
              <a:gd name="connsiteY0" fmla="*/ 225923 h 361702"/>
              <a:gd name="connsiteX1" fmla="*/ 199682 w 556383"/>
              <a:gd name="connsiteY1" fmla="*/ 272863 h 361702"/>
              <a:gd name="connsiteX2" fmla="*/ 270577 w 556383"/>
              <a:gd name="connsiteY2" fmla="*/ 203940 h 361702"/>
              <a:gd name="connsiteX3" fmla="*/ 314935 w 556383"/>
              <a:gd name="connsiteY3" fmla="*/ 159706 h 361702"/>
              <a:gd name="connsiteX4" fmla="*/ 365541 w 556383"/>
              <a:gd name="connsiteY4" fmla="*/ 204359 h 361702"/>
              <a:gd name="connsiteX5" fmla="*/ 537172 w 556383"/>
              <a:gd name="connsiteY5" fmla="*/ 32661 h 361702"/>
              <a:gd name="connsiteX6" fmla="*/ 537306 w 556383"/>
              <a:gd name="connsiteY6" fmla="*/ 32662 h 361702"/>
              <a:gd name="connsiteX7" fmla="*/ 537334 w 556383"/>
              <a:gd name="connsiteY7" fmla="*/ 32728 h 361702"/>
              <a:gd name="connsiteX8" fmla="*/ 537334 w 556383"/>
              <a:gd name="connsiteY8" fmla="*/ 114300 h 361702"/>
              <a:gd name="connsiteX9" fmla="*/ 556384 w 556383"/>
              <a:gd name="connsiteY9" fmla="*/ 114300 h 361702"/>
              <a:gd name="connsiteX10" fmla="*/ 556384 w 556383"/>
              <a:gd name="connsiteY10" fmla="*/ 0 h 361702"/>
              <a:gd name="connsiteX11" fmla="*/ 442341 w 556383"/>
              <a:gd name="connsiteY11" fmla="*/ 0 h 361702"/>
              <a:gd name="connsiteX12" fmla="*/ 442341 w 556383"/>
              <a:gd name="connsiteY12" fmla="*/ 19050 h 361702"/>
              <a:gd name="connsiteX13" fmla="*/ 523599 w 556383"/>
              <a:gd name="connsiteY13" fmla="*/ 19050 h 361702"/>
              <a:gd name="connsiteX14" fmla="*/ 523703 w 556383"/>
              <a:gd name="connsiteY14" fmla="*/ 19137 h 361702"/>
              <a:gd name="connsiteX15" fmla="*/ 523675 w 556383"/>
              <a:gd name="connsiteY15" fmla="*/ 19212 h 361702"/>
              <a:gd name="connsiteX16" fmla="*/ 364703 w 556383"/>
              <a:gd name="connsiteY16" fmla="*/ 178194 h 361702"/>
              <a:gd name="connsiteX17" fmla="*/ 314096 w 556383"/>
              <a:gd name="connsiteY17" fmla="*/ 133540 h 361702"/>
              <a:gd name="connsiteX18" fmla="*/ 257261 w 556383"/>
              <a:gd name="connsiteY18" fmla="*/ 190376 h 361702"/>
              <a:gd name="connsiteX19" fmla="*/ 199454 w 556383"/>
              <a:gd name="connsiteY19" fmla="*/ 246574 h 361702"/>
              <a:gd name="connsiteX20" fmla="*/ 148761 w 556383"/>
              <a:gd name="connsiteY20" fmla="*/ 199463 h 361702"/>
              <a:gd name="connsiteX21" fmla="*/ 0 w 556383"/>
              <a:gd name="connsiteY21" fmla="*/ 348234 h 361702"/>
              <a:gd name="connsiteX22" fmla="*/ 13468 w 556383"/>
              <a:gd name="connsiteY22" fmla="*/ 361702 h 36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83" h="361702">
                <a:moveTo>
                  <a:pt x="149200" y="225923"/>
                </a:moveTo>
                <a:lnTo>
                  <a:pt x="199682" y="272863"/>
                </a:lnTo>
                <a:lnTo>
                  <a:pt x="270577" y="203940"/>
                </a:lnTo>
                <a:lnTo>
                  <a:pt x="314935" y="159706"/>
                </a:lnTo>
                <a:lnTo>
                  <a:pt x="365541" y="204359"/>
                </a:lnTo>
                <a:lnTo>
                  <a:pt x="537172" y="32661"/>
                </a:lnTo>
                <a:cubicBezTo>
                  <a:pt x="537209" y="32624"/>
                  <a:pt x="537270" y="32625"/>
                  <a:pt x="537306" y="32662"/>
                </a:cubicBezTo>
                <a:cubicBezTo>
                  <a:pt x="537323" y="32680"/>
                  <a:pt x="537334" y="32703"/>
                  <a:pt x="537334" y="32728"/>
                </a:cubicBezTo>
                <a:lnTo>
                  <a:pt x="537334" y="114300"/>
                </a:lnTo>
                <a:lnTo>
                  <a:pt x="556384" y="114300"/>
                </a:lnTo>
                <a:lnTo>
                  <a:pt x="556384" y="0"/>
                </a:lnTo>
                <a:lnTo>
                  <a:pt x="442341" y="0"/>
                </a:lnTo>
                <a:lnTo>
                  <a:pt x="442341" y="19050"/>
                </a:lnTo>
                <a:lnTo>
                  <a:pt x="523599" y="19050"/>
                </a:lnTo>
                <a:cubicBezTo>
                  <a:pt x="523651" y="19045"/>
                  <a:pt x="523698" y="19084"/>
                  <a:pt x="523703" y="19137"/>
                </a:cubicBezTo>
                <a:cubicBezTo>
                  <a:pt x="523705" y="19164"/>
                  <a:pt x="523695" y="19192"/>
                  <a:pt x="523675" y="19212"/>
                </a:cubicBezTo>
                <a:lnTo>
                  <a:pt x="364703" y="178194"/>
                </a:lnTo>
                <a:lnTo>
                  <a:pt x="314096" y="133540"/>
                </a:lnTo>
                <a:lnTo>
                  <a:pt x="257261" y="190376"/>
                </a:lnTo>
                <a:lnTo>
                  <a:pt x="199454" y="246574"/>
                </a:lnTo>
                <a:lnTo>
                  <a:pt x="148761" y="199463"/>
                </a:lnTo>
                <a:lnTo>
                  <a:pt x="0" y="348234"/>
                </a:lnTo>
                <a:lnTo>
                  <a:pt x="13468" y="361702"/>
                </a:lnTo>
                <a:close/>
              </a:path>
            </a:pathLst>
          </a:custGeom>
          <a:solidFill>
            <a:srgbClr val="FF0000"/>
          </a:solidFill>
          <a:ln w="19050" cap="flat">
            <a:solidFill>
              <a:srgbClr val="FF0000"/>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243DA7B-2BC9-3A88-F691-7A52AAC970C5}"/>
              </a:ext>
            </a:extLst>
          </p:cNvPr>
          <p:cNvSpPr/>
          <p:nvPr/>
        </p:nvSpPr>
        <p:spPr>
          <a:xfrm>
            <a:off x="7647491" y="4089034"/>
            <a:ext cx="443471" cy="288298"/>
          </a:xfrm>
          <a:custGeom>
            <a:avLst/>
            <a:gdLst>
              <a:gd name="connsiteX0" fmla="*/ 149200 w 556383"/>
              <a:gd name="connsiteY0" fmla="*/ 225923 h 361702"/>
              <a:gd name="connsiteX1" fmla="*/ 199682 w 556383"/>
              <a:gd name="connsiteY1" fmla="*/ 272863 h 361702"/>
              <a:gd name="connsiteX2" fmla="*/ 270577 w 556383"/>
              <a:gd name="connsiteY2" fmla="*/ 203940 h 361702"/>
              <a:gd name="connsiteX3" fmla="*/ 314935 w 556383"/>
              <a:gd name="connsiteY3" fmla="*/ 159706 h 361702"/>
              <a:gd name="connsiteX4" fmla="*/ 365541 w 556383"/>
              <a:gd name="connsiteY4" fmla="*/ 204359 h 361702"/>
              <a:gd name="connsiteX5" fmla="*/ 537172 w 556383"/>
              <a:gd name="connsiteY5" fmla="*/ 32661 h 361702"/>
              <a:gd name="connsiteX6" fmla="*/ 537306 w 556383"/>
              <a:gd name="connsiteY6" fmla="*/ 32662 h 361702"/>
              <a:gd name="connsiteX7" fmla="*/ 537334 w 556383"/>
              <a:gd name="connsiteY7" fmla="*/ 32728 h 361702"/>
              <a:gd name="connsiteX8" fmla="*/ 537334 w 556383"/>
              <a:gd name="connsiteY8" fmla="*/ 114300 h 361702"/>
              <a:gd name="connsiteX9" fmla="*/ 556384 w 556383"/>
              <a:gd name="connsiteY9" fmla="*/ 114300 h 361702"/>
              <a:gd name="connsiteX10" fmla="*/ 556384 w 556383"/>
              <a:gd name="connsiteY10" fmla="*/ 0 h 361702"/>
              <a:gd name="connsiteX11" fmla="*/ 442341 w 556383"/>
              <a:gd name="connsiteY11" fmla="*/ 0 h 361702"/>
              <a:gd name="connsiteX12" fmla="*/ 442341 w 556383"/>
              <a:gd name="connsiteY12" fmla="*/ 19050 h 361702"/>
              <a:gd name="connsiteX13" fmla="*/ 523599 w 556383"/>
              <a:gd name="connsiteY13" fmla="*/ 19050 h 361702"/>
              <a:gd name="connsiteX14" fmla="*/ 523703 w 556383"/>
              <a:gd name="connsiteY14" fmla="*/ 19137 h 361702"/>
              <a:gd name="connsiteX15" fmla="*/ 523675 w 556383"/>
              <a:gd name="connsiteY15" fmla="*/ 19212 h 361702"/>
              <a:gd name="connsiteX16" fmla="*/ 364703 w 556383"/>
              <a:gd name="connsiteY16" fmla="*/ 178194 h 361702"/>
              <a:gd name="connsiteX17" fmla="*/ 314096 w 556383"/>
              <a:gd name="connsiteY17" fmla="*/ 133540 h 361702"/>
              <a:gd name="connsiteX18" fmla="*/ 257261 w 556383"/>
              <a:gd name="connsiteY18" fmla="*/ 190376 h 361702"/>
              <a:gd name="connsiteX19" fmla="*/ 199454 w 556383"/>
              <a:gd name="connsiteY19" fmla="*/ 246574 h 361702"/>
              <a:gd name="connsiteX20" fmla="*/ 148761 w 556383"/>
              <a:gd name="connsiteY20" fmla="*/ 199463 h 361702"/>
              <a:gd name="connsiteX21" fmla="*/ 0 w 556383"/>
              <a:gd name="connsiteY21" fmla="*/ 348234 h 361702"/>
              <a:gd name="connsiteX22" fmla="*/ 13468 w 556383"/>
              <a:gd name="connsiteY22" fmla="*/ 361702 h 36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83" h="361702">
                <a:moveTo>
                  <a:pt x="149200" y="225923"/>
                </a:moveTo>
                <a:lnTo>
                  <a:pt x="199682" y="272863"/>
                </a:lnTo>
                <a:lnTo>
                  <a:pt x="270577" y="203940"/>
                </a:lnTo>
                <a:lnTo>
                  <a:pt x="314935" y="159706"/>
                </a:lnTo>
                <a:lnTo>
                  <a:pt x="365541" y="204359"/>
                </a:lnTo>
                <a:lnTo>
                  <a:pt x="537172" y="32661"/>
                </a:lnTo>
                <a:cubicBezTo>
                  <a:pt x="537209" y="32624"/>
                  <a:pt x="537270" y="32625"/>
                  <a:pt x="537306" y="32662"/>
                </a:cubicBezTo>
                <a:cubicBezTo>
                  <a:pt x="537323" y="32680"/>
                  <a:pt x="537334" y="32703"/>
                  <a:pt x="537334" y="32728"/>
                </a:cubicBezTo>
                <a:lnTo>
                  <a:pt x="537334" y="114300"/>
                </a:lnTo>
                <a:lnTo>
                  <a:pt x="556384" y="114300"/>
                </a:lnTo>
                <a:lnTo>
                  <a:pt x="556384" y="0"/>
                </a:lnTo>
                <a:lnTo>
                  <a:pt x="442341" y="0"/>
                </a:lnTo>
                <a:lnTo>
                  <a:pt x="442341" y="19050"/>
                </a:lnTo>
                <a:lnTo>
                  <a:pt x="523599" y="19050"/>
                </a:lnTo>
                <a:cubicBezTo>
                  <a:pt x="523651" y="19045"/>
                  <a:pt x="523698" y="19084"/>
                  <a:pt x="523703" y="19137"/>
                </a:cubicBezTo>
                <a:cubicBezTo>
                  <a:pt x="523705" y="19164"/>
                  <a:pt x="523695" y="19192"/>
                  <a:pt x="523675" y="19212"/>
                </a:cubicBezTo>
                <a:lnTo>
                  <a:pt x="364703" y="178194"/>
                </a:lnTo>
                <a:lnTo>
                  <a:pt x="314096" y="133540"/>
                </a:lnTo>
                <a:lnTo>
                  <a:pt x="257261" y="190376"/>
                </a:lnTo>
                <a:lnTo>
                  <a:pt x="199454" y="246574"/>
                </a:lnTo>
                <a:lnTo>
                  <a:pt x="148761" y="199463"/>
                </a:lnTo>
                <a:lnTo>
                  <a:pt x="0" y="348234"/>
                </a:lnTo>
                <a:lnTo>
                  <a:pt x="13468" y="361702"/>
                </a:lnTo>
                <a:close/>
              </a:path>
            </a:pathLst>
          </a:custGeom>
          <a:solidFill>
            <a:srgbClr val="FF0000"/>
          </a:solidFill>
          <a:ln w="19050" cap="flat">
            <a:solidFill>
              <a:srgbClr val="FF0000"/>
            </a:solidFill>
            <a:prstDash val="solid"/>
            <a:miter/>
          </a:ln>
        </p:spPr>
        <p:txBody>
          <a:bodyPr rtlCol="0" anchor="ctr"/>
          <a:lstStyle/>
          <a:p>
            <a:endParaRPr lang="en-US" dirty="0"/>
          </a:p>
        </p:txBody>
      </p:sp>
    </p:spTree>
    <p:extLst>
      <p:ext uri="{BB962C8B-B14F-4D97-AF65-F5344CB8AC3E}">
        <p14:creationId xmlns:p14="http://schemas.microsoft.com/office/powerpoint/2010/main" val="327979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7" grpId="0"/>
      <p:bldP spid="8" grpId="0"/>
      <p:bldP spid="11"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C74A-E8E3-BE68-59CB-1F47E3C65463}"/>
              </a:ext>
            </a:extLst>
          </p:cNvPr>
          <p:cNvSpPr>
            <a:spLocks noGrp="1"/>
          </p:cNvSpPr>
          <p:nvPr>
            <p:ph type="title"/>
          </p:nvPr>
        </p:nvSpPr>
        <p:spPr/>
        <p:txBody>
          <a:bodyPr/>
          <a:lstStyle/>
          <a:p>
            <a:r>
              <a:rPr lang="en-US" dirty="0"/>
              <a:t>Observing PRAC-Induced Latencies (II)</a:t>
            </a:r>
          </a:p>
        </p:txBody>
      </p:sp>
      <p:pic>
        <p:nvPicPr>
          <p:cNvPr id="11" name="Content Placeholder 10" descr="A diagram of a graph&#10;&#10;AI-generated content may be incorrect.">
            <a:extLst>
              <a:ext uri="{FF2B5EF4-FFF2-40B4-BE49-F238E27FC236}">
                <a16:creationId xmlns:a16="http://schemas.microsoft.com/office/drawing/2014/main" id="{55ED8E59-372A-B1C4-4A53-3BB2A4AB159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208" y="1644591"/>
            <a:ext cx="8992414" cy="3135069"/>
          </a:xfrm>
        </p:spPr>
      </p:pic>
      <p:sp>
        <p:nvSpPr>
          <p:cNvPr id="4" name="Footer Placeholder 3">
            <a:extLst>
              <a:ext uri="{FF2B5EF4-FFF2-40B4-BE49-F238E27FC236}">
                <a16:creationId xmlns:a16="http://schemas.microsoft.com/office/drawing/2014/main" id="{34C982FE-632E-616C-4FE1-A70929ADD287}"/>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AD4C7070-DEAE-11B7-4610-79DAB82D1D63}"/>
              </a:ext>
            </a:extLst>
          </p:cNvPr>
          <p:cNvSpPr>
            <a:spLocks noGrp="1"/>
          </p:cNvSpPr>
          <p:nvPr>
            <p:ph type="sldNum" sz="quarter" idx="12"/>
          </p:nvPr>
        </p:nvSpPr>
        <p:spPr/>
        <p:txBody>
          <a:bodyPr/>
          <a:lstStyle/>
          <a:p>
            <a:fld id="{CBE5B309-C2CE-4D90-B104-F7E98438FC65}" type="slidenum">
              <a:rPr lang="tr-TR" smtClean="0"/>
              <a:pPr/>
              <a:t>62</a:t>
            </a:fld>
            <a:endParaRPr lang="tr-TR" dirty="0"/>
          </a:p>
        </p:txBody>
      </p:sp>
      <p:sp>
        <p:nvSpPr>
          <p:cNvPr id="9" name="Rectangle 8">
            <a:extLst>
              <a:ext uri="{FF2B5EF4-FFF2-40B4-BE49-F238E27FC236}">
                <a16:creationId xmlns:a16="http://schemas.microsoft.com/office/drawing/2014/main" id="{2AC6B20F-3614-B2FC-3C8A-74540AF94A52}"/>
              </a:ext>
            </a:extLst>
          </p:cNvPr>
          <p:cNvSpPr/>
          <p:nvPr/>
        </p:nvSpPr>
        <p:spPr>
          <a:xfrm>
            <a:off x="1310640" y="1646907"/>
            <a:ext cx="7604759" cy="4793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E684B0-1715-F8D8-C982-F379979651E7}"/>
              </a:ext>
            </a:extLst>
          </p:cNvPr>
          <p:cNvSpPr/>
          <p:nvPr/>
        </p:nvSpPr>
        <p:spPr>
          <a:xfrm>
            <a:off x="5044440" y="2463341"/>
            <a:ext cx="3592482" cy="200838"/>
          </a:xfrm>
          <a:prstGeom prst="rect">
            <a:avLst/>
          </a:prstGeom>
          <a:solidFill>
            <a:srgbClr val="D4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EE5AA1E-2250-5220-18F8-14BEEE8C46A7}"/>
              </a:ext>
            </a:extLst>
          </p:cNvPr>
          <p:cNvSpPr txBox="1"/>
          <p:nvPr/>
        </p:nvSpPr>
        <p:spPr>
          <a:xfrm>
            <a:off x="1305896" y="2110136"/>
            <a:ext cx="1216324" cy="369332"/>
          </a:xfrm>
          <a:prstGeom prst="rect">
            <a:avLst/>
          </a:prstGeom>
          <a:noFill/>
        </p:spPr>
        <p:txBody>
          <a:bodyPr wrap="square" rtlCol="0">
            <a:spAutoFit/>
          </a:bodyPr>
          <a:lstStyle/>
          <a:p>
            <a:r>
              <a:rPr lang="en-US" i="1" dirty="0"/>
              <a:t>N</a:t>
            </a:r>
            <a:r>
              <a:rPr lang="en-US" i="1" baseline="-25000" dirty="0"/>
              <a:t>BO </a:t>
            </a:r>
            <a:r>
              <a:rPr lang="en-US" i="1" dirty="0"/>
              <a:t>= 128</a:t>
            </a:r>
          </a:p>
        </p:txBody>
      </p:sp>
      <p:sp>
        <p:nvSpPr>
          <p:cNvPr id="8" name="Rectangle 7">
            <a:extLst>
              <a:ext uri="{FF2B5EF4-FFF2-40B4-BE49-F238E27FC236}">
                <a16:creationId xmlns:a16="http://schemas.microsoft.com/office/drawing/2014/main" id="{383BCCEF-51FE-ACCE-6481-9B722F09F850}"/>
              </a:ext>
            </a:extLst>
          </p:cNvPr>
          <p:cNvSpPr/>
          <p:nvPr/>
        </p:nvSpPr>
        <p:spPr>
          <a:xfrm>
            <a:off x="1301674" y="2179726"/>
            <a:ext cx="7604759" cy="18478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8827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AE9F2-F338-1375-A199-DA1D2CB090D4}"/>
            </a:ext>
          </a:extLst>
        </p:cNvPr>
        <p:cNvGrpSpPr/>
        <p:nvPr/>
      </p:nvGrpSpPr>
      <p:grpSpPr>
        <a:xfrm>
          <a:off x="0" y="0"/>
          <a:ext cx="0" cy="0"/>
          <a:chOff x="0" y="0"/>
          <a:chExt cx="0" cy="0"/>
        </a:xfrm>
      </p:grpSpPr>
      <p:pic>
        <p:nvPicPr>
          <p:cNvPr id="8" name="Content Placeholder 10" descr="A diagram of a graph&#10;&#10;AI-generated content may be incorrect.">
            <a:extLst>
              <a:ext uri="{FF2B5EF4-FFF2-40B4-BE49-F238E27FC236}">
                <a16:creationId xmlns:a16="http://schemas.microsoft.com/office/drawing/2014/main" id="{E87909B2-63C5-11AB-6052-98FB05B2EA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08" y="1644591"/>
            <a:ext cx="8992414" cy="3135069"/>
          </a:xfrm>
          <a:prstGeom prst="rect">
            <a:avLst/>
          </a:prstGeom>
        </p:spPr>
      </p:pic>
      <p:sp>
        <p:nvSpPr>
          <p:cNvPr id="2" name="Title 1">
            <a:extLst>
              <a:ext uri="{FF2B5EF4-FFF2-40B4-BE49-F238E27FC236}">
                <a16:creationId xmlns:a16="http://schemas.microsoft.com/office/drawing/2014/main" id="{03D1B1AC-4E04-6514-A621-CCF05477B180}"/>
              </a:ext>
            </a:extLst>
          </p:cNvPr>
          <p:cNvSpPr>
            <a:spLocks noGrp="1"/>
          </p:cNvSpPr>
          <p:nvPr>
            <p:ph type="title"/>
          </p:nvPr>
        </p:nvSpPr>
        <p:spPr/>
        <p:txBody>
          <a:bodyPr/>
          <a:lstStyle/>
          <a:p>
            <a:r>
              <a:rPr lang="en-US" dirty="0"/>
              <a:t>Observing PRAC-Induced Latencies (II)</a:t>
            </a:r>
          </a:p>
        </p:txBody>
      </p:sp>
      <p:sp>
        <p:nvSpPr>
          <p:cNvPr id="3" name="Content Placeholder 2">
            <a:extLst>
              <a:ext uri="{FF2B5EF4-FFF2-40B4-BE49-F238E27FC236}">
                <a16:creationId xmlns:a16="http://schemas.microsoft.com/office/drawing/2014/main" id="{62F6FDEF-FE91-128D-9DC1-2DF3E40A81E1}"/>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3F1C4006-99AE-E843-47B1-A4254411E6FB}"/>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8DC55085-BE1C-DC30-098F-839E9F26BADB}"/>
              </a:ext>
            </a:extLst>
          </p:cNvPr>
          <p:cNvSpPr>
            <a:spLocks noGrp="1"/>
          </p:cNvSpPr>
          <p:nvPr>
            <p:ph type="sldNum" sz="quarter" idx="12"/>
          </p:nvPr>
        </p:nvSpPr>
        <p:spPr/>
        <p:txBody>
          <a:bodyPr/>
          <a:lstStyle/>
          <a:p>
            <a:fld id="{CBE5B309-C2CE-4D90-B104-F7E98438FC65}" type="slidenum">
              <a:rPr lang="tr-TR" smtClean="0"/>
              <a:pPr/>
              <a:t>63</a:t>
            </a:fld>
            <a:endParaRPr lang="tr-TR" dirty="0"/>
          </a:p>
        </p:txBody>
      </p:sp>
      <p:sp>
        <p:nvSpPr>
          <p:cNvPr id="14" name="Rectangle 13">
            <a:extLst>
              <a:ext uri="{FF2B5EF4-FFF2-40B4-BE49-F238E27FC236}">
                <a16:creationId xmlns:a16="http://schemas.microsoft.com/office/drawing/2014/main" id="{8BC89822-E28A-7019-95FE-FACAA81DEA75}"/>
              </a:ext>
            </a:extLst>
          </p:cNvPr>
          <p:cNvSpPr/>
          <p:nvPr/>
        </p:nvSpPr>
        <p:spPr>
          <a:xfrm>
            <a:off x="5044440" y="2470510"/>
            <a:ext cx="3592482" cy="200838"/>
          </a:xfrm>
          <a:prstGeom prst="rect">
            <a:avLst/>
          </a:prstGeom>
          <a:solidFill>
            <a:srgbClr val="D4EA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31CE3CE-47C7-2963-D3DA-79D9817EDD2E}"/>
              </a:ext>
            </a:extLst>
          </p:cNvPr>
          <p:cNvCxnSpPr>
            <a:cxnSpLocks/>
          </p:cNvCxnSpPr>
          <p:nvPr/>
        </p:nvCxnSpPr>
        <p:spPr>
          <a:xfrm>
            <a:off x="4415790" y="2223539"/>
            <a:ext cx="460604" cy="199212"/>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102DE1B-9A95-9BC2-A1F5-1B34400776DA}"/>
              </a:ext>
            </a:extLst>
          </p:cNvPr>
          <p:cNvCxnSpPr>
            <a:cxnSpLocks/>
          </p:cNvCxnSpPr>
          <p:nvPr/>
        </p:nvCxnSpPr>
        <p:spPr>
          <a:xfrm>
            <a:off x="8206740" y="2201718"/>
            <a:ext cx="460604" cy="199212"/>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4C034E4-E2B3-3677-4D89-61E29B3A2232}"/>
              </a:ext>
            </a:extLst>
          </p:cNvPr>
          <p:cNvSpPr txBox="1"/>
          <p:nvPr/>
        </p:nvSpPr>
        <p:spPr>
          <a:xfrm>
            <a:off x="2891790" y="2293464"/>
            <a:ext cx="2103120" cy="369332"/>
          </a:xfrm>
          <a:prstGeom prst="rect">
            <a:avLst/>
          </a:prstGeom>
          <a:noFill/>
        </p:spPr>
        <p:txBody>
          <a:bodyPr wrap="square" rtlCol="0">
            <a:spAutoFit/>
          </a:bodyPr>
          <a:lstStyle/>
          <a:p>
            <a:r>
              <a:rPr lang="en-US" i="1" dirty="0">
                <a:solidFill>
                  <a:srgbClr val="FF0000"/>
                </a:solidFill>
              </a:rPr>
              <a:t>Back-off latency</a:t>
            </a:r>
          </a:p>
        </p:txBody>
      </p:sp>
      <p:sp>
        <p:nvSpPr>
          <p:cNvPr id="17" name="Rectangle 16">
            <a:extLst>
              <a:ext uri="{FF2B5EF4-FFF2-40B4-BE49-F238E27FC236}">
                <a16:creationId xmlns:a16="http://schemas.microsoft.com/office/drawing/2014/main" id="{B2C1922B-716B-B2F3-4A2C-2C14AE7018FC}"/>
              </a:ext>
            </a:extLst>
          </p:cNvPr>
          <p:cNvSpPr/>
          <p:nvPr/>
        </p:nvSpPr>
        <p:spPr>
          <a:xfrm>
            <a:off x="-42262" y="5034060"/>
            <a:ext cx="9245150" cy="805578"/>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The observed back-off latency is </a:t>
            </a:r>
            <a:r>
              <a:rPr lang="en-US" sz="2400" dirty="0">
                <a:solidFill>
                  <a:srgbClr val="316CE3"/>
                </a:solidFill>
                <a:latin typeface="+mj-lt"/>
              </a:rPr>
              <a:t>consistent with the specification </a:t>
            </a:r>
            <a:br>
              <a:rPr lang="en-US" sz="2400" dirty="0">
                <a:solidFill>
                  <a:schemeClr val="tx1"/>
                </a:solidFill>
                <a:latin typeface="+mj-lt"/>
              </a:rPr>
            </a:br>
            <a:r>
              <a:rPr lang="en-US" sz="2400" dirty="0">
                <a:solidFill>
                  <a:schemeClr val="tx1"/>
                </a:solidFill>
                <a:latin typeface="+mj-lt"/>
              </a:rPr>
              <a:t>and </a:t>
            </a:r>
            <a:r>
              <a:rPr lang="en-US" sz="2400" dirty="0">
                <a:solidFill>
                  <a:schemeClr val="accent6">
                    <a:lumMod val="75000"/>
                  </a:schemeClr>
                </a:solidFill>
                <a:latin typeface="+mj-lt"/>
              </a:rPr>
              <a:t>can be distinguished </a:t>
            </a:r>
            <a:r>
              <a:rPr lang="en-US" sz="2400" dirty="0">
                <a:solidFill>
                  <a:schemeClr val="tx1"/>
                </a:solidFill>
                <a:latin typeface="+mj-lt"/>
              </a:rPr>
              <a:t>from regular memory operations</a:t>
            </a:r>
            <a:endParaRPr lang="en-US" sz="2400" b="1" dirty="0">
              <a:solidFill>
                <a:schemeClr val="tx1"/>
              </a:solidFill>
              <a:latin typeface="+mj-lt"/>
            </a:endParaRPr>
          </a:p>
        </p:txBody>
      </p:sp>
      <p:sp>
        <p:nvSpPr>
          <p:cNvPr id="6" name="TextBox 5">
            <a:extLst>
              <a:ext uri="{FF2B5EF4-FFF2-40B4-BE49-F238E27FC236}">
                <a16:creationId xmlns:a16="http://schemas.microsoft.com/office/drawing/2014/main" id="{0BD68781-C9A2-470D-266E-DFE5C2418EF3}"/>
              </a:ext>
            </a:extLst>
          </p:cNvPr>
          <p:cNvSpPr txBox="1"/>
          <p:nvPr/>
        </p:nvSpPr>
        <p:spPr>
          <a:xfrm>
            <a:off x="1305896" y="2111584"/>
            <a:ext cx="1216324" cy="369332"/>
          </a:xfrm>
          <a:prstGeom prst="rect">
            <a:avLst/>
          </a:prstGeom>
          <a:noFill/>
        </p:spPr>
        <p:txBody>
          <a:bodyPr wrap="square" rtlCol="0">
            <a:spAutoFit/>
          </a:bodyPr>
          <a:lstStyle/>
          <a:p>
            <a:r>
              <a:rPr lang="en-US" i="1" dirty="0"/>
              <a:t>N</a:t>
            </a:r>
            <a:r>
              <a:rPr lang="en-US" i="1" baseline="-25000" dirty="0"/>
              <a:t>BO </a:t>
            </a:r>
            <a:r>
              <a:rPr lang="en-US" i="1" dirty="0"/>
              <a:t>= 128</a:t>
            </a:r>
          </a:p>
        </p:txBody>
      </p:sp>
    </p:spTree>
    <p:extLst>
      <p:ext uri="{BB962C8B-B14F-4D97-AF65-F5344CB8AC3E}">
        <p14:creationId xmlns:p14="http://schemas.microsoft.com/office/powerpoint/2010/main" val="282197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7B8F2-03F1-5243-1F73-0E107912BACC}"/>
              </a:ext>
            </a:extLst>
          </p:cNvPr>
          <p:cNvSpPr>
            <a:spLocks noGrp="1"/>
          </p:cNvSpPr>
          <p:nvPr>
            <p:ph type="title"/>
          </p:nvPr>
        </p:nvSpPr>
        <p:spPr/>
        <p:txBody>
          <a:bodyPr/>
          <a:lstStyle/>
          <a:p>
            <a:r>
              <a:rPr lang="en-US" dirty="0"/>
              <a:t>PRAC-Based Covert Channel:</a:t>
            </a:r>
            <a:br>
              <a:rPr lang="en-US" dirty="0"/>
            </a:br>
            <a:r>
              <a:rPr lang="en-US" dirty="0"/>
              <a:t>Attack Overview</a:t>
            </a:r>
          </a:p>
        </p:txBody>
      </p:sp>
      <p:sp>
        <p:nvSpPr>
          <p:cNvPr id="3" name="Content Placeholder 2">
            <a:extLst>
              <a:ext uri="{FF2B5EF4-FFF2-40B4-BE49-F238E27FC236}">
                <a16:creationId xmlns:a16="http://schemas.microsoft.com/office/drawing/2014/main" id="{EE30B959-89FA-FE6B-A4E8-456997DC07E6}"/>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AD45AB17-5624-3E41-5D70-7CEFD9A99A66}"/>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CB6BB6C2-4DD4-9002-B953-8D4B4BBB2F47}"/>
              </a:ext>
            </a:extLst>
          </p:cNvPr>
          <p:cNvSpPr>
            <a:spLocks noGrp="1"/>
          </p:cNvSpPr>
          <p:nvPr>
            <p:ph type="sldNum" sz="quarter" idx="12"/>
          </p:nvPr>
        </p:nvSpPr>
        <p:spPr/>
        <p:txBody>
          <a:bodyPr/>
          <a:lstStyle/>
          <a:p>
            <a:fld id="{CBE5B309-C2CE-4D90-B104-F7E98438FC65}" type="slidenum">
              <a:rPr lang="tr-TR" smtClean="0"/>
              <a:pPr/>
              <a:t>64</a:t>
            </a:fld>
            <a:endParaRPr lang="tr-TR" dirty="0"/>
          </a:p>
        </p:txBody>
      </p:sp>
      <p:grpSp>
        <p:nvGrpSpPr>
          <p:cNvPr id="22" name="Group 21">
            <a:extLst>
              <a:ext uri="{FF2B5EF4-FFF2-40B4-BE49-F238E27FC236}">
                <a16:creationId xmlns:a16="http://schemas.microsoft.com/office/drawing/2014/main" id="{30BF40C6-EA34-0354-3D0B-AD135CAC7DC6}"/>
              </a:ext>
            </a:extLst>
          </p:cNvPr>
          <p:cNvGrpSpPr/>
          <p:nvPr/>
        </p:nvGrpSpPr>
        <p:grpSpPr>
          <a:xfrm>
            <a:off x="619450" y="1952088"/>
            <a:ext cx="1520607" cy="2108546"/>
            <a:chOff x="619450" y="1609725"/>
            <a:chExt cx="1520607" cy="2108546"/>
          </a:xfrm>
        </p:grpSpPr>
        <p:sp>
          <p:nvSpPr>
            <p:cNvPr id="19" name="Oval 18">
              <a:extLst>
                <a:ext uri="{FF2B5EF4-FFF2-40B4-BE49-F238E27FC236}">
                  <a16:creationId xmlns:a16="http://schemas.microsoft.com/office/drawing/2014/main" id="{92B9F637-0F25-87FA-BE84-3F4A8E782294}"/>
                </a:ext>
              </a:extLst>
            </p:cNvPr>
            <p:cNvSpPr/>
            <p:nvPr/>
          </p:nvSpPr>
          <p:spPr>
            <a:xfrm>
              <a:off x="619450" y="1826054"/>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E10EAA89-D231-A68B-4452-8013ABCDC0DA}"/>
                </a:ext>
              </a:extLst>
            </p:cNvPr>
            <p:cNvGrpSpPr/>
            <p:nvPr/>
          </p:nvGrpSpPr>
          <p:grpSpPr>
            <a:xfrm>
              <a:off x="717708" y="1609725"/>
              <a:ext cx="1317430" cy="2108546"/>
              <a:chOff x="717708" y="1609725"/>
              <a:chExt cx="1317430" cy="2108546"/>
            </a:xfrm>
          </p:grpSpPr>
          <p:pic>
            <p:nvPicPr>
              <p:cNvPr id="9" name="Graphic 8" descr="Old woman wearing lightning shirt">
                <a:extLst>
                  <a:ext uri="{FF2B5EF4-FFF2-40B4-BE49-F238E27FC236}">
                    <a16:creationId xmlns:a16="http://schemas.microsoft.com/office/drawing/2014/main" id="{3DFA9BEF-A187-0040-331A-B6A573818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873" y="1609725"/>
                <a:ext cx="1181100" cy="1819275"/>
              </a:xfrm>
              <a:prstGeom prst="rect">
                <a:avLst/>
              </a:prstGeom>
            </p:spPr>
          </p:pic>
          <p:sp>
            <p:nvSpPr>
              <p:cNvPr id="11" name="TextBox 10">
                <a:extLst>
                  <a:ext uri="{FF2B5EF4-FFF2-40B4-BE49-F238E27FC236}">
                    <a16:creationId xmlns:a16="http://schemas.microsoft.com/office/drawing/2014/main" id="{EDBF9935-12DB-3C19-11D8-D1933DBE7CD0}"/>
                  </a:ext>
                </a:extLst>
              </p:cNvPr>
              <p:cNvSpPr txBox="1"/>
              <p:nvPr/>
            </p:nvSpPr>
            <p:spPr>
              <a:xfrm>
                <a:off x="717708" y="3346661"/>
                <a:ext cx="1317430" cy="371610"/>
              </a:xfrm>
              <a:prstGeom prst="rect">
                <a:avLst/>
              </a:prstGeom>
              <a:noFill/>
            </p:spPr>
            <p:txBody>
              <a:bodyPr wrap="square" rtlCol="0">
                <a:spAutoFit/>
              </a:bodyPr>
              <a:lstStyle/>
              <a:p>
                <a:pPr algn="ctr"/>
                <a:r>
                  <a:rPr lang="en-US" b="1" i="1" dirty="0">
                    <a:solidFill>
                      <a:srgbClr val="6D40DC"/>
                    </a:solidFill>
                  </a:rPr>
                  <a:t>Sender</a:t>
                </a:r>
              </a:p>
            </p:txBody>
          </p:sp>
        </p:grpSp>
      </p:grpSp>
      <p:grpSp>
        <p:nvGrpSpPr>
          <p:cNvPr id="21" name="Group 20">
            <a:extLst>
              <a:ext uri="{FF2B5EF4-FFF2-40B4-BE49-F238E27FC236}">
                <a16:creationId xmlns:a16="http://schemas.microsoft.com/office/drawing/2014/main" id="{A9C1F6C9-3B3E-17E7-F6BD-6CA664F8D7E4}"/>
              </a:ext>
            </a:extLst>
          </p:cNvPr>
          <p:cNvGrpSpPr/>
          <p:nvPr/>
        </p:nvGrpSpPr>
        <p:grpSpPr>
          <a:xfrm>
            <a:off x="6981613" y="2742991"/>
            <a:ext cx="1520607" cy="2023240"/>
            <a:chOff x="6981613" y="1695031"/>
            <a:chExt cx="1520607" cy="2023240"/>
          </a:xfrm>
        </p:grpSpPr>
        <p:sp>
          <p:nvSpPr>
            <p:cNvPr id="20" name="Oval 19">
              <a:extLst>
                <a:ext uri="{FF2B5EF4-FFF2-40B4-BE49-F238E27FC236}">
                  <a16:creationId xmlns:a16="http://schemas.microsoft.com/office/drawing/2014/main" id="{EF30B4ED-574D-9EE7-827D-0499B128997E}"/>
                </a:ext>
              </a:extLst>
            </p:cNvPr>
            <p:cNvSpPr/>
            <p:nvPr/>
          </p:nvSpPr>
          <p:spPr>
            <a:xfrm>
              <a:off x="6981613" y="1863804"/>
              <a:ext cx="1520607" cy="1520607"/>
            </a:xfrm>
            <a:prstGeom prst="ellipse">
              <a:avLst/>
            </a:prstGeom>
            <a:solidFill>
              <a:srgbClr val="B3195F"/>
            </a:solidFill>
            <a:ln>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0985762A-5B57-164D-D606-C7E2CF0DF44D}"/>
                </a:ext>
              </a:extLst>
            </p:cNvPr>
            <p:cNvGrpSpPr/>
            <p:nvPr/>
          </p:nvGrpSpPr>
          <p:grpSpPr>
            <a:xfrm>
              <a:off x="7108862" y="1695031"/>
              <a:ext cx="1317430" cy="2023240"/>
              <a:chOff x="7239179" y="1647824"/>
              <a:chExt cx="1317430" cy="2023240"/>
            </a:xfrm>
          </p:grpSpPr>
          <p:pic>
            <p:nvPicPr>
              <p:cNvPr id="7" name="Graphic 6" descr="Man in glasses wearing turtleneck">
                <a:extLst>
                  <a:ext uri="{FF2B5EF4-FFF2-40B4-BE49-F238E27FC236}">
                    <a16:creationId xmlns:a16="http://schemas.microsoft.com/office/drawing/2014/main" id="{4FAFC66F-F7BF-9192-B660-B877654DD5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261209" y="1647824"/>
                <a:ext cx="1295400" cy="1743075"/>
              </a:xfrm>
              <a:prstGeom prst="rect">
                <a:avLst/>
              </a:prstGeom>
            </p:spPr>
          </p:pic>
          <p:sp>
            <p:nvSpPr>
              <p:cNvPr id="12" name="TextBox 11">
                <a:extLst>
                  <a:ext uri="{FF2B5EF4-FFF2-40B4-BE49-F238E27FC236}">
                    <a16:creationId xmlns:a16="http://schemas.microsoft.com/office/drawing/2014/main" id="{661ACD64-3CC2-4ADD-D152-D0748E52D970}"/>
                  </a:ext>
                </a:extLst>
              </p:cNvPr>
              <p:cNvSpPr txBox="1"/>
              <p:nvPr/>
            </p:nvSpPr>
            <p:spPr>
              <a:xfrm>
                <a:off x="7239179" y="3299454"/>
                <a:ext cx="1317430" cy="371610"/>
              </a:xfrm>
              <a:prstGeom prst="rect">
                <a:avLst/>
              </a:prstGeom>
              <a:noFill/>
            </p:spPr>
            <p:txBody>
              <a:bodyPr wrap="square" rtlCol="0">
                <a:spAutoFit/>
              </a:bodyPr>
              <a:lstStyle/>
              <a:p>
                <a:pPr algn="ctr"/>
                <a:r>
                  <a:rPr lang="en-US" b="1" i="1" dirty="0">
                    <a:solidFill>
                      <a:srgbClr val="B3195F"/>
                    </a:solidFill>
                  </a:rPr>
                  <a:t>Receiver</a:t>
                </a:r>
              </a:p>
            </p:txBody>
          </p:sp>
        </p:grpSp>
      </p:grpSp>
      <p:sp>
        <p:nvSpPr>
          <p:cNvPr id="15" name="Rectangle: Rounded Corners 14">
            <a:extLst>
              <a:ext uri="{FF2B5EF4-FFF2-40B4-BE49-F238E27FC236}">
                <a16:creationId xmlns:a16="http://schemas.microsoft.com/office/drawing/2014/main" id="{B0570E16-6AB9-0A36-A4C2-20FC1573727E}"/>
              </a:ext>
            </a:extLst>
          </p:cNvPr>
          <p:cNvSpPr/>
          <p:nvPr/>
        </p:nvSpPr>
        <p:spPr>
          <a:xfrm>
            <a:off x="2444178" y="2204019"/>
            <a:ext cx="4303314" cy="2177434"/>
          </a:xfrm>
          <a:prstGeom prst="roundRect">
            <a:avLst>
              <a:gd name="adj" fmla="val 3069"/>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D54164B7-1DAE-CC82-B638-A568B767C29D}"/>
              </a:ext>
            </a:extLst>
          </p:cNvPr>
          <p:cNvGraphicFramePr>
            <a:graphicFrameLocks noGrp="1"/>
          </p:cNvGraphicFramePr>
          <p:nvPr/>
        </p:nvGraphicFramePr>
        <p:xfrm>
          <a:off x="2617262" y="2568380"/>
          <a:ext cx="2648155" cy="109728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246091">
                <a:tc>
                  <a:txBody>
                    <a:bodyPr/>
                    <a:lstStyle/>
                    <a:p>
                      <a:pPr algn="ctr"/>
                      <a:r>
                        <a:rPr lang="en-US" i="1" dirty="0" err="1">
                          <a:solidFill>
                            <a:srgbClr val="6D40DC"/>
                          </a:solidFill>
                        </a:rPr>
                        <a:t>R</a:t>
                      </a:r>
                      <a:r>
                        <a:rPr lang="en-US" i="1" baseline="-25000" dirty="0" err="1">
                          <a:solidFill>
                            <a:srgbClr val="6D40DC"/>
                          </a:solidFill>
                        </a:rPr>
                        <a:t>Sender</a:t>
                      </a: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246091">
                <a:tc>
                  <a:txBody>
                    <a:bodyPr/>
                    <a:lstStyle/>
                    <a:p>
                      <a:pPr algn="ctr"/>
                      <a:r>
                        <a:rPr lang="en-US" i="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err="1">
                          <a:solidFill>
                            <a:srgbClr val="B3195F"/>
                          </a:solidFill>
                        </a:rPr>
                        <a:t>R</a:t>
                      </a:r>
                      <a:r>
                        <a:rPr lang="en-US" i="1" baseline="-25000" dirty="0" err="1">
                          <a:solidFill>
                            <a:srgbClr val="B3195F"/>
                          </a:solidFill>
                        </a:rPr>
                        <a:t>Receiver</a:t>
                      </a: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17" name="TextBox 16">
            <a:extLst>
              <a:ext uri="{FF2B5EF4-FFF2-40B4-BE49-F238E27FC236}">
                <a16:creationId xmlns:a16="http://schemas.microsoft.com/office/drawing/2014/main" id="{6559DFC1-5DD9-70B0-698A-3774D3F3AC1F}"/>
              </a:ext>
            </a:extLst>
          </p:cNvPr>
          <p:cNvSpPr txBox="1"/>
          <p:nvPr/>
        </p:nvSpPr>
        <p:spPr>
          <a:xfrm>
            <a:off x="2444179" y="1863804"/>
            <a:ext cx="4303314" cy="381361"/>
          </a:xfrm>
          <a:prstGeom prst="rect">
            <a:avLst/>
          </a:prstGeom>
          <a:noFill/>
        </p:spPr>
        <p:txBody>
          <a:bodyPr wrap="square" rtlCol="0">
            <a:spAutoFit/>
          </a:bodyPr>
          <a:lstStyle/>
          <a:p>
            <a:pPr algn="ctr"/>
            <a:r>
              <a:rPr lang="en-US" i="1" dirty="0">
                <a:solidFill>
                  <a:srgbClr val="FF5F25"/>
                </a:solidFill>
              </a:rPr>
              <a:t>DRAM Bank</a:t>
            </a:r>
          </a:p>
        </p:txBody>
      </p:sp>
      <p:graphicFrame>
        <p:nvGraphicFramePr>
          <p:cNvPr id="18" name="Table 17">
            <a:extLst>
              <a:ext uri="{FF2B5EF4-FFF2-40B4-BE49-F238E27FC236}">
                <a16:creationId xmlns:a16="http://schemas.microsoft.com/office/drawing/2014/main" id="{983A66B5-64DF-D974-D521-E2AA05EE7156}"/>
              </a:ext>
            </a:extLst>
          </p:cNvPr>
          <p:cNvGraphicFramePr>
            <a:graphicFrameLocks noGrp="1"/>
          </p:cNvGraphicFramePr>
          <p:nvPr/>
        </p:nvGraphicFramePr>
        <p:xfrm>
          <a:off x="2617262" y="3781547"/>
          <a:ext cx="2648155" cy="36576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0">
                <a:tc>
                  <a:txBody>
                    <a:bodyPr/>
                    <a:lstStyle/>
                    <a:p>
                      <a:pPr algn="ctr"/>
                      <a:r>
                        <a:rPr lang="en-US" i="1" dirty="0"/>
                        <a:t>Row Buffer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aphicFrame>
        <p:nvGraphicFramePr>
          <p:cNvPr id="23" name="Table 22">
            <a:extLst>
              <a:ext uri="{FF2B5EF4-FFF2-40B4-BE49-F238E27FC236}">
                <a16:creationId xmlns:a16="http://schemas.microsoft.com/office/drawing/2014/main" id="{26C7C70E-72F4-606D-06B6-5A86E749D105}"/>
              </a:ext>
            </a:extLst>
          </p:cNvPr>
          <p:cNvGraphicFramePr>
            <a:graphicFrameLocks noGrp="1"/>
          </p:cNvGraphicFramePr>
          <p:nvPr/>
        </p:nvGraphicFramePr>
        <p:xfrm>
          <a:off x="5363467" y="2568379"/>
          <a:ext cx="1215014" cy="1061237"/>
        </p:xfrm>
        <a:graphic>
          <a:graphicData uri="http://schemas.openxmlformats.org/drawingml/2006/table">
            <a:tbl>
              <a:tblPr bandRow="1">
                <a:tableStyleId>{69012ECD-51FC-41F1-AA8D-1B2483CD663E}</a:tableStyleId>
              </a:tblPr>
              <a:tblGrid>
                <a:gridCol w="1215014">
                  <a:extLst>
                    <a:ext uri="{9D8B030D-6E8A-4147-A177-3AD203B41FA5}">
                      <a16:colId xmlns:a16="http://schemas.microsoft.com/office/drawing/2014/main" val="2630129014"/>
                    </a:ext>
                  </a:extLst>
                </a:gridCol>
              </a:tblGrid>
              <a:tr h="368026">
                <a:tc>
                  <a:txBody>
                    <a:bodyPr/>
                    <a:lstStyle/>
                    <a:p>
                      <a:pPr algn="ct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364027">
                <a:tc>
                  <a:txBody>
                    <a:bodyPr/>
                    <a:lstStyle/>
                    <a:p>
                      <a:pPr algn="ct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3291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24" name="TextBox 23">
            <a:extLst>
              <a:ext uri="{FF2B5EF4-FFF2-40B4-BE49-F238E27FC236}">
                <a16:creationId xmlns:a16="http://schemas.microsoft.com/office/drawing/2014/main" id="{3590563F-F1CC-5C38-E3B5-C2DE365C564D}"/>
              </a:ext>
            </a:extLst>
          </p:cNvPr>
          <p:cNvSpPr txBox="1"/>
          <p:nvPr/>
        </p:nvSpPr>
        <p:spPr>
          <a:xfrm>
            <a:off x="2617262" y="2246708"/>
            <a:ext cx="2648155" cy="369332"/>
          </a:xfrm>
          <a:prstGeom prst="rect">
            <a:avLst/>
          </a:prstGeom>
          <a:noFill/>
        </p:spPr>
        <p:txBody>
          <a:bodyPr wrap="square" rtlCol="0">
            <a:spAutoFit/>
          </a:bodyPr>
          <a:lstStyle/>
          <a:p>
            <a:pPr algn="ctr"/>
            <a:r>
              <a:rPr lang="en-US" i="1" dirty="0"/>
              <a:t>DRAM Rows</a:t>
            </a:r>
          </a:p>
        </p:txBody>
      </p:sp>
      <p:sp>
        <p:nvSpPr>
          <p:cNvPr id="25" name="TextBox 24">
            <a:extLst>
              <a:ext uri="{FF2B5EF4-FFF2-40B4-BE49-F238E27FC236}">
                <a16:creationId xmlns:a16="http://schemas.microsoft.com/office/drawing/2014/main" id="{4A1CEAFF-56B5-055D-3CD7-C1875FF5225E}"/>
              </a:ext>
            </a:extLst>
          </p:cNvPr>
          <p:cNvSpPr txBox="1"/>
          <p:nvPr/>
        </p:nvSpPr>
        <p:spPr>
          <a:xfrm>
            <a:off x="4646896" y="2234520"/>
            <a:ext cx="2648155" cy="369332"/>
          </a:xfrm>
          <a:prstGeom prst="rect">
            <a:avLst/>
          </a:prstGeom>
          <a:noFill/>
        </p:spPr>
        <p:txBody>
          <a:bodyPr wrap="square" rtlCol="0">
            <a:spAutoFit/>
          </a:bodyPr>
          <a:lstStyle/>
          <a:p>
            <a:pPr algn="ctr"/>
            <a:r>
              <a:rPr lang="en-US" i="1" dirty="0" err="1"/>
              <a:t>Ctrs</a:t>
            </a:r>
            <a:endParaRPr lang="en-US" i="1" dirty="0"/>
          </a:p>
        </p:txBody>
      </p:sp>
      <p:sp>
        <p:nvSpPr>
          <p:cNvPr id="31" name="Speech Bubble: Rectangle with Corners Rounded 30">
            <a:extLst>
              <a:ext uri="{FF2B5EF4-FFF2-40B4-BE49-F238E27FC236}">
                <a16:creationId xmlns:a16="http://schemas.microsoft.com/office/drawing/2014/main" id="{58FE2124-EA47-B70C-0C95-E3EDDA3908BE}"/>
              </a:ext>
            </a:extLst>
          </p:cNvPr>
          <p:cNvSpPr/>
          <p:nvPr/>
        </p:nvSpPr>
        <p:spPr>
          <a:xfrm flipH="1">
            <a:off x="317263" y="1154399"/>
            <a:ext cx="2968552" cy="612648"/>
          </a:xfrm>
          <a:prstGeom prst="wedgeRoundRectCallout">
            <a:avLst>
              <a:gd name="adj1" fmla="val -3682"/>
              <a:gd name="adj2" fmla="val 83720"/>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10101001</a:t>
            </a:r>
          </a:p>
        </p:txBody>
      </p:sp>
      <p:sp>
        <p:nvSpPr>
          <p:cNvPr id="32" name="TextBox 31">
            <a:extLst>
              <a:ext uri="{FF2B5EF4-FFF2-40B4-BE49-F238E27FC236}">
                <a16:creationId xmlns:a16="http://schemas.microsoft.com/office/drawing/2014/main" id="{D4CFBA02-8F6D-2E1E-0505-61F020B09FF6}"/>
              </a:ext>
            </a:extLst>
          </p:cNvPr>
          <p:cNvSpPr txBox="1"/>
          <p:nvPr/>
        </p:nvSpPr>
        <p:spPr>
          <a:xfrm>
            <a:off x="3386566" y="900366"/>
            <a:ext cx="2648155" cy="1015663"/>
          </a:xfrm>
          <a:prstGeom prst="rect">
            <a:avLst/>
          </a:prstGeom>
          <a:noFill/>
        </p:spPr>
        <p:txBody>
          <a:bodyPr wrap="square" rtlCol="0">
            <a:spAutoFit/>
          </a:bodyPr>
          <a:lstStyle/>
          <a:p>
            <a:pPr algn="ctr"/>
            <a:r>
              <a:rPr lang="en-US" sz="2000" b="1" i="1" dirty="0">
                <a:latin typeface="+mj-lt"/>
              </a:rPr>
              <a:t>Encoding</a:t>
            </a:r>
            <a:br>
              <a:rPr lang="en-US" sz="2000" i="1" dirty="0">
                <a:latin typeface="+mj-lt"/>
              </a:rPr>
            </a:br>
            <a:r>
              <a:rPr lang="en-US" sz="2000" i="1" dirty="0">
                <a:latin typeface="+mj-lt"/>
              </a:rPr>
              <a:t>logic-1: back-off </a:t>
            </a:r>
          </a:p>
          <a:p>
            <a:pPr algn="ctr"/>
            <a:r>
              <a:rPr lang="en-US" sz="2000" i="1" dirty="0">
                <a:latin typeface="+mj-lt"/>
              </a:rPr>
              <a:t>logic-0: no-back-off</a:t>
            </a:r>
          </a:p>
        </p:txBody>
      </p:sp>
      <p:sp>
        <p:nvSpPr>
          <p:cNvPr id="35" name="TextBox 34">
            <a:extLst>
              <a:ext uri="{FF2B5EF4-FFF2-40B4-BE49-F238E27FC236}">
                <a16:creationId xmlns:a16="http://schemas.microsoft.com/office/drawing/2014/main" id="{882C9C1A-E7B4-AD71-2151-43902AEF321D}"/>
              </a:ext>
            </a:extLst>
          </p:cNvPr>
          <p:cNvSpPr txBox="1"/>
          <p:nvPr/>
        </p:nvSpPr>
        <p:spPr>
          <a:xfrm>
            <a:off x="3377566" y="5993840"/>
            <a:ext cx="2657155" cy="369332"/>
          </a:xfrm>
          <a:prstGeom prst="rect">
            <a:avLst/>
          </a:prstGeom>
          <a:noFill/>
        </p:spPr>
        <p:txBody>
          <a:bodyPr wrap="square" rtlCol="0">
            <a:spAutoFit/>
          </a:bodyPr>
          <a:lstStyle/>
          <a:p>
            <a:pPr algn="ctr"/>
            <a:r>
              <a:rPr lang="en-US" i="1" dirty="0"/>
              <a:t>Transmission Windows</a:t>
            </a:r>
          </a:p>
        </p:txBody>
      </p:sp>
      <p:cxnSp>
        <p:nvCxnSpPr>
          <p:cNvPr id="39" name="Straight Connector 38">
            <a:extLst>
              <a:ext uri="{FF2B5EF4-FFF2-40B4-BE49-F238E27FC236}">
                <a16:creationId xmlns:a16="http://schemas.microsoft.com/office/drawing/2014/main" id="{174B328B-22D9-DD82-197D-51D7DEFCDD27}"/>
              </a:ext>
            </a:extLst>
          </p:cNvPr>
          <p:cNvCxnSpPr>
            <a:cxnSpLocks/>
          </p:cNvCxnSpPr>
          <p:nvPr/>
        </p:nvCxnSpPr>
        <p:spPr>
          <a:xfrm>
            <a:off x="116141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7E6D33E-C464-DD70-099A-3B139D2785A2}"/>
              </a:ext>
            </a:extLst>
          </p:cNvPr>
          <p:cNvCxnSpPr>
            <a:cxnSpLocks/>
          </p:cNvCxnSpPr>
          <p:nvPr/>
        </p:nvCxnSpPr>
        <p:spPr>
          <a:xfrm>
            <a:off x="335828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BAE484D-7206-4DC5-69CC-751CDCC4245B}"/>
              </a:ext>
            </a:extLst>
          </p:cNvPr>
          <p:cNvCxnSpPr>
            <a:cxnSpLocks/>
          </p:cNvCxnSpPr>
          <p:nvPr/>
        </p:nvCxnSpPr>
        <p:spPr>
          <a:xfrm>
            <a:off x="555515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12C9720-4001-39AA-BED4-BF0F403337CC}"/>
              </a:ext>
            </a:extLst>
          </p:cNvPr>
          <p:cNvCxnSpPr>
            <a:cxnSpLocks/>
          </p:cNvCxnSpPr>
          <p:nvPr/>
        </p:nvCxnSpPr>
        <p:spPr>
          <a:xfrm>
            <a:off x="7752029"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9DA28A8-334A-1B37-9F4E-4466865C1DCA}"/>
              </a:ext>
            </a:extLst>
          </p:cNvPr>
          <p:cNvSpPr txBox="1"/>
          <p:nvPr/>
        </p:nvSpPr>
        <p:spPr>
          <a:xfrm>
            <a:off x="133004" y="4608351"/>
            <a:ext cx="3010761" cy="369332"/>
          </a:xfrm>
          <a:prstGeom prst="rect">
            <a:avLst/>
          </a:prstGeom>
          <a:noFill/>
        </p:spPr>
        <p:txBody>
          <a:bodyPr wrap="none" rtlCol="0">
            <a:spAutoFit/>
          </a:bodyPr>
          <a:lstStyle/>
          <a:p>
            <a:r>
              <a:rPr lang="en-US" dirty="0"/>
              <a:t>Only 1 bit will be transmitted</a:t>
            </a:r>
          </a:p>
        </p:txBody>
      </p:sp>
      <p:cxnSp>
        <p:nvCxnSpPr>
          <p:cNvPr id="46" name="Connector: Curved 45">
            <a:extLst>
              <a:ext uri="{FF2B5EF4-FFF2-40B4-BE49-F238E27FC236}">
                <a16:creationId xmlns:a16="http://schemas.microsoft.com/office/drawing/2014/main" id="{53FD4820-50AB-57C3-9D4C-AEBCD9472838}"/>
              </a:ext>
            </a:extLst>
          </p:cNvPr>
          <p:cNvCxnSpPr>
            <a:cxnSpLocks/>
          </p:cNvCxnSpPr>
          <p:nvPr/>
        </p:nvCxnSpPr>
        <p:spPr>
          <a:xfrm rot="16200000" flipH="1">
            <a:off x="1010379" y="4980563"/>
            <a:ext cx="423419" cy="268689"/>
          </a:xfrm>
          <a:prstGeom prst="curvedConnector3">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812393B-E6ED-FFE3-A179-CA4240125A49}"/>
              </a:ext>
            </a:extLst>
          </p:cNvPr>
          <p:cNvCxnSpPr>
            <a:cxnSpLocks/>
          </p:cNvCxnSpPr>
          <p:nvPr/>
        </p:nvCxnSpPr>
        <p:spPr>
          <a:xfrm>
            <a:off x="910066" y="5985173"/>
            <a:ext cx="7592154"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63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p:bldP spid="24" grpId="0"/>
      <p:bldP spid="25" grpId="0"/>
      <p:bldP spid="31" grpId="0" animBg="1"/>
      <p:bldP spid="32" grpId="0"/>
      <p:bldP spid="35" grpId="0"/>
      <p:bldP spid="4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83D52-458D-9D71-BD4F-5B54868D0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2F1A1-028A-D7C4-F48E-423DEA59175B}"/>
              </a:ext>
            </a:extLst>
          </p:cNvPr>
          <p:cNvSpPr>
            <a:spLocks noGrp="1"/>
          </p:cNvSpPr>
          <p:nvPr>
            <p:ph type="title"/>
          </p:nvPr>
        </p:nvSpPr>
        <p:spPr/>
        <p:txBody>
          <a:bodyPr/>
          <a:lstStyle/>
          <a:p>
            <a:r>
              <a:rPr lang="en-US" dirty="0"/>
              <a:t>PRAC-Based Covert Channel:</a:t>
            </a:r>
            <a:br>
              <a:rPr lang="en-US" dirty="0"/>
            </a:br>
            <a:r>
              <a:rPr lang="en-US" dirty="0"/>
              <a:t>Attack Overview</a:t>
            </a:r>
          </a:p>
        </p:txBody>
      </p:sp>
      <p:sp>
        <p:nvSpPr>
          <p:cNvPr id="3" name="Content Placeholder 2">
            <a:extLst>
              <a:ext uri="{FF2B5EF4-FFF2-40B4-BE49-F238E27FC236}">
                <a16:creationId xmlns:a16="http://schemas.microsoft.com/office/drawing/2014/main" id="{9ABA5C14-6792-681A-F232-1846D25CBE50}"/>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7C1D7533-F59D-FB80-BC89-2E089A786014}"/>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5A7B7630-2026-35B8-55A7-97D354F051B1}"/>
              </a:ext>
            </a:extLst>
          </p:cNvPr>
          <p:cNvSpPr>
            <a:spLocks noGrp="1"/>
          </p:cNvSpPr>
          <p:nvPr>
            <p:ph type="sldNum" sz="quarter" idx="12"/>
          </p:nvPr>
        </p:nvSpPr>
        <p:spPr/>
        <p:txBody>
          <a:bodyPr/>
          <a:lstStyle/>
          <a:p>
            <a:fld id="{CBE5B309-C2CE-4D90-B104-F7E98438FC65}" type="slidenum">
              <a:rPr lang="tr-TR" smtClean="0"/>
              <a:pPr/>
              <a:t>65</a:t>
            </a:fld>
            <a:endParaRPr lang="tr-TR" dirty="0"/>
          </a:p>
        </p:txBody>
      </p:sp>
      <p:grpSp>
        <p:nvGrpSpPr>
          <p:cNvPr id="22" name="Group 21">
            <a:extLst>
              <a:ext uri="{FF2B5EF4-FFF2-40B4-BE49-F238E27FC236}">
                <a16:creationId xmlns:a16="http://schemas.microsoft.com/office/drawing/2014/main" id="{1E60D7F6-56D9-3238-84B0-E69E0B33C33D}"/>
              </a:ext>
            </a:extLst>
          </p:cNvPr>
          <p:cNvGrpSpPr/>
          <p:nvPr/>
        </p:nvGrpSpPr>
        <p:grpSpPr>
          <a:xfrm>
            <a:off x="619450" y="1952088"/>
            <a:ext cx="1520607" cy="2108546"/>
            <a:chOff x="619450" y="1609725"/>
            <a:chExt cx="1520607" cy="2108546"/>
          </a:xfrm>
        </p:grpSpPr>
        <p:sp>
          <p:nvSpPr>
            <p:cNvPr id="19" name="Oval 18">
              <a:extLst>
                <a:ext uri="{FF2B5EF4-FFF2-40B4-BE49-F238E27FC236}">
                  <a16:creationId xmlns:a16="http://schemas.microsoft.com/office/drawing/2014/main" id="{F812BA73-6070-4DEC-E7CA-E023FB9013AF}"/>
                </a:ext>
              </a:extLst>
            </p:cNvPr>
            <p:cNvSpPr/>
            <p:nvPr/>
          </p:nvSpPr>
          <p:spPr>
            <a:xfrm>
              <a:off x="619450" y="1826054"/>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A2713B2-C19F-A5AA-D343-844F90C70003}"/>
                </a:ext>
              </a:extLst>
            </p:cNvPr>
            <p:cNvGrpSpPr/>
            <p:nvPr/>
          </p:nvGrpSpPr>
          <p:grpSpPr>
            <a:xfrm>
              <a:off x="717708" y="1609725"/>
              <a:ext cx="1317430" cy="2108546"/>
              <a:chOff x="717708" y="1609725"/>
              <a:chExt cx="1317430" cy="2108546"/>
            </a:xfrm>
          </p:grpSpPr>
          <p:pic>
            <p:nvPicPr>
              <p:cNvPr id="9" name="Graphic 8" descr="Old woman wearing lightning shirt">
                <a:extLst>
                  <a:ext uri="{FF2B5EF4-FFF2-40B4-BE49-F238E27FC236}">
                    <a16:creationId xmlns:a16="http://schemas.microsoft.com/office/drawing/2014/main" id="{3C7784DA-9B4D-BC61-0D3E-6840F8A89E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873" y="1609725"/>
                <a:ext cx="1181100" cy="1819275"/>
              </a:xfrm>
              <a:prstGeom prst="rect">
                <a:avLst/>
              </a:prstGeom>
            </p:spPr>
          </p:pic>
          <p:sp>
            <p:nvSpPr>
              <p:cNvPr id="11" name="TextBox 10">
                <a:extLst>
                  <a:ext uri="{FF2B5EF4-FFF2-40B4-BE49-F238E27FC236}">
                    <a16:creationId xmlns:a16="http://schemas.microsoft.com/office/drawing/2014/main" id="{46E5AC4A-A647-92EC-287C-14371E56B22C}"/>
                  </a:ext>
                </a:extLst>
              </p:cNvPr>
              <p:cNvSpPr txBox="1"/>
              <p:nvPr/>
            </p:nvSpPr>
            <p:spPr>
              <a:xfrm>
                <a:off x="717708" y="3346661"/>
                <a:ext cx="1317430" cy="371610"/>
              </a:xfrm>
              <a:prstGeom prst="rect">
                <a:avLst/>
              </a:prstGeom>
              <a:noFill/>
            </p:spPr>
            <p:txBody>
              <a:bodyPr wrap="square" rtlCol="0">
                <a:spAutoFit/>
              </a:bodyPr>
              <a:lstStyle/>
              <a:p>
                <a:pPr algn="ctr"/>
                <a:r>
                  <a:rPr lang="en-US" b="1" i="1" dirty="0">
                    <a:solidFill>
                      <a:srgbClr val="6D40DC"/>
                    </a:solidFill>
                  </a:rPr>
                  <a:t>Sender</a:t>
                </a:r>
              </a:p>
            </p:txBody>
          </p:sp>
        </p:grpSp>
      </p:grpSp>
      <p:grpSp>
        <p:nvGrpSpPr>
          <p:cNvPr id="21" name="Group 20">
            <a:extLst>
              <a:ext uri="{FF2B5EF4-FFF2-40B4-BE49-F238E27FC236}">
                <a16:creationId xmlns:a16="http://schemas.microsoft.com/office/drawing/2014/main" id="{AA85C8C8-8955-9ADB-54CA-7E9618E0A18B}"/>
              </a:ext>
            </a:extLst>
          </p:cNvPr>
          <p:cNvGrpSpPr/>
          <p:nvPr/>
        </p:nvGrpSpPr>
        <p:grpSpPr>
          <a:xfrm>
            <a:off x="6981613" y="2742991"/>
            <a:ext cx="1520607" cy="2023240"/>
            <a:chOff x="6981613" y="1695031"/>
            <a:chExt cx="1520607" cy="2023240"/>
          </a:xfrm>
        </p:grpSpPr>
        <p:sp>
          <p:nvSpPr>
            <p:cNvPr id="20" name="Oval 19">
              <a:extLst>
                <a:ext uri="{FF2B5EF4-FFF2-40B4-BE49-F238E27FC236}">
                  <a16:creationId xmlns:a16="http://schemas.microsoft.com/office/drawing/2014/main" id="{596903D0-574A-BC7C-B62E-E0C0BFBA75D9}"/>
                </a:ext>
              </a:extLst>
            </p:cNvPr>
            <p:cNvSpPr/>
            <p:nvPr/>
          </p:nvSpPr>
          <p:spPr>
            <a:xfrm>
              <a:off x="6981613" y="1863804"/>
              <a:ext cx="1520607" cy="1520607"/>
            </a:xfrm>
            <a:prstGeom prst="ellipse">
              <a:avLst/>
            </a:prstGeom>
            <a:solidFill>
              <a:srgbClr val="B3195F"/>
            </a:solidFill>
            <a:ln>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9097A95-AAC3-F23F-DD07-078B12C45BC7}"/>
                </a:ext>
              </a:extLst>
            </p:cNvPr>
            <p:cNvGrpSpPr/>
            <p:nvPr/>
          </p:nvGrpSpPr>
          <p:grpSpPr>
            <a:xfrm>
              <a:off x="7108862" y="1695031"/>
              <a:ext cx="1317430" cy="2023240"/>
              <a:chOff x="7239179" y="1647824"/>
              <a:chExt cx="1317430" cy="2023240"/>
            </a:xfrm>
          </p:grpSpPr>
          <p:pic>
            <p:nvPicPr>
              <p:cNvPr id="7" name="Graphic 6" descr="Man in glasses wearing turtleneck">
                <a:extLst>
                  <a:ext uri="{FF2B5EF4-FFF2-40B4-BE49-F238E27FC236}">
                    <a16:creationId xmlns:a16="http://schemas.microsoft.com/office/drawing/2014/main" id="{ABAF2676-1E76-D5BF-739C-838C98B435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261209" y="1647824"/>
                <a:ext cx="1295400" cy="1743075"/>
              </a:xfrm>
              <a:prstGeom prst="rect">
                <a:avLst/>
              </a:prstGeom>
            </p:spPr>
          </p:pic>
          <p:sp>
            <p:nvSpPr>
              <p:cNvPr id="12" name="TextBox 11">
                <a:extLst>
                  <a:ext uri="{FF2B5EF4-FFF2-40B4-BE49-F238E27FC236}">
                    <a16:creationId xmlns:a16="http://schemas.microsoft.com/office/drawing/2014/main" id="{1E2E8B73-0F50-9A38-C8D4-E19F73530494}"/>
                  </a:ext>
                </a:extLst>
              </p:cNvPr>
              <p:cNvSpPr txBox="1"/>
              <p:nvPr/>
            </p:nvSpPr>
            <p:spPr>
              <a:xfrm>
                <a:off x="7239179" y="3299454"/>
                <a:ext cx="1317430" cy="371610"/>
              </a:xfrm>
              <a:prstGeom prst="rect">
                <a:avLst/>
              </a:prstGeom>
              <a:noFill/>
            </p:spPr>
            <p:txBody>
              <a:bodyPr wrap="square" rtlCol="0">
                <a:spAutoFit/>
              </a:bodyPr>
              <a:lstStyle/>
              <a:p>
                <a:pPr algn="ctr"/>
                <a:r>
                  <a:rPr lang="en-US" b="1" i="1" dirty="0">
                    <a:solidFill>
                      <a:srgbClr val="B3195F"/>
                    </a:solidFill>
                  </a:rPr>
                  <a:t>Receiver</a:t>
                </a:r>
              </a:p>
            </p:txBody>
          </p:sp>
        </p:grpSp>
      </p:grpSp>
      <p:sp>
        <p:nvSpPr>
          <p:cNvPr id="15" name="Rectangle: Rounded Corners 14">
            <a:extLst>
              <a:ext uri="{FF2B5EF4-FFF2-40B4-BE49-F238E27FC236}">
                <a16:creationId xmlns:a16="http://schemas.microsoft.com/office/drawing/2014/main" id="{2CAA4EF7-AF4F-D11E-4270-F85796B40B68}"/>
              </a:ext>
            </a:extLst>
          </p:cNvPr>
          <p:cNvSpPr/>
          <p:nvPr/>
        </p:nvSpPr>
        <p:spPr>
          <a:xfrm>
            <a:off x="2444178" y="2204019"/>
            <a:ext cx="4303314" cy="2177434"/>
          </a:xfrm>
          <a:prstGeom prst="roundRect">
            <a:avLst>
              <a:gd name="adj" fmla="val 3069"/>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A831BBAD-AC15-E4F1-BDFB-BEB4A14808D8}"/>
              </a:ext>
            </a:extLst>
          </p:cNvPr>
          <p:cNvGraphicFramePr>
            <a:graphicFrameLocks noGrp="1"/>
          </p:cNvGraphicFramePr>
          <p:nvPr/>
        </p:nvGraphicFramePr>
        <p:xfrm>
          <a:off x="2617262" y="2568380"/>
          <a:ext cx="2648155" cy="109728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246091">
                <a:tc>
                  <a:txBody>
                    <a:bodyPr/>
                    <a:lstStyle/>
                    <a:p>
                      <a:pPr algn="ctr"/>
                      <a:r>
                        <a:rPr lang="en-US" i="1" dirty="0" err="1">
                          <a:solidFill>
                            <a:srgbClr val="6D40DC"/>
                          </a:solidFill>
                        </a:rPr>
                        <a:t>R</a:t>
                      </a:r>
                      <a:r>
                        <a:rPr lang="en-US" i="1" baseline="-25000" dirty="0" err="1">
                          <a:solidFill>
                            <a:srgbClr val="6D40DC"/>
                          </a:solidFill>
                        </a:rPr>
                        <a:t>Sender</a:t>
                      </a: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246091">
                <a:tc>
                  <a:txBody>
                    <a:bodyPr/>
                    <a:lstStyle/>
                    <a:p>
                      <a:pPr algn="ctr"/>
                      <a:r>
                        <a:rPr lang="en-US" i="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err="1">
                          <a:solidFill>
                            <a:srgbClr val="B3195F"/>
                          </a:solidFill>
                        </a:rPr>
                        <a:t>R</a:t>
                      </a:r>
                      <a:r>
                        <a:rPr lang="en-US" i="1" baseline="-25000" dirty="0" err="1">
                          <a:solidFill>
                            <a:srgbClr val="B3195F"/>
                          </a:solidFill>
                        </a:rPr>
                        <a:t>Receiver</a:t>
                      </a: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17" name="TextBox 16">
            <a:extLst>
              <a:ext uri="{FF2B5EF4-FFF2-40B4-BE49-F238E27FC236}">
                <a16:creationId xmlns:a16="http://schemas.microsoft.com/office/drawing/2014/main" id="{70BCDDD1-7084-1800-8AB2-20D4EC0B06D1}"/>
              </a:ext>
            </a:extLst>
          </p:cNvPr>
          <p:cNvSpPr txBox="1"/>
          <p:nvPr/>
        </p:nvSpPr>
        <p:spPr>
          <a:xfrm>
            <a:off x="2444179" y="1863804"/>
            <a:ext cx="4303314" cy="381361"/>
          </a:xfrm>
          <a:prstGeom prst="rect">
            <a:avLst/>
          </a:prstGeom>
          <a:noFill/>
        </p:spPr>
        <p:txBody>
          <a:bodyPr wrap="square" rtlCol="0">
            <a:spAutoFit/>
          </a:bodyPr>
          <a:lstStyle/>
          <a:p>
            <a:pPr algn="ctr"/>
            <a:r>
              <a:rPr lang="en-US" i="1" dirty="0">
                <a:solidFill>
                  <a:srgbClr val="FF5F25"/>
                </a:solidFill>
              </a:rPr>
              <a:t>DRAM Bank</a:t>
            </a:r>
          </a:p>
        </p:txBody>
      </p:sp>
      <p:graphicFrame>
        <p:nvGraphicFramePr>
          <p:cNvPr id="18" name="Table 17">
            <a:extLst>
              <a:ext uri="{FF2B5EF4-FFF2-40B4-BE49-F238E27FC236}">
                <a16:creationId xmlns:a16="http://schemas.microsoft.com/office/drawing/2014/main" id="{016E4840-71C0-1349-EFC9-67C8F41C58AA}"/>
              </a:ext>
            </a:extLst>
          </p:cNvPr>
          <p:cNvGraphicFramePr>
            <a:graphicFrameLocks noGrp="1"/>
          </p:cNvGraphicFramePr>
          <p:nvPr/>
        </p:nvGraphicFramePr>
        <p:xfrm>
          <a:off x="2617262" y="3781547"/>
          <a:ext cx="2648155" cy="36576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0">
                <a:tc>
                  <a:txBody>
                    <a:bodyPr/>
                    <a:lstStyle/>
                    <a:p>
                      <a:pPr algn="ctr"/>
                      <a:r>
                        <a:rPr lang="en-US" i="1" dirty="0"/>
                        <a:t>Row Buffer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aphicFrame>
        <p:nvGraphicFramePr>
          <p:cNvPr id="23" name="Table 22">
            <a:extLst>
              <a:ext uri="{FF2B5EF4-FFF2-40B4-BE49-F238E27FC236}">
                <a16:creationId xmlns:a16="http://schemas.microsoft.com/office/drawing/2014/main" id="{A4903A2C-F39A-A4E0-C42C-88E003B641CF}"/>
              </a:ext>
            </a:extLst>
          </p:cNvPr>
          <p:cNvGraphicFramePr>
            <a:graphicFrameLocks noGrp="1"/>
          </p:cNvGraphicFramePr>
          <p:nvPr/>
        </p:nvGraphicFramePr>
        <p:xfrm>
          <a:off x="5363467" y="2568379"/>
          <a:ext cx="1215014" cy="1061237"/>
        </p:xfrm>
        <a:graphic>
          <a:graphicData uri="http://schemas.openxmlformats.org/drawingml/2006/table">
            <a:tbl>
              <a:tblPr bandRow="1">
                <a:tableStyleId>{69012ECD-51FC-41F1-AA8D-1B2483CD663E}</a:tableStyleId>
              </a:tblPr>
              <a:tblGrid>
                <a:gridCol w="1215014">
                  <a:extLst>
                    <a:ext uri="{9D8B030D-6E8A-4147-A177-3AD203B41FA5}">
                      <a16:colId xmlns:a16="http://schemas.microsoft.com/office/drawing/2014/main" val="2630129014"/>
                    </a:ext>
                  </a:extLst>
                </a:gridCol>
              </a:tblGrid>
              <a:tr h="368026">
                <a:tc>
                  <a:txBody>
                    <a:bodyPr/>
                    <a:lstStyle/>
                    <a:p>
                      <a:pPr algn="ct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364027">
                <a:tc>
                  <a:txBody>
                    <a:bodyPr/>
                    <a:lstStyle/>
                    <a:p>
                      <a:pPr algn="ct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3291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24" name="TextBox 23">
            <a:extLst>
              <a:ext uri="{FF2B5EF4-FFF2-40B4-BE49-F238E27FC236}">
                <a16:creationId xmlns:a16="http://schemas.microsoft.com/office/drawing/2014/main" id="{125F6B8F-F309-E8CD-E823-7052EE49A5F4}"/>
              </a:ext>
            </a:extLst>
          </p:cNvPr>
          <p:cNvSpPr txBox="1"/>
          <p:nvPr/>
        </p:nvSpPr>
        <p:spPr>
          <a:xfrm>
            <a:off x="2617262" y="2246708"/>
            <a:ext cx="2648155" cy="369332"/>
          </a:xfrm>
          <a:prstGeom prst="rect">
            <a:avLst/>
          </a:prstGeom>
          <a:noFill/>
        </p:spPr>
        <p:txBody>
          <a:bodyPr wrap="square" rtlCol="0">
            <a:spAutoFit/>
          </a:bodyPr>
          <a:lstStyle/>
          <a:p>
            <a:pPr algn="ctr"/>
            <a:r>
              <a:rPr lang="en-US" i="1" dirty="0"/>
              <a:t>DRAM Rows</a:t>
            </a:r>
          </a:p>
        </p:txBody>
      </p:sp>
      <p:sp>
        <p:nvSpPr>
          <p:cNvPr id="25" name="TextBox 24">
            <a:extLst>
              <a:ext uri="{FF2B5EF4-FFF2-40B4-BE49-F238E27FC236}">
                <a16:creationId xmlns:a16="http://schemas.microsoft.com/office/drawing/2014/main" id="{1F1641F6-5FAE-0AD3-F837-6F60EAB47B71}"/>
              </a:ext>
            </a:extLst>
          </p:cNvPr>
          <p:cNvSpPr txBox="1"/>
          <p:nvPr/>
        </p:nvSpPr>
        <p:spPr>
          <a:xfrm>
            <a:off x="4646896" y="2234520"/>
            <a:ext cx="2648155" cy="369332"/>
          </a:xfrm>
          <a:prstGeom prst="rect">
            <a:avLst/>
          </a:prstGeom>
          <a:noFill/>
        </p:spPr>
        <p:txBody>
          <a:bodyPr wrap="square" rtlCol="0">
            <a:spAutoFit/>
          </a:bodyPr>
          <a:lstStyle/>
          <a:p>
            <a:pPr algn="ctr"/>
            <a:r>
              <a:rPr lang="en-US" i="1" dirty="0" err="1"/>
              <a:t>Ctrs</a:t>
            </a:r>
            <a:endParaRPr lang="en-US" i="1" dirty="0"/>
          </a:p>
        </p:txBody>
      </p:sp>
      <p:sp>
        <p:nvSpPr>
          <p:cNvPr id="31" name="Speech Bubble: Rectangle with Corners Rounded 30">
            <a:extLst>
              <a:ext uri="{FF2B5EF4-FFF2-40B4-BE49-F238E27FC236}">
                <a16:creationId xmlns:a16="http://schemas.microsoft.com/office/drawing/2014/main" id="{5F276B67-A2FA-38C9-A0CC-F238E892371F}"/>
              </a:ext>
            </a:extLst>
          </p:cNvPr>
          <p:cNvSpPr/>
          <p:nvPr/>
        </p:nvSpPr>
        <p:spPr>
          <a:xfrm flipH="1">
            <a:off x="6318161" y="1294584"/>
            <a:ext cx="2648155" cy="741075"/>
          </a:xfrm>
          <a:prstGeom prst="wedgeRoundRectCallout">
            <a:avLst>
              <a:gd name="adj1" fmla="val -9582"/>
              <a:gd name="adj2" fmla="val 120869"/>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Loop: </a:t>
            </a:r>
            <a:br>
              <a:rPr lang="en-US" dirty="0">
                <a:solidFill>
                  <a:schemeClr val="tx1"/>
                </a:solidFill>
              </a:rPr>
            </a:br>
            <a:r>
              <a:rPr lang="en-US" dirty="0">
                <a:solidFill>
                  <a:schemeClr val="tx1"/>
                </a:solidFill>
              </a:rPr>
              <a:t>		access </a:t>
            </a:r>
            <a:r>
              <a:rPr lang="en-US" dirty="0" err="1">
                <a:solidFill>
                  <a:schemeClr val="tx1"/>
                </a:solidFill>
              </a:rPr>
              <a:t>R</a:t>
            </a:r>
            <a:r>
              <a:rPr lang="en-US" baseline="-25000" dirty="0" err="1">
                <a:solidFill>
                  <a:schemeClr val="tx1"/>
                </a:solidFill>
              </a:rPr>
              <a:t>Receiver</a:t>
            </a:r>
            <a:endParaRPr lang="en-US" dirty="0">
              <a:solidFill>
                <a:schemeClr val="tx1"/>
              </a:solidFill>
            </a:endParaRPr>
          </a:p>
        </p:txBody>
      </p:sp>
      <p:sp>
        <p:nvSpPr>
          <p:cNvPr id="35" name="TextBox 34">
            <a:extLst>
              <a:ext uri="{FF2B5EF4-FFF2-40B4-BE49-F238E27FC236}">
                <a16:creationId xmlns:a16="http://schemas.microsoft.com/office/drawing/2014/main" id="{9E18EFA7-3C78-B92D-609A-2D98556ADDDE}"/>
              </a:ext>
            </a:extLst>
          </p:cNvPr>
          <p:cNvSpPr txBox="1"/>
          <p:nvPr/>
        </p:nvSpPr>
        <p:spPr>
          <a:xfrm>
            <a:off x="3377566" y="5993840"/>
            <a:ext cx="2657155" cy="369332"/>
          </a:xfrm>
          <a:prstGeom prst="rect">
            <a:avLst/>
          </a:prstGeom>
          <a:noFill/>
        </p:spPr>
        <p:txBody>
          <a:bodyPr wrap="square" rtlCol="0">
            <a:spAutoFit/>
          </a:bodyPr>
          <a:lstStyle/>
          <a:p>
            <a:pPr algn="ctr"/>
            <a:r>
              <a:rPr lang="en-US" i="1" dirty="0"/>
              <a:t>Transmission Windows</a:t>
            </a:r>
          </a:p>
        </p:txBody>
      </p:sp>
      <p:cxnSp>
        <p:nvCxnSpPr>
          <p:cNvPr id="39" name="Straight Connector 38">
            <a:extLst>
              <a:ext uri="{FF2B5EF4-FFF2-40B4-BE49-F238E27FC236}">
                <a16:creationId xmlns:a16="http://schemas.microsoft.com/office/drawing/2014/main" id="{FFF4E440-EF66-478F-9521-5AEBF9C2B7BF}"/>
              </a:ext>
            </a:extLst>
          </p:cNvPr>
          <p:cNvCxnSpPr>
            <a:cxnSpLocks/>
          </p:cNvCxnSpPr>
          <p:nvPr/>
        </p:nvCxnSpPr>
        <p:spPr>
          <a:xfrm>
            <a:off x="116141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F9A4CA4-9B76-B718-474C-BB986BEB3E1D}"/>
              </a:ext>
            </a:extLst>
          </p:cNvPr>
          <p:cNvCxnSpPr>
            <a:cxnSpLocks/>
          </p:cNvCxnSpPr>
          <p:nvPr/>
        </p:nvCxnSpPr>
        <p:spPr>
          <a:xfrm>
            <a:off x="335828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DB243AD-83B9-FE80-AFA2-863C6DED5F6D}"/>
              </a:ext>
            </a:extLst>
          </p:cNvPr>
          <p:cNvCxnSpPr>
            <a:cxnSpLocks/>
          </p:cNvCxnSpPr>
          <p:nvPr/>
        </p:nvCxnSpPr>
        <p:spPr>
          <a:xfrm>
            <a:off x="555515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687D5F2-38E9-2369-4536-29D6BA9D930A}"/>
              </a:ext>
            </a:extLst>
          </p:cNvPr>
          <p:cNvCxnSpPr>
            <a:cxnSpLocks/>
          </p:cNvCxnSpPr>
          <p:nvPr/>
        </p:nvCxnSpPr>
        <p:spPr>
          <a:xfrm>
            <a:off x="7752029"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923C21A-FA48-E336-4661-BE49A7D4F785}"/>
              </a:ext>
            </a:extLst>
          </p:cNvPr>
          <p:cNvSpPr txBox="1"/>
          <p:nvPr/>
        </p:nvSpPr>
        <p:spPr>
          <a:xfrm>
            <a:off x="133004" y="4608351"/>
            <a:ext cx="3010761" cy="369332"/>
          </a:xfrm>
          <a:prstGeom prst="rect">
            <a:avLst/>
          </a:prstGeom>
          <a:noFill/>
        </p:spPr>
        <p:txBody>
          <a:bodyPr wrap="none" rtlCol="0">
            <a:spAutoFit/>
          </a:bodyPr>
          <a:lstStyle/>
          <a:p>
            <a:r>
              <a:rPr lang="en-US" dirty="0"/>
              <a:t>Only 1 bit will be transmitted</a:t>
            </a:r>
          </a:p>
        </p:txBody>
      </p:sp>
      <p:cxnSp>
        <p:nvCxnSpPr>
          <p:cNvPr id="46" name="Connector: Curved 45">
            <a:extLst>
              <a:ext uri="{FF2B5EF4-FFF2-40B4-BE49-F238E27FC236}">
                <a16:creationId xmlns:a16="http://schemas.microsoft.com/office/drawing/2014/main" id="{BC20684F-0E98-66EC-04A0-32BD771946B2}"/>
              </a:ext>
            </a:extLst>
          </p:cNvPr>
          <p:cNvCxnSpPr>
            <a:cxnSpLocks/>
          </p:cNvCxnSpPr>
          <p:nvPr/>
        </p:nvCxnSpPr>
        <p:spPr>
          <a:xfrm rot="16200000" flipH="1">
            <a:off x="1010379" y="4980563"/>
            <a:ext cx="423419" cy="268689"/>
          </a:xfrm>
          <a:prstGeom prst="curvedConnector3">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0" name="Graphic 9" descr="Hammer with solid fill">
            <a:extLst>
              <a:ext uri="{FF2B5EF4-FFF2-40B4-BE49-F238E27FC236}">
                <a16:creationId xmlns:a16="http://schemas.microsoft.com/office/drawing/2014/main" id="{3871AC43-C6B4-9338-DDD8-B53F6286AA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957359" y="3041225"/>
            <a:ext cx="639133" cy="639133"/>
          </a:xfrm>
          <a:prstGeom prst="rect">
            <a:avLst/>
          </a:prstGeom>
        </p:spPr>
      </p:pic>
      <p:cxnSp>
        <p:nvCxnSpPr>
          <p:cNvPr id="34" name="Straight Arrow Connector 33">
            <a:extLst>
              <a:ext uri="{FF2B5EF4-FFF2-40B4-BE49-F238E27FC236}">
                <a16:creationId xmlns:a16="http://schemas.microsoft.com/office/drawing/2014/main" id="{33AF6582-1B83-B8C2-6DA3-EA7C5385DBF4}"/>
              </a:ext>
            </a:extLst>
          </p:cNvPr>
          <p:cNvCxnSpPr>
            <a:cxnSpLocks/>
          </p:cNvCxnSpPr>
          <p:nvPr/>
        </p:nvCxnSpPr>
        <p:spPr>
          <a:xfrm>
            <a:off x="910066" y="5985172"/>
            <a:ext cx="7592154"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3CFC132-6EFD-A1BE-50DB-06F42D0D177F}"/>
              </a:ext>
            </a:extLst>
          </p:cNvPr>
          <p:cNvCxnSpPr>
            <a:cxnSpLocks/>
          </p:cNvCxnSpPr>
          <p:nvPr/>
        </p:nvCxnSpPr>
        <p:spPr>
          <a:xfrm flipV="1">
            <a:off x="932456" y="4958257"/>
            <a:ext cx="0" cy="105034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AC88E3B-2BB5-4215-AEED-622ACE49C3AA}"/>
              </a:ext>
            </a:extLst>
          </p:cNvPr>
          <p:cNvSpPr txBox="1"/>
          <p:nvPr/>
        </p:nvSpPr>
        <p:spPr>
          <a:xfrm rot="16200000">
            <a:off x="-137587" y="5202234"/>
            <a:ext cx="1286037" cy="646331"/>
          </a:xfrm>
          <a:prstGeom prst="rect">
            <a:avLst/>
          </a:prstGeom>
          <a:noFill/>
        </p:spPr>
        <p:txBody>
          <a:bodyPr wrap="square" rtlCol="0">
            <a:spAutoFit/>
          </a:bodyPr>
          <a:lstStyle/>
          <a:p>
            <a:pPr algn="ctr"/>
            <a:r>
              <a:rPr lang="en-US" i="1" dirty="0" err="1"/>
              <a:t>Recv</a:t>
            </a:r>
            <a:r>
              <a:rPr lang="en-US" i="1" dirty="0"/>
              <a:t>.</a:t>
            </a:r>
          </a:p>
          <a:p>
            <a:pPr algn="ctr"/>
            <a:r>
              <a:rPr lang="en-US" i="1" dirty="0"/>
              <a:t>Latency</a:t>
            </a:r>
          </a:p>
        </p:txBody>
      </p:sp>
      <p:sp>
        <p:nvSpPr>
          <p:cNvPr id="62" name="Freeform: Shape 61">
            <a:extLst>
              <a:ext uri="{FF2B5EF4-FFF2-40B4-BE49-F238E27FC236}">
                <a16:creationId xmlns:a16="http://schemas.microsoft.com/office/drawing/2014/main" id="{510752E7-C9F9-1ABE-C800-CD489D72F4FC}"/>
              </a:ext>
            </a:extLst>
          </p:cNvPr>
          <p:cNvSpPr/>
          <p:nvPr/>
        </p:nvSpPr>
        <p:spPr>
          <a:xfrm>
            <a:off x="1251585" y="5324164"/>
            <a:ext cx="1979675" cy="418945"/>
          </a:xfrm>
          <a:custGeom>
            <a:avLst/>
            <a:gdLst>
              <a:gd name="connsiteX0" fmla="*/ 0 w 1979675"/>
              <a:gd name="connsiteY0" fmla="*/ 293370 h 302351"/>
              <a:gd name="connsiteX1" fmla="*/ 567690 w 1979675"/>
              <a:gd name="connsiteY1" fmla="*/ 293370 h 302351"/>
              <a:gd name="connsiteX2" fmla="*/ 739140 w 1979675"/>
              <a:gd name="connsiteY2" fmla="*/ 200025 h 302351"/>
              <a:gd name="connsiteX3" fmla="*/ 796290 w 1979675"/>
              <a:gd name="connsiteY3" fmla="*/ 280035 h 302351"/>
              <a:gd name="connsiteX4" fmla="*/ 922020 w 1979675"/>
              <a:gd name="connsiteY4" fmla="*/ 0 h 302351"/>
              <a:gd name="connsiteX5" fmla="*/ 1095375 w 1979675"/>
              <a:gd name="connsiteY5" fmla="*/ 278130 h 302351"/>
              <a:gd name="connsiteX6" fmla="*/ 1344930 w 1979675"/>
              <a:gd name="connsiteY6" fmla="*/ 205740 h 302351"/>
              <a:gd name="connsiteX7" fmla="*/ 1535430 w 1979675"/>
              <a:gd name="connsiteY7" fmla="*/ 264795 h 302351"/>
              <a:gd name="connsiteX8" fmla="*/ 1931670 w 1979675"/>
              <a:gd name="connsiteY8" fmla="*/ 257175 h 302351"/>
              <a:gd name="connsiteX9" fmla="*/ 1958340 w 1979675"/>
              <a:gd name="connsiteY9" fmla="*/ 255270 h 30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9675" h="302351">
                <a:moveTo>
                  <a:pt x="0" y="293370"/>
                </a:moveTo>
                <a:cubicBezTo>
                  <a:pt x="222250" y="301148"/>
                  <a:pt x="444500" y="308927"/>
                  <a:pt x="567690" y="293370"/>
                </a:cubicBezTo>
                <a:cubicBezTo>
                  <a:pt x="690880" y="277813"/>
                  <a:pt x="701040" y="202247"/>
                  <a:pt x="739140" y="200025"/>
                </a:cubicBezTo>
                <a:cubicBezTo>
                  <a:pt x="777240" y="197802"/>
                  <a:pt x="765810" y="313373"/>
                  <a:pt x="796290" y="280035"/>
                </a:cubicBezTo>
                <a:cubicBezTo>
                  <a:pt x="826770" y="246697"/>
                  <a:pt x="872173" y="317"/>
                  <a:pt x="922020" y="0"/>
                </a:cubicBezTo>
                <a:cubicBezTo>
                  <a:pt x="971867" y="-317"/>
                  <a:pt x="1024890" y="243840"/>
                  <a:pt x="1095375" y="278130"/>
                </a:cubicBezTo>
                <a:cubicBezTo>
                  <a:pt x="1165860" y="312420"/>
                  <a:pt x="1271588" y="207962"/>
                  <a:pt x="1344930" y="205740"/>
                </a:cubicBezTo>
                <a:cubicBezTo>
                  <a:pt x="1418272" y="203518"/>
                  <a:pt x="1437640" y="256222"/>
                  <a:pt x="1535430" y="264795"/>
                </a:cubicBezTo>
                <a:cubicBezTo>
                  <a:pt x="1633220" y="273368"/>
                  <a:pt x="1861185" y="258762"/>
                  <a:pt x="1931670" y="257175"/>
                </a:cubicBezTo>
                <a:cubicBezTo>
                  <a:pt x="2002155" y="255588"/>
                  <a:pt x="1980247" y="255429"/>
                  <a:pt x="1958340" y="255270"/>
                </a:cubicBezTo>
              </a:path>
            </a:pathLst>
          </a:custGeom>
          <a:noFill/>
          <a:ln w="3810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C22C71F-17EC-129B-1E1C-350FE90BAD59}"/>
              </a:ext>
            </a:extLst>
          </p:cNvPr>
          <p:cNvSpPr txBox="1"/>
          <p:nvPr/>
        </p:nvSpPr>
        <p:spPr>
          <a:xfrm>
            <a:off x="6753398" y="1622207"/>
            <a:ext cx="2301759" cy="369332"/>
          </a:xfrm>
          <a:prstGeom prst="rect">
            <a:avLst/>
          </a:prstGeom>
          <a:noFill/>
        </p:spPr>
        <p:txBody>
          <a:bodyPr wrap="square" rtlCol="0">
            <a:spAutoFit/>
          </a:bodyPr>
          <a:lstStyle/>
          <a:p>
            <a:r>
              <a:rPr lang="en-US" dirty="0">
                <a:solidFill>
                  <a:srgbClr val="B3195F"/>
                </a:solidFill>
              </a:rPr>
              <a:t>time(                                )</a:t>
            </a:r>
          </a:p>
        </p:txBody>
      </p:sp>
      <p:grpSp>
        <p:nvGrpSpPr>
          <p:cNvPr id="29" name="Group 28">
            <a:extLst>
              <a:ext uri="{FF2B5EF4-FFF2-40B4-BE49-F238E27FC236}">
                <a16:creationId xmlns:a16="http://schemas.microsoft.com/office/drawing/2014/main" id="{CF2A8097-16A4-0F0C-85E3-BF95736DEC1B}"/>
              </a:ext>
            </a:extLst>
          </p:cNvPr>
          <p:cNvGrpSpPr/>
          <p:nvPr/>
        </p:nvGrpSpPr>
        <p:grpSpPr>
          <a:xfrm>
            <a:off x="2976113" y="4608351"/>
            <a:ext cx="3679164" cy="705521"/>
            <a:chOff x="2976113" y="4608351"/>
            <a:chExt cx="3679164" cy="705521"/>
          </a:xfrm>
        </p:grpSpPr>
        <p:sp>
          <p:nvSpPr>
            <p:cNvPr id="6" name="TextBox 5">
              <a:extLst>
                <a:ext uri="{FF2B5EF4-FFF2-40B4-BE49-F238E27FC236}">
                  <a16:creationId xmlns:a16="http://schemas.microsoft.com/office/drawing/2014/main" id="{FC00B407-CE74-1224-F635-8CD3E8A526C4}"/>
                </a:ext>
              </a:extLst>
            </p:cNvPr>
            <p:cNvSpPr txBox="1"/>
            <p:nvPr/>
          </p:nvSpPr>
          <p:spPr>
            <a:xfrm>
              <a:off x="3358287" y="4608351"/>
              <a:ext cx="3296990" cy="369332"/>
            </a:xfrm>
            <a:prstGeom prst="rect">
              <a:avLst/>
            </a:prstGeom>
            <a:noFill/>
          </p:spPr>
          <p:txBody>
            <a:bodyPr wrap="square" rtlCol="0">
              <a:spAutoFit/>
            </a:bodyPr>
            <a:lstStyle/>
            <a:p>
              <a:r>
                <a:rPr lang="en-US" dirty="0">
                  <a:solidFill>
                    <a:srgbClr val="B3195F"/>
                  </a:solidFill>
                </a:rPr>
                <a:t>used to determine the bit value</a:t>
              </a:r>
            </a:p>
          </p:txBody>
        </p:sp>
        <p:sp>
          <p:nvSpPr>
            <p:cNvPr id="8" name="Freeform: Shape 7">
              <a:extLst>
                <a:ext uri="{FF2B5EF4-FFF2-40B4-BE49-F238E27FC236}">
                  <a16:creationId xmlns:a16="http://schemas.microsoft.com/office/drawing/2014/main" id="{90122D08-7251-94A0-57CE-7841DAA58A89}"/>
                </a:ext>
              </a:extLst>
            </p:cNvPr>
            <p:cNvSpPr/>
            <p:nvPr/>
          </p:nvSpPr>
          <p:spPr>
            <a:xfrm>
              <a:off x="2976113" y="4865298"/>
              <a:ext cx="340744" cy="448574"/>
            </a:xfrm>
            <a:custGeom>
              <a:avLst/>
              <a:gdLst>
                <a:gd name="connsiteX0" fmla="*/ 0 w 340744"/>
                <a:gd name="connsiteY0" fmla="*/ 448574 h 448574"/>
                <a:gd name="connsiteX1" fmla="*/ 189781 w 340744"/>
                <a:gd name="connsiteY1" fmla="*/ 112144 h 448574"/>
                <a:gd name="connsiteX2" fmla="*/ 340744 w 340744"/>
                <a:gd name="connsiteY2" fmla="*/ 0 h 448574"/>
              </a:gdLst>
              <a:ahLst/>
              <a:cxnLst>
                <a:cxn ang="0">
                  <a:pos x="connsiteX0" y="connsiteY0"/>
                </a:cxn>
                <a:cxn ang="0">
                  <a:pos x="connsiteX1" y="connsiteY1"/>
                </a:cxn>
                <a:cxn ang="0">
                  <a:pos x="connsiteX2" y="connsiteY2"/>
                </a:cxn>
              </a:cxnLst>
              <a:rect l="l" t="t" r="r" b="b"/>
              <a:pathLst>
                <a:path w="340744" h="448574">
                  <a:moveTo>
                    <a:pt x="0" y="448574"/>
                  </a:moveTo>
                  <a:cubicBezTo>
                    <a:pt x="66495" y="317740"/>
                    <a:pt x="132990" y="186906"/>
                    <a:pt x="189781" y="112144"/>
                  </a:cubicBezTo>
                  <a:cubicBezTo>
                    <a:pt x="246572" y="37382"/>
                    <a:pt x="293658" y="18691"/>
                    <a:pt x="340744" y="0"/>
                  </a:cubicBezTo>
                </a:path>
              </a:pathLst>
            </a:custGeom>
            <a:noFill/>
            <a:ln w="28575">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8464E007-28E1-2990-94D3-5F9ACD41E323}"/>
              </a:ext>
            </a:extLst>
          </p:cNvPr>
          <p:cNvSpPr txBox="1"/>
          <p:nvPr/>
        </p:nvSpPr>
        <p:spPr>
          <a:xfrm>
            <a:off x="3386566" y="900366"/>
            <a:ext cx="2648155" cy="1015663"/>
          </a:xfrm>
          <a:prstGeom prst="rect">
            <a:avLst/>
          </a:prstGeom>
          <a:noFill/>
        </p:spPr>
        <p:txBody>
          <a:bodyPr wrap="square" rtlCol="0">
            <a:spAutoFit/>
          </a:bodyPr>
          <a:lstStyle/>
          <a:p>
            <a:pPr algn="ctr"/>
            <a:r>
              <a:rPr lang="en-US" sz="2000" b="1" i="1" dirty="0">
                <a:latin typeface="+mj-lt"/>
              </a:rPr>
              <a:t>Encoding</a:t>
            </a:r>
            <a:br>
              <a:rPr lang="en-US" sz="2000" i="1" dirty="0">
                <a:latin typeface="+mj-lt"/>
              </a:rPr>
            </a:br>
            <a:r>
              <a:rPr lang="en-US" sz="2000" i="1" dirty="0">
                <a:latin typeface="+mj-lt"/>
              </a:rPr>
              <a:t>logic-1: back-off </a:t>
            </a:r>
          </a:p>
          <a:p>
            <a:pPr algn="ctr"/>
            <a:r>
              <a:rPr lang="en-US" sz="2000" i="1" dirty="0">
                <a:latin typeface="+mj-lt"/>
              </a:rPr>
              <a:t>logic-0: no-back-off</a:t>
            </a:r>
          </a:p>
        </p:txBody>
      </p:sp>
    </p:spTree>
    <p:extLst>
      <p:ext uri="{BB962C8B-B14F-4D97-AF65-F5344CB8AC3E}">
        <p14:creationId xmlns:p14="http://schemas.microsoft.com/office/powerpoint/2010/main" val="293040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8" presetClass="emph" presetSubtype="0" repeatCount="5000" autoRev="1" fill="remove" nodeType="withEffect">
                                  <p:stCondLst>
                                    <p:cond delay="0"/>
                                  </p:stCondLst>
                                  <p:childTnLst>
                                    <p:animRot by="-5400000">
                                      <p:cBhvr>
                                        <p:cTn id="10" dur="250" fill="hold"/>
                                        <p:tgtEl>
                                          <p:spTgt spid="10"/>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p:bldP spid="6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CD14-B1B4-A594-11A5-1D4890151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93A39-F31E-7181-4114-E58D9DE9B488}"/>
              </a:ext>
            </a:extLst>
          </p:cNvPr>
          <p:cNvSpPr>
            <a:spLocks noGrp="1"/>
          </p:cNvSpPr>
          <p:nvPr>
            <p:ph type="title"/>
          </p:nvPr>
        </p:nvSpPr>
        <p:spPr/>
        <p:txBody>
          <a:bodyPr/>
          <a:lstStyle/>
          <a:p>
            <a:r>
              <a:rPr lang="en-US" dirty="0"/>
              <a:t>PRAC-Based Covert Channel:</a:t>
            </a:r>
            <a:br>
              <a:rPr lang="en-US" dirty="0"/>
            </a:br>
            <a:r>
              <a:rPr lang="en-US" dirty="0"/>
              <a:t>Attack Overview</a:t>
            </a:r>
          </a:p>
        </p:txBody>
      </p:sp>
      <p:sp>
        <p:nvSpPr>
          <p:cNvPr id="3" name="Content Placeholder 2">
            <a:extLst>
              <a:ext uri="{FF2B5EF4-FFF2-40B4-BE49-F238E27FC236}">
                <a16:creationId xmlns:a16="http://schemas.microsoft.com/office/drawing/2014/main" id="{E4F827EC-7D4F-D924-04DC-3B2F915D37A3}"/>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9481180A-E132-A349-1CE8-10323C818D6F}"/>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21455A4B-F10C-1C3A-DB54-3AD05801A782}"/>
              </a:ext>
            </a:extLst>
          </p:cNvPr>
          <p:cNvSpPr>
            <a:spLocks noGrp="1"/>
          </p:cNvSpPr>
          <p:nvPr>
            <p:ph type="sldNum" sz="quarter" idx="12"/>
          </p:nvPr>
        </p:nvSpPr>
        <p:spPr/>
        <p:txBody>
          <a:bodyPr/>
          <a:lstStyle/>
          <a:p>
            <a:fld id="{CBE5B309-C2CE-4D90-B104-F7E98438FC65}" type="slidenum">
              <a:rPr lang="tr-TR" smtClean="0"/>
              <a:pPr/>
              <a:t>66</a:t>
            </a:fld>
            <a:endParaRPr lang="tr-TR" dirty="0"/>
          </a:p>
        </p:txBody>
      </p:sp>
      <p:grpSp>
        <p:nvGrpSpPr>
          <p:cNvPr id="22" name="Group 21">
            <a:extLst>
              <a:ext uri="{FF2B5EF4-FFF2-40B4-BE49-F238E27FC236}">
                <a16:creationId xmlns:a16="http://schemas.microsoft.com/office/drawing/2014/main" id="{A11DBF5F-03A7-4C8D-F202-EA284D7B970B}"/>
              </a:ext>
            </a:extLst>
          </p:cNvPr>
          <p:cNvGrpSpPr/>
          <p:nvPr/>
        </p:nvGrpSpPr>
        <p:grpSpPr>
          <a:xfrm>
            <a:off x="619450" y="1952088"/>
            <a:ext cx="1520607" cy="2108546"/>
            <a:chOff x="619450" y="1609725"/>
            <a:chExt cx="1520607" cy="2108546"/>
          </a:xfrm>
        </p:grpSpPr>
        <p:sp>
          <p:nvSpPr>
            <p:cNvPr id="19" name="Oval 18">
              <a:extLst>
                <a:ext uri="{FF2B5EF4-FFF2-40B4-BE49-F238E27FC236}">
                  <a16:creationId xmlns:a16="http://schemas.microsoft.com/office/drawing/2014/main" id="{43A25C2F-3EBD-3DBB-CDCA-4FDAC5FC21CD}"/>
                </a:ext>
              </a:extLst>
            </p:cNvPr>
            <p:cNvSpPr/>
            <p:nvPr/>
          </p:nvSpPr>
          <p:spPr>
            <a:xfrm>
              <a:off x="619450" y="1826054"/>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67197A5-9A62-B4A4-1F95-CCB7120D6543}"/>
                </a:ext>
              </a:extLst>
            </p:cNvPr>
            <p:cNvGrpSpPr/>
            <p:nvPr/>
          </p:nvGrpSpPr>
          <p:grpSpPr>
            <a:xfrm>
              <a:off x="717708" y="1609725"/>
              <a:ext cx="1317430" cy="2108546"/>
              <a:chOff x="717708" y="1609725"/>
              <a:chExt cx="1317430" cy="2108546"/>
            </a:xfrm>
          </p:grpSpPr>
          <p:pic>
            <p:nvPicPr>
              <p:cNvPr id="9" name="Graphic 8" descr="Old woman wearing lightning shirt">
                <a:extLst>
                  <a:ext uri="{FF2B5EF4-FFF2-40B4-BE49-F238E27FC236}">
                    <a16:creationId xmlns:a16="http://schemas.microsoft.com/office/drawing/2014/main" id="{D05EF781-FE7D-048E-9A68-9E6403F5ED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873" y="1609725"/>
                <a:ext cx="1181100" cy="1819275"/>
              </a:xfrm>
              <a:prstGeom prst="rect">
                <a:avLst/>
              </a:prstGeom>
            </p:spPr>
          </p:pic>
          <p:sp>
            <p:nvSpPr>
              <p:cNvPr id="11" name="TextBox 10">
                <a:extLst>
                  <a:ext uri="{FF2B5EF4-FFF2-40B4-BE49-F238E27FC236}">
                    <a16:creationId xmlns:a16="http://schemas.microsoft.com/office/drawing/2014/main" id="{27BB1A3F-8507-0F3F-B5F4-8ED4C1CAC32A}"/>
                  </a:ext>
                </a:extLst>
              </p:cNvPr>
              <p:cNvSpPr txBox="1"/>
              <p:nvPr/>
            </p:nvSpPr>
            <p:spPr>
              <a:xfrm>
                <a:off x="717708" y="3346661"/>
                <a:ext cx="1317430" cy="371610"/>
              </a:xfrm>
              <a:prstGeom prst="rect">
                <a:avLst/>
              </a:prstGeom>
              <a:noFill/>
            </p:spPr>
            <p:txBody>
              <a:bodyPr wrap="square" rtlCol="0">
                <a:spAutoFit/>
              </a:bodyPr>
              <a:lstStyle/>
              <a:p>
                <a:pPr algn="ctr"/>
                <a:r>
                  <a:rPr lang="en-US" b="1" i="1" dirty="0">
                    <a:solidFill>
                      <a:srgbClr val="6D40DC"/>
                    </a:solidFill>
                  </a:rPr>
                  <a:t>Sender</a:t>
                </a:r>
              </a:p>
            </p:txBody>
          </p:sp>
        </p:grpSp>
      </p:grpSp>
      <p:grpSp>
        <p:nvGrpSpPr>
          <p:cNvPr id="21" name="Group 20">
            <a:extLst>
              <a:ext uri="{FF2B5EF4-FFF2-40B4-BE49-F238E27FC236}">
                <a16:creationId xmlns:a16="http://schemas.microsoft.com/office/drawing/2014/main" id="{F078579D-1D70-B8F7-7445-05B8F97855B9}"/>
              </a:ext>
            </a:extLst>
          </p:cNvPr>
          <p:cNvGrpSpPr/>
          <p:nvPr/>
        </p:nvGrpSpPr>
        <p:grpSpPr>
          <a:xfrm>
            <a:off x="6981613" y="2742991"/>
            <a:ext cx="1520607" cy="2023240"/>
            <a:chOff x="6981613" y="1695031"/>
            <a:chExt cx="1520607" cy="2023240"/>
          </a:xfrm>
        </p:grpSpPr>
        <p:sp>
          <p:nvSpPr>
            <p:cNvPr id="20" name="Oval 19">
              <a:extLst>
                <a:ext uri="{FF2B5EF4-FFF2-40B4-BE49-F238E27FC236}">
                  <a16:creationId xmlns:a16="http://schemas.microsoft.com/office/drawing/2014/main" id="{55447B20-F07E-3087-78CC-C59566487BAF}"/>
                </a:ext>
              </a:extLst>
            </p:cNvPr>
            <p:cNvSpPr/>
            <p:nvPr/>
          </p:nvSpPr>
          <p:spPr>
            <a:xfrm>
              <a:off x="6981613" y="1863804"/>
              <a:ext cx="1520607" cy="1520607"/>
            </a:xfrm>
            <a:prstGeom prst="ellipse">
              <a:avLst/>
            </a:prstGeom>
            <a:solidFill>
              <a:srgbClr val="B3195F"/>
            </a:solidFill>
            <a:ln>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B63A8724-1699-37C8-1364-9299063CF95F}"/>
                </a:ext>
              </a:extLst>
            </p:cNvPr>
            <p:cNvGrpSpPr/>
            <p:nvPr/>
          </p:nvGrpSpPr>
          <p:grpSpPr>
            <a:xfrm>
              <a:off x="7108862" y="1695031"/>
              <a:ext cx="1317430" cy="2023240"/>
              <a:chOff x="7239179" y="1647824"/>
              <a:chExt cx="1317430" cy="2023240"/>
            </a:xfrm>
          </p:grpSpPr>
          <p:pic>
            <p:nvPicPr>
              <p:cNvPr id="7" name="Graphic 6" descr="Man in glasses wearing turtleneck">
                <a:extLst>
                  <a:ext uri="{FF2B5EF4-FFF2-40B4-BE49-F238E27FC236}">
                    <a16:creationId xmlns:a16="http://schemas.microsoft.com/office/drawing/2014/main" id="{7FCEDE0F-065C-C164-7BBF-A2E0AFC0EB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261209" y="1647824"/>
                <a:ext cx="1295400" cy="1743075"/>
              </a:xfrm>
              <a:prstGeom prst="rect">
                <a:avLst/>
              </a:prstGeom>
            </p:spPr>
          </p:pic>
          <p:sp>
            <p:nvSpPr>
              <p:cNvPr id="12" name="TextBox 11">
                <a:extLst>
                  <a:ext uri="{FF2B5EF4-FFF2-40B4-BE49-F238E27FC236}">
                    <a16:creationId xmlns:a16="http://schemas.microsoft.com/office/drawing/2014/main" id="{30E39DAE-BD4F-075E-0A39-0AB025507747}"/>
                  </a:ext>
                </a:extLst>
              </p:cNvPr>
              <p:cNvSpPr txBox="1"/>
              <p:nvPr/>
            </p:nvSpPr>
            <p:spPr>
              <a:xfrm>
                <a:off x="7239179" y="3299454"/>
                <a:ext cx="1317430" cy="371610"/>
              </a:xfrm>
              <a:prstGeom prst="rect">
                <a:avLst/>
              </a:prstGeom>
              <a:noFill/>
            </p:spPr>
            <p:txBody>
              <a:bodyPr wrap="square" rtlCol="0">
                <a:spAutoFit/>
              </a:bodyPr>
              <a:lstStyle/>
              <a:p>
                <a:pPr algn="ctr"/>
                <a:r>
                  <a:rPr lang="en-US" b="1" i="1" dirty="0">
                    <a:solidFill>
                      <a:srgbClr val="B3195F"/>
                    </a:solidFill>
                  </a:rPr>
                  <a:t>Receiver</a:t>
                </a:r>
              </a:p>
            </p:txBody>
          </p:sp>
        </p:grpSp>
      </p:grpSp>
      <p:sp>
        <p:nvSpPr>
          <p:cNvPr id="15" name="Rectangle: Rounded Corners 14">
            <a:extLst>
              <a:ext uri="{FF2B5EF4-FFF2-40B4-BE49-F238E27FC236}">
                <a16:creationId xmlns:a16="http://schemas.microsoft.com/office/drawing/2014/main" id="{ECBFBE08-86A6-E90E-8BBA-D5722EC89FDE}"/>
              </a:ext>
            </a:extLst>
          </p:cNvPr>
          <p:cNvSpPr/>
          <p:nvPr/>
        </p:nvSpPr>
        <p:spPr>
          <a:xfrm>
            <a:off x="2444178" y="2204019"/>
            <a:ext cx="4303314" cy="2177434"/>
          </a:xfrm>
          <a:prstGeom prst="roundRect">
            <a:avLst>
              <a:gd name="adj" fmla="val 3069"/>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B9151E3C-30AE-6E36-1B2F-2190023FA628}"/>
              </a:ext>
            </a:extLst>
          </p:cNvPr>
          <p:cNvGraphicFramePr>
            <a:graphicFrameLocks noGrp="1"/>
          </p:cNvGraphicFramePr>
          <p:nvPr/>
        </p:nvGraphicFramePr>
        <p:xfrm>
          <a:off x="2617262" y="2568380"/>
          <a:ext cx="2648155" cy="109728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246091">
                <a:tc>
                  <a:txBody>
                    <a:bodyPr/>
                    <a:lstStyle/>
                    <a:p>
                      <a:pPr algn="ctr"/>
                      <a:r>
                        <a:rPr lang="en-US" i="1" dirty="0" err="1">
                          <a:solidFill>
                            <a:srgbClr val="6D40DC"/>
                          </a:solidFill>
                        </a:rPr>
                        <a:t>R</a:t>
                      </a:r>
                      <a:r>
                        <a:rPr lang="en-US" i="1" baseline="-25000" dirty="0" err="1">
                          <a:solidFill>
                            <a:srgbClr val="6D40DC"/>
                          </a:solidFill>
                        </a:rPr>
                        <a:t>Sender</a:t>
                      </a: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246091">
                <a:tc>
                  <a:txBody>
                    <a:bodyPr/>
                    <a:lstStyle/>
                    <a:p>
                      <a:pPr algn="ctr"/>
                      <a:r>
                        <a:rPr lang="en-US" i="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err="1">
                          <a:solidFill>
                            <a:srgbClr val="B3195F"/>
                          </a:solidFill>
                        </a:rPr>
                        <a:t>R</a:t>
                      </a:r>
                      <a:r>
                        <a:rPr lang="en-US" i="1" baseline="-25000" dirty="0" err="1">
                          <a:solidFill>
                            <a:srgbClr val="B3195F"/>
                          </a:solidFill>
                        </a:rPr>
                        <a:t>Receiver</a:t>
                      </a: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17" name="TextBox 16">
            <a:extLst>
              <a:ext uri="{FF2B5EF4-FFF2-40B4-BE49-F238E27FC236}">
                <a16:creationId xmlns:a16="http://schemas.microsoft.com/office/drawing/2014/main" id="{1CDE0C6E-AA0E-2082-5BA9-C24ABE682290}"/>
              </a:ext>
            </a:extLst>
          </p:cNvPr>
          <p:cNvSpPr txBox="1"/>
          <p:nvPr/>
        </p:nvSpPr>
        <p:spPr>
          <a:xfrm>
            <a:off x="2444179" y="1863804"/>
            <a:ext cx="4303314" cy="381361"/>
          </a:xfrm>
          <a:prstGeom prst="rect">
            <a:avLst/>
          </a:prstGeom>
          <a:noFill/>
        </p:spPr>
        <p:txBody>
          <a:bodyPr wrap="square" rtlCol="0">
            <a:spAutoFit/>
          </a:bodyPr>
          <a:lstStyle/>
          <a:p>
            <a:pPr algn="ctr"/>
            <a:r>
              <a:rPr lang="en-US" i="1" dirty="0">
                <a:solidFill>
                  <a:srgbClr val="FF5F25"/>
                </a:solidFill>
              </a:rPr>
              <a:t>DRAM Bank</a:t>
            </a:r>
          </a:p>
        </p:txBody>
      </p:sp>
      <p:graphicFrame>
        <p:nvGraphicFramePr>
          <p:cNvPr id="18" name="Table 17">
            <a:extLst>
              <a:ext uri="{FF2B5EF4-FFF2-40B4-BE49-F238E27FC236}">
                <a16:creationId xmlns:a16="http://schemas.microsoft.com/office/drawing/2014/main" id="{5D359ABB-4B7E-0F35-6C59-4525506D5949}"/>
              </a:ext>
            </a:extLst>
          </p:cNvPr>
          <p:cNvGraphicFramePr>
            <a:graphicFrameLocks noGrp="1"/>
          </p:cNvGraphicFramePr>
          <p:nvPr/>
        </p:nvGraphicFramePr>
        <p:xfrm>
          <a:off x="2617262" y="3781547"/>
          <a:ext cx="2648155" cy="36576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0">
                <a:tc>
                  <a:txBody>
                    <a:bodyPr/>
                    <a:lstStyle/>
                    <a:p>
                      <a:pPr algn="ctr"/>
                      <a:r>
                        <a:rPr lang="en-US" i="1" dirty="0"/>
                        <a:t>Row Buffer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aphicFrame>
        <p:nvGraphicFramePr>
          <p:cNvPr id="23" name="Table 22">
            <a:extLst>
              <a:ext uri="{FF2B5EF4-FFF2-40B4-BE49-F238E27FC236}">
                <a16:creationId xmlns:a16="http://schemas.microsoft.com/office/drawing/2014/main" id="{0C55BC53-FDC4-1CF5-405E-ED85A6CE05CD}"/>
              </a:ext>
            </a:extLst>
          </p:cNvPr>
          <p:cNvGraphicFramePr>
            <a:graphicFrameLocks noGrp="1"/>
          </p:cNvGraphicFramePr>
          <p:nvPr/>
        </p:nvGraphicFramePr>
        <p:xfrm>
          <a:off x="5363467" y="2568379"/>
          <a:ext cx="1215014" cy="1061237"/>
        </p:xfrm>
        <a:graphic>
          <a:graphicData uri="http://schemas.openxmlformats.org/drawingml/2006/table">
            <a:tbl>
              <a:tblPr bandRow="1">
                <a:tableStyleId>{69012ECD-51FC-41F1-AA8D-1B2483CD663E}</a:tableStyleId>
              </a:tblPr>
              <a:tblGrid>
                <a:gridCol w="1215014">
                  <a:extLst>
                    <a:ext uri="{9D8B030D-6E8A-4147-A177-3AD203B41FA5}">
                      <a16:colId xmlns:a16="http://schemas.microsoft.com/office/drawing/2014/main" val="2630129014"/>
                    </a:ext>
                  </a:extLst>
                </a:gridCol>
              </a:tblGrid>
              <a:tr h="368026">
                <a:tc>
                  <a:txBody>
                    <a:bodyPr/>
                    <a:lstStyle/>
                    <a:p>
                      <a:pPr algn="ct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364027">
                <a:tc>
                  <a:txBody>
                    <a:bodyPr/>
                    <a:lstStyle/>
                    <a:p>
                      <a:pPr algn="ct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3291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24" name="TextBox 23">
            <a:extLst>
              <a:ext uri="{FF2B5EF4-FFF2-40B4-BE49-F238E27FC236}">
                <a16:creationId xmlns:a16="http://schemas.microsoft.com/office/drawing/2014/main" id="{3460AFEF-F524-2A8C-645F-C4459E63562E}"/>
              </a:ext>
            </a:extLst>
          </p:cNvPr>
          <p:cNvSpPr txBox="1"/>
          <p:nvPr/>
        </p:nvSpPr>
        <p:spPr>
          <a:xfrm>
            <a:off x="2617262" y="2246708"/>
            <a:ext cx="2648155" cy="369332"/>
          </a:xfrm>
          <a:prstGeom prst="rect">
            <a:avLst/>
          </a:prstGeom>
          <a:noFill/>
        </p:spPr>
        <p:txBody>
          <a:bodyPr wrap="square" rtlCol="0">
            <a:spAutoFit/>
          </a:bodyPr>
          <a:lstStyle/>
          <a:p>
            <a:pPr algn="ctr"/>
            <a:r>
              <a:rPr lang="en-US" i="1" dirty="0"/>
              <a:t>DRAM Rows</a:t>
            </a:r>
          </a:p>
        </p:txBody>
      </p:sp>
      <p:sp>
        <p:nvSpPr>
          <p:cNvPr id="25" name="TextBox 24">
            <a:extLst>
              <a:ext uri="{FF2B5EF4-FFF2-40B4-BE49-F238E27FC236}">
                <a16:creationId xmlns:a16="http://schemas.microsoft.com/office/drawing/2014/main" id="{380D6317-C68A-8D25-B23B-9CF41C1965BD}"/>
              </a:ext>
            </a:extLst>
          </p:cNvPr>
          <p:cNvSpPr txBox="1"/>
          <p:nvPr/>
        </p:nvSpPr>
        <p:spPr>
          <a:xfrm>
            <a:off x="4646896" y="2234520"/>
            <a:ext cx="2648155" cy="369332"/>
          </a:xfrm>
          <a:prstGeom prst="rect">
            <a:avLst/>
          </a:prstGeom>
          <a:noFill/>
        </p:spPr>
        <p:txBody>
          <a:bodyPr wrap="square" rtlCol="0">
            <a:spAutoFit/>
          </a:bodyPr>
          <a:lstStyle/>
          <a:p>
            <a:pPr algn="ctr"/>
            <a:r>
              <a:rPr lang="en-US" i="1" dirty="0" err="1"/>
              <a:t>Ctrs</a:t>
            </a:r>
            <a:endParaRPr lang="en-US" i="1" dirty="0"/>
          </a:p>
        </p:txBody>
      </p:sp>
      <p:sp>
        <p:nvSpPr>
          <p:cNvPr id="31" name="Speech Bubble: Rectangle with Corners Rounded 30">
            <a:extLst>
              <a:ext uri="{FF2B5EF4-FFF2-40B4-BE49-F238E27FC236}">
                <a16:creationId xmlns:a16="http://schemas.microsoft.com/office/drawing/2014/main" id="{EA161F89-614C-7930-0691-F950574EFBF2}"/>
              </a:ext>
            </a:extLst>
          </p:cNvPr>
          <p:cNvSpPr/>
          <p:nvPr/>
        </p:nvSpPr>
        <p:spPr>
          <a:xfrm>
            <a:off x="1087744" y="1227104"/>
            <a:ext cx="2524583" cy="612648"/>
          </a:xfrm>
          <a:prstGeom prst="wedgeRoundRectCallout">
            <a:avLst>
              <a:gd name="adj1" fmla="val 1164"/>
              <a:gd name="adj2" fmla="val 79896"/>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1 (Back-off)</a:t>
            </a:r>
          </a:p>
        </p:txBody>
      </p:sp>
      <p:sp>
        <p:nvSpPr>
          <p:cNvPr id="35" name="TextBox 34">
            <a:extLst>
              <a:ext uri="{FF2B5EF4-FFF2-40B4-BE49-F238E27FC236}">
                <a16:creationId xmlns:a16="http://schemas.microsoft.com/office/drawing/2014/main" id="{7B930759-8EC4-8453-FECB-BF5050D8785B}"/>
              </a:ext>
            </a:extLst>
          </p:cNvPr>
          <p:cNvSpPr txBox="1"/>
          <p:nvPr/>
        </p:nvSpPr>
        <p:spPr>
          <a:xfrm>
            <a:off x="3377566" y="5993840"/>
            <a:ext cx="2657155" cy="369332"/>
          </a:xfrm>
          <a:prstGeom prst="rect">
            <a:avLst/>
          </a:prstGeom>
          <a:noFill/>
        </p:spPr>
        <p:txBody>
          <a:bodyPr wrap="square" rtlCol="0">
            <a:spAutoFit/>
          </a:bodyPr>
          <a:lstStyle/>
          <a:p>
            <a:pPr algn="ctr"/>
            <a:r>
              <a:rPr lang="en-US" i="1" dirty="0"/>
              <a:t>Transmission Windows</a:t>
            </a:r>
          </a:p>
        </p:txBody>
      </p:sp>
      <p:cxnSp>
        <p:nvCxnSpPr>
          <p:cNvPr id="39" name="Straight Connector 38">
            <a:extLst>
              <a:ext uri="{FF2B5EF4-FFF2-40B4-BE49-F238E27FC236}">
                <a16:creationId xmlns:a16="http://schemas.microsoft.com/office/drawing/2014/main" id="{F4C2016F-8E7F-628B-3C03-94910B57BB0C}"/>
              </a:ext>
            </a:extLst>
          </p:cNvPr>
          <p:cNvCxnSpPr>
            <a:cxnSpLocks/>
          </p:cNvCxnSpPr>
          <p:nvPr/>
        </p:nvCxnSpPr>
        <p:spPr>
          <a:xfrm>
            <a:off x="116141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CDFF932-2604-0438-002A-9D4963D07BFE}"/>
              </a:ext>
            </a:extLst>
          </p:cNvPr>
          <p:cNvCxnSpPr>
            <a:cxnSpLocks/>
          </p:cNvCxnSpPr>
          <p:nvPr/>
        </p:nvCxnSpPr>
        <p:spPr>
          <a:xfrm>
            <a:off x="335828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FF6DFE3-37EC-1DAC-ECD6-13A6672D4454}"/>
              </a:ext>
            </a:extLst>
          </p:cNvPr>
          <p:cNvCxnSpPr>
            <a:cxnSpLocks/>
          </p:cNvCxnSpPr>
          <p:nvPr/>
        </p:nvCxnSpPr>
        <p:spPr>
          <a:xfrm>
            <a:off x="555515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647E5E3-B7BA-94DE-0776-0C9697874882}"/>
              </a:ext>
            </a:extLst>
          </p:cNvPr>
          <p:cNvCxnSpPr>
            <a:cxnSpLocks/>
          </p:cNvCxnSpPr>
          <p:nvPr/>
        </p:nvCxnSpPr>
        <p:spPr>
          <a:xfrm>
            <a:off x="7752029"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pic>
        <p:nvPicPr>
          <p:cNvPr id="8" name="Graphic 7" descr="Hammer with solid fill">
            <a:extLst>
              <a:ext uri="{FF2B5EF4-FFF2-40B4-BE49-F238E27FC236}">
                <a16:creationId xmlns:a16="http://schemas.microsoft.com/office/drawing/2014/main" id="{D62FB8C7-99C6-5054-D666-BF76CFE0F8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71094" y="2087206"/>
            <a:ext cx="639133" cy="639133"/>
          </a:xfrm>
          <a:prstGeom prst="rect">
            <a:avLst/>
          </a:prstGeom>
        </p:spPr>
      </p:pic>
      <p:pic>
        <p:nvPicPr>
          <p:cNvPr id="10" name="Graphic 9" descr="Hammer with solid fill">
            <a:extLst>
              <a:ext uri="{FF2B5EF4-FFF2-40B4-BE49-F238E27FC236}">
                <a16:creationId xmlns:a16="http://schemas.microsoft.com/office/drawing/2014/main" id="{35C965CC-F335-90F6-6336-3AD87ECC7A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957359" y="3041225"/>
            <a:ext cx="639133" cy="639133"/>
          </a:xfrm>
          <a:prstGeom prst="rect">
            <a:avLst/>
          </a:prstGeom>
        </p:spPr>
      </p:pic>
      <p:sp>
        <p:nvSpPr>
          <p:cNvPr id="26" name="Explosion: 8 Points 25">
            <a:extLst>
              <a:ext uri="{FF2B5EF4-FFF2-40B4-BE49-F238E27FC236}">
                <a16:creationId xmlns:a16="http://schemas.microsoft.com/office/drawing/2014/main" id="{0020336D-377E-970C-431E-1CDEA449FC49}"/>
              </a:ext>
            </a:extLst>
          </p:cNvPr>
          <p:cNvSpPr/>
          <p:nvPr/>
        </p:nvSpPr>
        <p:spPr>
          <a:xfrm>
            <a:off x="4595834" y="3768775"/>
            <a:ext cx="411691" cy="365760"/>
          </a:xfrm>
          <a:prstGeom prst="irregularSeal1">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xplosion: 8 Points 26">
            <a:extLst>
              <a:ext uri="{FF2B5EF4-FFF2-40B4-BE49-F238E27FC236}">
                <a16:creationId xmlns:a16="http://schemas.microsoft.com/office/drawing/2014/main" id="{3423A824-3288-7773-2408-0E49C238E418}"/>
              </a:ext>
            </a:extLst>
          </p:cNvPr>
          <p:cNvSpPr/>
          <p:nvPr/>
        </p:nvSpPr>
        <p:spPr>
          <a:xfrm>
            <a:off x="2821699" y="3768775"/>
            <a:ext cx="411691" cy="365760"/>
          </a:xfrm>
          <a:prstGeom prst="irregularSeal1">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95A0389-2DCB-30B3-AAFD-6ECCB62CDFF6}"/>
              </a:ext>
            </a:extLst>
          </p:cNvPr>
          <p:cNvSpPr/>
          <p:nvPr/>
        </p:nvSpPr>
        <p:spPr>
          <a:xfrm>
            <a:off x="5749239" y="2628273"/>
            <a:ext cx="443471" cy="288298"/>
          </a:xfrm>
          <a:custGeom>
            <a:avLst/>
            <a:gdLst>
              <a:gd name="connsiteX0" fmla="*/ 149200 w 556383"/>
              <a:gd name="connsiteY0" fmla="*/ 225923 h 361702"/>
              <a:gd name="connsiteX1" fmla="*/ 199682 w 556383"/>
              <a:gd name="connsiteY1" fmla="*/ 272863 h 361702"/>
              <a:gd name="connsiteX2" fmla="*/ 270577 w 556383"/>
              <a:gd name="connsiteY2" fmla="*/ 203940 h 361702"/>
              <a:gd name="connsiteX3" fmla="*/ 314935 w 556383"/>
              <a:gd name="connsiteY3" fmla="*/ 159706 h 361702"/>
              <a:gd name="connsiteX4" fmla="*/ 365541 w 556383"/>
              <a:gd name="connsiteY4" fmla="*/ 204359 h 361702"/>
              <a:gd name="connsiteX5" fmla="*/ 537172 w 556383"/>
              <a:gd name="connsiteY5" fmla="*/ 32661 h 361702"/>
              <a:gd name="connsiteX6" fmla="*/ 537306 w 556383"/>
              <a:gd name="connsiteY6" fmla="*/ 32662 h 361702"/>
              <a:gd name="connsiteX7" fmla="*/ 537334 w 556383"/>
              <a:gd name="connsiteY7" fmla="*/ 32728 h 361702"/>
              <a:gd name="connsiteX8" fmla="*/ 537334 w 556383"/>
              <a:gd name="connsiteY8" fmla="*/ 114300 h 361702"/>
              <a:gd name="connsiteX9" fmla="*/ 556384 w 556383"/>
              <a:gd name="connsiteY9" fmla="*/ 114300 h 361702"/>
              <a:gd name="connsiteX10" fmla="*/ 556384 w 556383"/>
              <a:gd name="connsiteY10" fmla="*/ 0 h 361702"/>
              <a:gd name="connsiteX11" fmla="*/ 442341 w 556383"/>
              <a:gd name="connsiteY11" fmla="*/ 0 h 361702"/>
              <a:gd name="connsiteX12" fmla="*/ 442341 w 556383"/>
              <a:gd name="connsiteY12" fmla="*/ 19050 h 361702"/>
              <a:gd name="connsiteX13" fmla="*/ 523599 w 556383"/>
              <a:gd name="connsiteY13" fmla="*/ 19050 h 361702"/>
              <a:gd name="connsiteX14" fmla="*/ 523703 w 556383"/>
              <a:gd name="connsiteY14" fmla="*/ 19137 h 361702"/>
              <a:gd name="connsiteX15" fmla="*/ 523675 w 556383"/>
              <a:gd name="connsiteY15" fmla="*/ 19212 h 361702"/>
              <a:gd name="connsiteX16" fmla="*/ 364703 w 556383"/>
              <a:gd name="connsiteY16" fmla="*/ 178194 h 361702"/>
              <a:gd name="connsiteX17" fmla="*/ 314096 w 556383"/>
              <a:gd name="connsiteY17" fmla="*/ 133540 h 361702"/>
              <a:gd name="connsiteX18" fmla="*/ 257261 w 556383"/>
              <a:gd name="connsiteY18" fmla="*/ 190376 h 361702"/>
              <a:gd name="connsiteX19" fmla="*/ 199454 w 556383"/>
              <a:gd name="connsiteY19" fmla="*/ 246574 h 361702"/>
              <a:gd name="connsiteX20" fmla="*/ 148761 w 556383"/>
              <a:gd name="connsiteY20" fmla="*/ 199463 h 361702"/>
              <a:gd name="connsiteX21" fmla="*/ 0 w 556383"/>
              <a:gd name="connsiteY21" fmla="*/ 348234 h 361702"/>
              <a:gd name="connsiteX22" fmla="*/ 13468 w 556383"/>
              <a:gd name="connsiteY22" fmla="*/ 361702 h 36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83" h="361702">
                <a:moveTo>
                  <a:pt x="149200" y="225923"/>
                </a:moveTo>
                <a:lnTo>
                  <a:pt x="199682" y="272863"/>
                </a:lnTo>
                <a:lnTo>
                  <a:pt x="270577" y="203940"/>
                </a:lnTo>
                <a:lnTo>
                  <a:pt x="314935" y="159706"/>
                </a:lnTo>
                <a:lnTo>
                  <a:pt x="365541" y="204359"/>
                </a:lnTo>
                <a:lnTo>
                  <a:pt x="537172" y="32661"/>
                </a:lnTo>
                <a:cubicBezTo>
                  <a:pt x="537209" y="32624"/>
                  <a:pt x="537270" y="32625"/>
                  <a:pt x="537306" y="32662"/>
                </a:cubicBezTo>
                <a:cubicBezTo>
                  <a:pt x="537323" y="32680"/>
                  <a:pt x="537334" y="32703"/>
                  <a:pt x="537334" y="32728"/>
                </a:cubicBezTo>
                <a:lnTo>
                  <a:pt x="537334" y="114300"/>
                </a:lnTo>
                <a:lnTo>
                  <a:pt x="556384" y="114300"/>
                </a:lnTo>
                <a:lnTo>
                  <a:pt x="556384" y="0"/>
                </a:lnTo>
                <a:lnTo>
                  <a:pt x="442341" y="0"/>
                </a:lnTo>
                <a:lnTo>
                  <a:pt x="442341" y="19050"/>
                </a:lnTo>
                <a:lnTo>
                  <a:pt x="523599" y="19050"/>
                </a:lnTo>
                <a:cubicBezTo>
                  <a:pt x="523651" y="19045"/>
                  <a:pt x="523698" y="19084"/>
                  <a:pt x="523703" y="19137"/>
                </a:cubicBezTo>
                <a:cubicBezTo>
                  <a:pt x="523705" y="19164"/>
                  <a:pt x="523695" y="19192"/>
                  <a:pt x="523675" y="19212"/>
                </a:cubicBezTo>
                <a:lnTo>
                  <a:pt x="364703" y="178194"/>
                </a:lnTo>
                <a:lnTo>
                  <a:pt x="314096" y="133540"/>
                </a:lnTo>
                <a:lnTo>
                  <a:pt x="257261" y="190376"/>
                </a:lnTo>
                <a:lnTo>
                  <a:pt x="199454" y="246574"/>
                </a:lnTo>
                <a:lnTo>
                  <a:pt x="148761" y="199463"/>
                </a:lnTo>
                <a:lnTo>
                  <a:pt x="0" y="348234"/>
                </a:lnTo>
                <a:lnTo>
                  <a:pt x="13468" y="361702"/>
                </a:lnTo>
                <a:close/>
              </a:path>
            </a:pathLst>
          </a:custGeom>
          <a:solidFill>
            <a:srgbClr val="FF0000"/>
          </a:solidFill>
          <a:ln w="19050" cap="flat">
            <a:solidFill>
              <a:srgbClr val="FF0000"/>
            </a:solid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73C1753-CEB8-AA49-FAF6-DE9BD31A9C85}"/>
              </a:ext>
            </a:extLst>
          </p:cNvPr>
          <p:cNvSpPr/>
          <p:nvPr/>
        </p:nvSpPr>
        <p:spPr>
          <a:xfrm>
            <a:off x="5749239" y="3325067"/>
            <a:ext cx="443471" cy="288298"/>
          </a:xfrm>
          <a:custGeom>
            <a:avLst/>
            <a:gdLst>
              <a:gd name="connsiteX0" fmla="*/ 149200 w 556383"/>
              <a:gd name="connsiteY0" fmla="*/ 225923 h 361702"/>
              <a:gd name="connsiteX1" fmla="*/ 199682 w 556383"/>
              <a:gd name="connsiteY1" fmla="*/ 272863 h 361702"/>
              <a:gd name="connsiteX2" fmla="*/ 270577 w 556383"/>
              <a:gd name="connsiteY2" fmla="*/ 203940 h 361702"/>
              <a:gd name="connsiteX3" fmla="*/ 314935 w 556383"/>
              <a:gd name="connsiteY3" fmla="*/ 159706 h 361702"/>
              <a:gd name="connsiteX4" fmla="*/ 365541 w 556383"/>
              <a:gd name="connsiteY4" fmla="*/ 204359 h 361702"/>
              <a:gd name="connsiteX5" fmla="*/ 537172 w 556383"/>
              <a:gd name="connsiteY5" fmla="*/ 32661 h 361702"/>
              <a:gd name="connsiteX6" fmla="*/ 537306 w 556383"/>
              <a:gd name="connsiteY6" fmla="*/ 32662 h 361702"/>
              <a:gd name="connsiteX7" fmla="*/ 537334 w 556383"/>
              <a:gd name="connsiteY7" fmla="*/ 32728 h 361702"/>
              <a:gd name="connsiteX8" fmla="*/ 537334 w 556383"/>
              <a:gd name="connsiteY8" fmla="*/ 114300 h 361702"/>
              <a:gd name="connsiteX9" fmla="*/ 556384 w 556383"/>
              <a:gd name="connsiteY9" fmla="*/ 114300 h 361702"/>
              <a:gd name="connsiteX10" fmla="*/ 556384 w 556383"/>
              <a:gd name="connsiteY10" fmla="*/ 0 h 361702"/>
              <a:gd name="connsiteX11" fmla="*/ 442341 w 556383"/>
              <a:gd name="connsiteY11" fmla="*/ 0 h 361702"/>
              <a:gd name="connsiteX12" fmla="*/ 442341 w 556383"/>
              <a:gd name="connsiteY12" fmla="*/ 19050 h 361702"/>
              <a:gd name="connsiteX13" fmla="*/ 523599 w 556383"/>
              <a:gd name="connsiteY13" fmla="*/ 19050 h 361702"/>
              <a:gd name="connsiteX14" fmla="*/ 523703 w 556383"/>
              <a:gd name="connsiteY14" fmla="*/ 19137 h 361702"/>
              <a:gd name="connsiteX15" fmla="*/ 523675 w 556383"/>
              <a:gd name="connsiteY15" fmla="*/ 19212 h 361702"/>
              <a:gd name="connsiteX16" fmla="*/ 364703 w 556383"/>
              <a:gd name="connsiteY16" fmla="*/ 178194 h 361702"/>
              <a:gd name="connsiteX17" fmla="*/ 314096 w 556383"/>
              <a:gd name="connsiteY17" fmla="*/ 133540 h 361702"/>
              <a:gd name="connsiteX18" fmla="*/ 257261 w 556383"/>
              <a:gd name="connsiteY18" fmla="*/ 190376 h 361702"/>
              <a:gd name="connsiteX19" fmla="*/ 199454 w 556383"/>
              <a:gd name="connsiteY19" fmla="*/ 246574 h 361702"/>
              <a:gd name="connsiteX20" fmla="*/ 148761 w 556383"/>
              <a:gd name="connsiteY20" fmla="*/ 199463 h 361702"/>
              <a:gd name="connsiteX21" fmla="*/ 0 w 556383"/>
              <a:gd name="connsiteY21" fmla="*/ 348234 h 361702"/>
              <a:gd name="connsiteX22" fmla="*/ 13468 w 556383"/>
              <a:gd name="connsiteY22" fmla="*/ 361702 h 36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83" h="361702">
                <a:moveTo>
                  <a:pt x="149200" y="225923"/>
                </a:moveTo>
                <a:lnTo>
                  <a:pt x="199682" y="272863"/>
                </a:lnTo>
                <a:lnTo>
                  <a:pt x="270577" y="203940"/>
                </a:lnTo>
                <a:lnTo>
                  <a:pt x="314935" y="159706"/>
                </a:lnTo>
                <a:lnTo>
                  <a:pt x="365541" y="204359"/>
                </a:lnTo>
                <a:lnTo>
                  <a:pt x="537172" y="32661"/>
                </a:lnTo>
                <a:cubicBezTo>
                  <a:pt x="537209" y="32624"/>
                  <a:pt x="537270" y="32625"/>
                  <a:pt x="537306" y="32662"/>
                </a:cubicBezTo>
                <a:cubicBezTo>
                  <a:pt x="537323" y="32680"/>
                  <a:pt x="537334" y="32703"/>
                  <a:pt x="537334" y="32728"/>
                </a:cubicBezTo>
                <a:lnTo>
                  <a:pt x="537334" y="114300"/>
                </a:lnTo>
                <a:lnTo>
                  <a:pt x="556384" y="114300"/>
                </a:lnTo>
                <a:lnTo>
                  <a:pt x="556384" y="0"/>
                </a:lnTo>
                <a:lnTo>
                  <a:pt x="442341" y="0"/>
                </a:lnTo>
                <a:lnTo>
                  <a:pt x="442341" y="19050"/>
                </a:lnTo>
                <a:lnTo>
                  <a:pt x="523599" y="19050"/>
                </a:lnTo>
                <a:cubicBezTo>
                  <a:pt x="523651" y="19045"/>
                  <a:pt x="523698" y="19084"/>
                  <a:pt x="523703" y="19137"/>
                </a:cubicBezTo>
                <a:cubicBezTo>
                  <a:pt x="523705" y="19164"/>
                  <a:pt x="523695" y="19192"/>
                  <a:pt x="523675" y="19212"/>
                </a:cubicBezTo>
                <a:lnTo>
                  <a:pt x="364703" y="178194"/>
                </a:lnTo>
                <a:lnTo>
                  <a:pt x="314096" y="133540"/>
                </a:lnTo>
                <a:lnTo>
                  <a:pt x="257261" y="190376"/>
                </a:lnTo>
                <a:lnTo>
                  <a:pt x="199454" y="246574"/>
                </a:lnTo>
                <a:lnTo>
                  <a:pt x="148761" y="199463"/>
                </a:lnTo>
                <a:lnTo>
                  <a:pt x="0" y="348234"/>
                </a:lnTo>
                <a:lnTo>
                  <a:pt x="13468" y="361702"/>
                </a:lnTo>
                <a:close/>
              </a:path>
            </a:pathLst>
          </a:custGeom>
          <a:solidFill>
            <a:srgbClr val="FF0000"/>
          </a:solidFill>
          <a:ln w="19050" cap="flat">
            <a:solidFill>
              <a:srgbClr val="FF0000"/>
            </a:solidFill>
            <a:prstDash val="solid"/>
            <a:miter/>
          </a:ln>
        </p:spPr>
        <p:txBody>
          <a:bodyPr rtlCol="0" anchor="ctr"/>
          <a:lstStyle/>
          <a:p>
            <a:endParaRPr lang="en-US"/>
          </a:p>
        </p:txBody>
      </p:sp>
      <p:grpSp>
        <p:nvGrpSpPr>
          <p:cNvPr id="47" name="Group 46">
            <a:extLst>
              <a:ext uri="{FF2B5EF4-FFF2-40B4-BE49-F238E27FC236}">
                <a16:creationId xmlns:a16="http://schemas.microsoft.com/office/drawing/2014/main" id="{86FBC4ED-1F38-1966-927F-2316D6A7B5A4}"/>
              </a:ext>
            </a:extLst>
          </p:cNvPr>
          <p:cNvGrpSpPr/>
          <p:nvPr/>
        </p:nvGrpSpPr>
        <p:grpSpPr>
          <a:xfrm>
            <a:off x="5509296" y="3571126"/>
            <a:ext cx="1384386" cy="1186245"/>
            <a:chOff x="5509296" y="3571126"/>
            <a:chExt cx="1384386" cy="1186245"/>
          </a:xfrm>
        </p:grpSpPr>
        <p:pic>
          <p:nvPicPr>
            <p:cNvPr id="41" name="Graphic 40" descr="Hand with solid fill">
              <a:extLst>
                <a:ext uri="{FF2B5EF4-FFF2-40B4-BE49-F238E27FC236}">
                  <a16:creationId xmlns:a16="http://schemas.microsoft.com/office/drawing/2014/main" id="{4CA45203-84EC-5A1D-1776-8DC35A064F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09296" y="3571126"/>
              <a:ext cx="1186245" cy="1186245"/>
            </a:xfrm>
            <a:prstGeom prst="rect">
              <a:avLst/>
            </a:prstGeom>
          </p:spPr>
        </p:pic>
        <p:sp>
          <p:nvSpPr>
            <p:cNvPr id="45" name="TextBox 44">
              <a:extLst>
                <a:ext uri="{FF2B5EF4-FFF2-40B4-BE49-F238E27FC236}">
                  <a16:creationId xmlns:a16="http://schemas.microsoft.com/office/drawing/2014/main" id="{5C320077-2AAC-81D4-CFE6-AA83C21D9877}"/>
                </a:ext>
              </a:extLst>
            </p:cNvPr>
            <p:cNvSpPr txBox="1"/>
            <p:nvPr/>
          </p:nvSpPr>
          <p:spPr>
            <a:xfrm rot="19800000">
              <a:off x="5608861" y="4099505"/>
              <a:ext cx="1284821" cy="369332"/>
            </a:xfrm>
            <a:prstGeom prst="rect">
              <a:avLst/>
            </a:prstGeom>
            <a:noFill/>
          </p:spPr>
          <p:txBody>
            <a:bodyPr wrap="square" rtlCol="0">
              <a:spAutoFit/>
            </a:bodyPr>
            <a:lstStyle/>
            <a:p>
              <a:r>
                <a:rPr lang="en-US" b="1" dirty="0"/>
                <a:t>Back-off</a:t>
              </a:r>
            </a:p>
          </p:txBody>
        </p:sp>
      </p:grpSp>
      <p:cxnSp>
        <p:nvCxnSpPr>
          <p:cNvPr id="34" name="Straight Arrow Connector 33">
            <a:extLst>
              <a:ext uri="{FF2B5EF4-FFF2-40B4-BE49-F238E27FC236}">
                <a16:creationId xmlns:a16="http://schemas.microsoft.com/office/drawing/2014/main" id="{13FC6C03-9339-1E85-75D0-2851625D35AB}"/>
              </a:ext>
            </a:extLst>
          </p:cNvPr>
          <p:cNvCxnSpPr>
            <a:cxnSpLocks/>
          </p:cNvCxnSpPr>
          <p:nvPr/>
        </p:nvCxnSpPr>
        <p:spPr>
          <a:xfrm>
            <a:off x="910066" y="5985173"/>
            <a:ext cx="7592154"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D3720C0-E8AF-190E-94A3-73E6658C9B7B}"/>
              </a:ext>
            </a:extLst>
          </p:cNvPr>
          <p:cNvCxnSpPr>
            <a:cxnSpLocks/>
          </p:cNvCxnSpPr>
          <p:nvPr/>
        </p:nvCxnSpPr>
        <p:spPr>
          <a:xfrm flipV="1">
            <a:off x="932456" y="4958257"/>
            <a:ext cx="0" cy="105034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060F3DE-6266-71B5-BD8F-B960576EDE31}"/>
              </a:ext>
            </a:extLst>
          </p:cNvPr>
          <p:cNvSpPr txBox="1"/>
          <p:nvPr/>
        </p:nvSpPr>
        <p:spPr>
          <a:xfrm rot="16200000">
            <a:off x="-137587" y="5202234"/>
            <a:ext cx="1286037" cy="646331"/>
          </a:xfrm>
          <a:prstGeom prst="rect">
            <a:avLst/>
          </a:prstGeom>
          <a:noFill/>
        </p:spPr>
        <p:txBody>
          <a:bodyPr wrap="square" rtlCol="0">
            <a:spAutoFit/>
          </a:bodyPr>
          <a:lstStyle/>
          <a:p>
            <a:pPr algn="ctr"/>
            <a:r>
              <a:rPr lang="en-US" i="1" dirty="0" err="1"/>
              <a:t>Recv</a:t>
            </a:r>
            <a:r>
              <a:rPr lang="en-US" i="1" dirty="0"/>
              <a:t>.</a:t>
            </a:r>
          </a:p>
          <a:p>
            <a:pPr algn="ctr"/>
            <a:r>
              <a:rPr lang="en-US" i="1" dirty="0"/>
              <a:t>Latency</a:t>
            </a:r>
          </a:p>
        </p:txBody>
      </p:sp>
      <p:sp>
        <p:nvSpPr>
          <p:cNvPr id="51" name="Freeform: Shape 50">
            <a:extLst>
              <a:ext uri="{FF2B5EF4-FFF2-40B4-BE49-F238E27FC236}">
                <a16:creationId xmlns:a16="http://schemas.microsoft.com/office/drawing/2014/main" id="{328567D6-EB86-11DF-A6E8-545F22F49A5B}"/>
              </a:ext>
            </a:extLst>
          </p:cNvPr>
          <p:cNvSpPr/>
          <p:nvPr/>
        </p:nvSpPr>
        <p:spPr>
          <a:xfrm>
            <a:off x="1341920" y="5078977"/>
            <a:ext cx="1768129" cy="686302"/>
          </a:xfrm>
          <a:custGeom>
            <a:avLst/>
            <a:gdLst>
              <a:gd name="connsiteX0" fmla="*/ 0 w 1768129"/>
              <a:gd name="connsiteY0" fmla="*/ 637108 h 686302"/>
              <a:gd name="connsiteX1" fmla="*/ 199348 w 1768129"/>
              <a:gd name="connsiteY1" fmla="*/ 624107 h 686302"/>
              <a:gd name="connsiteX2" fmla="*/ 320690 w 1768129"/>
              <a:gd name="connsiteY2" fmla="*/ 641442 h 686302"/>
              <a:gd name="connsiteX3" fmla="*/ 459367 w 1768129"/>
              <a:gd name="connsiteY3" fmla="*/ 606772 h 686302"/>
              <a:gd name="connsiteX4" fmla="*/ 667382 w 1768129"/>
              <a:gd name="connsiteY4" fmla="*/ 624107 h 686302"/>
              <a:gd name="connsiteX5" fmla="*/ 827727 w 1768129"/>
              <a:gd name="connsiteY5" fmla="*/ 611106 h 686302"/>
              <a:gd name="connsiteX6" fmla="*/ 949070 w 1768129"/>
              <a:gd name="connsiteY6" fmla="*/ 61 h 686302"/>
              <a:gd name="connsiteX7" fmla="*/ 1066078 w 1768129"/>
              <a:gd name="connsiteY7" fmla="*/ 650109 h 686302"/>
              <a:gd name="connsiteX8" fmla="*/ 1287094 w 1768129"/>
              <a:gd name="connsiteY8" fmla="*/ 602439 h 686302"/>
              <a:gd name="connsiteX9" fmla="*/ 1529779 w 1768129"/>
              <a:gd name="connsiteY9" fmla="*/ 598105 h 686302"/>
              <a:gd name="connsiteX10" fmla="*/ 1768129 w 1768129"/>
              <a:gd name="connsiteY10" fmla="*/ 598105 h 68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8129" h="686302">
                <a:moveTo>
                  <a:pt x="0" y="637108"/>
                </a:moveTo>
                <a:cubicBezTo>
                  <a:pt x="72950" y="630246"/>
                  <a:pt x="145900" y="623385"/>
                  <a:pt x="199348" y="624107"/>
                </a:cubicBezTo>
                <a:cubicBezTo>
                  <a:pt x="252796" y="624829"/>
                  <a:pt x="277354" y="644331"/>
                  <a:pt x="320690" y="641442"/>
                </a:cubicBezTo>
                <a:cubicBezTo>
                  <a:pt x="364026" y="638553"/>
                  <a:pt x="401585" y="609661"/>
                  <a:pt x="459367" y="606772"/>
                </a:cubicBezTo>
                <a:cubicBezTo>
                  <a:pt x="517149" y="603883"/>
                  <a:pt x="605989" y="623385"/>
                  <a:pt x="667382" y="624107"/>
                </a:cubicBezTo>
                <a:cubicBezTo>
                  <a:pt x="728775" y="624829"/>
                  <a:pt x="780779" y="715114"/>
                  <a:pt x="827727" y="611106"/>
                </a:cubicBezTo>
                <a:cubicBezTo>
                  <a:pt x="874675" y="507098"/>
                  <a:pt x="909345" y="-6439"/>
                  <a:pt x="949070" y="61"/>
                </a:cubicBezTo>
                <a:cubicBezTo>
                  <a:pt x="988795" y="6561"/>
                  <a:pt x="1009741" y="549713"/>
                  <a:pt x="1066078" y="650109"/>
                </a:cubicBezTo>
                <a:cubicBezTo>
                  <a:pt x="1122415" y="750505"/>
                  <a:pt x="1209811" y="611106"/>
                  <a:pt x="1287094" y="602439"/>
                </a:cubicBezTo>
                <a:cubicBezTo>
                  <a:pt x="1364378" y="593772"/>
                  <a:pt x="1529779" y="598105"/>
                  <a:pt x="1529779" y="598105"/>
                </a:cubicBezTo>
                <a:lnTo>
                  <a:pt x="1768129" y="598105"/>
                </a:lnTo>
              </a:path>
            </a:pathLst>
          </a:custGeom>
          <a:noFill/>
          <a:ln w="3810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EC72B2B4-8C6B-79DF-0157-F0D8F9A21640}"/>
              </a:ext>
            </a:extLst>
          </p:cNvPr>
          <p:cNvSpPr txBox="1"/>
          <p:nvPr/>
        </p:nvSpPr>
        <p:spPr>
          <a:xfrm>
            <a:off x="1376423" y="4580426"/>
            <a:ext cx="1800071" cy="461665"/>
          </a:xfrm>
          <a:prstGeom prst="rect">
            <a:avLst/>
          </a:prstGeom>
          <a:noFill/>
        </p:spPr>
        <p:txBody>
          <a:bodyPr wrap="square" rtlCol="0">
            <a:spAutoFit/>
          </a:bodyPr>
          <a:lstStyle/>
          <a:p>
            <a:pPr algn="ctr"/>
            <a:r>
              <a:rPr lang="en-US" sz="2400" dirty="0">
                <a:solidFill>
                  <a:srgbClr val="B3195F"/>
                </a:solidFill>
              </a:rPr>
              <a:t>back-off</a:t>
            </a:r>
          </a:p>
        </p:txBody>
      </p:sp>
      <p:sp>
        <p:nvSpPr>
          <p:cNvPr id="53" name="Speech Bubble: Rectangle with Corners Rounded 52">
            <a:extLst>
              <a:ext uri="{FF2B5EF4-FFF2-40B4-BE49-F238E27FC236}">
                <a16:creationId xmlns:a16="http://schemas.microsoft.com/office/drawing/2014/main" id="{6A505E0E-A64D-C2AA-69A0-FDEB7714273E}"/>
              </a:ext>
            </a:extLst>
          </p:cNvPr>
          <p:cNvSpPr/>
          <p:nvPr/>
        </p:nvSpPr>
        <p:spPr>
          <a:xfrm flipH="1">
            <a:off x="6329283" y="1460195"/>
            <a:ext cx="2524583" cy="612648"/>
          </a:xfrm>
          <a:prstGeom prst="wedgeRoundRectCallout">
            <a:avLst>
              <a:gd name="adj1" fmla="val -3750"/>
              <a:gd name="adj2" fmla="val 134231"/>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1</a:t>
            </a:r>
          </a:p>
        </p:txBody>
      </p:sp>
      <p:sp>
        <p:nvSpPr>
          <p:cNvPr id="28" name="TextBox 27">
            <a:extLst>
              <a:ext uri="{FF2B5EF4-FFF2-40B4-BE49-F238E27FC236}">
                <a16:creationId xmlns:a16="http://schemas.microsoft.com/office/drawing/2014/main" id="{DCF42094-9906-47A7-DA16-C6A650496453}"/>
              </a:ext>
            </a:extLst>
          </p:cNvPr>
          <p:cNvSpPr txBox="1"/>
          <p:nvPr/>
        </p:nvSpPr>
        <p:spPr>
          <a:xfrm>
            <a:off x="3386566" y="900366"/>
            <a:ext cx="2648155" cy="1015663"/>
          </a:xfrm>
          <a:prstGeom prst="rect">
            <a:avLst/>
          </a:prstGeom>
          <a:noFill/>
        </p:spPr>
        <p:txBody>
          <a:bodyPr wrap="square" rtlCol="0">
            <a:spAutoFit/>
          </a:bodyPr>
          <a:lstStyle/>
          <a:p>
            <a:pPr algn="ctr"/>
            <a:r>
              <a:rPr lang="en-US" sz="2000" b="1" i="1" dirty="0">
                <a:latin typeface="+mj-lt"/>
              </a:rPr>
              <a:t>Encoding</a:t>
            </a:r>
            <a:br>
              <a:rPr lang="en-US" sz="2000" i="1" dirty="0">
                <a:latin typeface="+mj-lt"/>
              </a:rPr>
            </a:br>
            <a:r>
              <a:rPr lang="en-US" sz="2000" i="1" dirty="0">
                <a:latin typeface="+mj-lt"/>
              </a:rPr>
              <a:t>logic-1: back-off </a:t>
            </a:r>
          </a:p>
          <a:p>
            <a:pPr algn="ctr"/>
            <a:r>
              <a:rPr lang="en-US" sz="2000" i="1" dirty="0">
                <a:latin typeface="+mj-lt"/>
              </a:rPr>
              <a:t>logic-0: no-back-off</a:t>
            </a:r>
          </a:p>
        </p:txBody>
      </p:sp>
    </p:spTree>
    <p:extLst>
      <p:ext uri="{BB962C8B-B14F-4D97-AF65-F5344CB8AC3E}">
        <p14:creationId xmlns:p14="http://schemas.microsoft.com/office/powerpoint/2010/main" val="113942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8" presetClass="emph" presetSubtype="0" repeatCount="5000" autoRev="1" fill="remove" nodeType="withEffect">
                                  <p:stCondLst>
                                    <p:cond delay="0"/>
                                  </p:stCondLst>
                                  <p:childTnLst>
                                    <p:animRot by="5400000">
                                      <p:cBhvr>
                                        <p:cTn id="8" dur="250" fill="hold"/>
                                        <p:tgtEl>
                                          <p:spTgt spid="8"/>
                                        </p:tgtEl>
                                        <p:attrNameLst>
                                          <p:attrName>r</p:attrName>
                                        </p:attrNameLst>
                                      </p:cBhvr>
                                    </p:animRot>
                                  </p:childTnLst>
                                </p:cTn>
                              </p:par>
                              <p:par>
                                <p:cTn id="9" presetID="8" presetClass="emph" presetSubtype="0" repeatCount="5000" autoRev="1" fill="remove" nodeType="withEffect">
                                  <p:stCondLst>
                                    <p:cond delay="250"/>
                                  </p:stCondLst>
                                  <p:childTnLst>
                                    <p:animRot by="-5400000">
                                      <p:cBhvr>
                                        <p:cTn id="10" dur="250" fill="hold"/>
                                        <p:tgtEl>
                                          <p:spTgt spid="10"/>
                                        </p:tgtEl>
                                        <p:attrNameLst>
                                          <p:attrName>r</p:attrName>
                                        </p:attrNameLst>
                                      </p:cBhvr>
                                    </p:animRot>
                                  </p:childTnLst>
                                </p:cTn>
                              </p:par>
                              <p:par>
                                <p:cTn id="11" presetID="1" presetClass="entr" presetSubtype="0" fill="hold" grpId="1" nodeType="withEffect">
                                  <p:stCondLst>
                                    <p:cond delay="25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26" presetClass="emph" presetSubtype="0" repeatCount="5000" fill="hold" grpId="0" nodeType="withEffect">
                                  <p:stCondLst>
                                    <p:cond delay="0"/>
                                  </p:stCondLst>
                                  <p:childTnLst>
                                    <p:animEffect transition="out" filter="fade">
                                      <p:cBhvr>
                                        <p:cTn id="16" dur="500" tmFilter="0, 0; .2, .5; .8, .5; 1, 0"/>
                                        <p:tgtEl>
                                          <p:spTgt spid="26"/>
                                        </p:tgtEl>
                                      </p:cBhvr>
                                    </p:animEffect>
                                    <p:animScale>
                                      <p:cBhvr>
                                        <p:cTn id="17" dur="250" autoRev="1" fill="hold"/>
                                        <p:tgtEl>
                                          <p:spTgt spid="26"/>
                                        </p:tgtEl>
                                      </p:cBhvr>
                                      <p:by x="105000" y="105000"/>
                                    </p:animScale>
                                  </p:childTnLst>
                                </p:cTn>
                              </p:par>
                              <p:par>
                                <p:cTn id="18" presetID="26" presetClass="emph" presetSubtype="0" repeatCount="5000" fill="hold" grpId="0" nodeType="withEffect">
                                  <p:stCondLst>
                                    <p:cond delay="250"/>
                                  </p:stCondLst>
                                  <p:childTnLst>
                                    <p:animEffect transition="out" filter="fade">
                                      <p:cBhvr>
                                        <p:cTn id="19" dur="500" tmFilter="0, 0; .2, .5; .8, .5; 1, 0"/>
                                        <p:tgtEl>
                                          <p:spTgt spid="27"/>
                                        </p:tgtEl>
                                      </p:cBhvr>
                                    </p:animEffect>
                                    <p:animScale>
                                      <p:cBhvr>
                                        <p:cTn id="20" dur="250" autoRev="1" fill="hold"/>
                                        <p:tgtEl>
                                          <p:spTgt spid="27"/>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left)">
                                      <p:cBhvr>
                                        <p:cTn id="35" dur="500"/>
                                        <p:tgtEl>
                                          <p:spTgt spid="51"/>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7" grpId="0" animBg="1"/>
      <p:bldP spid="27" grpId="1" animBg="1"/>
      <p:bldP spid="33" grpId="0" animBg="1"/>
      <p:bldP spid="37" grpId="0" animBg="1"/>
      <p:bldP spid="51" grpId="0" animBg="1"/>
      <p:bldP spid="52" grpId="0"/>
      <p:bldP spid="5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6684D-8FA4-7A04-9902-4DD2CDBBE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EF087-55F6-6240-AA23-33D824208B33}"/>
              </a:ext>
            </a:extLst>
          </p:cNvPr>
          <p:cNvSpPr>
            <a:spLocks noGrp="1"/>
          </p:cNvSpPr>
          <p:nvPr>
            <p:ph type="title"/>
          </p:nvPr>
        </p:nvSpPr>
        <p:spPr/>
        <p:txBody>
          <a:bodyPr/>
          <a:lstStyle/>
          <a:p>
            <a:r>
              <a:rPr lang="en-US" dirty="0"/>
              <a:t>PRAC-Based Covert Channel:</a:t>
            </a:r>
            <a:br>
              <a:rPr lang="en-US" dirty="0"/>
            </a:br>
            <a:r>
              <a:rPr lang="en-US" dirty="0"/>
              <a:t>Attack Overview</a:t>
            </a:r>
          </a:p>
        </p:txBody>
      </p:sp>
      <p:sp>
        <p:nvSpPr>
          <p:cNvPr id="3" name="Content Placeholder 2">
            <a:extLst>
              <a:ext uri="{FF2B5EF4-FFF2-40B4-BE49-F238E27FC236}">
                <a16:creationId xmlns:a16="http://schemas.microsoft.com/office/drawing/2014/main" id="{4466F1A3-D2C7-D2A8-B2DB-8E4AE9DCD4D9}"/>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2B7250D7-BDC7-C9C8-B146-56D47FBE20FB}"/>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61B5641A-892C-CE4D-CF72-0CA55E483493}"/>
              </a:ext>
            </a:extLst>
          </p:cNvPr>
          <p:cNvSpPr>
            <a:spLocks noGrp="1"/>
          </p:cNvSpPr>
          <p:nvPr>
            <p:ph type="sldNum" sz="quarter" idx="12"/>
          </p:nvPr>
        </p:nvSpPr>
        <p:spPr/>
        <p:txBody>
          <a:bodyPr/>
          <a:lstStyle/>
          <a:p>
            <a:fld id="{CBE5B309-C2CE-4D90-B104-F7E98438FC65}" type="slidenum">
              <a:rPr lang="tr-TR" smtClean="0"/>
              <a:pPr/>
              <a:t>67</a:t>
            </a:fld>
            <a:endParaRPr lang="tr-TR" dirty="0"/>
          </a:p>
        </p:txBody>
      </p:sp>
      <p:grpSp>
        <p:nvGrpSpPr>
          <p:cNvPr id="22" name="Group 21">
            <a:extLst>
              <a:ext uri="{FF2B5EF4-FFF2-40B4-BE49-F238E27FC236}">
                <a16:creationId xmlns:a16="http://schemas.microsoft.com/office/drawing/2014/main" id="{FED924BC-CDA2-9DA0-8815-EC80D30CD5CE}"/>
              </a:ext>
            </a:extLst>
          </p:cNvPr>
          <p:cNvGrpSpPr/>
          <p:nvPr/>
        </p:nvGrpSpPr>
        <p:grpSpPr>
          <a:xfrm>
            <a:off x="619450" y="1952088"/>
            <a:ext cx="1520607" cy="2108546"/>
            <a:chOff x="619450" y="1609725"/>
            <a:chExt cx="1520607" cy="2108546"/>
          </a:xfrm>
        </p:grpSpPr>
        <p:sp>
          <p:nvSpPr>
            <p:cNvPr id="19" name="Oval 18">
              <a:extLst>
                <a:ext uri="{FF2B5EF4-FFF2-40B4-BE49-F238E27FC236}">
                  <a16:creationId xmlns:a16="http://schemas.microsoft.com/office/drawing/2014/main" id="{3804978E-5548-E594-D9A8-665834A45EAB}"/>
                </a:ext>
              </a:extLst>
            </p:cNvPr>
            <p:cNvSpPr/>
            <p:nvPr/>
          </p:nvSpPr>
          <p:spPr>
            <a:xfrm>
              <a:off x="619450" y="1826054"/>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3957670-38FA-151F-C8D8-356F23B449FA}"/>
                </a:ext>
              </a:extLst>
            </p:cNvPr>
            <p:cNvGrpSpPr/>
            <p:nvPr/>
          </p:nvGrpSpPr>
          <p:grpSpPr>
            <a:xfrm>
              <a:off x="717708" y="1609725"/>
              <a:ext cx="1317430" cy="2108546"/>
              <a:chOff x="717708" y="1609725"/>
              <a:chExt cx="1317430" cy="2108546"/>
            </a:xfrm>
          </p:grpSpPr>
          <p:pic>
            <p:nvPicPr>
              <p:cNvPr id="9" name="Graphic 8" descr="Old woman wearing lightning shirt">
                <a:extLst>
                  <a:ext uri="{FF2B5EF4-FFF2-40B4-BE49-F238E27FC236}">
                    <a16:creationId xmlns:a16="http://schemas.microsoft.com/office/drawing/2014/main" id="{F0DC55CD-E295-1795-F838-655DF1D5AA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873" y="1609725"/>
                <a:ext cx="1181100" cy="1819275"/>
              </a:xfrm>
              <a:prstGeom prst="rect">
                <a:avLst/>
              </a:prstGeom>
            </p:spPr>
          </p:pic>
          <p:sp>
            <p:nvSpPr>
              <p:cNvPr id="11" name="TextBox 10">
                <a:extLst>
                  <a:ext uri="{FF2B5EF4-FFF2-40B4-BE49-F238E27FC236}">
                    <a16:creationId xmlns:a16="http://schemas.microsoft.com/office/drawing/2014/main" id="{100D2EA6-39D8-9BD2-A2D3-FEBD63D5055F}"/>
                  </a:ext>
                </a:extLst>
              </p:cNvPr>
              <p:cNvSpPr txBox="1"/>
              <p:nvPr/>
            </p:nvSpPr>
            <p:spPr>
              <a:xfrm>
                <a:off x="717708" y="3346661"/>
                <a:ext cx="1317430" cy="371610"/>
              </a:xfrm>
              <a:prstGeom prst="rect">
                <a:avLst/>
              </a:prstGeom>
              <a:noFill/>
            </p:spPr>
            <p:txBody>
              <a:bodyPr wrap="square" rtlCol="0">
                <a:spAutoFit/>
              </a:bodyPr>
              <a:lstStyle/>
              <a:p>
                <a:pPr algn="ctr"/>
                <a:r>
                  <a:rPr lang="en-US" b="1" i="1" dirty="0">
                    <a:solidFill>
                      <a:srgbClr val="6D40DC"/>
                    </a:solidFill>
                  </a:rPr>
                  <a:t>Sender</a:t>
                </a:r>
              </a:p>
            </p:txBody>
          </p:sp>
        </p:grpSp>
      </p:grpSp>
      <p:grpSp>
        <p:nvGrpSpPr>
          <p:cNvPr id="21" name="Group 20">
            <a:extLst>
              <a:ext uri="{FF2B5EF4-FFF2-40B4-BE49-F238E27FC236}">
                <a16:creationId xmlns:a16="http://schemas.microsoft.com/office/drawing/2014/main" id="{3A87EF79-98A9-A6A8-44A8-715EF5DA7946}"/>
              </a:ext>
            </a:extLst>
          </p:cNvPr>
          <p:cNvGrpSpPr/>
          <p:nvPr/>
        </p:nvGrpSpPr>
        <p:grpSpPr>
          <a:xfrm>
            <a:off x="6981613" y="2742991"/>
            <a:ext cx="1520607" cy="2023240"/>
            <a:chOff x="6981613" y="1695031"/>
            <a:chExt cx="1520607" cy="2023240"/>
          </a:xfrm>
        </p:grpSpPr>
        <p:sp>
          <p:nvSpPr>
            <p:cNvPr id="20" name="Oval 19">
              <a:extLst>
                <a:ext uri="{FF2B5EF4-FFF2-40B4-BE49-F238E27FC236}">
                  <a16:creationId xmlns:a16="http://schemas.microsoft.com/office/drawing/2014/main" id="{31C72F37-3AAE-92A5-538F-E2E338A539CF}"/>
                </a:ext>
              </a:extLst>
            </p:cNvPr>
            <p:cNvSpPr/>
            <p:nvPr/>
          </p:nvSpPr>
          <p:spPr>
            <a:xfrm>
              <a:off x="6981613" y="1863804"/>
              <a:ext cx="1520607" cy="1520607"/>
            </a:xfrm>
            <a:prstGeom prst="ellipse">
              <a:avLst/>
            </a:prstGeom>
            <a:solidFill>
              <a:srgbClr val="B3195F"/>
            </a:solidFill>
            <a:ln>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AA65139-4BA9-8F34-B0C8-ADDA0EEE8AE3}"/>
                </a:ext>
              </a:extLst>
            </p:cNvPr>
            <p:cNvGrpSpPr/>
            <p:nvPr/>
          </p:nvGrpSpPr>
          <p:grpSpPr>
            <a:xfrm>
              <a:off x="7108862" y="1695031"/>
              <a:ext cx="1317430" cy="2023240"/>
              <a:chOff x="7239179" y="1647824"/>
              <a:chExt cx="1317430" cy="2023240"/>
            </a:xfrm>
          </p:grpSpPr>
          <p:pic>
            <p:nvPicPr>
              <p:cNvPr id="7" name="Graphic 6" descr="Man in glasses wearing turtleneck">
                <a:extLst>
                  <a:ext uri="{FF2B5EF4-FFF2-40B4-BE49-F238E27FC236}">
                    <a16:creationId xmlns:a16="http://schemas.microsoft.com/office/drawing/2014/main" id="{8AF5FC62-9470-0EFE-43E8-0BAC2944D5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261209" y="1647824"/>
                <a:ext cx="1295400" cy="1743075"/>
              </a:xfrm>
              <a:prstGeom prst="rect">
                <a:avLst/>
              </a:prstGeom>
            </p:spPr>
          </p:pic>
          <p:sp>
            <p:nvSpPr>
              <p:cNvPr id="12" name="TextBox 11">
                <a:extLst>
                  <a:ext uri="{FF2B5EF4-FFF2-40B4-BE49-F238E27FC236}">
                    <a16:creationId xmlns:a16="http://schemas.microsoft.com/office/drawing/2014/main" id="{9E760DCE-9E44-9D20-D34D-E96BCCE20839}"/>
                  </a:ext>
                </a:extLst>
              </p:cNvPr>
              <p:cNvSpPr txBox="1"/>
              <p:nvPr/>
            </p:nvSpPr>
            <p:spPr>
              <a:xfrm>
                <a:off x="7239179" y="3299454"/>
                <a:ext cx="1317430" cy="371610"/>
              </a:xfrm>
              <a:prstGeom prst="rect">
                <a:avLst/>
              </a:prstGeom>
              <a:noFill/>
            </p:spPr>
            <p:txBody>
              <a:bodyPr wrap="square" rtlCol="0">
                <a:spAutoFit/>
              </a:bodyPr>
              <a:lstStyle/>
              <a:p>
                <a:pPr algn="ctr"/>
                <a:r>
                  <a:rPr lang="en-US" b="1" i="1" dirty="0">
                    <a:solidFill>
                      <a:srgbClr val="B3195F"/>
                    </a:solidFill>
                  </a:rPr>
                  <a:t>Receiver</a:t>
                </a:r>
              </a:p>
            </p:txBody>
          </p:sp>
        </p:grpSp>
      </p:grpSp>
      <p:sp>
        <p:nvSpPr>
          <p:cNvPr id="15" name="Rectangle: Rounded Corners 14">
            <a:extLst>
              <a:ext uri="{FF2B5EF4-FFF2-40B4-BE49-F238E27FC236}">
                <a16:creationId xmlns:a16="http://schemas.microsoft.com/office/drawing/2014/main" id="{27EDCFAD-DBEF-D97A-1429-4DBDE87457EB}"/>
              </a:ext>
            </a:extLst>
          </p:cNvPr>
          <p:cNvSpPr/>
          <p:nvPr/>
        </p:nvSpPr>
        <p:spPr>
          <a:xfrm>
            <a:off x="2444178" y="2204019"/>
            <a:ext cx="4303314" cy="2177434"/>
          </a:xfrm>
          <a:prstGeom prst="roundRect">
            <a:avLst>
              <a:gd name="adj" fmla="val 3069"/>
            </a:avLst>
          </a:prstGeom>
          <a:solidFill>
            <a:srgbClr val="FFF5E7"/>
          </a:solidFill>
          <a:ln w="38100">
            <a:solidFill>
              <a:srgbClr val="FF5F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7F9088A6-23D9-AA44-BD3C-C762DA59F663}"/>
              </a:ext>
            </a:extLst>
          </p:cNvPr>
          <p:cNvGraphicFramePr>
            <a:graphicFrameLocks noGrp="1"/>
          </p:cNvGraphicFramePr>
          <p:nvPr/>
        </p:nvGraphicFramePr>
        <p:xfrm>
          <a:off x="2617262" y="2568380"/>
          <a:ext cx="2648155" cy="109728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246091">
                <a:tc>
                  <a:txBody>
                    <a:bodyPr/>
                    <a:lstStyle/>
                    <a:p>
                      <a:pPr algn="ctr"/>
                      <a:r>
                        <a:rPr lang="en-US" i="1" dirty="0" err="1">
                          <a:solidFill>
                            <a:srgbClr val="6D40DC"/>
                          </a:solidFill>
                        </a:rPr>
                        <a:t>R</a:t>
                      </a:r>
                      <a:r>
                        <a:rPr lang="en-US" i="1" baseline="-25000" dirty="0" err="1">
                          <a:solidFill>
                            <a:srgbClr val="6D40DC"/>
                          </a:solidFill>
                        </a:rPr>
                        <a:t>Sender</a:t>
                      </a: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246091">
                <a:tc>
                  <a:txBody>
                    <a:bodyPr/>
                    <a:lstStyle/>
                    <a:p>
                      <a:pPr algn="ctr"/>
                      <a:r>
                        <a:rPr lang="en-US" i="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246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err="1">
                          <a:solidFill>
                            <a:srgbClr val="B3195F"/>
                          </a:solidFill>
                        </a:rPr>
                        <a:t>R</a:t>
                      </a:r>
                      <a:r>
                        <a:rPr lang="en-US" i="1" baseline="-25000" dirty="0" err="1">
                          <a:solidFill>
                            <a:srgbClr val="B3195F"/>
                          </a:solidFill>
                        </a:rPr>
                        <a:t>Receiver</a:t>
                      </a: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17" name="TextBox 16">
            <a:extLst>
              <a:ext uri="{FF2B5EF4-FFF2-40B4-BE49-F238E27FC236}">
                <a16:creationId xmlns:a16="http://schemas.microsoft.com/office/drawing/2014/main" id="{77DD3D40-87D3-B33E-AF3B-D39DB8054442}"/>
              </a:ext>
            </a:extLst>
          </p:cNvPr>
          <p:cNvSpPr txBox="1"/>
          <p:nvPr/>
        </p:nvSpPr>
        <p:spPr>
          <a:xfrm>
            <a:off x="2444179" y="1863804"/>
            <a:ext cx="4303314" cy="381361"/>
          </a:xfrm>
          <a:prstGeom prst="rect">
            <a:avLst/>
          </a:prstGeom>
          <a:noFill/>
        </p:spPr>
        <p:txBody>
          <a:bodyPr wrap="square" rtlCol="0">
            <a:spAutoFit/>
          </a:bodyPr>
          <a:lstStyle/>
          <a:p>
            <a:pPr algn="ctr"/>
            <a:r>
              <a:rPr lang="en-US" i="1" dirty="0">
                <a:solidFill>
                  <a:srgbClr val="FF5F25"/>
                </a:solidFill>
              </a:rPr>
              <a:t>DRAM Bank</a:t>
            </a:r>
          </a:p>
        </p:txBody>
      </p:sp>
      <p:graphicFrame>
        <p:nvGraphicFramePr>
          <p:cNvPr id="18" name="Table 17">
            <a:extLst>
              <a:ext uri="{FF2B5EF4-FFF2-40B4-BE49-F238E27FC236}">
                <a16:creationId xmlns:a16="http://schemas.microsoft.com/office/drawing/2014/main" id="{9D428D7E-E00D-BCEC-BFC0-FB57B1066B21}"/>
              </a:ext>
            </a:extLst>
          </p:cNvPr>
          <p:cNvGraphicFramePr>
            <a:graphicFrameLocks noGrp="1"/>
          </p:cNvGraphicFramePr>
          <p:nvPr/>
        </p:nvGraphicFramePr>
        <p:xfrm>
          <a:off x="2617262" y="3781547"/>
          <a:ext cx="2648155" cy="365760"/>
        </p:xfrm>
        <a:graphic>
          <a:graphicData uri="http://schemas.openxmlformats.org/drawingml/2006/table">
            <a:tbl>
              <a:tblPr bandRow="1">
                <a:tableStyleId>{69012ECD-51FC-41F1-AA8D-1B2483CD663E}</a:tableStyleId>
              </a:tblPr>
              <a:tblGrid>
                <a:gridCol w="2648155">
                  <a:extLst>
                    <a:ext uri="{9D8B030D-6E8A-4147-A177-3AD203B41FA5}">
                      <a16:colId xmlns:a16="http://schemas.microsoft.com/office/drawing/2014/main" val="2630129014"/>
                    </a:ext>
                  </a:extLst>
                </a:gridCol>
              </a:tblGrid>
              <a:tr h="0">
                <a:tc>
                  <a:txBody>
                    <a:bodyPr/>
                    <a:lstStyle/>
                    <a:p>
                      <a:pPr algn="ctr"/>
                      <a:r>
                        <a:rPr lang="en-US" i="1" dirty="0"/>
                        <a:t>Row Buffer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CD"/>
                    </a:solidFill>
                  </a:tcPr>
                </a:tc>
                <a:extLst>
                  <a:ext uri="{0D108BD9-81ED-4DB2-BD59-A6C34878D82A}">
                    <a16:rowId xmlns:a16="http://schemas.microsoft.com/office/drawing/2014/main" val="472369372"/>
                  </a:ext>
                </a:extLst>
              </a:tr>
            </a:tbl>
          </a:graphicData>
        </a:graphic>
      </p:graphicFrame>
      <p:graphicFrame>
        <p:nvGraphicFramePr>
          <p:cNvPr id="23" name="Table 22">
            <a:extLst>
              <a:ext uri="{FF2B5EF4-FFF2-40B4-BE49-F238E27FC236}">
                <a16:creationId xmlns:a16="http://schemas.microsoft.com/office/drawing/2014/main" id="{C0458983-AEE5-8FBB-A711-76D66203639E}"/>
              </a:ext>
            </a:extLst>
          </p:cNvPr>
          <p:cNvGraphicFramePr>
            <a:graphicFrameLocks noGrp="1"/>
          </p:cNvGraphicFramePr>
          <p:nvPr/>
        </p:nvGraphicFramePr>
        <p:xfrm>
          <a:off x="5363467" y="2568379"/>
          <a:ext cx="1215014" cy="1061237"/>
        </p:xfrm>
        <a:graphic>
          <a:graphicData uri="http://schemas.openxmlformats.org/drawingml/2006/table">
            <a:tbl>
              <a:tblPr bandRow="1">
                <a:tableStyleId>{69012ECD-51FC-41F1-AA8D-1B2483CD663E}</a:tableStyleId>
              </a:tblPr>
              <a:tblGrid>
                <a:gridCol w="1215014">
                  <a:extLst>
                    <a:ext uri="{9D8B030D-6E8A-4147-A177-3AD203B41FA5}">
                      <a16:colId xmlns:a16="http://schemas.microsoft.com/office/drawing/2014/main" val="2630129014"/>
                    </a:ext>
                  </a:extLst>
                </a:gridCol>
              </a:tblGrid>
              <a:tr h="368026">
                <a:tc>
                  <a:txBody>
                    <a:bodyPr/>
                    <a:lstStyle/>
                    <a:p>
                      <a:pPr algn="ctr"/>
                      <a:endParaRPr lang="en-US" i="1" baseline="-25000" dirty="0">
                        <a:solidFill>
                          <a:srgbClr val="6D40DC"/>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3F9"/>
                    </a:solidFill>
                  </a:tcPr>
                </a:tc>
                <a:extLst>
                  <a:ext uri="{0D108BD9-81ED-4DB2-BD59-A6C34878D82A}">
                    <a16:rowId xmlns:a16="http://schemas.microsoft.com/office/drawing/2014/main" val="2292337727"/>
                  </a:ext>
                </a:extLst>
              </a:tr>
              <a:tr h="364027">
                <a:tc>
                  <a:txBody>
                    <a:bodyPr/>
                    <a:lstStyle/>
                    <a:p>
                      <a:pPr algn="ct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BCD"/>
                    </a:solidFill>
                  </a:tcPr>
                </a:tc>
                <a:extLst>
                  <a:ext uri="{0D108BD9-81ED-4DB2-BD59-A6C34878D82A}">
                    <a16:rowId xmlns:a16="http://schemas.microsoft.com/office/drawing/2014/main" val="2930314675"/>
                  </a:ext>
                </a:extLst>
              </a:tr>
              <a:tr h="3291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i="1" baseline="-25000" dirty="0">
                        <a:solidFill>
                          <a:srgbClr val="B3195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9D3E4"/>
                    </a:solidFill>
                  </a:tcPr>
                </a:tc>
                <a:extLst>
                  <a:ext uri="{0D108BD9-81ED-4DB2-BD59-A6C34878D82A}">
                    <a16:rowId xmlns:a16="http://schemas.microsoft.com/office/drawing/2014/main" val="472369372"/>
                  </a:ext>
                </a:extLst>
              </a:tr>
            </a:tbl>
          </a:graphicData>
        </a:graphic>
      </p:graphicFrame>
      <p:sp>
        <p:nvSpPr>
          <p:cNvPr id="24" name="TextBox 23">
            <a:extLst>
              <a:ext uri="{FF2B5EF4-FFF2-40B4-BE49-F238E27FC236}">
                <a16:creationId xmlns:a16="http://schemas.microsoft.com/office/drawing/2014/main" id="{A43ADAD2-0FAD-82A8-54DB-A870ECCCB4FF}"/>
              </a:ext>
            </a:extLst>
          </p:cNvPr>
          <p:cNvSpPr txBox="1"/>
          <p:nvPr/>
        </p:nvSpPr>
        <p:spPr>
          <a:xfrm>
            <a:off x="2617262" y="2246708"/>
            <a:ext cx="2648155" cy="369332"/>
          </a:xfrm>
          <a:prstGeom prst="rect">
            <a:avLst/>
          </a:prstGeom>
          <a:noFill/>
        </p:spPr>
        <p:txBody>
          <a:bodyPr wrap="square" rtlCol="0">
            <a:spAutoFit/>
          </a:bodyPr>
          <a:lstStyle/>
          <a:p>
            <a:pPr algn="ctr"/>
            <a:r>
              <a:rPr lang="en-US" i="1" dirty="0"/>
              <a:t>DRAM Rows</a:t>
            </a:r>
          </a:p>
        </p:txBody>
      </p:sp>
      <p:sp>
        <p:nvSpPr>
          <p:cNvPr id="25" name="TextBox 24">
            <a:extLst>
              <a:ext uri="{FF2B5EF4-FFF2-40B4-BE49-F238E27FC236}">
                <a16:creationId xmlns:a16="http://schemas.microsoft.com/office/drawing/2014/main" id="{D2CECCEE-5ED2-3FF0-6758-C0CB9AEBF656}"/>
              </a:ext>
            </a:extLst>
          </p:cNvPr>
          <p:cNvSpPr txBox="1"/>
          <p:nvPr/>
        </p:nvSpPr>
        <p:spPr>
          <a:xfrm>
            <a:off x="4646896" y="2234520"/>
            <a:ext cx="2648155" cy="369332"/>
          </a:xfrm>
          <a:prstGeom prst="rect">
            <a:avLst/>
          </a:prstGeom>
          <a:noFill/>
        </p:spPr>
        <p:txBody>
          <a:bodyPr wrap="square" rtlCol="0">
            <a:spAutoFit/>
          </a:bodyPr>
          <a:lstStyle/>
          <a:p>
            <a:pPr algn="ctr"/>
            <a:r>
              <a:rPr lang="en-US" i="1" dirty="0" err="1"/>
              <a:t>Ctrs</a:t>
            </a:r>
            <a:endParaRPr lang="en-US" i="1" dirty="0"/>
          </a:p>
        </p:txBody>
      </p:sp>
      <p:sp>
        <p:nvSpPr>
          <p:cNvPr id="31" name="Speech Bubble: Rectangle with Corners Rounded 30">
            <a:extLst>
              <a:ext uri="{FF2B5EF4-FFF2-40B4-BE49-F238E27FC236}">
                <a16:creationId xmlns:a16="http://schemas.microsoft.com/office/drawing/2014/main" id="{1579E376-C03F-0D90-B5A1-EFF62BB02D73}"/>
              </a:ext>
            </a:extLst>
          </p:cNvPr>
          <p:cNvSpPr/>
          <p:nvPr/>
        </p:nvSpPr>
        <p:spPr>
          <a:xfrm>
            <a:off x="932456" y="1227104"/>
            <a:ext cx="2679871" cy="612648"/>
          </a:xfrm>
          <a:prstGeom prst="wedgeRoundRectCallout">
            <a:avLst>
              <a:gd name="adj1" fmla="val -37697"/>
              <a:gd name="adj2" fmla="val 75232"/>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0 (No Back-off)</a:t>
            </a:r>
          </a:p>
        </p:txBody>
      </p:sp>
      <p:sp>
        <p:nvSpPr>
          <p:cNvPr id="35" name="TextBox 34">
            <a:extLst>
              <a:ext uri="{FF2B5EF4-FFF2-40B4-BE49-F238E27FC236}">
                <a16:creationId xmlns:a16="http://schemas.microsoft.com/office/drawing/2014/main" id="{351B0767-33B2-D7B4-EB84-267E6199557B}"/>
              </a:ext>
            </a:extLst>
          </p:cNvPr>
          <p:cNvSpPr txBox="1"/>
          <p:nvPr/>
        </p:nvSpPr>
        <p:spPr>
          <a:xfrm>
            <a:off x="3377566" y="5993840"/>
            <a:ext cx="2657155" cy="369332"/>
          </a:xfrm>
          <a:prstGeom prst="rect">
            <a:avLst/>
          </a:prstGeom>
          <a:noFill/>
        </p:spPr>
        <p:txBody>
          <a:bodyPr wrap="square" rtlCol="0">
            <a:spAutoFit/>
          </a:bodyPr>
          <a:lstStyle/>
          <a:p>
            <a:pPr algn="ctr"/>
            <a:r>
              <a:rPr lang="en-US" i="1" dirty="0"/>
              <a:t>Transmission Windows</a:t>
            </a:r>
          </a:p>
        </p:txBody>
      </p:sp>
      <p:cxnSp>
        <p:nvCxnSpPr>
          <p:cNvPr id="39" name="Straight Connector 38">
            <a:extLst>
              <a:ext uri="{FF2B5EF4-FFF2-40B4-BE49-F238E27FC236}">
                <a16:creationId xmlns:a16="http://schemas.microsoft.com/office/drawing/2014/main" id="{2F6246ED-95BD-765F-FDA0-F47D9ACEB277}"/>
              </a:ext>
            </a:extLst>
          </p:cNvPr>
          <p:cNvCxnSpPr>
            <a:cxnSpLocks/>
          </p:cNvCxnSpPr>
          <p:nvPr/>
        </p:nvCxnSpPr>
        <p:spPr>
          <a:xfrm>
            <a:off x="116141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D20480B-70F0-7C81-4191-721AE02FC99F}"/>
              </a:ext>
            </a:extLst>
          </p:cNvPr>
          <p:cNvCxnSpPr>
            <a:cxnSpLocks/>
          </p:cNvCxnSpPr>
          <p:nvPr/>
        </p:nvCxnSpPr>
        <p:spPr>
          <a:xfrm>
            <a:off x="335828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44E9210-DE72-514C-4EBD-46056661F112}"/>
              </a:ext>
            </a:extLst>
          </p:cNvPr>
          <p:cNvCxnSpPr>
            <a:cxnSpLocks/>
          </p:cNvCxnSpPr>
          <p:nvPr/>
        </p:nvCxnSpPr>
        <p:spPr>
          <a:xfrm>
            <a:off x="5555158"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13B86D5-5374-0341-A54B-7A93C95C999A}"/>
              </a:ext>
            </a:extLst>
          </p:cNvPr>
          <p:cNvCxnSpPr>
            <a:cxnSpLocks/>
          </p:cNvCxnSpPr>
          <p:nvPr/>
        </p:nvCxnSpPr>
        <p:spPr>
          <a:xfrm>
            <a:off x="7752029" y="5193878"/>
            <a:ext cx="0" cy="814726"/>
          </a:xfrm>
          <a:prstGeom prst="line">
            <a:avLst/>
          </a:prstGeom>
          <a:ln w="57150">
            <a:solidFill>
              <a:srgbClr val="316CE3"/>
            </a:solidFill>
          </a:ln>
        </p:spPr>
        <p:style>
          <a:lnRef idx="1">
            <a:schemeClr val="accent1"/>
          </a:lnRef>
          <a:fillRef idx="0">
            <a:schemeClr val="accent1"/>
          </a:fillRef>
          <a:effectRef idx="0">
            <a:schemeClr val="accent1"/>
          </a:effectRef>
          <a:fontRef idx="minor">
            <a:schemeClr val="tx1"/>
          </a:fontRef>
        </p:style>
      </p:cxnSp>
      <p:pic>
        <p:nvPicPr>
          <p:cNvPr id="10" name="Graphic 9" descr="Hammer with solid fill">
            <a:extLst>
              <a:ext uri="{FF2B5EF4-FFF2-40B4-BE49-F238E27FC236}">
                <a16:creationId xmlns:a16="http://schemas.microsoft.com/office/drawing/2014/main" id="{774B8EEE-C4BD-BB0C-218B-E820DCDA84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957359" y="3041225"/>
            <a:ext cx="639133" cy="639133"/>
          </a:xfrm>
          <a:prstGeom prst="rect">
            <a:avLst/>
          </a:prstGeom>
        </p:spPr>
      </p:pic>
      <p:sp>
        <p:nvSpPr>
          <p:cNvPr id="37" name="Freeform: Shape 36">
            <a:extLst>
              <a:ext uri="{FF2B5EF4-FFF2-40B4-BE49-F238E27FC236}">
                <a16:creationId xmlns:a16="http://schemas.microsoft.com/office/drawing/2014/main" id="{A07FB1A0-C92B-2585-1543-736D5C7387CA}"/>
              </a:ext>
            </a:extLst>
          </p:cNvPr>
          <p:cNvSpPr/>
          <p:nvPr/>
        </p:nvSpPr>
        <p:spPr>
          <a:xfrm rot="1350518">
            <a:off x="5749239" y="3325067"/>
            <a:ext cx="443471" cy="288298"/>
          </a:xfrm>
          <a:custGeom>
            <a:avLst/>
            <a:gdLst>
              <a:gd name="connsiteX0" fmla="*/ 149200 w 556383"/>
              <a:gd name="connsiteY0" fmla="*/ 225923 h 361702"/>
              <a:gd name="connsiteX1" fmla="*/ 199682 w 556383"/>
              <a:gd name="connsiteY1" fmla="*/ 272863 h 361702"/>
              <a:gd name="connsiteX2" fmla="*/ 270577 w 556383"/>
              <a:gd name="connsiteY2" fmla="*/ 203940 h 361702"/>
              <a:gd name="connsiteX3" fmla="*/ 314935 w 556383"/>
              <a:gd name="connsiteY3" fmla="*/ 159706 h 361702"/>
              <a:gd name="connsiteX4" fmla="*/ 365541 w 556383"/>
              <a:gd name="connsiteY4" fmla="*/ 204359 h 361702"/>
              <a:gd name="connsiteX5" fmla="*/ 537172 w 556383"/>
              <a:gd name="connsiteY5" fmla="*/ 32661 h 361702"/>
              <a:gd name="connsiteX6" fmla="*/ 537306 w 556383"/>
              <a:gd name="connsiteY6" fmla="*/ 32662 h 361702"/>
              <a:gd name="connsiteX7" fmla="*/ 537334 w 556383"/>
              <a:gd name="connsiteY7" fmla="*/ 32728 h 361702"/>
              <a:gd name="connsiteX8" fmla="*/ 537334 w 556383"/>
              <a:gd name="connsiteY8" fmla="*/ 114300 h 361702"/>
              <a:gd name="connsiteX9" fmla="*/ 556384 w 556383"/>
              <a:gd name="connsiteY9" fmla="*/ 114300 h 361702"/>
              <a:gd name="connsiteX10" fmla="*/ 556384 w 556383"/>
              <a:gd name="connsiteY10" fmla="*/ 0 h 361702"/>
              <a:gd name="connsiteX11" fmla="*/ 442341 w 556383"/>
              <a:gd name="connsiteY11" fmla="*/ 0 h 361702"/>
              <a:gd name="connsiteX12" fmla="*/ 442341 w 556383"/>
              <a:gd name="connsiteY12" fmla="*/ 19050 h 361702"/>
              <a:gd name="connsiteX13" fmla="*/ 523599 w 556383"/>
              <a:gd name="connsiteY13" fmla="*/ 19050 h 361702"/>
              <a:gd name="connsiteX14" fmla="*/ 523703 w 556383"/>
              <a:gd name="connsiteY14" fmla="*/ 19137 h 361702"/>
              <a:gd name="connsiteX15" fmla="*/ 523675 w 556383"/>
              <a:gd name="connsiteY15" fmla="*/ 19212 h 361702"/>
              <a:gd name="connsiteX16" fmla="*/ 364703 w 556383"/>
              <a:gd name="connsiteY16" fmla="*/ 178194 h 361702"/>
              <a:gd name="connsiteX17" fmla="*/ 314096 w 556383"/>
              <a:gd name="connsiteY17" fmla="*/ 133540 h 361702"/>
              <a:gd name="connsiteX18" fmla="*/ 257261 w 556383"/>
              <a:gd name="connsiteY18" fmla="*/ 190376 h 361702"/>
              <a:gd name="connsiteX19" fmla="*/ 199454 w 556383"/>
              <a:gd name="connsiteY19" fmla="*/ 246574 h 361702"/>
              <a:gd name="connsiteX20" fmla="*/ 148761 w 556383"/>
              <a:gd name="connsiteY20" fmla="*/ 199463 h 361702"/>
              <a:gd name="connsiteX21" fmla="*/ 0 w 556383"/>
              <a:gd name="connsiteY21" fmla="*/ 348234 h 361702"/>
              <a:gd name="connsiteX22" fmla="*/ 13468 w 556383"/>
              <a:gd name="connsiteY22" fmla="*/ 361702 h 36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6383" h="361702">
                <a:moveTo>
                  <a:pt x="149200" y="225923"/>
                </a:moveTo>
                <a:lnTo>
                  <a:pt x="199682" y="272863"/>
                </a:lnTo>
                <a:lnTo>
                  <a:pt x="270577" y="203940"/>
                </a:lnTo>
                <a:lnTo>
                  <a:pt x="314935" y="159706"/>
                </a:lnTo>
                <a:lnTo>
                  <a:pt x="365541" y="204359"/>
                </a:lnTo>
                <a:lnTo>
                  <a:pt x="537172" y="32661"/>
                </a:lnTo>
                <a:cubicBezTo>
                  <a:pt x="537209" y="32624"/>
                  <a:pt x="537270" y="32625"/>
                  <a:pt x="537306" y="32662"/>
                </a:cubicBezTo>
                <a:cubicBezTo>
                  <a:pt x="537323" y="32680"/>
                  <a:pt x="537334" y="32703"/>
                  <a:pt x="537334" y="32728"/>
                </a:cubicBezTo>
                <a:lnTo>
                  <a:pt x="537334" y="114300"/>
                </a:lnTo>
                <a:lnTo>
                  <a:pt x="556384" y="114300"/>
                </a:lnTo>
                <a:lnTo>
                  <a:pt x="556384" y="0"/>
                </a:lnTo>
                <a:lnTo>
                  <a:pt x="442341" y="0"/>
                </a:lnTo>
                <a:lnTo>
                  <a:pt x="442341" y="19050"/>
                </a:lnTo>
                <a:lnTo>
                  <a:pt x="523599" y="19050"/>
                </a:lnTo>
                <a:cubicBezTo>
                  <a:pt x="523651" y="19045"/>
                  <a:pt x="523698" y="19084"/>
                  <a:pt x="523703" y="19137"/>
                </a:cubicBezTo>
                <a:cubicBezTo>
                  <a:pt x="523705" y="19164"/>
                  <a:pt x="523695" y="19192"/>
                  <a:pt x="523675" y="19212"/>
                </a:cubicBezTo>
                <a:lnTo>
                  <a:pt x="364703" y="178194"/>
                </a:lnTo>
                <a:lnTo>
                  <a:pt x="314096" y="133540"/>
                </a:lnTo>
                <a:lnTo>
                  <a:pt x="257261" y="190376"/>
                </a:lnTo>
                <a:lnTo>
                  <a:pt x="199454" y="246574"/>
                </a:lnTo>
                <a:lnTo>
                  <a:pt x="148761" y="199463"/>
                </a:lnTo>
                <a:lnTo>
                  <a:pt x="0" y="348234"/>
                </a:lnTo>
                <a:lnTo>
                  <a:pt x="13468" y="361702"/>
                </a:lnTo>
                <a:close/>
              </a:path>
            </a:pathLst>
          </a:custGeom>
          <a:solidFill>
            <a:srgbClr val="FF0000"/>
          </a:solidFill>
          <a:ln w="19050" cap="flat">
            <a:solidFill>
              <a:srgbClr val="316CE3"/>
            </a:solidFill>
            <a:prstDash val="solid"/>
            <a:miter/>
          </a:ln>
        </p:spPr>
        <p:txBody>
          <a:bodyPr rtlCol="0" anchor="ctr"/>
          <a:lstStyle/>
          <a:p>
            <a:endParaRPr lang="en-US"/>
          </a:p>
        </p:txBody>
      </p:sp>
      <p:cxnSp>
        <p:nvCxnSpPr>
          <p:cNvPr id="34" name="Straight Arrow Connector 33">
            <a:extLst>
              <a:ext uri="{FF2B5EF4-FFF2-40B4-BE49-F238E27FC236}">
                <a16:creationId xmlns:a16="http://schemas.microsoft.com/office/drawing/2014/main" id="{4BCA6B4B-6128-42B2-377A-4802F3FBF4CD}"/>
              </a:ext>
            </a:extLst>
          </p:cNvPr>
          <p:cNvCxnSpPr>
            <a:cxnSpLocks/>
          </p:cNvCxnSpPr>
          <p:nvPr/>
        </p:nvCxnSpPr>
        <p:spPr>
          <a:xfrm>
            <a:off x="910066" y="5985173"/>
            <a:ext cx="7592154"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B573086-D5A2-4702-E4C6-DD252EC61740}"/>
              </a:ext>
            </a:extLst>
          </p:cNvPr>
          <p:cNvCxnSpPr>
            <a:cxnSpLocks/>
          </p:cNvCxnSpPr>
          <p:nvPr/>
        </p:nvCxnSpPr>
        <p:spPr>
          <a:xfrm flipV="1">
            <a:off x="932456" y="4958257"/>
            <a:ext cx="0" cy="105034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E0775872-EB2D-655B-7A68-88535C949D27}"/>
              </a:ext>
            </a:extLst>
          </p:cNvPr>
          <p:cNvSpPr txBox="1"/>
          <p:nvPr/>
        </p:nvSpPr>
        <p:spPr>
          <a:xfrm rot="16200000">
            <a:off x="-137587" y="5202234"/>
            <a:ext cx="1286037" cy="646331"/>
          </a:xfrm>
          <a:prstGeom prst="rect">
            <a:avLst/>
          </a:prstGeom>
          <a:noFill/>
        </p:spPr>
        <p:txBody>
          <a:bodyPr wrap="square" rtlCol="0">
            <a:spAutoFit/>
          </a:bodyPr>
          <a:lstStyle/>
          <a:p>
            <a:pPr algn="ctr"/>
            <a:r>
              <a:rPr lang="en-US" i="1" dirty="0" err="1"/>
              <a:t>Recv</a:t>
            </a:r>
            <a:r>
              <a:rPr lang="en-US" i="1" dirty="0"/>
              <a:t>.</a:t>
            </a:r>
          </a:p>
          <a:p>
            <a:pPr algn="ctr"/>
            <a:r>
              <a:rPr lang="en-US" i="1" dirty="0"/>
              <a:t>Latency</a:t>
            </a:r>
          </a:p>
        </p:txBody>
      </p:sp>
      <p:sp>
        <p:nvSpPr>
          <p:cNvPr id="51" name="Freeform: Shape 50">
            <a:extLst>
              <a:ext uri="{FF2B5EF4-FFF2-40B4-BE49-F238E27FC236}">
                <a16:creationId xmlns:a16="http://schemas.microsoft.com/office/drawing/2014/main" id="{E7168CC6-1443-04A8-282E-424F8AFD9787}"/>
              </a:ext>
            </a:extLst>
          </p:cNvPr>
          <p:cNvSpPr/>
          <p:nvPr/>
        </p:nvSpPr>
        <p:spPr>
          <a:xfrm>
            <a:off x="1341920" y="5078977"/>
            <a:ext cx="1768129" cy="686302"/>
          </a:xfrm>
          <a:custGeom>
            <a:avLst/>
            <a:gdLst>
              <a:gd name="connsiteX0" fmla="*/ 0 w 1768129"/>
              <a:gd name="connsiteY0" fmla="*/ 637108 h 686302"/>
              <a:gd name="connsiteX1" fmla="*/ 199348 w 1768129"/>
              <a:gd name="connsiteY1" fmla="*/ 624107 h 686302"/>
              <a:gd name="connsiteX2" fmla="*/ 320690 w 1768129"/>
              <a:gd name="connsiteY2" fmla="*/ 641442 h 686302"/>
              <a:gd name="connsiteX3" fmla="*/ 459367 w 1768129"/>
              <a:gd name="connsiteY3" fmla="*/ 606772 h 686302"/>
              <a:gd name="connsiteX4" fmla="*/ 667382 w 1768129"/>
              <a:gd name="connsiteY4" fmla="*/ 624107 h 686302"/>
              <a:gd name="connsiteX5" fmla="*/ 827727 w 1768129"/>
              <a:gd name="connsiteY5" fmla="*/ 611106 h 686302"/>
              <a:gd name="connsiteX6" fmla="*/ 949070 w 1768129"/>
              <a:gd name="connsiteY6" fmla="*/ 61 h 686302"/>
              <a:gd name="connsiteX7" fmla="*/ 1066078 w 1768129"/>
              <a:gd name="connsiteY7" fmla="*/ 650109 h 686302"/>
              <a:gd name="connsiteX8" fmla="*/ 1287094 w 1768129"/>
              <a:gd name="connsiteY8" fmla="*/ 602439 h 686302"/>
              <a:gd name="connsiteX9" fmla="*/ 1529779 w 1768129"/>
              <a:gd name="connsiteY9" fmla="*/ 598105 h 686302"/>
              <a:gd name="connsiteX10" fmla="*/ 1768129 w 1768129"/>
              <a:gd name="connsiteY10" fmla="*/ 598105 h 68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8129" h="686302">
                <a:moveTo>
                  <a:pt x="0" y="637108"/>
                </a:moveTo>
                <a:cubicBezTo>
                  <a:pt x="72950" y="630246"/>
                  <a:pt x="145900" y="623385"/>
                  <a:pt x="199348" y="624107"/>
                </a:cubicBezTo>
                <a:cubicBezTo>
                  <a:pt x="252796" y="624829"/>
                  <a:pt x="277354" y="644331"/>
                  <a:pt x="320690" y="641442"/>
                </a:cubicBezTo>
                <a:cubicBezTo>
                  <a:pt x="364026" y="638553"/>
                  <a:pt x="401585" y="609661"/>
                  <a:pt x="459367" y="606772"/>
                </a:cubicBezTo>
                <a:cubicBezTo>
                  <a:pt x="517149" y="603883"/>
                  <a:pt x="605989" y="623385"/>
                  <a:pt x="667382" y="624107"/>
                </a:cubicBezTo>
                <a:cubicBezTo>
                  <a:pt x="728775" y="624829"/>
                  <a:pt x="780779" y="715114"/>
                  <a:pt x="827727" y="611106"/>
                </a:cubicBezTo>
                <a:cubicBezTo>
                  <a:pt x="874675" y="507098"/>
                  <a:pt x="909345" y="-6439"/>
                  <a:pt x="949070" y="61"/>
                </a:cubicBezTo>
                <a:cubicBezTo>
                  <a:pt x="988795" y="6561"/>
                  <a:pt x="1009741" y="549713"/>
                  <a:pt x="1066078" y="650109"/>
                </a:cubicBezTo>
                <a:cubicBezTo>
                  <a:pt x="1122415" y="750505"/>
                  <a:pt x="1209811" y="611106"/>
                  <a:pt x="1287094" y="602439"/>
                </a:cubicBezTo>
                <a:cubicBezTo>
                  <a:pt x="1364378" y="593772"/>
                  <a:pt x="1529779" y="598105"/>
                  <a:pt x="1529779" y="598105"/>
                </a:cubicBezTo>
                <a:lnTo>
                  <a:pt x="1768129" y="598105"/>
                </a:lnTo>
              </a:path>
            </a:pathLst>
          </a:custGeom>
          <a:noFill/>
          <a:ln w="3810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1E8CA4B-A048-4FE7-FCEB-E405213AF1CB}"/>
              </a:ext>
            </a:extLst>
          </p:cNvPr>
          <p:cNvSpPr txBox="1"/>
          <p:nvPr/>
        </p:nvSpPr>
        <p:spPr>
          <a:xfrm>
            <a:off x="1376423" y="4580426"/>
            <a:ext cx="1800071" cy="461665"/>
          </a:xfrm>
          <a:prstGeom prst="rect">
            <a:avLst/>
          </a:prstGeom>
          <a:noFill/>
        </p:spPr>
        <p:txBody>
          <a:bodyPr wrap="square" rtlCol="0">
            <a:spAutoFit/>
          </a:bodyPr>
          <a:lstStyle/>
          <a:p>
            <a:pPr algn="ctr"/>
            <a:r>
              <a:rPr lang="en-US" sz="2400" dirty="0">
                <a:solidFill>
                  <a:srgbClr val="B3195F"/>
                </a:solidFill>
              </a:rPr>
              <a:t>back-off</a:t>
            </a:r>
          </a:p>
        </p:txBody>
      </p:sp>
      <p:sp>
        <p:nvSpPr>
          <p:cNvPr id="53" name="Speech Bubble: Rectangle with Corners Rounded 52">
            <a:extLst>
              <a:ext uri="{FF2B5EF4-FFF2-40B4-BE49-F238E27FC236}">
                <a16:creationId xmlns:a16="http://schemas.microsoft.com/office/drawing/2014/main" id="{E84D50DD-18BA-9A26-B6E8-638BE644ED28}"/>
              </a:ext>
            </a:extLst>
          </p:cNvPr>
          <p:cNvSpPr/>
          <p:nvPr/>
        </p:nvSpPr>
        <p:spPr>
          <a:xfrm flipH="1">
            <a:off x="6329283" y="1460195"/>
            <a:ext cx="2524583" cy="612648"/>
          </a:xfrm>
          <a:prstGeom prst="wedgeRoundRectCallout">
            <a:avLst>
              <a:gd name="adj1" fmla="val -10918"/>
              <a:gd name="adj2" fmla="val 138895"/>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0</a:t>
            </a:r>
          </a:p>
        </p:txBody>
      </p:sp>
      <p:sp>
        <p:nvSpPr>
          <p:cNvPr id="28" name="Thought Bubble: Cloud 27">
            <a:extLst>
              <a:ext uri="{FF2B5EF4-FFF2-40B4-BE49-F238E27FC236}">
                <a16:creationId xmlns:a16="http://schemas.microsoft.com/office/drawing/2014/main" id="{C9790BD3-3C54-BADB-CEB9-D1B4C6F5BEA9}"/>
              </a:ext>
            </a:extLst>
          </p:cNvPr>
          <p:cNvSpPr/>
          <p:nvPr/>
        </p:nvSpPr>
        <p:spPr>
          <a:xfrm>
            <a:off x="1840534" y="1893233"/>
            <a:ext cx="751504" cy="503508"/>
          </a:xfrm>
          <a:prstGeom prst="cloudCallout">
            <a:avLst>
              <a:gd name="adj1" fmla="val -40264"/>
              <a:gd name="adj2" fmla="val 74525"/>
            </a:avLst>
          </a:prstGeom>
          <a:solidFill>
            <a:srgbClr val="F2F2F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Zzz</a:t>
            </a:r>
          </a:p>
        </p:txBody>
      </p:sp>
      <p:sp>
        <p:nvSpPr>
          <p:cNvPr id="29" name="TextBox 28">
            <a:extLst>
              <a:ext uri="{FF2B5EF4-FFF2-40B4-BE49-F238E27FC236}">
                <a16:creationId xmlns:a16="http://schemas.microsoft.com/office/drawing/2014/main" id="{22F52943-EE47-51FA-B2F8-8E9DC74BCCB5}"/>
              </a:ext>
            </a:extLst>
          </p:cNvPr>
          <p:cNvSpPr txBox="1"/>
          <p:nvPr/>
        </p:nvSpPr>
        <p:spPr>
          <a:xfrm rot="20069517">
            <a:off x="4649818" y="3774301"/>
            <a:ext cx="588152" cy="369332"/>
          </a:xfrm>
          <a:prstGeom prst="rect">
            <a:avLst/>
          </a:prstGeom>
          <a:noFill/>
        </p:spPr>
        <p:txBody>
          <a:bodyPr wrap="square" rtlCol="0">
            <a:spAutoFit/>
          </a:bodyPr>
          <a:lstStyle/>
          <a:p>
            <a:r>
              <a:rPr lang="en-US" dirty="0">
                <a:solidFill>
                  <a:schemeClr val="accent6">
                    <a:lumMod val="75000"/>
                  </a:schemeClr>
                </a:solidFill>
              </a:rPr>
              <a:t>HIT!</a:t>
            </a:r>
          </a:p>
        </p:txBody>
      </p:sp>
      <p:sp>
        <p:nvSpPr>
          <p:cNvPr id="32" name="Freeform: Shape 31">
            <a:extLst>
              <a:ext uri="{FF2B5EF4-FFF2-40B4-BE49-F238E27FC236}">
                <a16:creationId xmlns:a16="http://schemas.microsoft.com/office/drawing/2014/main" id="{EFD8EEB3-ABF6-DCF5-A94B-0FC7FBE6A05A}"/>
              </a:ext>
            </a:extLst>
          </p:cNvPr>
          <p:cNvSpPr/>
          <p:nvPr/>
        </p:nvSpPr>
        <p:spPr>
          <a:xfrm>
            <a:off x="3429000" y="5769860"/>
            <a:ext cx="1960245" cy="73074"/>
          </a:xfrm>
          <a:custGeom>
            <a:avLst/>
            <a:gdLst>
              <a:gd name="connsiteX0" fmla="*/ 0 w 1960245"/>
              <a:gd name="connsiteY0" fmla="*/ 32425 h 73074"/>
              <a:gd name="connsiteX1" fmla="*/ 104775 w 1960245"/>
              <a:gd name="connsiteY1" fmla="*/ 30520 h 73074"/>
              <a:gd name="connsiteX2" fmla="*/ 205740 w 1960245"/>
              <a:gd name="connsiteY2" fmla="*/ 64810 h 73074"/>
              <a:gd name="connsiteX3" fmla="*/ 388620 w 1960245"/>
              <a:gd name="connsiteY3" fmla="*/ 70525 h 73074"/>
              <a:gd name="connsiteX4" fmla="*/ 516255 w 1960245"/>
              <a:gd name="connsiteY4" fmla="*/ 30520 h 73074"/>
              <a:gd name="connsiteX5" fmla="*/ 611505 w 1960245"/>
              <a:gd name="connsiteY5" fmla="*/ 20995 h 73074"/>
              <a:gd name="connsiteX6" fmla="*/ 744855 w 1960245"/>
              <a:gd name="connsiteY6" fmla="*/ 53380 h 73074"/>
              <a:gd name="connsiteX7" fmla="*/ 925830 w 1960245"/>
              <a:gd name="connsiteY7" fmla="*/ 62905 h 73074"/>
              <a:gd name="connsiteX8" fmla="*/ 1074420 w 1960245"/>
              <a:gd name="connsiteY8" fmla="*/ 13375 h 73074"/>
              <a:gd name="connsiteX9" fmla="*/ 1223010 w 1960245"/>
              <a:gd name="connsiteY9" fmla="*/ 17185 h 73074"/>
              <a:gd name="connsiteX10" fmla="*/ 1339215 w 1960245"/>
              <a:gd name="connsiteY10" fmla="*/ 47665 h 73074"/>
              <a:gd name="connsiteX11" fmla="*/ 1525905 w 1960245"/>
              <a:gd name="connsiteY11" fmla="*/ 22900 h 73074"/>
              <a:gd name="connsiteX12" fmla="*/ 1664970 w 1960245"/>
              <a:gd name="connsiteY12" fmla="*/ 40 h 73074"/>
              <a:gd name="connsiteX13" fmla="*/ 1830705 w 1960245"/>
              <a:gd name="connsiteY13" fmla="*/ 28615 h 73074"/>
              <a:gd name="connsiteX14" fmla="*/ 1960245 w 1960245"/>
              <a:gd name="connsiteY14" fmla="*/ 7660 h 7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60245" h="73074">
                <a:moveTo>
                  <a:pt x="0" y="32425"/>
                </a:moveTo>
                <a:cubicBezTo>
                  <a:pt x="35242" y="28774"/>
                  <a:pt x="70485" y="25123"/>
                  <a:pt x="104775" y="30520"/>
                </a:cubicBezTo>
                <a:cubicBezTo>
                  <a:pt x="139065" y="35917"/>
                  <a:pt x="158433" y="58143"/>
                  <a:pt x="205740" y="64810"/>
                </a:cubicBezTo>
                <a:cubicBezTo>
                  <a:pt x="253047" y="71477"/>
                  <a:pt x="336868" y="76240"/>
                  <a:pt x="388620" y="70525"/>
                </a:cubicBezTo>
                <a:cubicBezTo>
                  <a:pt x="440373" y="64810"/>
                  <a:pt x="479107" y="38775"/>
                  <a:pt x="516255" y="30520"/>
                </a:cubicBezTo>
                <a:cubicBezTo>
                  <a:pt x="553403" y="22265"/>
                  <a:pt x="573405" y="17185"/>
                  <a:pt x="611505" y="20995"/>
                </a:cubicBezTo>
                <a:cubicBezTo>
                  <a:pt x="649605" y="24805"/>
                  <a:pt x="692468" y="46395"/>
                  <a:pt x="744855" y="53380"/>
                </a:cubicBezTo>
                <a:cubicBezTo>
                  <a:pt x="797242" y="60365"/>
                  <a:pt x="870903" y="69573"/>
                  <a:pt x="925830" y="62905"/>
                </a:cubicBezTo>
                <a:cubicBezTo>
                  <a:pt x="980758" y="56238"/>
                  <a:pt x="1024890" y="20995"/>
                  <a:pt x="1074420" y="13375"/>
                </a:cubicBezTo>
                <a:cubicBezTo>
                  <a:pt x="1123950" y="5755"/>
                  <a:pt x="1178877" y="11470"/>
                  <a:pt x="1223010" y="17185"/>
                </a:cubicBezTo>
                <a:cubicBezTo>
                  <a:pt x="1267143" y="22900"/>
                  <a:pt x="1288733" y="46713"/>
                  <a:pt x="1339215" y="47665"/>
                </a:cubicBezTo>
                <a:cubicBezTo>
                  <a:pt x="1389697" y="48617"/>
                  <a:pt x="1471613" y="30837"/>
                  <a:pt x="1525905" y="22900"/>
                </a:cubicBezTo>
                <a:cubicBezTo>
                  <a:pt x="1580197" y="14963"/>
                  <a:pt x="1614170" y="-912"/>
                  <a:pt x="1664970" y="40"/>
                </a:cubicBezTo>
                <a:cubicBezTo>
                  <a:pt x="1715770" y="992"/>
                  <a:pt x="1781493" y="27345"/>
                  <a:pt x="1830705" y="28615"/>
                </a:cubicBezTo>
                <a:cubicBezTo>
                  <a:pt x="1879917" y="29885"/>
                  <a:pt x="1920081" y="18772"/>
                  <a:pt x="1960245" y="7660"/>
                </a:cubicBezTo>
              </a:path>
            </a:pathLst>
          </a:custGeom>
          <a:noFill/>
          <a:ln w="3810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7862AE5-536E-33F4-0E54-7016C2101D59}"/>
              </a:ext>
            </a:extLst>
          </p:cNvPr>
          <p:cNvSpPr txBox="1"/>
          <p:nvPr/>
        </p:nvSpPr>
        <p:spPr>
          <a:xfrm>
            <a:off x="3563396" y="4586290"/>
            <a:ext cx="1800071" cy="461665"/>
          </a:xfrm>
          <a:prstGeom prst="rect">
            <a:avLst/>
          </a:prstGeom>
          <a:noFill/>
        </p:spPr>
        <p:txBody>
          <a:bodyPr wrap="square" rtlCol="0">
            <a:spAutoFit/>
          </a:bodyPr>
          <a:lstStyle/>
          <a:p>
            <a:pPr algn="ctr"/>
            <a:r>
              <a:rPr lang="en-US" sz="2400" dirty="0">
                <a:solidFill>
                  <a:srgbClr val="B3195F"/>
                </a:solidFill>
              </a:rPr>
              <a:t>no back-off</a:t>
            </a:r>
          </a:p>
        </p:txBody>
      </p:sp>
      <p:sp>
        <p:nvSpPr>
          <p:cNvPr id="38" name="TextBox 37">
            <a:extLst>
              <a:ext uri="{FF2B5EF4-FFF2-40B4-BE49-F238E27FC236}">
                <a16:creationId xmlns:a16="http://schemas.microsoft.com/office/drawing/2014/main" id="{E63CF01A-414F-0E9B-46DD-C1DCA7F8F3AA}"/>
              </a:ext>
            </a:extLst>
          </p:cNvPr>
          <p:cNvSpPr txBox="1"/>
          <p:nvPr/>
        </p:nvSpPr>
        <p:spPr>
          <a:xfrm>
            <a:off x="5852160" y="5476240"/>
            <a:ext cx="1442890" cy="369332"/>
          </a:xfrm>
          <a:prstGeom prst="rect">
            <a:avLst/>
          </a:prstGeom>
          <a:noFill/>
        </p:spPr>
        <p:txBody>
          <a:bodyPr wrap="square" rtlCol="0">
            <a:spAutoFit/>
          </a:bodyPr>
          <a:lstStyle/>
          <a:p>
            <a:pPr algn="ctr"/>
            <a:r>
              <a:rPr lang="en-US" dirty="0"/>
              <a:t>…</a:t>
            </a:r>
          </a:p>
        </p:txBody>
      </p:sp>
      <p:sp>
        <p:nvSpPr>
          <p:cNvPr id="8" name="TextBox 7">
            <a:extLst>
              <a:ext uri="{FF2B5EF4-FFF2-40B4-BE49-F238E27FC236}">
                <a16:creationId xmlns:a16="http://schemas.microsoft.com/office/drawing/2014/main" id="{8F2A2AC6-575D-EB95-E77B-0F459BAC8F83}"/>
              </a:ext>
            </a:extLst>
          </p:cNvPr>
          <p:cNvSpPr txBox="1"/>
          <p:nvPr/>
        </p:nvSpPr>
        <p:spPr>
          <a:xfrm>
            <a:off x="3386566" y="900366"/>
            <a:ext cx="2648155" cy="1015663"/>
          </a:xfrm>
          <a:prstGeom prst="rect">
            <a:avLst/>
          </a:prstGeom>
          <a:noFill/>
        </p:spPr>
        <p:txBody>
          <a:bodyPr wrap="square" rtlCol="0">
            <a:spAutoFit/>
          </a:bodyPr>
          <a:lstStyle/>
          <a:p>
            <a:pPr algn="ctr"/>
            <a:r>
              <a:rPr lang="en-US" sz="2000" b="1" i="1" dirty="0">
                <a:latin typeface="+mj-lt"/>
              </a:rPr>
              <a:t>Encoding</a:t>
            </a:r>
            <a:br>
              <a:rPr lang="en-US" sz="2000" i="1" dirty="0">
                <a:latin typeface="+mj-lt"/>
              </a:rPr>
            </a:br>
            <a:r>
              <a:rPr lang="en-US" sz="2000" i="1" dirty="0">
                <a:latin typeface="+mj-lt"/>
              </a:rPr>
              <a:t>logic-1: back-off </a:t>
            </a:r>
          </a:p>
          <a:p>
            <a:pPr algn="ctr"/>
            <a:r>
              <a:rPr lang="en-US" sz="2000" i="1" dirty="0">
                <a:latin typeface="+mj-lt"/>
              </a:rPr>
              <a:t>logic-0: no-back-off</a:t>
            </a:r>
          </a:p>
        </p:txBody>
      </p:sp>
    </p:spTree>
    <p:extLst>
      <p:ext uri="{BB962C8B-B14F-4D97-AF65-F5344CB8AC3E}">
        <p14:creationId xmlns:p14="http://schemas.microsoft.com/office/powerpoint/2010/main" val="264940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mph" presetSubtype="0" repeatCount="5000" autoRev="1" fill="remove" nodeType="clickEffect">
                                  <p:stCondLst>
                                    <p:cond delay="0"/>
                                  </p:stCondLst>
                                  <p:childTnLst>
                                    <p:animRot by="-5400000">
                                      <p:cBhvr>
                                        <p:cTn id="10" dur="250" fill="hold"/>
                                        <p:tgtEl>
                                          <p:spTgt spid="10"/>
                                        </p:tgtEl>
                                        <p:attrNameLst>
                                          <p:attrName>r</p:attrName>
                                        </p:attrNameLst>
                                      </p:cBhvr>
                                    </p:animRot>
                                  </p:childTnLst>
                                </p:cTn>
                              </p:par>
                              <p:par>
                                <p:cTn id="11" presetID="1" presetClass="entr" presetSubtype="0" fill="hold" grpId="0" nodeType="withEffect">
                                  <p:stCondLst>
                                    <p:cond delay="0"/>
                                  </p:stCondLst>
                                  <p:childTnLst>
                                    <p:set>
                                      <p:cBhvr>
                                        <p:cTn id="12" dur="1" fill="hold">
                                          <p:stCondLst>
                                            <p:cond delay="0"/>
                                          </p:stCondLst>
                                        </p:cTn>
                                        <p:tgtEl>
                                          <p:spTgt spid="29">
                                            <p:txEl>
                                              <p:pRg st="0" end="0"/>
                                            </p:txEl>
                                          </p:spTgt>
                                        </p:tgtEl>
                                        <p:attrNameLst>
                                          <p:attrName>style.visibility</p:attrName>
                                        </p:attrNameLst>
                                      </p:cBhvr>
                                      <p:to>
                                        <p:strVal val="visible"/>
                                      </p:to>
                                    </p:set>
                                  </p:childTnLst>
                                </p:cTn>
                              </p:par>
                              <p:par>
                                <p:cTn id="13" presetID="26" presetClass="emph" presetSubtype="0" repeatCount="5000" fill="hold" nodeType="withEffect">
                                  <p:stCondLst>
                                    <p:cond delay="250"/>
                                  </p:stCondLst>
                                  <p:childTnLst>
                                    <p:animEffect transition="out" filter="fade">
                                      <p:cBhvr>
                                        <p:cTn id="14" dur="500" tmFilter="0, 0; .2, .5; .8, .5; 1, 0"/>
                                        <p:tgtEl>
                                          <p:spTgt spid="29">
                                            <p:txEl>
                                              <p:pRg st="0" end="0"/>
                                            </p:txEl>
                                          </p:spTgt>
                                        </p:tgtEl>
                                      </p:cBhvr>
                                    </p:animEffect>
                                    <p:animScale>
                                      <p:cBhvr>
                                        <p:cTn id="15" dur="250" autoRev="1" fill="hold"/>
                                        <p:tgtEl>
                                          <p:spTgt spid="29">
                                            <p:txEl>
                                              <p:pRg st="0" end="0"/>
                                            </p:txEl>
                                          </p:spTgt>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left)">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53" grpId="0" animBg="1"/>
      <p:bldP spid="28" grpId="0" animBg="1"/>
      <p:bldP spid="29" grpId="0" build="allAtOnce"/>
      <p:bldP spid="32" grpId="0" animBg="1"/>
      <p:bldP spid="36" grpId="0"/>
      <p:bldP spid="3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867A-C799-A891-2DF9-3F8AA697B554}"/>
              </a:ext>
            </a:extLst>
          </p:cNvPr>
          <p:cNvSpPr>
            <a:spLocks noGrp="1"/>
          </p:cNvSpPr>
          <p:nvPr>
            <p:ph type="title"/>
          </p:nvPr>
        </p:nvSpPr>
        <p:spPr/>
        <p:txBody>
          <a:bodyPr/>
          <a:lstStyle/>
          <a:p>
            <a:r>
              <a:rPr lang="en-US" dirty="0"/>
              <a:t>PRAC-Based Covert Channel: </a:t>
            </a:r>
            <a:br>
              <a:rPr lang="en-US" dirty="0"/>
            </a:br>
            <a:r>
              <a:rPr lang="en-US" dirty="0"/>
              <a:t>Proof-of-Concept and Channel Capacity</a:t>
            </a:r>
          </a:p>
        </p:txBody>
      </p:sp>
      <p:sp>
        <p:nvSpPr>
          <p:cNvPr id="3" name="Content Placeholder 2">
            <a:extLst>
              <a:ext uri="{FF2B5EF4-FFF2-40B4-BE49-F238E27FC236}">
                <a16:creationId xmlns:a16="http://schemas.microsoft.com/office/drawing/2014/main" id="{A52131B4-6A0B-73C2-A246-B6EF82807E79}"/>
              </a:ext>
            </a:extLst>
          </p:cNvPr>
          <p:cNvSpPr>
            <a:spLocks noGrp="1"/>
          </p:cNvSpPr>
          <p:nvPr>
            <p:ph idx="1"/>
          </p:nvPr>
        </p:nvSpPr>
        <p:spPr>
          <a:xfrm>
            <a:off x="-1" y="931025"/>
            <a:ext cx="9143999" cy="5245938"/>
          </a:xfrm>
        </p:spPr>
        <p:txBody>
          <a:bodyPr/>
          <a:lstStyle/>
          <a:p>
            <a:r>
              <a:rPr lang="en-US" dirty="0"/>
              <a:t>Validation with transmitting a 40-bit message</a:t>
            </a:r>
          </a:p>
        </p:txBody>
      </p:sp>
      <p:sp>
        <p:nvSpPr>
          <p:cNvPr id="4" name="Footer Placeholder 3">
            <a:extLst>
              <a:ext uri="{FF2B5EF4-FFF2-40B4-BE49-F238E27FC236}">
                <a16:creationId xmlns:a16="http://schemas.microsoft.com/office/drawing/2014/main" id="{21641650-281A-7BB4-D777-19C4F052DD63}"/>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8B06C92B-B550-5410-ED28-DC68CB47F92F}"/>
              </a:ext>
            </a:extLst>
          </p:cNvPr>
          <p:cNvSpPr>
            <a:spLocks noGrp="1"/>
          </p:cNvSpPr>
          <p:nvPr>
            <p:ph type="sldNum" sz="quarter" idx="12"/>
          </p:nvPr>
        </p:nvSpPr>
        <p:spPr/>
        <p:txBody>
          <a:bodyPr/>
          <a:lstStyle/>
          <a:p>
            <a:fld id="{CBE5B309-C2CE-4D90-B104-F7E98438FC65}" type="slidenum">
              <a:rPr lang="tr-TR" smtClean="0"/>
              <a:pPr/>
              <a:t>68</a:t>
            </a:fld>
            <a:endParaRPr lang="tr-TR" dirty="0"/>
          </a:p>
        </p:txBody>
      </p:sp>
      <p:sp>
        <p:nvSpPr>
          <p:cNvPr id="12" name="Rectangle 11">
            <a:extLst>
              <a:ext uri="{FF2B5EF4-FFF2-40B4-BE49-F238E27FC236}">
                <a16:creationId xmlns:a16="http://schemas.microsoft.com/office/drawing/2014/main" id="{97AB495B-7FD4-48A8-725A-30B97BCC9345}"/>
              </a:ext>
            </a:extLst>
          </p:cNvPr>
          <p:cNvSpPr/>
          <p:nvPr/>
        </p:nvSpPr>
        <p:spPr>
          <a:xfrm>
            <a:off x="-48552" y="4707367"/>
            <a:ext cx="9245150" cy="664981"/>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The receiver </a:t>
            </a:r>
            <a:r>
              <a:rPr lang="en-US" sz="2400" b="1" dirty="0">
                <a:solidFill>
                  <a:schemeClr val="accent6">
                    <a:lumMod val="75000"/>
                  </a:schemeClr>
                </a:solidFill>
                <a:latin typeface="+mj-lt"/>
              </a:rPr>
              <a:t>successfully decodes </a:t>
            </a:r>
            <a:r>
              <a:rPr lang="en-US" sz="2400" dirty="0">
                <a:solidFill>
                  <a:schemeClr val="tx1"/>
                </a:solidFill>
                <a:latin typeface="+mj-lt"/>
              </a:rPr>
              <a:t>the sender's message</a:t>
            </a:r>
            <a:endParaRPr lang="en-US" sz="2400" b="1" dirty="0">
              <a:solidFill>
                <a:schemeClr val="tx1"/>
              </a:solidFill>
              <a:latin typeface="+mj-lt"/>
            </a:endParaRPr>
          </a:p>
        </p:txBody>
      </p:sp>
      <p:pic>
        <p:nvPicPr>
          <p:cNvPr id="22" name="Picture 21">
            <a:extLst>
              <a:ext uri="{FF2B5EF4-FFF2-40B4-BE49-F238E27FC236}">
                <a16:creationId xmlns:a16="http://schemas.microsoft.com/office/drawing/2014/main" id="{9A96F46C-660C-4BB8-9FFC-A986C1A1CD84}"/>
              </a:ext>
            </a:extLst>
          </p:cNvPr>
          <p:cNvPicPr>
            <a:picLocks noChangeAspect="1"/>
          </p:cNvPicPr>
          <p:nvPr/>
        </p:nvPicPr>
        <p:blipFill>
          <a:blip r:embed="rId3"/>
          <a:stretch>
            <a:fillRect/>
          </a:stretch>
        </p:blipFill>
        <p:spPr>
          <a:xfrm>
            <a:off x="0" y="1473625"/>
            <a:ext cx="9144000" cy="3132000"/>
          </a:xfrm>
          <a:prstGeom prst="rect">
            <a:avLst/>
          </a:prstGeom>
        </p:spPr>
      </p:pic>
      <p:sp>
        <p:nvSpPr>
          <p:cNvPr id="6" name="Rectangle 5">
            <a:extLst>
              <a:ext uri="{FF2B5EF4-FFF2-40B4-BE49-F238E27FC236}">
                <a16:creationId xmlns:a16="http://schemas.microsoft.com/office/drawing/2014/main" id="{08D1958F-FA97-5AF9-2AC2-DD0F53CCE52F}"/>
              </a:ext>
            </a:extLst>
          </p:cNvPr>
          <p:cNvSpPr/>
          <p:nvPr/>
        </p:nvSpPr>
        <p:spPr>
          <a:xfrm>
            <a:off x="800100" y="1915845"/>
            <a:ext cx="8227522" cy="208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14BE05D-69A6-13F8-8B75-3C7364FFBB51}"/>
              </a:ext>
            </a:extLst>
          </p:cNvPr>
          <p:cNvSpPr/>
          <p:nvPr/>
        </p:nvSpPr>
        <p:spPr>
          <a:xfrm>
            <a:off x="1460500" y="1485652"/>
            <a:ext cx="6819756" cy="400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F2B5343-BEA4-98A8-BC41-DEE1EEF2DC7E}"/>
              </a:ext>
            </a:extLst>
          </p:cNvPr>
          <p:cNvSpPr/>
          <p:nvPr/>
        </p:nvSpPr>
        <p:spPr>
          <a:xfrm>
            <a:off x="-1" y="5594484"/>
            <a:ext cx="9245150" cy="664981"/>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The attack achieves </a:t>
            </a:r>
            <a:r>
              <a:rPr lang="en-US" sz="2400" b="1" dirty="0">
                <a:solidFill>
                  <a:schemeClr val="tx1"/>
                </a:solidFill>
                <a:latin typeface="+mj-lt"/>
              </a:rPr>
              <a:t>39.0 Kbps raw bit rate</a:t>
            </a:r>
          </a:p>
        </p:txBody>
      </p:sp>
    </p:spTree>
    <p:extLst>
      <p:ext uri="{BB962C8B-B14F-4D97-AF65-F5344CB8AC3E}">
        <p14:creationId xmlns:p14="http://schemas.microsoft.com/office/powerpoint/2010/main" val="395297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15"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86548-55D9-75A8-8B91-AF4CCDC76171}"/>
              </a:ext>
            </a:extLst>
          </p:cNvPr>
          <p:cNvSpPr>
            <a:spLocks noGrp="1"/>
          </p:cNvSpPr>
          <p:nvPr>
            <p:ph type="title"/>
          </p:nvPr>
        </p:nvSpPr>
        <p:spPr/>
        <p:txBody>
          <a:bodyPr/>
          <a:lstStyle/>
          <a:p>
            <a:r>
              <a:rPr lang="en-US" dirty="0"/>
              <a:t>PRAC-Based Covert Channel: Noise Analysis</a:t>
            </a:r>
          </a:p>
        </p:txBody>
      </p:sp>
      <p:sp>
        <p:nvSpPr>
          <p:cNvPr id="3" name="Content Placeholder 2">
            <a:extLst>
              <a:ext uri="{FF2B5EF4-FFF2-40B4-BE49-F238E27FC236}">
                <a16:creationId xmlns:a16="http://schemas.microsoft.com/office/drawing/2014/main" id="{64D3F1D5-EAFC-305A-FDA9-CAE64B74BDFF}"/>
              </a:ext>
            </a:extLst>
          </p:cNvPr>
          <p:cNvSpPr>
            <a:spLocks noGrp="1"/>
          </p:cNvSpPr>
          <p:nvPr>
            <p:ph idx="1"/>
          </p:nvPr>
        </p:nvSpPr>
        <p:spPr/>
        <p:txBody>
          <a:bodyPr>
            <a:normAutofit/>
          </a:bodyPr>
          <a:lstStyle/>
          <a:p>
            <a:r>
              <a:rPr lang="en-US" sz="2400" dirty="0"/>
              <a:t>We use </a:t>
            </a:r>
            <a:r>
              <a:rPr lang="en-US" sz="2400" dirty="0">
                <a:solidFill>
                  <a:srgbClr val="F23F00"/>
                </a:solidFill>
              </a:rPr>
              <a:t>a microbenchmark </a:t>
            </a:r>
            <a:r>
              <a:rPr lang="en-US" sz="2400" dirty="0"/>
              <a:t>that causes back-offs </a:t>
            </a:r>
            <a:br>
              <a:rPr lang="en-US" sz="2400" dirty="0"/>
            </a:br>
            <a:r>
              <a:rPr lang="en-US" sz="2400" dirty="0"/>
              <a:t>with varying frequencies to simulate system noise</a:t>
            </a:r>
          </a:p>
        </p:txBody>
      </p:sp>
      <p:sp>
        <p:nvSpPr>
          <p:cNvPr id="4" name="Footer Placeholder 3">
            <a:extLst>
              <a:ext uri="{FF2B5EF4-FFF2-40B4-BE49-F238E27FC236}">
                <a16:creationId xmlns:a16="http://schemas.microsoft.com/office/drawing/2014/main" id="{28AEF9F1-73F3-32B8-35EA-03EF9E6CFE87}"/>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5AC7D400-A93C-E947-AB38-0289C04CF2CC}"/>
              </a:ext>
            </a:extLst>
          </p:cNvPr>
          <p:cNvSpPr>
            <a:spLocks noGrp="1"/>
          </p:cNvSpPr>
          <p:nvPr>
            <p:ph type="sldNum" sz="quarter" idx="12"/>
          </p:nvPr>
        </p:nvSpPr>
        <p:spPr/>
        <p:txBody>
          <a:bodyPr/>
          <a:lstStyle/>
          <a:p>
            <a:fld id="{CBE5B309-C2CE-4D90-B104-F7E98438FC65}" type="slidenum">
              <a:rPr lang="tr-TR" smtClean="0"/>
              <a:pPr/>
              <a:t>69</a:t>
            </a:fld>
            <a:endParaRPr lang="tr-TR" dirty="0"/>
          </a:p>
        </p:txBody>
      </p:sp>
      <p:pic>
        <p:nvPicPr>
          <p:cNvPr id="7" name="Picture 6">
            <a:extLst>
              <a:ext uri="{FF2B5EF4-FFF2-40B4-BE49-F238E27FC236}">
                <a16:creationId xmlns:a16="http://schemas.microsoft.com/office/drawing/2014/main" id="{769D7335-AAA7-78B0-88A3-F6127CA4019E}"/>
              </a:ext>
            </a:extLst>
          </p:cNvPr>
          <p:cNvPicPr>
            <a:picLocks noChangeAspect="1"/>
          </p:cNvPicPr>
          <p:nvPr/>
        </p:nvPicPr>
        <p:blipFill>
          <a:blip r:embed="rId3"/>
          <a:stretch>
            <a:fillRect/>
          </a:stretch>
        </p:blipFill>
        <p:spPr>
          <a:xfrm>
            <a:off x="0" y="1853964"/>
            <a:ext cx="9144000" cy="3042498"/>
          </a:xfrm>
          <a:prstGeom prst="rect">
            <a:avLst/>
          </a:prstGeom>
        </p:spPr>
      </p:pic>
      <p:grpSp>
        <p:nvGrpSpPr>
          <p:cNvPr id="15" name="Group 14">
            <a:extLst>
              <a:ext uri="{FF2B5EF4-FFF2-40B4-BE49-F238E27FC236}">
                <a16:creationId xmlns:a16="http://schemas.microsoft.com/office/drawing/2014/main" id="{C769A9AC-FBCF-C7DA-7940-3698308FD215}"/>
              </a:ext>
            </a:extLst>
          </p:cNvPr>
          <p:cNvGrpSpPr/>
          <p:nvPr/>
        </p:nvGrpSpPr>
        <p:grpSpPr>
          <a:xfrm>
            <a:off x="133005" y="2051267"/>
            <a:ext cx="4292344" cy="2254355"/>
            <a:chOff x="133005" y="2309019"/>
            <a:chExt cx="4292344" cy="2254355"/>
          </a:xfrm>
        </p:grpSpPr>
        <p:sp>
          <p:nvSpPr>
            <p:cNvPr id="9" name="Rectangle 8">
              <a:extLst>
                <a:ext uri="{FF2B5EF4-FFF2-40B4-BE49-F238E27FC236}">
                  <a16:creationId xmlns:a16="http://schemas.microsoft.com/office/drawing/2014/main" id="{83DCAA8F-5618-CD0D-93FD-02049C5711BB}"/>
                </a:ext>
              </a:extLst>
            </p:cNvPr>
            <p:cNvSpPr/>
            <p:nvPr/>
          </p:nvSpPr>
          <p:spPr>
            <a:xfrm>
              <a:off x="133005" y="2416122"/>
              <a:ext cx="833154" cy="2147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01543C-FE35-E08E-223C-0BA13BF68323}"/>
                </a:ext>
              </a:extLst>
            </p:cNvPr>
            <p:cNvSpPr/>
            <p:nvPr/>
          </p:nvSpPr>
          <p:spPr>
            <a:xfrm>
              <a:off x="1626810" y="2309019"/>
              <a:ext cx="2798539" cy="26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171060AE-E56B-D087-2ED4-C07B29687ED9}"/>
              </a:ext>
            </a:extLst>
          </p:cNvPr>
          <p:cNvGrpSpPr/>
          <p:nvPr/>
        </p:nvGrpSpPr>
        <p:grpSpPr>
          <a:xfrm>
            <a:off x="4652889" y="2045151"/>
            <a:ext cx="4406472" cy="2323874"/>
            <a:chOff x="4652889" y="2302903"/>
            <a:chExt cx="4406472" cy="2323874"/>
          </a:xfrm>
        </p:grpSpPr>
        <p:sp>
          <p:nvSpPr>
            <p:cNvPr id="11" name="Rectangle 10">
              <a:extLst>
                <a:ext uri="{FF2B5EF4-FFF2-40B4-BE49-F238E27FC236}">
                  <a16:creationId xmlns:a16="http://schemas.microsoft.com/office/drawing/2014/main" id="{72808C7C-09A5-0986-CF93-65737733F075}"/>
                </a:ext>
              </a:extLst>
            </p:cNvPr>
            <p:cNvSpPr/>
            <p:nvPr/>
          </p:nvSpPr>
          <p:spPr>
            <a:xfrm>
              <a:off x="4652889" y="2302903"/>
              <a:ext cx="2798539" cy="260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49A7AE-0C56-05F1-645D-71EAA4B6FBE2}"/>
                </a:ext>
              </a:extLst>
            </p:cNvPr>
            <p:cNvSpPr/>
            <p:nvPr/>
          </p:nvSpPr>
          <p:spPr>
            <a:xfrm>
              <a:off x="7953391" y="2361022"/>
              <a:ext cx="1105970" cy="2062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018602-B6EF-F486-4B95-1703A389EE03}"/>
                </a:ext>
              </a:extLst>
            </p:cNvPr>
            <p:cNvSpPr/>
            <p:nvPr/>
          </p:nvSpPr>
          <p:spPr>
            <a:xfrm>
              <a:off x="8115666" y="2563845"/>
              <a:ext cx="769253" cy="20629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310003B4-3DB0-DA57-6EAE-BA8A9A51B4DB}"/>
              </a:ext>
            </a:extLst>
          </p:cNvPr>
          <p:cNvGrpSpPr/>
          <p:nvPr/>
        </p:nvGrpSpPr>
        <p:grpSpPr>
          <a:xfrm>
            <a:off x="905542" y="4096964"/>
            <a:ext cx="4641668" cy="957440"/>
            <a:chOff x="905542" y="4354716"/>
            <a:chExt cx="4641668" cy="957440"/>
          </a:xfrm>
        </p:grpSpPr>
        <p:sp>
          <p:nvSpPr>
            <p:cNvPr id="16" name="TextBox 15">
              <a:extLst>
                <a:ext uri="{FF2B5EF4-FFF2-40B4-BE49-F238E27FC236}">
                  <a16:creationId xmlns:a16="http://schemas.microsoft.com/office/drawing/2014/main" id="{D5D45B5A-42BA-CCA7-A370-01A2513CF73B}"/>
                </a:ext>
              </a:extLst>
            </p:cNvPr>
            <p:cNvSpPr txBox="1"/>
            <p:nvPr/>
          </p:nvSpPr>
          <p:spPr>
            <a:xfrm>
              <a:off x="905542" y="4942824"/>
              <a:ext cx="4641668" cy="369332"/>
            </a:xfrm>
            <a:prstGeom prst="rect">
              <a:avLst/>
            </a:prstGeom>
            <a:noFill/>
          </p:spPr>
          <p:txBody>
            <a:bodyPr wrap="square" rtlCol="0">
              <a:spAutoFit/>
            </a:bodyPr>
            <a:lstStyle/>
            <a:p>
              <a:r>
                <a:rPr lang="en-US" i="1" dirty="0">
                  <a:solidFill>
                    <a:srgbClr val="E28700"/>
                  </a:solidFill>
                </a:rPr>
                <a:t>1% </a:t>
              </a:r>
              <a:r>
                <a:rPr lang="en-US" i="1" dirty="0"/>
                <a:t>= 10 x </a:t>
              </a:r>
              <a:r>
                <a:rPr lang="en-US" i="1" dirty="0">
                  <a:solidFill>
                    <a:srgbClr val="FF0000"/>
                  </a:solidFill>
                </a:rPr>
                <a:t>4-core memory-intensive workload</a:t>
              </a:r>
            </a:p>
          </p:txBody>
        </p:sp>
        <p:cxnSp>
          <p:nvCxnSpPr>
            <p:cNvPr id="18" name="Connector: Curved 17">
              <a:extLst>
                <a:ext uri="{FF2B5EF4-FFF2-40B4-BE49-F238E27FC236}">
                  <a16:creationId xmlns:a16="http://schemas.microsoft.com/office/drawing/2014/main" id="{143E8E97-E7E8-DF3D-2048-F4D6177951A7}"/>
                </a:ext>
              </a:extLst>
            </p:cNvPr>
            <p:cNvCxnSpPr>
              <a:cxnSpLocks/>
            </p:cNvCxnSpPr>
            <p:nvPr/>
          </p:nvCxnSpPr>
          <p:spPr>
            <a:xfrm rot="16200000" flipH="1">
              <a:off x="1076485" y="4462597"/>
              <a:ext cx="579830" cy="364067"/>
            </a:xfrm>
            <a:prstGeom prst="curvedConnector3">
              <a:avLst/>
            </a:prstGeom>
            <a:ln w="38100">
              <a:solidFill>
                <a:srgbClr val="E287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FB9CAC56-1794-4A13-EAD4-73A19B23BF34}"/>
              </a:ext>
            </a:extLst>
          </p:cNvPr>
          <p:cNvGrpSpPr/>
          <p:nvPr/>
        </p:nvGrpSpPr>
        <p:grpSpPr>
          <a:xfrm>
            <a:off x="5357806" y="4129754"/>
            <a:ext cx="3354873" cy="1414704"/>
            <a:chOff x="-878291" y="4354717"/>
            <a:chExt cx="3354873" cy="1414704"/>
          </a:xfrm>
        </p:grpSpPr>
        <p:sp>
          <p:nvSpPr>
            <p:cNvPr id="23" name="TextBox 22">
              <a:extLst>
                <a:ext uri="{FF2B5EF4-FFF2-40B4-BE49-F238E27FC236}">
                  <a16:creationId xmlns:a16="http://schemas.microsoft.com/office/drawing/2014/main" id="{70775305-1DD8-1B2A-CB92-A4793A2290C3}"/>
                </a:ext>
              </a:extLst>
            </p:cNvPr>
            <p:cNvSpPr txBox="1"/>
            <p:nvPr/>
          </p:nvSpPr>
          <p:spPr>
            <a:xfrm>
              <a:off x="-878291" y="4876869"/>
              <a:ext cx="3354873" cy="892552"/>
            </a:xfrm>
            <a:prstGeom prst="rect">
              <a:avLst/>
            </a:prstGeom>
            <a:noFill/>
          </p:spPr>
          <p:txBody>
            <a:bodyPr wrap="square" rtlCol="0">
              <a:spAutoFit/>
            </a:bodyPr>
            <a:lstStyle/>
            <a:p>
              <a:pPr algn="r"/>
              <a:r>
                <a:rPr lang="en-US" i="1" dirty="0">
                  <a:solidFill>
                    <a:srgbClr val="7030A0"/>
                  </a:solidFill>
                </a:rPr>
                <a:t>Similar back-off intensity</a:t>
              </a:r>
              <a:br>
                <a:rPr lang="en-US" i="1" dirty="0">
                  <a:solidFill>
                    <a:srgbClr val="7030A0"/>
                  </a:solidFill>
                </a:rPr>
              </a:br>
              <a:r>
                <a:rPr lang="en-US" i="1" dirty="0">
                  <a:solidFill>
                    <a:srgbClr val="7030A0"/>
                  </a:solidFill>
                </a:rPr>
                <a:t>to memory performance attacks </a:t>
              </a:r>
              <a:r>
                <a:rPr lang="en-US" sz="1400" dirty="0">
                  <a:solidFill>
                    <a:schemeClr val="tx1">
                      <a:lumMod val="50000"/>
                      <a:lumOff val="50000"/>
                    </a:schemeClr>
                  </a:solidFill>
                </a:rPr>
                <a:t>[</a:t>
              </a:r>
              <a:r>
                <a:rPr lang="en-US" sz="1400" dirty="0" err="1">
                  <a:solidFill>
                    <a:schemeClr val="tx1">
                      <a:lumMod val="50000"/>
                      <a:lumOff val="50000"/>
                    </a:schemeClr>
                  </a:solidFill>
                </a:rPr>
                <a:t>Moscibroda</a:t>
              </a:r>
              <a:r>
                <a:rPr lang="en-US" sz="1400" dirty="0">
                  <a:solidFill>
                    <a:schemeClr val="tx1">
                      <a:lumMod val="50000"/>
                      <a:lumOff val="50000"/>
                    </a:schemeClr>
                  </a:solidFill>
                </a:rPr>
                <a:t>+, USENIX Security'07]</a:t>
              </a:r>
              <a:endParaRPr lang="en-US" dirty="0">
                <a:solidFill>
                  <a:schemeClr val="tx1">
                    <a:lumMod val="50000"/>
                    <a:lumOff val="50000"/>
                  </a:schemeClr>
                </a:solidFill>
              </a:endParaRPr>
            </a:p>
          </p:txBody>
        </p:sp>
        <p:cxnSp>
          <p:nvCxnSpPr>
            <p:cNvPr id="24" name="Connector: Curved 23">
              <a:extLst>
                <a:ext uri="{FF2B5EF4-FFF2-40B4-BE49-F238E27FC236}">
                  <a16:creationId xmlns:a16="http://schemas.microsoft.com/office/drawing/2014/main" id="{7DB28AED-2508-7991-1090-B937B6C1158B}"/>
                </a:ext>
              </a:extLst>
            </p:cNvPr>
            <p:cNvCxnSpPr>
              <a:cxnSpLocks/>
            </p:cNvCxnSpPr>
            <p:nvPr/>
          </p:nvCxnSpPr>
          <p:spPr>
            <a:xfrm rot="16200000" flipH="1">
              <a:off x="799892" y="4404355"/>
              <a:ext cx="547042" cy="447766"/>
            </a:xfrm>
            <a:prstGeom prst="curvedConnector3">
              <a:avLst>
                <a:gd name="adj1" fmla="val 41327"/>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D720B602-5416-F41C-07F3-67A93BAD1A37}"/>
              </a:ext>
            </a:extLst>
          </p:cNvPr>
          <p:cNvSpPr txBox="1"/>
          <p:nvPr/>
        </p:nvSpPr>
        <p:spPr>
          <a:xfrm>
            <a:off x="1042739" y="4121691"/>
            <a:ext cx="128382" cy="240066"/>
          </a:xfrm>
          <a:prstGeom prst="rect">
            <a:avLst/>
          </a:prstGeom>
          <a:solidFill>
            <a:schemeClr val="bg1"/>
          </a:solidFill>
        </p:spPr>
        <p:txBody>
          <a:bodyPr wrap="square" rtlCol="0" anchor="ctr">
            <a:spAutoFit/>
          </a:bodyPr>
          <a:lstStyle/>
          <a:p>
            <a:pPr algn="ctr"/>
            <a:r>
              <a:rPr lang="en-US" dirty="0">
                <a:latin typeface="Arial" panose="020B0604020202020204" pitchFamily="34" charset="0"/>
                <a:cs typeface="Arial" panose="020B0604020202020204" pitchFamily="34" charset="0"/>
              </a:rPr>
              <a:t>1</a:t>
            </a:r>
          </a:p>
        </p:txBody>
      </p:sp>
      <p:sp>
        <p:nvSpPr>
          <p:cNvPr id="17" name="Rectangle 16">
            <a:extLst>
              <a:ext uri="{FF2B5EF4-FFF2-40B4-BE49-F238E27FC236}">
                <a16:creationId xmlns:a16="http://schemas.microsoft.com/office/drawing/2014/main" id="{DDEE7821-4F73-586F-D90C-6D785E03092A}"/>
              </a:ext>
            </a:extLst>
          </p:cNvPr>
          <p:cNvSpPr/>
          <p:nvPr/>
        </p:nvSpPr>
        <p:spPr>
          <a:xfrm>
            <a:off x="-48552" y="5585806"/>
            <a:ext cx="9245150" cy="779808"/>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The PRAC-based covert channel attack </a:t>
            </a:r>
            <a:r>
              <a:rPr lang="en-US" sz="2400" b="1" dirty="0">
                <a:solidFill>
                  <a:schemeClr val="accent6">
                    <a:lumMod val="75000"/>
                  </a:schemeClr>
                </a:solidFill>
                <a:latin typeface="+mj-lt"/>
              </a:rPr>
              <a:t>maintains its capacity </a:t>
            </a:r>
            <a:br>
              <a:rPr lang="en-US" sz="2400" dirty="0">
                <a:solidFill>
                  <a:schemeClr val="tx1"/>
                </a:solidFill>
                <a:latin typeface="+mj-lt"/>
              </a:rPr>
            </a:br>
            <a:r>
              <a:rPr lang="en-US" sz="2400" dirty="0">
                <a:solidFill>
                  <a:schemeClr val="tx1"/>
                </a:solidFill>
                <a:latin typeface="+mj-lt"/>
              </a:rPr>
              <a:t>until </a:t>
            </a:r>
            <a:r>
              <a:rPr lang="en-US" sz="2400" dirty="0">
                <a:solidFill>
                  <a:srgbClr val="F23F00"/>
                </a:solidFill>
                <a:latin typeface="+mj-lt"/>
              </a:rPr>
              <a:t>very high noise intensity values</a:t>
            </a:r>
            <a:endParaRPr lang="en-US" sz="2400" b="1" dirty="0">
              <a:solidFill>
                <a:srgbClr val="F23F00"/>
              </a:solidFill>
              <a:latin typeface="+mj-lt"/>
            </a:endParaRPr>
          </a:p>
        </p:txBody>
      </p:sp>
      <p:sp>
        <p:nvSpPr>
          <p:cNvPr id="19" name="TextBox 18">
            <a:extLst>
              <a:ext uri="{FF2B5EF4-FFF2-40B4-BE49-F238E27FC236}">
                <a16:creationId xmlns:a16="http://schemas.microsoft.com/office/drawing/2014/main" id="{DBA44EF5-9853-1E44-E544-A16D0D360F85}"/>
              </a:ext>
            </a:extLst>
          </p:cNvPr>
          <p:cNvSpPr txBox="1"/>
          <p:nvPr/>
        </p:nvSpPr>
        <p:spPr>
          <a:xfrm>
            <a:off x="1160252" y="3550737"/>
            <a:ext cx="629729" cy="375249"/>
          </a:xfrm>
          <a:prstGeom prst="rect">
            <a:avLst/>
          </a:prstGeom>
          <a:noFill/>
        </p:spPr>
        <p:txBody>
          <a:bodyPr wrap="square" rtlCol="0">
            <a:spAutoFit/>
          </a:bodyPr>
          <a:lstStyle/>
          <a:p>
            <a:r>
              <a:rPr lang="en-US" dirty="0">
                <a:solidFill>
                  <a:srgbClr val="0000FF"/>
                </a:solidFill>
              </a:rPr>
              <a:t>0.05</a:t>
            </a:r>
          </a:p>
        </p:txBody>
      </p:sp>
      <p:sp>
        <p:nvSpPr>
          <p:cNvPr id="21" name="TextBox 20">
            <a:extLst>
              <a:ext uri="{FF2B5EF4-FFF2-40B4-BE49-F238E27FC236}">
                <a16:creationId xmlns:a16="http://schemas.microsoft.com/office/drawing/2014/main" id="{EB748FFF-EB3F-926C-5A87-A442BDBB1AE1}"/>
              </a:ext>
            </a:extLst>
          </p:cNvPr>
          <p:cNvSpPr txBox="1"/>
          <p:nvPr/>
        </p:nvSpPr>
        <p:spPr>
          <a:xfrm>
            <a:off x="1393166" y="2422809"/>
            <a:ext cx="1328468" cy="369332"/>
          </a:xfrm>
          <a:prstGeom prst="rect">
            <a:avLst/>
          </a:prstGeom>
          <a:noFill/>
        </p:spPr>
        <p:txBody>
          <a:bodyPr wrap="square" rtlCol="0">
            <a:spAutoFit/>
          </a:bodyPr>
          <a:lstStyle/>
          <a:p>
            <a:r>
              <a:rPr lang="en-US" dirty="0">
                <a:solidFill>
                  <a:srgbClr val="FF0000"/>
                </a:solidFill>
              </a:rPr>
              <a:t>27.8  Kbps</a:t>
            </a:r>
          </a:p>
        </p:txBody>
      </p:sp>
      <p:sp>
        <p:nvSpPr>
          <p:cNvPr id="25" name="TextBox 24">
            <a:extLst>
              <a:ext uri="{FF2B5EF4-FFF2-40B4-BE49-F238E27FC236}">
                <a16:creationId xmlns:a16="http://schemas.microsoft.com/office/drawing/2014/main" id="{FDAD2048-44D1-031D-5467-5941FBF60BA4}"/>
              </a:ext>
            </a:extLst>
          </p:cNvPr>
          <p:cNvSpPr txBox="1"/>
          <p:nvPr/>
        </p:nvSpPr>
        <p:spPr>
          <a:xfrm>
            <a:off x="5840083" y="2733926"/>
            <a:ext cx="1328468" cy="369332"/>
          </a:xfrm>
          <a:prstGeom prst="rect">
            <a:avLst/>
          </a:prstGeom>
          <a:noFill/>
        </p:spPr>
        <p:txBody>
          <a:bodyPr wrap="square" rtlCol="0">
            <a:spAutoFit/>
          </a:bodyPr>
          <a:lstStyle/>
          <a:p>
            <a:r>
              <a:rPr lang="en-US" dirty="0">
                <a:solidFill>
                  <a:srgbClr val="FF0000"/>
                </a:solidFill>
              </a:rPr>
              <a:t>20.9  Kbps</a:t>
            </a:r>
          </a:p>
        </p:txBody>
      </p:sp>
      <p:sp>
        <p:nvSpPr>
          <p:cNvPr id="26" name="TextBox 25">
            <a:extLst>
              <a:ext uri="{FF2B5EF4-FFF2-40B4-BE49-F238E27FC236}">
                <a16:creationId xmlns:a16="http://schemas.microsoft.com/office/drawing/2014/main" id="{F7500573-9A80-3A42-079B-6AE96DDEC440}"/>
              </a:ext>
            </a:extLst>
          </p:cNvPr>
          <p:cNvSpPr txBox="1"/>
          <p:nvPr/>
        </p:nvSpPr>
        <p:spPr>
          <a:xfrm>
            <a:off x="6538822" y="3424286"/>
            <a:ext cx="629729" cy="375249"/>
          </a:xfrm>
          <a:prstGeom prst="rect">
            <a:avLst/>
          </a:prstGeom>
          <a:noFill/>
        </p:spPr>
        <p:txBody>
          <a:bodyPr wrap="square" rtlCol="0">
            <a:spAutoFit/>
          </a:bodyPr>
          <a:lstStyle/>
          <a:p>
            <a:r>
              <a:rPr lang="en-US" dirty="0">
                <a:solidFill>
                  <a:srgbClr val="0000FF"/>
                </a:solidFill>
              </a:rPr>
              <a:t>0.1</a:t>
            </a:r>
          </a:p>
        </p:txBody>
      </p:sp>
    </p:spTree>
    <p:extLst>
      <p:ext uri="{BB962C8B-B14F-4D97-AF65-F5344CB8AC3E}">
        <p14:creationId xmlns:p14="http://schemas.microsoft.com/office/powerpoint/2010/main" val="40051060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003D-9F57-42A3-8448-5DCBE3ADA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36129-7C35-8352-0422-C05ABC5E3EC9}"/>
              </a:ext>
            </a:extLst>
          </p:cNvPr>
          <p:cNvSpPr>
            <a:spLocks noGrp="1"/>
          </p:cNvSpPr>
          <p:nvPr>
            <p:ph type="title"/>
          </p:nvPr>
        </p:nvSpPr>
        <p:spPr/>
        <p:txBody>
          <a:bodyPr/>
          <a:lstStyle/>
          <a:p>
            <a:r>
              <a:rPr lang="en-US" dirty="0" err="1"/>
              <a:t>LeakyHammer</a:t>
            </a:r>
            <a:r>
              <a:rPr lang="en-US" dirty="0"/>
              <a:t> Case Studies</a:t>
            </a:r>
          </a:p>
        </p:txBody>
      </p:sp>
      <p:sp>
        <p:nvSpPr>
          <p:cNvPr id="3" name="Content Placeholder 2">
            <a:extLst>
              <a:ext uri="{FF2B5EF4-FFF2-40B4-BE49-F238E27FC236}">
                <a16:creationId xmlns:a16="http://schemas.microsoft.com/office/drawing/2014/main" id="{85413BE5-DD93-62CF-9EC3-13E97CAED662}"/>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5BF23523-AFB0-B62C-7A08-627FA0713C7D}"/>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9A0270A3-B4B4-5737-AC9A-B785EEE8A961}"/>
              </a:ext>
            </a:extLst>
          </p:cNvPr>
          <p:cNvSpPr>
            <a:spLocks noGrp="1"/>
          </p:cNvSpPr>
          <p:nvPr>
            <p:ph type="sldNum" sz="quarter" idx="12"/>
          </p:nvPr>
        </p:nvSpPr>
        <p:spPr/>
        <p:txBody>
          <a:bodyPr/>
          <a:lstStyle/>
          <a:p>
            <a:fld id="{CBE5B309-C2CE-4D90-B104-F7E98438FC65}" type="slidenum">
              <a:rPr lang="tr-TR" smtClean="0"/>
              <a:pPr/>
              <a:t>70</a:t>
            </a:fld>
            <a:endParaRPr lang="tr-TR" dirty="0"/>
          </a:p>
        </p:txBody>
      </p:sp>
      <p:sp>
        <p:nvSpPr>
          <p:cNvPr id="6" name="Rectangle: Rounded Corners 5">
            <a:extLst>
              <a:ext uri="{FF2B5EF4-FFF2-40B4-BE49-F238E27FC236}">
                <a16:creationId xmlns:a16="http://schemas.microsoft.com/office/drawing/2014/main" id="{9EA4670E-B540-94E6-BE53-04171BA8FB19}"/>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CS1: PRAC-Based Covert Channel Attack</a:t>
            </a:r>
          </a:p>
        </p:txBody>
      </p:sp>
      <p:sp>
        <p:nvSpPr>
          <p:cNvPr id="7" name="Rectangle: Rounded Corners 6">
            <a:extLst>
              <a:ext uri="{FF2B5EF4-FFF2-40B4-BE49-F238E27FC236}">
                <a16:creationId xmlns:a16="http://schemas.microsoft.com/office/drawing/2014/main" id="{B586661C-ABA6-B2E3-0E86-CBA029495ED0}"/>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CS2: RFM-Based Covert Channel Attack</a:t>
            </a:r>
          </a:p>
        </p:txBody>
      </p:sp>
      <p:sp>
        <p:nvSpPr>
          <p:cNvPr id="8" name="Rectangle: Rounded Corners 7">
            <a:extLst>
              <a:ext uri="{FF2B5EF4-FFF2-40B4-BE49-F238E27FC236}">
                <a16:creationId xmlns:a16="http://schemas.microsoft.com/office/drawing/2014/main" id="{BF073B12-94C6-A187-454E-1110E8EB71CB}"/>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CS3: PRAC-Based Website Fingerprinting</a:t>
            </a:r>
          </a:p>
        </p:txBody>
      </p:sp>
      <p:sp>
        <p:nvSpPr>
          <p:cNvPr id="9" name="Rectangle 8">
            <a:extLst>
              <a:ext uri="{FF2B5EF4-FFF2-40B4-BE49-F238E27FC236}">
                <a16:creationId xmlns:a16="http://schemas.microsoft.com/office/drawing/2014/main" id="{19AFCCA4-B0FA-A1D8-054C-95551AD03AE4}"/>
              </a:ext>
            </a:extLst>
          </p:cNvPr>
          <p:cNvSpPr/>
          <p:nvPr/>
        </p:nvSpPr>
        <p:spPr>
          <a:xfrm>
            <a:off x="133006" y="4562993"/>
            <a:ext cx="8894618" cy="1529024"/>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5AF8AC-4A79-AF44-5499-D149EF7AD464}"/>
              </a:ext>
            </a:extLst>
          </p:cNvPr>
          <p:cNvSpPr/>
          <p:nvPr/>
        </p:nvSpPr>
        <p:spPr>
          <a:xfrm>
            <a:off x="249382" y="1271240"/>
            <a:ext cx="8894618" cy="1529024"/>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13948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C0EE8-2D4E-550F-30F5-A1C1B6D45985}"/>
              </a:ext>
            </a:extLst>
          </p:cNvPr>
          <p:cNvSpPr>
            <a:spLocks noGrp="1"/>
          </p:cNvSpPr>
          <p:nvPr>
            <p:ph type="title"/>
          </p:nvPr>
        </p:nvSpPr>
        <p:spPr/>
        <p:txBody>
          <a:bodyPr/>
          <a:lstStyle/>
          <a:p>
            <a:r>
              <a:rPr lang="en-US" dirty="0"/>
              <a:t>RFM-Based Covert Channel Summary</a:t>
            </a:r>
          </a:p>
        </p:txBody>
      </p:sp>
      <p:sp>
        <p:nvSpPr>
          <p:cNvPr id="3" name="Content Placeholder 2">
            <a:extLst>
              <a:ext uri="{FF2B5EF4-FFF2-40B4-BE49-F238E27FC236}">
                <a16:creationId xmlns:a16="http://schemas.microsoft.com/office/drawing/2014/main" id="{1CF1CCCA-EE3C-3B4B-EDBC-609C433EBD44}"/>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90528647-2DF3-85C6-6460-66B84B303108}"/>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8DAA23E0-94D8-0AF6-8E61-35EF02EDF5E2}"/>
              </a:ext>
            </a:extLst>
          </p:cNvPr>
          <p:cNvSpPr>
            <a:spLocks noGrp="1"/>
          </p:cNvSpPr>
          <p:nvPr>
            <p:ph type="sldNum" sz="quarter" idx="12"/>
          </p:nvPr>
        </p:nvSpPr>
        <p:spPr/>
        <p:txBody>
          <a:bodyPr/>
          <a:lstStyle/>
          <a:p>
            <a:fld id="{CBE5B309-C2CE-4D90-B104-F7E98438FC65}" type="slidenum">
              <a:rPr lang="tr-TR" smtClean="0"/>
              <a:pPr/>
              <a:t>71</a:t>
            </a:fld>
            <a:endParaRPr lang="tr-TR" dirty="0"/>
          </a:p>
        </p:txBody>
      </p:sp>
      <p:sp>
        <p:nvSpPr>
          <p:cNvPr id="6" name="Rectangle 5">
            <a:extLst>
              <a:ext uri="{FF2B5EF4-FFF2-40B4-BE49-F238E27FC236}">
                <a16:creationId xmlns:a16="http://schemas.microsoft.com/office/drawing/2014/main" id="{79F87AE8-2CC6-74CC-DE76-5156D0A98DBB}"/>
              </a:ext>
            </a:extLst>
          </p:cNvPr>
          <p:cNvSpPr/>
          <p:nvPr/>
        </p:nvSpPr>
        <p:spPr>
          <a:xfrm>
            <a:off x="-107265" y="1088967"/>
            <a:ext cx="9358531" cy="1197033"/>
          </a:xfrm>
          <a:prstGeom prst="rect">
            <a:avLst/>
          </a:prstGeom>
          <a:solidFill>
            <a:srgbClr val="DAD3F9"/>
          </a:solidFill>
          <a:ln w="28575">
            <a:solidFill>
              <a:srgbClr val="6D40DC"/>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We exploit an RFM-based </a:t>
            </a:r>
            <a:r>
              <a:rPr lang="en-US" sz="2400" dirty="0" err="1">
                <a:solidFill>
                  <a:schemeClr val="tx1"/>
                </a:solidFill>
                <a:latin typeface="+mj-lt"/>
              </a:rPr>
              <a:t>RowHammer</a:t>
            </a:r>
            <a:r>
              <a:rPr lang="en-US" sz="2400" dirty="0">
                <a:solidFill>
                  <a:schemeClr val="tx1"/>
                </a:solidFill>
                <a:latin typeface="+mj-lt"/>
              </a:rPr>
              <a:t> defense that tracks </a:t>
            </a:r>
            <a:br>
              <a:rPr lang="en-US" sz="2400" dirty="0">
                <a:solidFill>
                  <a:schemeClr val="tx1"/>
                </a:solidFill>
                <a:latin typeface="+mj-lt"/>
              </a:rPr>
            </a:br>
            <a:r>
              <a:rPr lang="en-US" sz="2400" b="1" spc="-10" dirty="0">
                <a:solidFill>
                  <a:srgbClr val="6D40DC"/>
                </a:solidFill>
                <a:latin typeface="+mj-lt"/>
              </a:rPr>
              <a:t>the number of row activations per DRAM bank</a:t>
            </a:r>
            <a:r>
              <a:rPr lang="en-US" sz="2400" b="1" spc="-10" dirty="0">
                <a:solidFill>
                  <a:schemeClr val="tx1"/>
                </a:solidFill>
                <a:latin typeface="+mj-lt"/>
              </a:rPr>
              <a:t> </a:t>
            </a:r>
            <a:br>
              <a:rPr lang="en-US" sz="2400" b="1" spc="-10" dirty="0">
                <a:solidFill>
                  <a:schemeClr val="tx1"/>
                </a:solidFill>
                <a:latin typeface="+mj-lt"/>
              </a:rPr>
            </a:br>
            <a:r>
              <a:rPr lang="en-US" sz="2400" dirty="0">
                <a:solidFill>
                  <a:schemeClr val="tx1"/>
                </a:solidFill>
                <a:latin typeface="+mj-lt"/>
              </a:rPr>
              <a:t>as described in the DDR5 standard</a:t>
            </a:r>
            <a:endParaRPr lang="en-US" sz="2400" b="1" dirty="0">
              <a:solidFill>
                <a:srgbClr val="FF0000"/>
              </a:solidFill>
              <a:latin typeface="+mj-lt"/>
            </a:endParaRPr>
          </a:p>
        </p:txBody>
      </p:sp>
      <p:sp>
        <p:nvSpPr>
          <p:cNvPr id="7" name="Rectangle 6">
            <a:extLst>
              <a:ext uri="{FF2B5EF4-FFF2-40B4-BE49-F238E27FC236}">
                <a16:creationId xmlns:a16="http://schemas.microsoft.com/office/drawing/2014/main" id="{5A144AAD-8174-B2D1-FDE1-560EE3CBD88D}"/>
              </a:ext>
            </a:extLst>
          </p:cNvPr>
          <p:cNvSpPr/>
          <p:nvPr/>
        </p:nvSpPr>
        <p:spPr>
          <a:xfrm>
            <a:off x="-107265" y="2502630"/>
            <a:ext cx="9358531" cy="1197033"/>
          </a:xfrm>
          <a:prstGeom prst="rect">
            <a:avLst/>
          </a:prstGeom>
          <a:solidFill>
            <a:srgbClr val="FFEBCD"/>
          </a:solidFill>
          <a:ln w="28575">
            <a:solidFill>
              <a:srgbClr val="E287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We observe that applications </a:t>
            </a:r>
            <a:r>
              <a:rPr lang="en-US" sz="2400" b="1" dirty="0">
                <a:solidFill>
                  <a:srgbClr val="E28700"/>
                </a:solidFill>
                <a:latin typeface="+mj-lt"/>
              </a:rPr>
              <a:t>can intentionally trigger an RFM command </a:t>
            </a:r>
            <a:br>
              <a:rPr lang="en-US" sz="2400" dirty="0">
                <a:solidFill>
                  <a:schemeClr val="tx1"/>
                </a:solidFill>
                <a:latin typeface="+mj-lt"/>
              </a:rPr>
            </a:br>
            <a:r>
              <a:rPr lang="en-US" sz="2400" dirty="0">
                <a:solidFill>
                  <a:schemeClr val="tx1"/>
                </a:solidFill>
                <a:latin typeface="+mj-lt"/>
              </a:rPr>
              <a:t>and can detect it by </a:t>
            </a:r>
            <a:r>
              <a:rPr lang="en-US" sz="2400" b="1" dirty="0">
                <a:solidFill>
                  <a:srgbClr val="E28700"/>
                </a:solidFill>
                <a:latin typeface="+mj-lt"/>
              </a:rPr>
              <a:t>observing</a:t>
            </a:r>
            <a:r>
              <a:rPr lang="en-US" sz="2400" dirty="0">
                <a:solidFill>
                  <a:srgbClr val="E28700"/>
                </a:solidFill>
                <a:latin typeface="+mj-lt"/>
              </a:rPr>
              <a:t> </a:t>
            </a:r>
            <a:r>
              <a:rPr lang="en-US" sz="2400" b="1" dirty="0">
                <a:solidFill>
                  <a:srgbClr val="E28700"/>
                </a:solidFill>
                <a:latin typeface="+mj-lt"/>
              </a:rPr>
              <a:t>the high memory latency</a:t>
            </a:r>
          </a:p>
        </p:txBody>
      </p:sp>
      <p:sp>
        <p:nvSpPr>
          <p:cNvPr id="8" name="Rectangle 7">
            <a:extLst>
              <a:ext uri="{FF2B5EF4-FFF2-40B4-BE49-F238E27FC236}">
                <a16:creationId xmlns:a16="http://schemas.microsoft.com/office/drawing/2014/main" id="{2825556B-79BA-4EA3-7AD2-33791933CEC9}"/>
              </a:ext>
            </a:extLst>
          </p:cNvPr>
          <p:cNvSpPr/>
          <p:nvPr/>
        </p:nvSpPr>
        <p:spPr>
          <a:xfrm>
            <a:off x="-107265" y="5069628"/>
            <a:ext cx="9358531" cy="1194299"/>
          </a:xfrm>
          <a:prstGeom prst="rect">
            <a:avLst/>
          </a:prstGeom>
          <a:solidFill>
            <a:schemeClr val="bg1">
              <a:lumMod val="95000"/>
            </a:schemeClr>
          </a:solidFill>
          <a:ln w="28575">
            <a:solidFill>
              <a:schemeClr val="tx1">
                <a:lumMod val="50000"/>
                <a:lumOff val="5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Due to per DRAM bank activation counting, applications can trigger RFM more easily, making the channel </a:t>
            </a:r>
            <a:r>
              <a:rPr lang="en-US" sz="2400" b="1" dirty="0">
                <a:solidFill>
                  <a:schemeClr val="tx1"/>
                </a:solidFill>
                <a:latin typeface="+mj-lt"/>
              </a:rPr>
              <a:t>more susceptible to noise</a:t>
            </a:r>
            <a:endParaRPr lang="en-US" sz="2400" b="1" dirty="0">
              <a:solidFill>
                <a:srgbClr val="FF0000"/>
              </a:solidFill>
              <a:latin typeface="+mj-lt"/>
            </a:endParaRPr>
          </a:p>
        </p:txBody>
      </p:sp>
      <p:sp>
        <p:nvSpPr>
          <p:cNvPr id="10" name="Rectangle 9">
            <a:extLst>
              <a:ext uri="{FF2B5EF4-FFF2-40B4-BE49-F238E27FC236}">
                <a16:creationId xmlns:a16="http://schemas.microsoft.com/office/drawing/2014/main" id="{82EB89B7-2CD0-610E-F141-0AB2D7C1543B}"/>
              </a:ext>
            </a:extLst>
          </p:cNvPr>
          <p:cNvSpPr/>
          <p:nvPr/>
        </p:nvSpPr>
        <p:spPr>
          <a:xfrm>
            <a:off x="-107265" y="3916293"/>
            <a:ext cx="9358531" cy="936705"/>
          </a:xfrm>
          <a:prstGeom prst="rect">
            <a:avLst/>
          </a:prstGeom>
          <a:solidFill>
            <a:schemeClr val="accent6">
              <a:lumMod val="20000"/>
              <a:lumOff val="80000"/>
            </a:schemeClr>
          </a:solidFill>
          <a:ln w="28575">
            <a:solidFill>
              <a:schemeClr val="accent6">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solidFill>
                  <a:schemeClr val="accent6">
                    <a:lumMod val="75000"/>
                  </a:schemeClr>
                </a:solidFill>
                <a:latin typeface="+mj-lt"/>
              </a:rPr>
              <a:t>The attack successfully transmits the message </a:t>
            </a:r>
          </a:p>
        </p:txBody>
      </p:sp>
    </p:spTree>
    <p:extLst>
      <p:ext uri="{BB962C8B-B14F-4D97-AF65-F5344CB8AC3E}">
        <p14:creationId xmlns:p14="http://schemas.microsoft.com/office/powerpoint/2010/main" val="24187491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A942-FE45-2F80-12BF-667264820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92ED6-4551-E1BA-C846-A93294F31EDD}"/>
              </a:ext>
            </a:extLst>
          </p:cNvPr>
          <p:cNvSpPr>
            <a:spLocks noGrp="1"/>
          </p:cNvSpPr>
          <p:nvPr>
            <p:ph type="title"/>
          </p:nvPr>
        </p:nvSpPr>
        <p:spPr/>
        <p:txBody>
          <a:bodyPr/>
          <a:lstStyle/>
          <a:p>
            <a:r>
              <a:rPr lang="en-US" dirty="0"/>
              <a:t>RFM-Based Covert Channel Summary</a:t>
            </a:r>
          </a:p>
        </p:txBody>
      </p:sp>
      <p:sp>
        <p:nvSpPr>
          <p:cNvPr id="3" name="Content Placeholder 2">
            <a:extLst>
              <a:ext uri="{FF2B5EF4-FFF2-40B4-BE49-F238E27FC236}">
                <a16:creationId xmlns:a16="http://schemas.microsoft.com/office/drawing/2014/main" id="{2179D1A7-97EE-8946-1804-BC04B0701045}"/>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542C7BE7-0312-DE20-02B8-420FFBC5737D}"/>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0FD36498-8A62-A27B-061C-0FE4A643F7A6}"/>
              </a:ext>
            </a:extLst>
          </p:cNvPr>
          <p:cNvSpPr>
            <a:spLocks noGrp="1"/>
          </p:cNvSpPr>
          <p:nvPr>
            <p:ph type="sldNum" sz="quarter" idx="12"/>
          </p:nvPr>
        </p:nvSpPr>
        <p:spPr/>
        <p:txBody>
          <a:bodyPr/>
          <a:lstStyle/>
          <a:p>
            <a:fld id="{CBE5B309-C2CE-4D90-B104-F7E98438FC65}" type="slidenum">
              <a:rPr lang="tr-TR" smtClean="0"/>
              <a:pPr/>
              <a:t>72</a:t>
            </a:fld>
            <a:endParaRPr lang="tr-TR" dirty="0"/>
          </a:p>
        </p:txBody>
      </p:sp>
      <p:cxnSp>
        <p:nvCxnSpPr>
          <p:cNvPr id="12" name="Connector: Curved 11">
            <a:extLst>
              <a:ext uri="{FF2B5EF4-FFF2-40B4-BE49-F238E27FC236}">
                <a16:creationId xmlns:a16="http://schemas.microsoft.com/office/drawing/2014/main" id="{66130568-03C6-7BC0-E6FB-8F54DCD64536}"/>
              </a:ext>
            </a:extLst>
          </p:cNvPr>
          <p:cNvCxnSpPr>
            <a:cxnSpLocks/>
          </p:cNvCxnSpPr>
          <p:nvPr/>
        </p:nvCxnSpPr>
        <p:spPr>
          <a:xfrm>
            <a:off x="3133885" y="3232510"/>
            <a:ext cx="834414" cy="372031"/>
          </a:xfrm>
          <a:prstGeom prst="curvedConnector3">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7D39C5C-0F4E-8B87-83FD-FE8EFBD48301}"/>
              </a:ext>
            </a:extLst>
          </p:cNvPr>
          <p:cNvGrpSpPr/>
          <p:nvPr/>
        </p:nvGrpSpPr>
        <p:grpSpPr>
          <a:xfrm>
            <a:off x="4080860" y="2092950"/>
            <a:ext cx="1520607" cy="2108546"/>
            <a:chOff x="619450" y="1609725"/>
            <a:chExt cx="1520607" cy="2108546"/>
          </a:xfrm>
        </p:grpSpPr>
        <p:sp>
          <p:nvSpPr>
            <p:cNvPr id="10" name="Oval 9">
              <a:extLst>
                <a:ext uri="{FF2B5EF4-FFF2-40B4-BE49-F238E27FC236}">
                  <a16:creationId xmlns:a16="http://schemas.microsoft.com/office/drawing/2014/main" id="{47560ABB-EE9B-0B48-8D83-F1D00FF51566}"/>
                </a:ext>
              </a:extLst>
            </p:cNvPr>
            <p:cNvSpPr/>
            <p:nvPr/>
          </p:nvSpPr>
          <p:spPr>
            <a:xfrm>
              <a:off x="619450" y="1826054"/>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958BD1D-67A6-6FE0-295B-290E4DA91853}"/>
                </a:ext>
              </a:extLst>
            </p:cNvPr>
            <p:cNvGrpSpPr/>
            <p:nvPr/>
          </p:nvGrpSpPr>
          <p:grpSpPr>
            <a:xfrm>
              <a:off x="717708" y="1609725"/>
              <a:ext cx="1317430" cy="2108546"/>
              <a:chOff x="717708" y="1609725"/>
              <a:chExt cx="1317430" cy="2108546"/>
            </a:xfrm>
          </p:grpSpPr>
          <p:pic>
            <p:nvPicPr>
              <p:cNvPr id="13" name="Graphic 12" descr="Old woman wearing lightning shirt">
                <a:extLst>
                  <a:ext uri="{FF2B5EF4-FFF2-40B4-BE49-F238E27FC236}">
                    <a16:creationId xmlns:a16="http://schemas.microsoft.com/office/drawing/2014/main" id="{253AF91B-DB84-993A-F07B-7A8E5EA50F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5873" y="1609725"/>
                <a:ext cx="1181100" cy="1819275"/>
              </a:xfrm>
              <a:prstGeom prst="rect">
                <a:avLst/>
              </a:prstGeom>
            </p:spPr>
          </p:pic>
          <p:sp>
            <p:nvSpPr>
              <p:cNvPr id="14" name="TextBox 13">
                <a:extLst>
                  <a:ext uri="{FF2B5EF4-FFF2-40B4-BE49-F238E27FC236}">
                    <a16:creationId xmlns:a16="http://schemas.microsoft.com/office/drawing/2014/main" id="{A4B9FC4B-8E2E-84E5-6E05-3CBA4E37871A}"/>
                  </a:ext>
                </a:extLst>
              </p:cNvPr>
              <p:cNvSpPr txBox="1"/>
              <p:nvPr/>
            </p:nvSpPr>
            <p:spPr>
              <a:xfrm>
                <a:off x="717708" y="3346661"/>
                <a:ext cx="1317430" cy="371610"/>
              </a:xfrm>
              <a:prstGeom prst="rect">
                <a:avLst/>
              </a:prstGeom>
              <a:noFill/>
            </p:spPr>
            <p:txBody>
              <a:bodyPr wrap="square" rtlCol="0">
                <a:spAutoFit/>
              </a:bodyPr>
              <a:lstStyle/>
              <a:p>
                <a:pPr algn="ctr"/>
                <a:r>
                  <a:rPr lang="en-US" b="1" i="1" dirty="0">
                    <a:solidFill>
                      <a:srgbClr val="6D40DC"/>
                    </a:solidFill>
                  </a:rPr>
                  <a:t>Sender</a:t>
                </a:r>
              </a:p>
            </p:txBody>
          </p:sp>
        </p:grpSp>
      </p:grpSp>
      <p:grpSp>
        <p:nvGrpSpPr>
          <p:cNvPr id="15" name="Group 14">
            <a:extLst>
              <a:ext uri="{FF2B5EF4-FFF2-40B4-BE49-F238E27FC236}">
                <a16:creationId xmlns:a16="http://schemas.microsoft.com/office/drawing/2014/main" id="{6964BEC9-E294-89CE-7182-213AC93B4658}"/>
              </a:ext>
            </a:extLst>
          </p:cNvPr>
          <p:cNvGrpSpPr/>
          <p:nvPr/>
        </p:nvGrpSpPr>
        <p:grpSpPr>
          <a:xfrm>
            <a:off x="7354154" y="2178256"/>
            <a:ext cx="1520607" cy="2023240"/>
            <a:chOff x="6981613" y="1695031"/>
            <a:chExt cx="1520607" cy="2023240"/>
          </a:xfrm>
        </p:grpSpPr>
        <p:sp>
          <p:nvSpPr>
            <p:cNvPr id="16" name="Oval 15">
              <a:extLst>
                <a:ext uri="{FF2B5EF4-FFF2-40B4-BE49-F238E27FC236}">
                  <a16:creationId xmlns:a16="http://schemas.microsoft.com/office/drawing/2014/main" id="{9C299BCC-D7D2-3627-7BE3-8A9ACEEF284D}"/>
                </a:ext>
              </a:extLst>
            </p:cNvPr>
            <p:cNvSpPr/>
            <p:nvPr/>
          </p:nvSpPr>
          <p:spPr>
            <a:xfrm>
              <a:off x="6981613" y="1863804"/>
              <a:ext cx="1520607" cy="1520607"/>
            </a:xfrm>
            <a:prstGeom prst="ellipse">
              <a:avLst/>
            </a:prstGeom>
            <a:solidFill>
              <a:srgbClr val="B3195F"/>
            </a:solidFill>
            <a:ln>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900FABA8-D5AD-36CB-4AFE-F9BD2AABEF47}"/>
                </a:ext>
              </a:extLst>
            </p:cNvPr>
            <p:cNvGrpSpPr/>
            <p:nvPr/>
          </p:nvGrpSpPr>
          <p:grpSpPr>
            <a:xfrm>
              <a:off x="7108862" y="1695031"/>
              <a:ext cx="1317430" cy="2023240"/>
              <a:chOff x="7239179" y="1647824"/>
              <a:chExt cx="1317430" cy="2023240"/>
            </a:xfrm>
          </p:grpSpPr>
          <p:pic>
            <p:nvPicPr>
              <p:cNvPr id="18" name="Graphic 17" descr="Man in glasses wearing turtleneck">
                <a:extLst>
                  <a:ext uri="{FF2B5EF4-FFF2-40B4-BE49-F238E27FC236}">
                    <a16:creationId xmlns:a16="http://schemas.microsoft.com/office/drawing/2014/main" id="{20CF45DB-8700-75CC-FC3C-7F9E9C4B9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7261209" y="1647824"/>
                <a:ext cx="1295400" cy="1743075"/>
              </a:xfrm>
              <a:prstGeom prst="rect">
                <a:avLst/>
              </a:prstGeom>
            </p:spPr>
          </p:pic>
          <p:sp>
            <p:nvSpPr>
              <p:cNvPr id="19" name="TextBox 18">
                <a:extLst>
                  <a:ext uri="{FF2B5EF4-FFF2-40B4-BE49-F238E27FC236}">
                    <a16:creationId xmlns:a16="http://schemas.microsoft.com/office/drawing/2014/main" id="{E0C2AAF1-0CB8-2CDE-DDF0-6C27962D4810}"/>
                  </a:ext>
                </a:extLst>
              </p:cNvPr>
              <p:cNvSpPr txBox="1"/>
              <p:nvPr/>
            </p:nvSpPr>
            <p:spPr>
              <a:xfrm>
                <a:off x="7239179" y="3299454"/>
                <a:ext cx="1317430" cy="371610"/>
              </a:xfrm>
              <a:prstGeom prst="rect">
                <a:avLst/>
              </a:prstGeom>
              <a:noFill/>
            </p:spPr>
            <p:txBody>
              <a:bodyPr wrap="square" rtlCol="0">
                <a:spAutoFit/>
              </a:bodyPr>
              <a:lstStyle/>
              <a:p>
                <a:pPr algn="ctr"/>
                <a:r>
                  <a:rPr lang="en-US" b="1" i="1" dirty="0">
                    <a:solidFill>
                      <a:srgbClr val="B3195F"/>
                    </a:solidFill>
                  </a:rPr>
                  <a:t>Receiver</a:t>
                </a:r>
              </a:p>
            </p:txBody>
          </p:sp>
        </p:grpSp>
      </p:grpSp>
      <p:sp>
        <p:nvSpPr>
          <p:cNvPr id="20" name="Speech Bubble: Rectangle with Corners Rounded 19">
            <a:extLst>
              <a:ext uri="{FF2B5EF4-FFF2-40B4-BE49-F238E27FC236}">
                <a16:creationId xmlns:a16="http://schemas.microsoft.com/office/drawing/2014/main" id="{D279EC92-3886-9525-4A29-EA85623157D1}"/>
              </a:ext>
            </a:extLst>
          </p:cNvPr>
          <p:cNvSpPr/>
          <p:nvPr/>
        </p:nvSpPr>
        <p:spPr>
          <a:xfrm>
            <a:off x="4998966" y="2058318"/>
            <a:ext cx="2778841" cy="421540"/>
          </a:xfrm>
          <a:prstGeom prst="wedgeRoundRectCallout">
            <a:avLst>
              <a:gd name="adj1" fmla="val -40883"/>
              <a:gd name="adj2" fmla="val 102493"/>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Send 1 w/ many RFMs</a:t>
            </a:r>
          </a:p>
        </p:txBody>
      </p:sp>
      <p:sp>
        <p:nvSpPr>
          <p:cNvPr id="24" name="Speech Bubble: Rectangle with Corners Rounded 23">
            <a:extLst>
              <a:ext uri="{FF2B5EF4-FFF2-40B4-BE49-F238E27FC236}">
                <a16:creationId xmlns:a16="http://schemas.microsoft.com/office/drawing/2014/main" id="{69891534-FC0D-7FC3-EA9E-E0E85A291D3C}"/>
              </a:ext>
            </a:extLst>
          </p:cNvPr>
          <p:cNvSpPr/>
          <p:nvPr/>
        </p:nvSpPr>
        <p:spPr>
          <a:xfrm>
            <a:off x="5386569" y="3153921"/>
            <a:ext cx="2524583" cy="421540"/>
          </a:xfrm>
          <a:prstGeom prst="wedgeRoundRectCallout">
            <a:avLst>
              <a:gd name="adj1" fmla="val 39648"/>
              <a:gd name="adj2" fmla="val -98610"/>
              <a:gd name="adj3" fmla="val 16667"/>
            </a:avLst>
          </a:prstGeom>
          <a:solidFill>
            <a:schemeClr val="bg1">
              <a:lumMod val="95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Count # of RFMs</a:t>
            </a:r>
          </a:p>
        </p:txBody>
      </p:sp>
      <p:sp>
        <p:nvSpPr>
          <p:cNvPr id="22" name="Rectangle 21">
            <a:extLst>
              <a:ext uri="{FF2B5EF4-FFF2-40B4-BE49-F238E27FC236}">
                <a16:creationId xmlns:a16="http://schemas.microsoft.com/office/drawing/2014/main" id="{CDB36F65-E8BC-7795-8E1E-500DB60562A5}"/>
              </a:ext>
            </a:extLst>
          </p:cNvPr>
          <p:cNvSpPr/>
          <p:nvPr/>
        </p:nvSpPr>
        <p:spPr>
          <a:xfrm>
            <a:off x="-268054" y="1088967"/>
            <a:ext cx="10039350" cy="5393574"/>
          </a:xfrm>
          <a:prstGeom prst="rect">
            <a:avLst/>
          </a:prstGeom>
          <a:solidFill>
            <a:schemeClr val="bg1">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etin kutusu 6">
            <a:extLst>
              <a:ext uri="{FF2B5EF4-FFF2-40B4-BE49-F238E27FC236}">
                <a16:creationId xmlns:a16="http://schemas.microsoft.com/office/drawing/2014/main" id="{84D1CBDE-70EE-7466-DEB0-D5DF1C61DC3D}"/>
              </a:ext>
            </a:extLst>
          </p:cNvPr>
          <p:cNvSpPr txBox="1"/>
          <p:nvPr/>
        </p:nvSpPr>
        <p:spPr>
          <a:xfrm>
            <a:off x="1582991" y="5758562"/>
            <a:ext cx="5978013" cy="461665"/>
          </a:xfrm>
          <a:prstGeom prst="rect">
            <a:avLst/>
          </a:prstGeom>
          <a:noFill/>
        </p:spPr>
        <p:txBody>
          <a:bodyPr wrap="square" rtlCol="0">
            <a:spAutoFit/>
          </a:bodyPr>
          <a:lstStyle/>
          <a:p>
            <a:pPr algn="ctr"/>
            <a:r>
              <a:rPr lang="tr-TR" sz="2400" u="sng" dirty="0">
                <a:solidFill>
                  <a:srgbClr val="0563C1"/>
                </a:solidFill>
                <a:latin typeface="Tahoma" panose="020B0604030504040204" pitchFamily="34" charset="0"/>
                <a:ea typeface="Tahoma" panose="020B0604030504040204" pitchFamily="34" charset="0"/>
                <a:cs typeface="Tahoma" panose="020B0604030504040204" pitchFamily="34" charset="0"/>
              </a:rPr>
              <a:t>https://arxiv.org/</a:t>
            </a:r>
            <a:r>
              <a:rPr lang="en-US" sz="2400" u="sng" dirty="0">
                <a:solidFill>
                  <a:srgbClr val="0563C1"/>
                </a:solidFill>
                <a:latin typeface="Tahoma" panose="020B0604030504040204" pitchFamily="34" charset="0"/>
                <a:ea typeface="Tahoma" panose="020B0604030504040204" pitchFamily="34" charset="0"/>
                <a:cs typeface="Tahoma" panose="020B0604030504040204" pitchFamily="34" charset="0"/>
              </a:rPr>
              <a:t>abs</a:t>
            </a:r>
            <a:r>
              <a:rPr lang="tr-TR" sz="2400" u="sng" dirty="0">
                <a:solidFill>
                  <a:srgbClr val="0563C1"/>
                </a:solidFill>
                <a:latin typeface="Tahoma" panose="020B0604030504040204" pitchFamily="34" charset="0"/>
                <a:ea typeface="Tahoma" panose="020B0604030504040204" pitchFamily="34" charset="0"/>
                <a:cs typeface="Tahoma" panose="020B0604030504040204" pitchFamily="34" charset="0"/>
              </a:rPr>
              <a:t>/2503.17891</a:t>
            </a:r>
          </a:p>
        </p:txBody>
      </p:sp>
      <p:pic>
        <p:nvPicPr>
          <p:cNvPr id="23" name="Picture 22" descr="A close-up of a newspaper&#10;&#10;AI-generated content may be incorrect.">
            <a:extLst>
              <a:ext uri="{FF2B5EF4-FFF2-40B4-BE49-F238E27FC236}">
                <a16:creationId xmlns:a16="http://schemas.microsoft.com/office/drawing/2014/main" id="{D3FE7F2B-57EF-4493-CA75-FB06A7EA4426}"/>
              </a:ext>
            </a:extLst>
          </p:cNvPr>
          <p:cNvPicPr>
            <a:picLocks noChangeAspect="1"/>
          </p:cNvPicPr>
          <p:nvPr/>
        </p:nvPicPr>
        <p:blipFill>
          <a:blip r:embed="rId4">
            <a:extLst>
              <a:ext uri="{28A0092B-C50C-407E-A947-70E740481C1C}">
                <a14:useLocalDpi xmlns:a14="http://schemas.microsoft.com/office/drawing/2010/main" val="0"/>
              </a:ext>
            </a:extLst>
          </a:blip>
          <a:srcRect b="9803"/>
          <a:stretch>
            <a:fillRect/>
          </a:stretch>
        </p:blipFill>
        <p:spPr>
          <a:xfrm>
            <a:off x="246296" y="1477630"/>
            <a:ext cx="8496300" cy="41190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336801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01B7-5799-B30A-A23D-964FC083A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0FF73-F88C-AC22-FA95-24028A3C4ED8}"/>
              </a:ext>
            </a:extLst>
          </p:cNvPr>
          <p:cNvSpPr>
            <a:spLocks noGrp="1"/>
          </p:cNvSpPr>
          <p:nvPr>
            <p:ph type="title"/>
          </p:nvPr>
        </p:nvSpPr>
        <p:spPr/>
        <p:txBody>
          <a:bodyPr/>
          <a:lstStyle/>
          <a:p>
            <a:r>
              <a:rPr lang="en-US" dirty="0" err="1"/>
              <a:t>LeakyHammer</a:t>
            </a:r>
            <a:r>
              <a:rPr lang="en-US" dirty="0"/>
              <a:t> Case Studies</a:t>
            </a:r>
          </a:p>
        </p:txBody>
      </p:sp>
      <p:sp>
        <p:nvSpPr>
          <p:cNvPr id="3" name="Content Placeholder 2">
            <a:extLst>
              <a:ext uri="{FF2B5EF4-FFF2-40B4-BE49-F238E27FC236}">
                <a16:creationId xmlns:a16="http://schemas.microsoft.com/office/drawing/2014/main" id="{30CEFBCF-EB8B-5CFA-D91B-8E39608BF681}"/>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A6670E97-B6A1-C4EC-49CB-D8720FBAE4DC}"/>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F524326D-910D-9BA9-2051-0FA01B5DBFF3}"/>
              </a:ext>
            </a:extLst>
          </p:cNvPr>
          <p:cNvSpPr>
            <a:spLocks noGrp="1"/>
          </p:cNvSpPr>
          <p:nvPr>
            <p:ph type="sldNum" sz="quarter" idx="12"/>
          </p:nvPr>
        </p:nvSpPr>
        <p:spPr/>
        <p:txBody>
          <a:bodyPr/>
          <a:lstStyle/>
          <a:p>
            <a:fld id="{CBE5B309-C2CE-4D90-B104-F7E98438FC65}" type="slidenum">
              <a:rPr lang="tr-TR" smtClean="0"/>
              <a:pPr/>
              <a:t>73</a:t>
            </a:fld>
            <a:endParaRPr lang="tr-TR" dirty="0"/>
          </a:p>
        </p:txBody>
      </p:sp>
      <p:sp>
        <p:nvSpPr>
          <p:cNvPr id="6" name="Rectangle: Rounded Corners 5">
            <a:extLst>
              <a:ext uri="{FF2B5EF4-FFF2-40B4-BE49-F238E27FC236}">
                <a16:creationId xmlns:a16="http://schemas.microsoft.com/office/drawing/2014/main" id="{A786441C-5952-9A26-4BDE-7AB01CFD9866}"/>
              </a:ext>
            </a:extLst>
          </p:cNvPr>
          <p:cNvSpPr/>
          <p:nvPr/>
        </p:nvSpPr>
        <p:spPr>
          <a:xfrm>
            <a:off x="428625" y="1384241"/>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CS1: PRAC-Based Covert Channel Attack</a:t>
            </a:r>
          </a:p>
        </p:txBody>
      </p:sp>
      <p:sp>
        <p:nvSpPr>
          <p:cNvPr id="7" name="Rectangle: Rounded Corners 6">
            <a:extLst>
              <a:ext uri="{FF2B5EF4-FFF2-40B4-BE49-F238E27FC236}">
                <a16:creationId xmlns:a16="http://schemas.microsoft.com/office/drawing/2014/main" id="{0B1E22E8-2A82-8CE3-D1BB-53C985D69E80}"/>
              </a:ext>
            </a:extLst>
          </p:cNvPr>
          <p:cNvSpPr/>
          <p:nvPr/>
        </p:nvSpPr>
        <p:spPr>
          <a:xfrm>
            <a:off x="428625" y="3063845"/>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CS2: RFM-Based Covert Channel Attack</a:t>
            </a:r>
          </a:p>
        </p:txBody>
      </p:sp>
      <p:sp>
        <p:nvSpPr>
          <p:cNvPr id="8" name="Rectangle: Rounded Corners 7">
            <a:extLst>
              <a:ext uri="{FF2B5EF4-FFF2-40B4-BE49-F238E27FC236}">
                <a16:creationId xmlns:a16="http://schemas.microsoft.com/office/drawing/2014/main" id="{51FD0C41-D5F9-1B8C-A4F4-54CBF27D206C}"/>
              </a:ext>
            </a:extLst>
          </p:cNvPr>
          <p:cNvSpPr/>
          <p:nvPr/>
        </p:nvSpPr>
        <p:spPr>
          <a:xfrm>
            <a:off x="428625" y="4743450"/>
            <a:ext cx="8277225" cy="1158933"/>
          </a:xfrm>
          <a:prstGeom prst="roundRect">
            <a:avLst>
              <a:gd name="adj" fmla="val 11749"/>
            </a:avLst>
          </a:prstGeom>
          <a:solidFill>
            <a:srgbClr val="FFE3B9"/>
          </a:solidFill>
          <a:ln w="57150">
            <a:solidFill>
              <a:srgbClr val="D67F00"/>
            </a:solid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r>
              <a:rPr lang="en-US" sz="3600" dirty="0">
                <a:solidFill>
                  <a:srgbClr val="DA8200"/>
                </a:solidFill>
                <a:latin typeface="+mj-lt"/>
              </a:rPr>
              <a:t>CS3: PRAC-Based Website Fingerprinting</a:t>
            </a:r>
          </a:p>
        </p:txBody>
      </p:sp>
      <p:sp>
        <p:nvSpPr>
          <p:cNvPr id="10" name="Rectangle 9">
            <a:extLst>
              <a:ext uri="{FF2B5EF4-FFF2-40B4-BE49-F238E27FC236}">
                <a16:creationId xmlns:a16="http://schemas.microsoft.com/office/drawing/2014/main" id="{68E3526C-D1D6-162E-621D-7EC6E17044EB}"/>
              </a:ext>
            </a:extLst>
          </p:cNvPr>
          <p:cNvSpPr/>
          <p:nvPr/>
        </p:nvSpPr>
        <p:spPr>
          <a:xfrm>
            <a:off x="190349" y="1271239"/>
            <a:ext cx="8894618" cy="3206807"/>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332791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6462B-8A21-6E28-636A-4CBDFA52867C}"/>
              </a:ext>
            </a:extLst>
          </p:cNvPr>
          <p:cNvSpPr>
            <a:spLocks noGrp="1"/>
          </p:cNvSpPr>
          <p:nvPr>
            <p:ph type="title"/>
          </p:nvPr>
        </p:nvSpPr>
        <p:spPr/>
        <p:txBody>
          <a:bodyPr/>
          <a:lstStyle/>
          <a:p>
            <a:r>
              <a:rPr lang="en-US" dirty="0"/>
              <a:t>PRAC-Based Website Fingerprinting Attack</a:t>
            </a:r>
          </a:p>
        </p:txBody>
      </p:sp>
      <p:sp>
        <p:nvSpPr>
          <p:cNvPr id="3" name="Content Placeholder 2">
            <a:extLst>
              <a:ext uri="{FF2B5EF4-FFF2-40B4-BE49-F238E27FC236}">
                <a16:creationId xmlns:a16="http://schemas.microsoft.com/office/drawing/2014/main" id="{D5B6133A-F3DC-D676-3102-1E6280DA111C}"/>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1767A67A-1778-F5AA-8DD9-F69737514DF4}"/>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D1F0B4BE-0D56-E104-E84F-8720A1091D63}"/>
              </a:ext>
            </a:extLst>
          </p:cNvPr>
          <p:cNvSpPr>
            <a:spLocks noGrp="1"/>
          </p:cNvSpPr>
          <p:nvPr>
            <p:ph type="sldNum" sz="quarter" idx="12"/>
          </p:nvPr>
        </p:nvSpPr>
        <p:spPr/>
        <p:txBody>
          <a:bodyPr/>
          <a:lstStyle/>
          <a:p>
            <a:fld id="{CBE5B309-C2CE-4D90-B104-F7E98438FC65}" type="slidenum">
              <a:rPr lang="tr-TR" smtClean="0"/>
              <a:pPr/>
              <a:t>74</a:t>
            </a:fld>
            <a:endParaRPr lang="tr-TR" dirty="0"/>
          </a:p>
        </p:txBody>
      </p:sp>
      <p:pic>
        <p:nvPicPr>
          <p:cNvPr id="12" name="Picture 11">
            <a:extLst>
              <a:ext uri="{FF2B5EF4-FFF2-40B4-BE49-F238E27FC236}">
                <a16:creationId xmlns:a16="http://schemas.microsoft.com/office/drawing/2014/main" id="{B946F419-D694-612C-3B79-F82728937AA0}"/>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2759123" y="2073313"/>
            <a:ext cx="3068883" cy="1409276"/>
          </a:xfrm>
          <a:prstGeom prst="rect">
            <a:avLst/>
          </a:prstGeom>
        </p:spPr>
      </p:pic>
      <p:grpSp>
        <p:nvGrpSpPr>
          <p:cNvPr id="16" name="Group 15">
            <a:extLst>
              <a:ext uri="{FF2B5EF4-FFF2-40B4-BE49-F238E27FC236}">
                <a16:creationId xmlns:a16="http://schemas.microsoft.com/office/drawing/2014/main" id="{ABF12344-9CF9-F5B1-01C2-288D01D00047}"/>
              </a:ext>
            </a:extLst>
          </p:cNvPr>
          <p:cNvGrpSpPr/>
          <p:nvPr/>
        </p:nvGrpSpPr>
        <p:grpSpPr>
          <a:xfrm flipH="1">
            <a:off x="6370295" y="1834341"/>
            <a:ext cx="2074227" cy="2101558"/>
            <a:chOff x="447040" y="1619250"/>
            <a:chExt cx="2074227" cy="2101558"/>
          </a:xfrm>
        </p:grpSpPr>
        <p:sp>
          <p:nvSpPr>
            <p:cNvPr id="10" name="Oval 9">
              <a:extLst>
                <a:ext uri="{FF2B5EF4-FFF2-40B4-BE49-F238E27FC236}">
                  <a16:creationId xmlns:a16="http://schemas.microsoft.com/office/drawing/2014/main" id="{5DA6951A-464B-64CE-42E2-AF7AE5C14E29}"/>
                </a:ext>
              </a:extLst>
            </p:cNvPr>
            <p:cNvSpPr/>
            <p:nvPr/>
          </p:nvSpPr>
          <p:spPr>
            <a:xfrm>
              <a:off x="447040" y="1747520"/>
              <a:ext cx="1630680" cy="1630680"/>
            </a:xfrm>
            <a:prstGeom prst="ellipse">
              <a:avLst/>
            </a:prstGeom>
            <a:solidFill>
              <a:schemeClr val="accent6">
                <a:lumMod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 name="Graphic 6" descr="Woman holding a laptop">
              <a:extLst>
                <a:ext uri="{FF2B5EF4-FFF2-40B4-BE49-F238E27FC236}">
                  <a16:creationId xmlns:a16="http://schemas.microsoft.com/office/drawing/2014/main" id="{76ED0F7A-C63B-14B2-D2B0-E72D67C53B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092" y="1619250"/>
              <a:ext cx="1781175" cy="1809750"/>
            </a:xfrm>
            <a:prstGeom prst="rect">
              <a:avLst/>
            </a:prstGeom>
          </p:spPr>
        </p:pic>
        <p:sp>
          <p:nvSpPr>
            <p:cNvPr id="13" name="TextBox 12">
              <a:extLst>
                <a:ext uri="{FF2B5EF4-FFF2-40B4-BE49-F238E27FC236}">
                  <a16:creationId xmlns:a16="http://schemas.microsoft.com/office/drawing/2014/main" id="{AFBBAFD4-1C78-A937-4871-C55199D1696F}"/>
                </a:ext>
              </a:extLst>
            </p:cNvPr>
            <p:cNvSpPr txBox="1"/>
            <p:nvPr/>
          </p:nvSpPr>
          <p:spPr>
            <a:xfrm>
              <a:off x="887925" y="3351476"/>
              <a:ext cx="874835" cy="369332"/>
            </a:xfrm>
            <a:prstGeom prst="rect">
              <a:avLst/>
            </a:prstGeom>
            <a:noFill/>
          </p:spPr>
          <p:txBody>
            <a:bodyPr wrap="square" rtlCol="0">
              <a:spAutoFit/>
            </a:bodyPr>
            <a:lstStyle/>
            <a:p>
              <a:pPr algn="ctr"/>
              <a:r>
                <a:rPr lang="en-US" b="1" i="1" dirty="0">
                  <a:solidFill>
                    <a:schemeClr val="accent6">
                      <a:lumMod val="75000"/>
                    </a:schemeClr>
                  </a:solidFill>
                </a:rPr>
                <a:t>Victim</a:t>
              </a:r>
            </a:p>
          </p:txBody>
        </p:sp>
      </p:grpSp>
      <p:grpSp>
        <p:nvGrpSpPr>
          <p:cNvPr id="15" name="Group 14">
            <a:extLst>
              <a:ext uri="{FF2B5EF4-FFF2-40B4-BE49-F238E27FC236}">
                <a16:creationId xmlns:a16="http://schemas.microsoft.com/office/drawing/2014/main" id="{3DE87FE5-B74A-6524-09F1-855D7D61C878}"/>
              </a:ext>
            </a:extLst>
          </p:cNvPr>
          <p:cNvGrpSpPr/>
          <p:nvPr/>
        </p:nvGrpSpPr>
        <p:grpSpPr>
          <a:xfrm flipH="1">
            <a:off x="794969" y="1840069"/>
            <a:ext cx="1562216" cy="2188607"/>
            <a:chOff x="6885359" y="1470482"/>
            <a:chExt cx="1562216" cy="2188607"/>
          </a:xfrm>
        </p:grpSpPr>
        <p:sp>
          <p:nvSpPr>
            <p:cNvPr id="11" name="Oval 10">
              <a:extLst>
                <a:ext uri="{FF2B5EF4-FFF2-40B4-BE49-F238E27FC236}">
                  <a16:creationId xmlns:a16="http://schemas.microsoft.com/office/drawing/2014/main" id="{A859D964-6653-0C68-4AD7-394F099A5954}"/>
                </a:ext>
              </a:extLst>
            </p:cNvPr>
            <p:cNvSpPr/>
            <p:nvPr/>
          </p:nvSpPr>
          <p:spPr>
            <a:xfrm>
              <a:off x="6926968" y="1690179"/>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Old woman wearing lightning shirt">
              <a:extLst>
                <a:ext uri="{FF2B5EF4-FFF2-40B4-BE49-F238E27FC236}">
                  <a16:creationId xmlns:a16="http://schemas.microsoft.com/office/drawing/2014/main" id="{BD7B4E4C-36B3-E8E7-5C4B-4523CE2780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7011645" y="1470482"/>
              <a:ext cx="1181100" cy="1819275"/>
            </a:xfrm>
            <a:prstGeom prst="rect">
              <a:avLst/>
            </a:prstGeom>
          </p:spPr>
        </p:pic>
        <p:sp>
          <p:nvSpPr>
            <p:cNvPr id="14" name="TextBox 13">
              <a:extLst>
                <a:ext uri="{FF2B5EF4-FFF2-40B4-BE49-F238E27FC236}">
                  <a16:creationId xmlns:a16="http://schemas.microsoft.com/office/drawing/2014/main" id="{26F08DE1-4AD2-DDD0-4B6F-3D5CBA8B4BF0}"/>
                </a:ext>
              </a:extLst>
            </p:cNvPr>
            <p:cNvSpPr txBox="1"/>
            <p:nvPr/>
          </p:nvSpPr>
          <p:spPr>
            <a:xfrm>
              <a:off x="6885359" y="3289757"/>
              <a:ext cx="1433672" cy="369332"/>
            </a:xfrm>
            <a:prstGeom prst="rect">
              <a:avLst/>
            </a:prstGeom>
            <a:noFill/>
          </p:spPr>
          <p:txBody>
            <a:bodyPr wrap="square" rtlCol="0">
              <a:spAutoFit/>
            </a:bodyPr>
            <a:lstStyle/>
            <a:p>
              <a:pPr algn="ctr"/>
              <a:r>
                <a:rPr lang="en-US" b="1" i="1" dirty="0">
                  <a:solidFill>
                    <a:srgbClr val="6D40DC"/>
                  </a:solidFill>
                </a:rPr>
                <a:t>Attacker</a:t>
              </a:r>
            </a:p>
          </p:txBody>
        </p:sp>
      </p:grpSp>
      <p:sp>
        <p:nvSpPr>
          <p:cNvPr id="20" name="TextBox 19">
            <a:extLst>
              <a:ext uri="{FF2B5EF4-FFF2-40B4-BE49-F238E27FC236}">
                <a16:creationId xmlns:a16="http://schemas.microsoft.com/office/drawing/2014/main" id="{701B8CD9-B62F-F660-CBE4-6F768DAF9D51}"/>
              </a:ext>
            </a:extLst>
          </p:cNvPr>
          <p:cNvSpPr txBox="1"/>
          <p:nvPr/>
        </p:nvSpPr>
        <p:spPr>
          <a:xfrm>
            <a:off x="1211634" y="4147515"/>
            <a:ext cx="2806706" cy="1477328"/>
          </a:xfrm>
          <a:prstGeom prst="rect">
            <a:avLst/>
          </a:prstGeom>
          <a:noFill/>
        </p:spPr>
        <p:txBody>
          <a:bodyPr wrap="square" rtlCol="0">
            <a:spAutoFit/>
          </a:bodyPr>
          <a:lstStyle/>
          <a:p>
            <a:r>
              <a:rPr lang="en-US" i="1" dirty="0">
                <a:solidFill>
                  <a:srgbClr val="316CE3"/>
                </a:solidFill>
              </a:rPr>
              <a:t>Determines</a:t>
            </a:r>
            <a:r>
              <a:rPr lang="en-US" i="1" dirty="0"/>
              <a:t> which website the victim loads</a:t>
            </a:r>
          </a:p>
          <a:p>
            <a:r>
              <a:rPr lang="en-US" i="1" dirty="0"/>
              <a:t>by only observing </a:t>
            </a:r>
            <a:r>
              <a:rPr lang="en-US" i="1" dirty="0">
                <a:solidFill>
                  <a:srgbClr val="6D40DC"/>
                </a:solidFill>
              </a:rPr>
              <a:t>own memory request latencies</a:t>
            </a:r>
          </a:p>
          <a:p>
            <a:endParaRPr lang="en-US" i="1" dirty="0"/>
          </a:p>
        </p:txBody>
      </p:sp>
      <p:grpSp>
        <p:nvGrpSpPr>
          <p:cNvPr id="25" name="Group 24">
            <a:extLst>
              <a:ext uri="{FF2B5EF4-FFF2-40B4-BE49-F238E27FC236}">
                <a16:creationId xmlns:a16="http://schemas.microsoft.com/office/drawing/2014/main" id="{BC27432B-01EA-2130-2EFB-76DF79F37E7A}"/>
              </a:ext>
            </a:extLst>
          </p:cNvPr>
          <p:cNvGrpSpPr/>
          <p:nvPr/>
        </p:nvGrpSpPr>
        <p:grpSpPr>
          <a:xfrm>
            <a:off x="6048155" y="3543209"/>
            <a:ext cx="2279415" cy="1161191"/>
            <a:chOff x="5886635" y="3024397"/>
            <a:chExt cx="2279415" cy="1161191"/>
          </a:xfrm>
        </p:grpSpPr>
        <p:sp>
          <p:nvSpPr>
            <p:cNvPr id="17" name="TextBox 16">
              <a:extLst>
                <a:ext uri="{FF2B5EF4-FFF2-40B4-BE49-F238E27FC236}">
                  <a16:creationId xmlns:a16="http://schemas.microsoft.com/office/drawing/2014/main" id="{D3251B61-63F3-FE33-4E5C-DFDF31B2EB75}"/>
                </a:ext>
              </a:extLst>
            </p:cNvPr>
            <p:cNvSpPr txBox="1"/>
            <p:nvPr/>
          </p:nvSpPr>
          <p:spPr>
            <a:xfrm>
              <a:off x="5886635" y="3539257"/>
              <a:ext cx="2240818" cy="646331"/>
            </a:xfrm>
            <a:prstGeom prst="rect">
              <a:avLst/>
            </a:prstGeom>
            <a:noFill/>
          </p:spPr>
          <p:txBody>
            <a:bodyPr wrap="square" rtlCol="0">
              <a:spAutoFit/>
            </a:bodyPr>
            <a:lstStyle/>
            <a:p>
              <a:r>
                <a:rPr lang="en-US" i="1" dirty="0"/>
                <a:t>Loads websites using a web browser</a:t>
              </a:r>
            </a:p>
          </p:txBody>
        </p:sp>
        <p:sp>
          <p:nvSpPr>
            <p:cNvPr id="21" name="Freeform: Shape 20">
              <a:extLst>
                <a:ext uri="{FF2B5EF4-FFF2-40B4-BE49-F238E27FC236}">
                  <a16:creationId xmlns:a16="http://schemas.microsoft.com/office/drawing/2014/main" id="{8FD43CAC-7B0B-06E9-0EC4-D8727A0B8711}"/>
                </a:ext>
              </a:extLst>
            </p:cNvPr>
            <p:cNvSpPr/>
            <p:nvPr/>
          </p:nvSpPr>
          <p:spPr>
            <a:xfrm flipH="1">
              <a:off x="7815530" y="3024397"/>
              <a:ext cx="350520" cy="604520"/>
            </a:xfrm>
            <a:custGeom>
              <a:avLst/>
              <a:gdLst>
                <a:gd name="connsiteX0" fmla="*/ 0 w 269240"/>
                <a:gd name="connsiteY0" fmla="*/ 0 h 426720"/>
                <a:gd name="connsiteX1" fmla="*/ 96520 w 269240"/>
                <a:gd name="connsiteY1" fmla="*/ 269240 h 426720"/>
                <a:gd name="connsiteX2" fmla="*/ 269240 w 269240"/>
                <a:gd name="connsiteY2" fmla="*/ 426720 h 426720"/>
              </a:gdLst>
              <a:ahLst/>
              <a:cxnLst>
                <a:cxn ang="0">
                  <a:pos x="connsiteX0" y="connsiteY0"/>
                </a:cxn>
                <a:cxn ang="0">
                  <a:pos x="connsiteX1" y="connsiteY1"/>
                </a:cxn>
                <a:cxn ang="0">
                  <a:pos x="connsiteX2" y="connsiteY2"/>
                </a:cxn>
              </a:cxnLst>
              <a:rect l="l" t="t" r="r" b="b"/>
              <a:pathLst>
                <a:path w="269240" h="426720">
                  <a:moveTo>
                    <a:pt x="0" y="0"/>
                  </a:moveTo>
                  <a:cubicBezTo>
                    <a:pt x="25823" y="99060"/>
                    <a:pt x="51647" y="198120"/>
                    <a:pt x="96520" y="269240"/>
                  </a:cubicBezTo>
                  <a:cubicBezTo>
                    <a:pt x="141393" y="340360"/>
                    <a:pt x="205316" y="383540"/>
                    <a:pt x="269240" y="42672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reeform: Shape 7">
            <a:extLst>
              <a:ext uri="{FF2B5EF4-FFF2-40B4-BE49-F238E27FC236}">
                <a16:creationId xmlns:a16="http://schemas.microsoft.com/office/drawing/2014/main" id="{88DCB843-93E7-190A-6AA7-F3EDCCDC1E97}"/>
              </a:ext>
            </a:extLst>
          </p:cNvPr>
          <p:cNvSpPr/>
          <p:nvPr/>
        </p:nvSpPr>
        <p:spPr>
          <a:xfrm rot="766044">
            <a:off x="878895" y="3762352"/>
            <a:ext cx="350520" cy="604520"/>
          </a:xfrm>
          <a:custGeom>
            <a:avLst/>
            <a:gdLst>
              <a:gd name="connsiteX0" fmla="*/ 0 w 269240"/>
              <a:gd name="connsiteY0" fmla="*/ 0 h 426720"/>
              <a:gd name="connsiteX1" fmla="*/ 96520 w 269240"/>
              <a:gd name="connsiteY1" fmla="*/ 269240 h 426720"/>
              <a:gd name="connsiteX2" fmla="*/ 269240 w 269240"/>
              <a:gd name="connsiteY2" fmla="*/ 426720 h 426720"/>
            </a:gdLst>
            <a:ahLst/>
            <a:cxnLst>
              <a:cxn ang="0">
                <a:pos x="connsiteX0" y="connsiteY0"/>
              </a:cxn>
              <a:cxn ang="0">
                <a:pos x="connsiteX1" y="connsiteY1"/>
              </a:cxn>
              <a:cxn ang="0">
                <a:pos x="connsiteX2" y="connsiteY2"/>
              </a:cxn>
            </a:cxnLst>
            <a:rect l="l" t="t" r="r" b="b"/>
            <a:pathLst>
              <a:path w="269240" h="426720">
                <a:moveTo>
                  <a:pt x="0" y="0"/>
                </a:moveTo>
                <a:cubicBezTo>
                  <a:pt x="25823" y="99060"/>
                  <a:pt x="51647" y="198120"/>
                  <a:pt x="96520" y="269240"/>
                </a:cubicBezTo>
                <a:cubicBezTo>
                  <a:pt x="141393" y="340360"/>
                  <a:pt x="205316" y="383540"/>
                  <a:pt x="269240" y="42672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C731EAC-ABF4-C190-8D96-9F4AC365F260}"/>
              </a:ext>
            </a:extLst>
          </p:cNvPr>
          <p:cNvSpPr txBox="1"/>
          <p:nvPr/>
        </p:nvSpPr>
        <p:spPr>
          <a:xfrm>
            <a:off x="2260847" y="1383673"/>
            <a:ext cx="4380973" cy="707886"/>
          </a:xfrm>
          <a:prstGeom prst="rect">
            <a:avLst/>
          </a:prstGeom>
          <a:noFill/>
        </p:spPr>
        <p:txBody>
          <a:bodyPr wrap="square" rtlCol="0">
            <a:spAutoFit/>
          </a:bodyPr>
          <a:lstStyle/>
          <a:p>
            <a:pPr algn="ctr"/>
            <a:r>
              <a:rPr lang="en-US" sz="2000" i="1" dirty="0">
                <a:solidFill>
                  <a:schemeClr val="tx1"/>
                </a:solidFill>
                <a:latin typeface="+mj-lt"/>
              </a:rPr>
              <a:t>No need to </a:t>
            </a:r>
            <a:r>
              <a:rPr lang="en-US" sz="2000" i="1" dirty="0" err="1">
                <a:solidFill>
                  <a:schemeClr val="tx1"/>
                </a:solidFill>
                <a:latin typeface="+mj-lt"/>
              </a:rPr>
              <a:t>colocate</a:t>
            </a:r>
            <a:r>
              <a:rPr lang="en-US" sz="2000" i="1" dirty="0">
                <a:solidFill>
                  <a:schemeClr val="tx1"/>
                </a:solidFill>
                <a:latin typeface="+mj-lt"/>
              </a:rPr>
              <a:t> in the same bank as back-off affects the whole channel</a:t>
            </a:r>
            <a:endParaRPr lang="en-US" sz="2000" i="1" dirty="0"/>
          </a:p>
        </p:txBody>
      </p:sp>
      <p:grpSp>
        <p:nvGrpSpPr>
          <p:cNvPr id="32" name="Group 31">
            <a:extLst>
              <a:ext uri="{FF2B5EF4-FFF2-40B4-BE49-F238E27FC236}">
                <a16:creationId xmlns:a16="http://schemas.microsoft.com/office/drawing/2014/main" id="{B3074DAC-4A0A-A1B7-DA3A-7C071C21A742}"/>
              </a:ext>
            </a:extLst>
          </p:cNvPr>
          <p:cNvGrpSpPr/>
          <p:nvPr/>
        </p:nvGrpSpPr>
        <p:grpSpPr>
          <a:xfrm>
            <a:off x="1838325" y="1962611"/>
            <a:ext cx="1614994" cy="1603956"/>
            <a:chOff x="1838325" y="1444013"/>
            <a:chExt cx="1614994" cy="1603956"/>
          </a:xfrm>
        </p:grpSpPr>
        <p:sp>
          <p:nvSpPr>
            <p:cNvPr id="19" name="Rectangle 18">
              <a:extLst>
                <a:ext uri="{FF2B5EF4-FFF2-40B4-BE49-F238E27FC236}">
                  <a16:creationId xmlns:a16="http://schemas.microsoft.com/office/drawing/2014/main" id="{47219D75-B8E0-81E8-4D8D-A5CE403AB8C5}"/>
                </a:ext>
              </a:extLst>
            </p:cNvPr>
            <p:cNvSpPr/>
            <p:nvPr/>
          </p:nvSpPr>
          <p:spPr>
            <a:xfrm>
              <a:off x="2996119" y="1887166"/>
              <a:ext cx="457200" cy="226523"/>
            </a:xfrm>
            <a:prstGeom prst="rect">
              <a:avLst/>
            </a:prstGeom>
            <a:solidFill>
              <a:srgbClr val="6D40DC">
                <a:alpha val="42000"/>
              </a:srgbClr>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9B9DF066-F53B-D466-5829-8F53F5DD85B6}"/>
                </a:ext>
              </a:extLst>
            </p:cNvPr>
            <p:cNvCxnSpPr>
              <a:cxnSpLocks/>
            </p:cNvCxnSpPr>
            <p:nvPr/>
          </p:nvCxnSpPr>
          <p:spPr>
            <a:xfrm>
              <a:off x="1838325" y="1444013"/>
              <a:ext cx="1152525" cy="469997"/>
            </a:xfrm>
            <a:prstGeom prst="line">
              <a:avLst/>
            </a:prstGeom>
            <a:ln w="38100">
              <a:solidFill>
                <a:srgbClr val="7A62E7"/>
              </a:solidFill>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CF61309-8381-CC32-0FF6-711C9D8B914B}"/>
                </a:ext>
              </a:extLst>
            </p:cNvPr>
            <p:cNvCxnSpPr>
              <a:cxnSpLocks/>
            </p:cNvCxnSpPr>
            <p:nvPr/>
          </p:nvCxnSpPr>
          <p:spPr>
            <a:xfrm flipV="1">
              <a:off x="2230899" y="2113689"/>
              <a:ext cx="759951" cy="934280"/>
            </a:xfrm>
            <a:prstGeom prst="line">
              <a:avLst/>
            </a:prstGeom>
            <a:ln w="38100">
              <a:solidFill>
                <a:srgbClr val="7A62E7"/>
              </a:solidFill>
              <a:prstDash val="sysDash"/>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85375B4-47FA-C88D-3B3D-4E62F5C455B5}"/>
              </a:ext>
            </a:extLst>
          </p:cNvPr>
          <p:cNvGrpSpPr/>
          <p:nvPr/>
        </p:nvGrpSpPr>
        <p:grpSpPr>
          <a:xfrm>
            <a:off x="5108048" y="1911811"/>
            <a:ext cx="2197627" cy="1517189"/>
            <a:chOff x="5108048" y="1393213"/>
            <a:chExt cx="2197627" cy="1517189"/>
          </a:xfrm>
        </p:grpSpPr>
        <p:sp>
          <p:nvSpPr>
            <p:cNvPr id="23" name="Rectangle 22">
              <a:extLst>
                <a:ext uri="{FF2B5EF4-FFF2-40B4-BE49-F238E27FC236}">
                  <a16:creationId xmlns:a16="http://schemas.microsoft.com/office/drawing/2014/main" id="{47DD6F74-CE4A-8CBE-FC91-DE8CDB9EAACF}"/>
                </a:ext>
              </a:extLst>
            </p:cNvPr>
            <p:cNvSpPr/>
            <p:nvPr/>
          </p:nvSpPr>
          <p:spPr>
            <a:xfrm>
              <a:off x="5108048" y="1914010"/>
              <a:ext cx="457200" cy="226523"/>
            </a:xfrm>
            <a:prstGeom prst="rect">
              <a:avLst/>
            </a:prstGeom>
            <a:solidFill>
              <a:schemeClr val="accent6">
                <a:lumMod val="75000"/>
                <a:alpha val="42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A11D6656-B852-E4F0-87E3-C3C0D3C63AD0}"/>
                </a:ext>
              </a:extLst>
            </p:cNvPr>
            <p:cNvCxnSpPr>
              <a:cxnSpLocks/>
            </p:cNvCxnSpPr>
            <p:nvPr/>
          </p:nvCxnSpPr>
          <p:spPr>
            <a:xfrm flipV="1">
              <a:off x="5599207" y="1393213"/>
              <a:ext cx="1706468" cy="4786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B8ECAB1-0247-61F9-05CD-B485B61BD20F}"/>
                </a:ext>
              </a:extLst>
            </p:cNvPr>
            <p:cNvCxnSpPr>
              <a:cxnSpLocks/>
            </p:cNvCxnSpPr>
            <p:nvPr/>
          </p:nvCxnSpPr>
          <p:spPr>
            <a:xfrm>
              <a:off x="5565248" y="2140533"/>
              <a:ext cx="1072494" cy="769869"/>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0724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8" grpId="0" animBg="1"/>
      <p:bldP spid="2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EDFA3-BBAA-F7F7-6ECB-ED000BEE6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8B5E2-BE4A-D7E1-390B-2408574C5168}"/>
              </a:ext>
            </a:extLst>
          </p:cNvPr>
          <p:cNvSpPr>
            <a:spLocks noGrp="1"/>
          </p:cNvSpPr>
          <p:nvPr>
            <p:ph type="title"/>
          </p:nvPr>
        </p:nvSpPr>
        <p:spPr/>
        <p:txBody>
          <a:bodyPr/>
          <a:lstStyle/>
          <a:p>
            <a:r>
              <a:rPr lang="en-US" dirty="0"/>
              <a:t>Fingerprinting Attack Overview</a:t>
            </a:r>
          </a:p>
        </p:txBody>
      </p:sp>
      <p:sp>
        <p:nvSpPr>
          <p:cNvPr id="3" name="Content Placeholder 2">
            <a:extLst>
              <a:ext uri="{FF2B5EF4-FFF2-40B4-BE49-F238E27FC236}">
                <a16:creationId xmlns:a16="http://schemas.microsoft.com/office/drawing/2014/main" id="{AECEEFDA-68A4-45E3-B188-19928D6D6AD3}"/>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C3599F36-63C7-23F1-61AD-25D37B3FBD91}"/>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0B9DD028-4CC6-D8ED-E8C1-97BB3EE8D0A5}"/>
              </a:ext>
            </a:extLst>
          </p:cNvPr>
          <p:cNvSpPr>
            <a:spLocks noGrp="1"/>
          </p:cNvSpPr>
          <p:nvPr>
            <p:ph type="sldNum" sz="quarter" idx="12"/>
          </p:nvPr>
        </p:nvSpPr>
        <p:spPr/>
        <p:txBody>
          <a:bodyPr/>
          <a:lstStyle/>
          <a:p>
            <a:fld id="{CBE5B309-C2CE-4D90-B104-F7E98438FC65}" type="slidenum">
              <a:rPr lang="tr-TR" smtClean="0"/>
              <a:pPr/>
              <a:t>75</a:t>
            </a:fld>
            <a:endParaRPr lang="tr-TR" dirty="0"/>
          </a:p>
        </p:txBody>
      </p:sp>
      <p:pic>
        <p:nvPicPr>
          <p:cNvPr id="12" name="Picture 11">
            <a:extLst>
              <a:ext uri="{FF2B5EF4-FFF2-40B4-BE49-F238E27FC236}">
                <a16:creationId xmlns:a16="http://schemas.microsoft.com/office/drawing/2014/main" id="{31CCDAE8-7526-8B9F-4DC5-12DC187D7D79}"/>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2838689" y="1305137"/>
            <a:ext cx="3616903" cy="1660935"/>
          </a:xfrm>
          <a:prstGeom prst="rect">
            <a:avLst/>
          </a:prstGeom>
        </p:spPr>
      </p:pic>
      <p:grpSp>
        <p:nvGrpSpPr>
          <p:cNvPr id="15" name="Group 14">
            <a:extLst>
              <a:ext uri="{FF2B5EF4-FFF2-40B4-BE49-F238E27FC236}">
                <a16:creationId xmlns:a16="http://schemas.microsoft.com/office/drawing/2014/main" id="{104D7E7E-464C-4ED5-F304-DF22E9357BD3}"/>
              </a:ext>
            </a:extLst>
          </p:cNvPr>
          <p:cNvGrpSpPr/>
          <p:nvPr/>
        </p:nvGrpSpPr>
        <p:grpSpPr>
          <a:xfrm flipH="1">
            <a:off x="697884" y="1305136"/>
            <a:ext cx="1562216" cy="2188607"/>
            <a:chOff x="6885359" y="1470482"/>
            <a:chExt cx="1562216" cy="2188607"/>
          </a:xfrm>
        </p:grpSpPr>
        <p:sp>
          <p:nvSpPr>
            <p:cNvPr id="11" name="Oval 10">
              <a:extLst>
                <a:ext uri="{FF2B5EF4-FFF2-40B4-BE49-F238E27FC236}">
                  <a16:creationId xmlns:a16="http://schemas.microsoft.com/office/drawing/2014/main" id="{F3900CBD-A0D4-CBE1-378D-E6CF3B050399}"/>
                </a:ext>
              </a:extLst>
            </p:cNvPr>
            <p:cNvSpPr/>
            <p:nvPr/>
          </p:nvSpPr>
          <p:spPr>
            <a:xfrm>
              <a:off x="6926968" y="1690179"/>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Old woman wearing lightning shirt">
              <a:extLst>
                <a:ext uri="{FF2B5EF4-FFF2-40B4-BE49-F238E27FC236}">
                  <a16:creationId xmlns:a16="http://schemas.microsoft.com/office/drawing/2014/main" id="{02055945-0930-34FC-75FA-5E5F9B938E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011645" y="1470482"/>
              <a:ext cx="1181100" cy="1819275"/>
            </a:xfrm>
            <a:prstGeom prst="rect">
              <a:avLst/>
            </a:prstGeom>
          </p:spPr>
        </p:pic>
        <p:sp>
          <p:nvSpPr>
            <p:cNvPr id="14" name="TextBox 13">
              <a:extLst>
                <a:ext uri="{FF2B5EF4-FFF2-40B4-BE49-F238E27FC236}">
                  <a16:creationId xmlns:a16="http://schemas.microsoft.com/office/drawing/2014/main" id="{7284FECC-721F-E661-17BE-59A33CBB523A}"/>
                </a:ext>
              </a:extLst>
            </p:cNvPr>
            <p:cNvSpPr txBox="1"/>
            <p:nvPr/>
          </p:nvSpPr>
          <p:spPr>
            <a:xfrm>
              <a:off x="6885359" y="3289757"/>
              <a:ext cx="1433672" cy="369332"/>
            </a:xfrm>
            <a:prstGeom prst="rect">
              <a:avLst/>
            </a:prstGeom>
            <a:noFill/>
          </p:spPr>
          <p:txBody>
            <a:bodyPr wrap="square" rtlCol="0">
              <a:spAutoFit/>
            </a:bodyPr>
            <a:lstStyle/>
            <a:p>
              <a:pPr algn="ctr"/>
              <a:r>
                <a:rPr lang="en-US" b="1" i="1" dirty="0">
                  <a:solidFill>
                    <a:srgbClr val="6D40DC"/>
                  </a:solidFill>
                </a:rPr>
                <a:t>Attacker</a:t>
              </a:r>
            </a:p>
          </p:txBody>
        </p:sp>
      </p:grpSp>
      <p:pic>
        <p:nvPicPr>
          <p:cNvPr id="6" name="Graphic 5" descr="Magnifying glass with solid fill">
            <a:extLst>
              <a:ext uri="{FF2B5EF4-FFF2-40B4-BE49-F238E27FC236}">
                <a16:creationId xmlns:a16="http://schemas.microsoft.com/office/drawing/2014/main" id="{F9900EE2-0B1D-9D8A-5D05-E747F6ADBC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2260100" y="947758"/>
            <a:ext cx="1496868" cy="1496868"/>
          </a:xfrm>
          <a:prstGeom prst="rect">
            <a:avLst/>
          </a:prstGeom>
        </p:spPr>
      </p:pic>
      <p:grpSp>
        <p:nvGrpSpPr>
          <p:cNvPr id="8" name="Group 7">
            <a:extLst>
              <a:ext uri="{FF2B5EF4-FFF2-40B4-BE49-F238E27FC236}">
                <a16:creationId xmlns:a16="http://schemas.microsoft.com/office/drawing/2014/main" id="{4F7F9BED-C884-E0B6-02DF-49BD14B68FF3}"/>
              </a:ext>
            </a:extLst>
          </p:cNvPr>
          <p:cNvGrpSpPr/>
          <p:nvPr/>
        </p:nvGrpSpPr>
        <p:grpSpPr>
          <a:xfrm flipH="1">
            <a:off x="6455592" y="1305136"/>
            <a:ext cx="2074227" cy="2101558"/>
            <a:chOff x="447040" y="1619250"/>
            <a:chExt cx="2074227" cy="2101558"/>
          </a:xfrm>
        </p:grpSpPr>
        <p:sp>
          <p:nvSpPr>
            <p:cNvPr id="18" name="Oval 17">
              <a:extLst>
                <a:ext uri="{FF2B5EF4-FFF2-40B4-BE49-F238E27FC236}">
                  <a16:creationId xmlns:a16="http://schemas.microsoft.com/office/drawing/2014/main" id="{D9F29A1C-9A78-623C-A3A9-8CF88419FAC8}"/>
                </a:ext>
              </a:extLst>
            </p:cNvPr>
            <p:cNvSpPr/>
            <p:nvPr/>
          </p:nvSpPr>
          <p:spPr>
            <a:xfrm>
              <a:off x="447040" y="1747520"/>
              <a:ext cx="1630680" cy="1630680"/>
            </a:xfrm>
            <a:prstGeom prst="ellipse">
              <a:avLst/>
            </a:prstGeom>
            <a:solidFill>
              <a:schemeClr val="accent6">
                <a:lumMod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6" name="Graphic 25" descr="Woman holding a laptop">
              <a:extLst>
                <a:ext uri="{FF2B5EF4-FFF2-40B4-BE49-F238E27FC236}">
                  <a16:creationId xmlns:a16="http://schemas.microsoft.com/office/drawing/2014/main" id="{9A54D79E-6FD2-7C9D-29AE-71A22249F7A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092" y="1619250"/>
              <a:ext cx="1781175" cy="1809750"/>
            </a:xfrm>
            <a:prstGeom prst="rect">
              <a:avLst/>
            </a:prstGeom>
          </p:spPr>
        </p:pic>
        <p:sp>
          <p:nvSpPr>
            <p:cNvPr id="28" name="TextBox 27">
              <a:extLst>
                <a:ext uri="{FF2B5EF4-FFF2-40B4-BE49-F238E27FC236}">
                  <a16:creationId xmlns:a16="http://schemas.microsoft.com/office/drawing/2014/main" id="{66E41EB5-47BB-4221-AD16-7D98C5A94673}"/>
                </a:ext>
              </a:extLst>
            </p:cNvPr>
            <p:cNvSpPr txBox="1"/>
            <p:nvPr/>
          </p:nvSpPr>
          <p:spPr>
            <a:xfrm>
              <a:off x="887925" y="3351476"/>
              <a:ext cx="874835" cy="369332"/>
            </a:xfrm>
            <a:prstGeom prst="rect">
              <a:avLst/>
            </a:prstGeom>
            <a:noFill/>
          </p:spPr>
          <p:txBody>
            <a:bodyPr wrap="square" rtlCol="0">
              <a:spAutoFit/>
            </a:bodyPr>
            <a:lstStyle/>
            <a:p>
              <a:pPr algn="ctr"/>
              <a:r>
                <a:rPr lang="en-US" b="1" i="1" dirty="0">
                  <a:solidFill>
                    <a:schemeClr val="accent6">
                      <a:lumMod val="75000"/>
                    </a:schemeClr>
                  </a:solidFill>
                </a:rPr>
                <a:t>Victim</a:t>
              </a:r>
            </a:p>
          </p:txBody>
        </p:sp>
      </p:grpSp>
      <p:grpSp>
        <p:nvGrpSpPr>
          <p:cNvPr id="55" name="Group 54">
            <a:extLst>
              <a:ext uri="{FF2B5EF4-FFF2-40B4-BE49-F238E27FC236}">
                <a16:creationId xmlns:a16="http://schemas.microsoft.com/office/drawing/2014/main" id="{7D8407B0-9A5D-6799-B8FD-20EEDA47FC0D}"/>
              </a:ext>
            </a:extLst>
          </p:cNvPr>
          <p:cNvGrpSpPr/>
          <p:nvPr/>
        </p:nvGrpSpPr>
        <p:grpSpPr>
          <a:xfrm>
            <a:off x="3186970" y="4422811"/>
            <a:ext cx="3179834" cy="1803481"/>
            <a:chOff x="744850" y="3819774"/>
            <a:chExt cx="3179834" cy="1803481"/>
          </a:xfrm>
        </p:grpSpPr>
        <p:sp>
          <p:nvSpPr>
            <p:cNvPr id="61" name="TextBox 60">
              <a:extLst>
                <a:ext uri="{FF2B5EF4-FFF2-40B4-BE49-F238E27FC236}">
                  <a16:creationId xmlns:a16="http://schemas.microsoft.com/office/drawing/2014/main" id="{9585EF2A-B8F7-0491-1CA7-272A2304B4C6}"/>
                </a:ext>
              </a:extLst>
            </p:cNvPr>
            <p:cNvSpPr txBox="1"/>
            <p:nvPr/>
          </p:nvSpPr>
          <p:spPr>
            <a:xfrm>
              <a:off x="744850" y="4699925"/>
              <a:ext cx="3179834" cy="923330"/>
            </a:xfrm>
            <a:prstGeom prst="rect">
              <a:avLst/>
            </a:prstGeom>
            <a:noFill/>
          </p:spPr>
          <p:txBody>
            <a:bodyPr wrap="square" rtlCol="0">
              <a:spAutoFit/>
            </a:bodyPr>
            <a:lstStyle/>
            <a:p>
              <a:pPr algn="ctr"/>
              <a:r>
                <a:rPr lang="en-US" i="1" dirty="0"/>
                <a:t>access </a:t>
              </a:r>
              <a:r>
                <a:rPr lang="en-US" i="1" dirty="0">
                  <a:solidFill>
                    <a:srgbClr val="7A62E7"/>
                  </a:solidFill>
                </a:rPr>
                <a:t>test rows </a:t>
              </a:r>
              <a:r>
                <a:rPr lang="en-US" i="1" dirty="0"/>
                <a:t>continuously and </a:t>
              </a:r>
              <a:r>
                <a:rPr lang="en-US" i="1" dirty="0">
                  <a:solidFill>
                    <a:srgbClr val="B3195F"/>
                  </a:solidFill>
                </a:rPr>
                <a:t>measure access latencies </a:t>
              </a:r>
              <a:r>
                <a:rPr lang="en-US" i="1" dirty="0"/>
                <a:t>to </a:t>
              </a:r>
              <a:r>
                <a:rPr lang="en-US" i="1" dirty="0">
                  <a:solidFill>
                    <a:srgbClr val="316CE3"/>
                  </a:solidFill>
                </a:rPr>
                <a:t>detect back-offs</a:t>
              </a:r>
            </a:p>
          </p:txBody>
        </p:sp>
        <p:grpSp>
          <p:nvGrpSpPr>
            <p:cNvPr id="57" name="Group 56">
              <a:extLst>
                <a:ext uri="{FF2B5EF4-FFF2-40B4-BE49-F238E27FC236}">
                  <a16:creationId xmlns:a16="http://schemas.microsoft.com/office/drawing/2014/main" id="{06E47ABF-137A-D0B9-F412-E58F053D12C4}"/>
                </a:ext>
              </a:extLst>
            </p:cNvPr>
            <p:cNvGrpSpPr/>
            <p:nvPr/>
          </p:nvGrpSpPr>
          <p:grpSpPr>
            <a:xfrm>
              <a:off x="784341" y="3819774"/>
              <a:ext cx="3140343" cy="737641"/>
              <a:chOff x="910066" y="4958257"/>
              <a:chExt cx="4471621" cy="1050347"/>
            </a:xfrm>
          </p:grpSpPr>
          <p:cxnSp>
            <p:nvCxnSpPr>
              <p:cNvPr id="58" name="Straight Arrow Connector 57">
                <a:extLst>
                  <a:ext uri="{FF2B5EF4-FFF2-40B4-BE49-F238E27FC236}">
                    <a16:creationId xmlns:a16="http://schemas.microsoft.com/office/drawing/2014/main" id="{02ADCB16-F1C8-868D-E68A-20447F6948AD}"/>
                  </a:ext>
                </a:extLst>
              </p:cNvPr>
              <p:cNvCxnSpPr>
                <a:cxnSpLocks/>
              </p:cNvCxnSpPr>
              <p:nvPr/>
            </p:nvCxnSpPr>
            <p:spPr>
              <a:xfrm>
                <a:off x="910066" y="5985173"/>
                <a:ext cx="4471621"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A822253-3A61-798A-15CD-AE208AF811DC}"/>
                  </a:ext>
                </a:extLst>
              </p:cNvPr>
              <p:cNvCxnSpPr>
                <a:cxnSpLocks/>
              </p:cNvCxnSpPr>
              <p:nvPr/>
            </p:nvCxnSpPr>
            <p:spPr>
              <a:xfrm flipV="1">
                <a:off x="932456" y="4958257"/>
                <a:ext cx="0" cy="1050347"/>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Freeform: Shape 59">
                <a:extLst>
                  <a:ext uri="{FF2B5EF4-FFF2-40B4-BE49-F238E27FC236}">
                    <a16:creationId xmlns:a16="http://schemas.microsoft.com/office/drawing/2014/main" id="{29C110BC-1F13-A427-2CEC-B5727AF1EEB7}"/>
                  </a:ext>
                </a:extLst>
              </p:cNvPr>
              <p:cNvSpPr/>
              <p:nvPr/>
            </p:nvSpPr>
            <p:spPr>
              <a:xfrm>
                <a:off x="1036316" y="5200272"/>
                <a:ext cx="3404211" cy="593113"/>
              </a:xfrm>
              <a:custGeom>
                <a:avLst/>
                <a:gdLst>
                  <a:gd name="connsiteX0" fmla="*/ 0 w 1768129"/>
                  <a:gd name="connsiteY0" fmla="*/ 637108 h 686302"/>
                  <a:gd name="connsiteX1" fmla="*/ 199348 w 1768129"/>
                  <a:gd name="connsiteY1" fmla="*/ 624107 h 686302"/>
                  <a:gd name="connsiteX2" fmla="*/ 320690 w 1768129"/>
                  <a:gd name="connsiteY2" fmla="*/ 641442 h 686302"/>
                  <a:gd name="connsiteX3" fmla="*/ 459367 w 1768129"/>
                  <a:gd name="connsiteY3" fmla="*/ 606772 h 686302"/>
                  <a:gd name="connsiteX4" fmla="*/ 667382 w 1768129"/>
                  <a:gd name="connsiteY4" fmla="*/ 624107 h 686302"/>
                  <a:gd name="connsiteX5" fmla="*/ 827727 w 1768129"/>
                  <a:gd name="connsiteY5" fmla="*/ 611106 h 686302"/>
                  <a:gd name="connsiteX6" fmla="*/ 949070 w 1768129"/>
                  <a:gd name="connsiteY6" fmla="*/ 61 h 686302"/>
                  <a:gd name="connsiteX7" fmla="*/ 1066078 w 1768129"/>
                  <a:gd name="connsiteY7" fmla="*/ 650109 h 686302"/>
                  <a:gd name="connsiteX8" fmla="*/ 1287094 w 1768129"/>
                  <a:gd name="connsiteY8" fmla="*/ 602439 h 686302"/>
                  <a:gd name="connsiteX9" fmla="*/ 1529779 w 1768129"/>
                  <a:gd name="connsiteY9" fmla="*/ 598105 h 686302"/>
                  <a:gd name="connsiteX10" fmla="*/ 1768129 w 1768129"/>
                  <a:gd name="connsiteY10" fmla="*/ 598105 h 68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8129" h="686302">
                    <a:moveTo>
                      <a:pt x="0" y="637108"/>
                    </a:moveTo>
                    <a:cubicBezTo>
                      <a:pt x="72950" y="630246"/>
                      <a:pt x="145900" y="623385"/>
                      <a:pt x="199348" y="624107"/>
                    </a:cubicBezTo>
                    <a:cubicBezTo>
                      <a:pt x="252796" y="624829"/>
                      <a:pt x="277354" y="644331"/>
                      <a:pt x="320690" y="641442"/>
                    </a:cubicBezTo>
                    <a:cubicBezTo>
                      <a:pt x="364026" y="638553"/>
                      <a:pt x="401585" y="609661"/>
                      <a:pt x="459367" y="606772"/>
                    </a:cubicBezTo>
                    <a:cubicBezTo>
                      <a:pt x="517149" y="603883"/>
                      <a:pt x="605989" y="623385"/>
                      <a:pt x="667382" y="624107"/>
                    </a:cubicBezTo>
                    <a:cubicBezTo>
                      <a:pt x="728775" y="624829"/>
                      <a:pt x="780779" y="715114"/>
                      <a:pt x="827727" y="611106"/>
                    </a:cubicBezTo>
                    <a:cubicBezTo>
                      <a:pt x="874675" y="507098"/>
                      <a:pt x="909345" y="-6439"/>
                      <a:pt x="949070" y="61"/>
                    </a:cubicBezTo>
                    <a:cubicBezTo>
                      <a:pt x="988795" y="6561"/>
                      <a:pt x="1009741" y="549713"/>
                      <a:pt x="1066078" y="650109"/>
                    </a:cubicBezTo>
                    <a:cubicBezTo>
                      <a:pt x="1122415" y="750505"/>
                      <a:pt x="1209811" y="611106"/>
                      <a:pt x="1287094" y="602439"/>
                    </a:cubicBezTo>
                    <a:cubicBezTo>
                      <a:pt x="1364378" y="593772"/>
                      <a:pt x="1529779" y="598105"/>
                      <a:pt x="1529779" y="598105"/>
                    </a:cubicBezTo>
                    <a:lnTo>
                      <a:pt x="1768129" y="598105"/>
                    </a:lnTo>
                  </a:path>
                </a:pathLst>
              </a:custGeom>
              <a:noFill/>
              <a:ln w="38100">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64" name="Arrow: Pentagon 63">
            <a:extLst>
              <a:ext uri="{FF2B5EF4-FFF2-40B4-BE49-F238E27FC236}">
                <a16:creationId xmlns:a16="http://schemas.microsoft.com/office/drawing/2014/main" id="{E68A2D6A-59DC-F2A2-192C-14FE6D15E618}"/>
              </a:ext>
            </a:extLst>
          </p:cNvPr>
          <p:cNvSpPr/>
          <p:nvPr/>
        </p:nvSpPr>
        <p:spPr>
          <a:xfrm>
            <a:off x="812300" y="3543072"/>
            <a:ext cx="2489200" cy="679785"/>
          </a:xfrm>
          <a:prstGeom prst="homePlate">
            <a:avLst/>
          </a:prstGeom>
          <a:solidFill>
            <a:srgbClr val="316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Measure memory request latencies</a:t>
            </a:r>
          </a:p>
        </p:txBody>
      </p:sp>
    </p:spTree>
    <p:extLst>
      <p:ext uri="{BB962C8B-B14F-4D97-AF65-F5344CB8AC3E}">
        <p14:creationId xmlns:p14="http://schemas.microsoft.com/office/powerpoint/2010/main" val="311497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E0759-5403-BA34-CC93-E520DDA5C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4E9E5-5DFF-D498-439A-D866930BD1D3}"/>
              </a:ext>
            </a:extLst>
          </p:cNvPr>
          <p:cNvSpPr>
            <a:spLocks noGrp="1"/>
          </p:cNvSpPr>
          <p:nvPr>
            <p:ph type="title"/>
          </p:nvPr>
        </p:nvSpPr>
        <p:spPr/>
        <p:txBody>
          <a:bodyPr/>
          <a:lstStyle/>
          <a:p>
            <a:r>
              <a:rPr lang="en-US" dirty="0"/>
              <a:t>Fingerprinting Attack Overview</a:t>
            </a:r>
          </a:p>
        </p:txBody>
      </p:sp>
      <p:sp>
        <p:nvSpPr>
          <p:cNvPr id="3" name="Content Placeholder 2">
            <a:extLst>
              <a:ext uri="{FF2B5EF4-FFF2-40B4-BE49-F238E27FC236}">
                <a16:creationId xmlns:a16="http://schemas.microsoft.com/office/drawing/2014/main" id="{8E0D07E7-DADD-8D74-8818-6FEACA033B8E}"/>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A34E1686-B680-4273-F7CF-7BDF36F9A34D}"/>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FC43554E-926E-A2B0-3F11-A07F1A40650C}"/>
              </a:ext>
            </a:extLst>
          </p:cNvPr>
          <p:cNvSpPr>
            <a:spLocks noGrp="1"/>
          </p:cNvSpPr>
          <p:nvPr>
            <p:ph type="sldNum" sz="quarter" idx="12"/>
          </p:nvPr>
        </p:nvSpPr>
        <p:spPr/>
        <p:txBody>
          <a:bodyPr/>
          <a:lstStyle/>
          <a:p>
            <a:fld id="{CBE5B309-C2CE-4D90-B104-F7E98438FC65}" type="slidenum">
              <a:rPr lang="tr-TR" smtClean="0"/>
              <a:pPr/>
              <a:t>76</a:t>
            </a:fld>
            <a:endParaRPr lang="tr-TR" dirty="0"/>
          </a:p>
        </p:txBody>
      </p:sp>
      <p:pic>
        <p:nvPicPr>
          <p:cNvPr id="12" name="Picture 11">
            <a:extLst>
              <a:ext uri="{FF2B5EF4-FFF2-40B4-BE49-F238E27FC236}">
                <a16:creationId xmlns:a16="http://schemas.microsoft.com/office/drawing/2014/main" id="{65E77991-B4C6-09B7-C043-23225DA9F956}"/>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2838689" y="1305137"/>
            <a:ext cx="3616903" cy="1660935"/>
          </a:xfrm>
          <a:prstGeom prst="rect">
            <a:avLst/>
          </a:prstGeom>
        </p:spPr>
      </p:pic>
      <p:grpSp>
        <p:nvGrpSpPr>
          <p:cNvPr id="15" name="Group 14">
            <a:extLst>
              <a:ext uri="{FF2B5EF4-FFF2-40B4-BE49-F238E27FC236}">
                <a16:creationId xmlns:a16="http://schemas.microsoft.com/office/drawing/2014/main" id="{FD595DE4-C963-812C-D338-6B83EEBAF600}"/>
              </a:ext>
            </a:extLst>
          </p:cNvPr>
          <p:cNvGrpSpPr/>
          <p:nvPr/>
        </p:nvGrpSpPr>
        <p:grpSpPr>
          <a:xfrm flipH="1">
            <a:off x="697884" y="1305136"/>
            <a:ext cx="1562216" cy="2188607"/>
            <a:chOff x="6885359" y="1470482"/>
            <a:chExt cx="1562216" cy="2188607"/>
          </a:xfrm>
        </p:grpSpPr>
        <p:sp>
          <p:nvSpPr>
            <p:cNvPr id="11" name="Oval 10">
              <a:extLst>
                <a:ext uri="{FF2B5EF4-FFF2-40B4-BE49-F238E27FC236}">
                  <a16:creationId xmlns:a16="http://schemas.microsoft.com/office/drawing/2014/main" id="{CFC68D5B-3CAE-97E6-B483-DB7875AB1B91}"/>
                </a:ext>
              </a:extLst>
            </p:cNvPr>
            <p:cNvSpPr/>
            <p:nvPr/>
          </p:nvSpPr>
          <p:spPr>
            <a:xfrm>
              <a:off x="6926968" y="1690179"/>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Old woman wearing lightning shirt">
              <a:extLst>
                <a:ext uri="{FF2B5EF4-FFF2-40B4-BE49-F238E27FC236}">
                  <a16:creationId xmlns:a16="http://schemas.microsoft.com/office/drawing/2014/main" id="{13CD03CF-CA9D-DEDB-179A-942938113A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011645" y="1470482"/>
              <a:ext cx="1181100" cy="1819275"/>
            </a:xfrm>
            <a:prstGeom prst="rect">
              <a:avLst/>
            </a:prstGeom>
          </p:spPr>
        </p:pic>
        <p:sp>
          <p:nvSpPr>
            <p:cNvPr id="14" name="TextBox 13">
              <a:extLst>
                <a:ext uri="{FF2B5EF4-FFF2-40B4-BE49-F238E27FC236}">
                  <a16:creationId xmlns:a16="http://schemas.microsoft.com/office/drawing/2014/main" id="{8E2FB747-1AEC-F533-ECA0-0E9E8308E341}"/>
                </a:ext>
              </a:extLst>
            </p:cNvPr>
            <p:cNvSpPr txBox="1"/>
            <p:nvPr/>
          </p:nvSpPr>
          <p:spPr>
            <a:xfrm>
              <a:off x="6885359" y="3289757"/>
              <a:ext cx="1433672" cy="369332"/>
            </a:xfrm>
            <a:prstGeom prst="rect">
              <a:avLst/>
            </a:prstGeom>
            <a:noFill/>
          </p:spPr>
          <p:txBody>
            <a:bodyPr wrap="square" rtlCol="0">
              <a:spAutoFit/>
            </a:bodyPr>
            <a:lstStyle/>
            <a:p>
              <a:pPr algn="ctr"/>
              <a:r>
                <a:rPr lang="en-US" b="1" i="1" dirty="0">
                  <a:solidFill>
                    <a:srgbClr val="6D40DC"/>
                  </a:solidFill>
                </a:rPr>
                <a:t>Attacker</a:t>
              </a:r>
            </a:p>
          </p:txBody>
        </p:sp>
      </p:grpSp>
      <p:pic>
        <p:nvPicPr>
          <p:cNvPr id="6" name="Graphic 5" descr="Magnifying glass with solid fill">
            <a:extLst>
              <a:ext uri="{FF2B5EF4-FFF2-40B4-BE49-F238E27FC236}">
                <a16:creationId xmlns:a16="http://schemas.microsoft.com/office/drawing/2014/main" id="{CD423AD6-4980-6F9D-1688-78F7EA4C72F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2260100" y="947758"/>
            <a:ext cx="1496868" cy="1496868"/>
          </a:xfrm>
          <a:prstGeom prst="rect">
            <a:avLst/>
          </a:prstGeom>
        </p:spPr>
      </p:pic>
      <p:grpSp>
        <p:nvGrpSpPr>
          <p:cNvPr id="8" name="Group 7">
            <a:extLst>
              <a:ext uri="{FF2B5EF4-FFF2-40B4-BE49-F238E27FC236}">
                <a16:creationId xmlns:a16="http://schemas.microsoft.com/office/drawing/2014/main" id="{53F2A009-4870-3567-83C6-AEF9E260473B}"/>
              </a:ext>
            </a:extLst>
          </p:cNvPr>
          <p:cNvGrpSpPr/>
          <p:nvPr/>
        </p:nvGrpSpPr>
        <p:grpSpPr>
          <a:xfrm flipH="1">
            <a:off x="6455592" y="1305136"/>
            <a:ext cx="2074227" cy="2101558"/>
            <a:chOff x="447040" y="1619250"/>
            <a:chExt cx="2074227" cy="2101558"/>
          </a:xfrm>
        </p:grpSpPr>
        <p:sp>
          <p:nvSpPr>
            <p:cNvPr id="18" name="Oval 17">
              <a:extLst>
                <a:ext uri="{FF2B5EF4-FFF2-40B4-BE49-F238E27FC236}">
                  <a16:creationId xmlns:a16="http://schemas.microsoft.com/office/drawing/2014/main" id="{00B2ACAB-F7B3-7665-1818-22ED9A936B93}"/>
                </a:ext>
              </a:extLst>
            </p:cNvPr>
            <p:cNvSpPr/>
            <p:nvPr/>
          </p:nvSpPr>
          <p:spPr>
            <a:xfrm>
              <a:off x="447040" y="1747520"/>
              <a:ext cx="1630680" cy="1630680"/>
            </a:xfrm>
            <a:prstGeom prst="ellipse">
              <a:avLst/>
            </a:prstGeom>
            <a:solidFill>
              <a:schemeClr val="accent6">
                <a:lumMod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6" name="Graphic 25" descr="Woman holding a laptop">
              <a:extLst>
                <a:ext uri="{FF2B5EF4-FFF2-40B4-BE49-F238E27FC236}">
                  <a16:creationId xmlns:a16="http://schemas.microsoft.com/office/drawing/2014/main" id="{82CB7058-96E7-BC9D-2568-64ED3E53C42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092" y="1619250"/>
              <a:ext cx="1781175" cy="1809750"/>
            </a:xfrm>
            <a:prstGeom prst="rect">
              <a:avLst/>
            </a:prstGeom>
          </p:spPr>
        </p:pic>
        <p:sp>
          <p:nvSpPr>
            <p:cNvPr id="28" name="TextBox 27">
              <a:extLst>
                <a:ext uri="{FF2B5EF4-FFF2-40B4-BE49-F238E27FC236}">
                  <a16:creationId xmlns:a16="http://schemas.microsoft.com/office/drawing/2014/main" id="{689D7E73-AD45-0371-F01F-AE147B52BFB8}"/>
                </a:ext>
              </a:extLst>
            </p:cNvPr>
            <p:cNvSpPr txBox="1"/>
            <p:nvPr/>
          </p:nvSpPr>
          <p:spPr>
            <a:xfrm>
              <a:off x="887925" y="3351476"/>
              <a:ext cx="874835" cy="369332"/>
            </a:xfrm>
            <a:prstGeom prst="rect">
              <a:avLst/>
            </a:prstGeom>
            <a:noFill/>
          </p:spPr>
          <p:txBody>
            <a:bodyPr wrap="square" rtlCol="0">
              <a:spAutoFit/>
            </a:bodyPr>
            <a:lstStyle/>
            <a:p>
              <a:pPr algn="ctr"/>
              <a:r>
                <a:rPr lang="en-US" b="1" i="1" dirty="0">
                  <a:solidFill>
                    <a:schemeClr val="accent6">
                      <a:lumMod val="75000"/>
                    </a:schemeClr>
                  </a:solidFill>
                </a:rPr>
                <a:t>Victim</a:t>
              </a:r>
            </a:p>
          </p:txBody>
        </p:sp>
      </p:grpSp>
      <p:grpSp>
        <p:nvGrpSpPr>
          <p:cNvPr id="7" name="Group 6">
            <a:extLst>
              <a:ext uri="{FF2B5EF4-FFF2-40B4-BE49-F238E27FC236}">
                <a16:creationId xmlns:a16="http://schemas.microsoft.com/office/drawing/2014/main" id="{8421C152-F59A-36E2-9C4A-B2AF241AB928}"/>
              </a:ext>
            </a:extLst>
          </p:cNvPr>
          <p:cNvGrpSpPr/>
          <p:nvPr/>
        </p:nvGrpSpPr>
        <p:grpSpPr>
          <a:xfrm>
            <a:off x="2260100" y="4720489"/>
            <a:ext cx="4673399" cy="1234621"/>
            <a:chOff x="4265194" y="3952757"/>
            <a:chExt cx="4673399" cy="1234621"/>
          </a:xfrm>
        </p:grpSpPr>
        <p:pic>
          <p:nvPicPr>
            <p:cNvPr id="10" name="Picture 9">
              <a:extLst>
                <a:ext uri="{FF2B5EF4-FFF2-40B4-BE49-F238E27FC236}">
                  <a16:creationId xmlns:a16="http://schemas.microsoft.com/office/drawing/2014/main" id="{56CABEF3-F74C-C9A0-06F1-17768CD1120A}"/>
                </a:ext>
              </a:extLst>
            </p:cNvPr>
            <p:cNvPicPr>
              <a:picLocks noChangeAspect="1"/>
            </p:cNvPicPr>
            <p:nvPr/>
          </p:nvPicPr>
          <p:blipFill>
            <a:blip r:embed="rId7"/>
            <a:srcRect b="59554"/>
            <a:stretch>
              <a:fillRect/>
            </a:stretch>
          </p:blipFill>
          <p:spPr>
            <a:xfrm>
              <a:off x="4265194" y="3952757"/>
              <a:ext cx="4673399" cy="248075"/>
            </a:xfrm>
            <a:prstGeom prst="rect">
              <a:avLst/>
            </a:prstGeom>
          </p:spPr>
        </p:pic>
        <p:sp>
          <p:nvSpPr>
            <p:cNvPr id="16" name="TextBox 15">
              <a:extLst>
                <a:ext uri="{FF2B5EF4-FFF2-40B4-BE49-F238E27FC236}">
                  <a16:creationId xmlns:a16="http://schemas.microsoft.com/office/drawing/2014/main" id="{041CE9B3-8A20-F8A5-858B-C379217BEAA6}"/>
                </a:ext>
              </a:extLst>
            </p:cNvPr>
            <p:cNvSpPr txBox="1"/>
            <p:nvPr/>
          </p:nvSpPr>
          <p:spPr>
            <a:xfrm>
              <a:off x="5208550" y="4541047"/>
              <a:ext cx="3179834" cy="646331"/>
            </a:xfrm>
            <a:prstGeom prst="rect">
              <a:avLst/>
            </a:prstGeom>
            <a:noFill/>
          </p:spPr>
          <p:txBody>
            <a:bodyPr wrap="square" rtlCol="0">
              <a:spAutoFit/>
            </a:bodyPr>
            <a:lstStyle/>
            <a:p>
              <a:pPr algn="ctr"/>
              <a:r>
                <a:rPr lang="en-US" i="1" dirty="0"/>
                <a:t>create </a:t>
              </a:r>
              <a:r>
                <a:rPr lang="en-US" i="1" dirty="0">
                  <a:solidFill>
                    <a:srgbClr val="DA8200"/>
                  </a:solidFill>
                </a:rPr>
                <a:t>fingerprint</a:t>
              </a:r>
              <a:r>
                <a:rPr lang="en-US" i="1" dirty="0">
                  <a:solidFill>
                    <a:srgbClr val="E28700"/>
                  </a:solidFill>
                </a:rPr>
                <a:t> </a:t>
              </a:r>
              <a:r>
                <a:rPr lang="en-US" i="1" dirty="0"/>
                <a:t>by only using </a:t>
              </a:r>
              <a:br>
                <a:rPr lang="en-US" i="1" dirty="0"/>
              </a:br>
              <a:r>
                <a:rPr lang="en-US" i="1" dirty="0"/>
                <a:t>the timestamps of </a:t>
              </a:r>
              <a:r>
                <a:rPr lang="en-US" i="1" dirty="0">
                  <a:solidFill>
                    <a:srgbClr val="B3195F"/>
                  </a:solidFill>
                </a:rPr>
                <a:t>back-offs</a:t>
              </a:r>
            </a:p>
          </p:txBody>
        </p:sp>
      </p:grpSp>
      <p:sp>
        <p:nvSpPr>
          <p:cNvPr id="19" name="Arrow: Pentagon 18">
            <a:extLst>
              <a:ext uri="{FF2B5EF4-FFF2-40B4-BE49-F238E27FC236}">
                <a16:creationId xmlns:a16="http://schemas.microsoft.com/office/drawing/2014/main" id="{7A9EDDFA-4FF6-1200-CD34-08A5225D8743}"/>
              </a:ext>
            </a:extLst>
          </p:cNvPr>
          <p:cNvSpPr/>
          <p:nvPr/>
        </p:nvSpPr>
        <p:spPr>
          <a:xfrm>
            <a:off x="812300" y="3543072"/>
            <a:ext cx="2489200" cy="679785"/>
          </a:xfrm>
          <a:prstGeom prst="homePlate">
            <a:avLst/>
          </a:prstGeom>
          <a:solidFill>
            <a:srgbClr val="316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Measure memory request latencies</a:t>
            </a:r>
          </a:p>
        </p:txBody>
      </p:sp>
      <p:sp>
        <p:nvSpPr>
          <p:cNvPr id="20" name="Arrow: Chevron 19">
            <a:extLst>
              <a:ext uri="{FF2B5EF4-FFF2-40B4-BE49-F238E27FC236}">
                <a16:creationId xmlns:a16="http://schemas.microsoft.com/office/drawing/2014/main" id="{22336DB4-2B45-16D8-44E1-CE822B2D411A}"/>
              </a:ext>
            </a:extLst>
          </p:cNvPr>
          <p:cNvSpPr/>
          <p:nvPr/>
        </p:nvSpPr>
        <p:spPr>
          <a:xfrm>
            <a:off x="2940134" y="3543072"/>
            <a:ext cx="2987382" cy="679783"/>
          </a:xfrm>
          <a:prstGeom prst="chevron">
            <a:avLst/>
          </a:prstGeom>
          <a:solidFill>
            <a:srgbClr val="6D40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Create fingerprints </a:t>
            </a:r>
            <a:br>
              <a:rPr lang="en-US" sz="2000" dirty="0">
                <a:solidFill>
                  <a:schemeClr val="bg1"/>
                </a:solidFill>
              </a:rPr>
            </a:br>
            <a:r>
              <a:rPr lang="en-US" sz="2000" dirty="0">
                <a:solidFill>
                  <a:schemeClr val="bg1"/>
                </a:solidFill>
              </a:rPr>
              <a:t>using backoffs</a:t>
            </a:r>
          </a:p>
        </p:txBody>
      </p:sp>
      <p:grpSp>
        <p:nvGrpSpPr>
          <p:cNvPr id="21" name="Group 20">
            <a:extLst>
              <a:ext uri="{FF2B5EF4-FFF2-40B4-BE49-F238E27FC236}">
                <a16:creationId xmlns:a16="http://schemas.microsoft.com/office/drawing/2014/main" id="{CF24227D-158A-B32B-3091-33D08A4FE468}"/>
              </a:ext>
            </a:extLst>
          </p:cNvPr>
          <p:cNvGrpSpPr/>
          <p:nvPr/>
        </p:nvGrpSpPr>
        <p:grpSpPr>
          <a:xfrm>
            <a:off x="6536905" y="3793915"/>
            <a:ext cx="1775096" cy="812796"/>
            <a:chOff x="7335501" y="3031192"/>
            <a:chExt cx="1775096" cy="812796"/>
          </a:xfrm>
        </p:grpSpPr>
        <p:sp>
          <p:nvSpPr>
            <p:cNvPr id="22" name="Freeform: Shape 21">
              <a:extLst>
                <a:ext uri="{FF2B5EF4-FFF2-40B4-BE49-F238E27FC236}">
                  <a16:creationId xmlns:a16="http://schemas.microsoft.com/office/drawing/2014/main" id="{8A16E803-CCE4-F900-3F1C-0742D7DCEF68}"/>
                </a:ext>
              </a:extLst>
            </p:cNvPr>
            <p:cNvSpPr/>
            <p:nvPr/>
          </p:nvSpPr>
          <p:spPr>
            <a:xfrm rot="14400000">
              <a:off x="7468446" y="3399310"/>
              <a:ext cx="311733" cy="577623"/>
            </a:xfrm>
            <a:custGeom>
              <a:avLst/>
              <a:gdLst>
                <a:gd name="connsiteX0" fmla="*/ 323850 w 323850"/>
                <a:gd name="connsiteY0" fmla="*/ 600075 h 600075"/>
                <a:gd name="connsiteX1" fmla="*/ 161925 w 323850"/>
                <a:gd name="connsiteY1" fmla="*/ 247650 h 600075"/>
                <a:gd name="connsiteX2" fmla="*/ 0 w 323850"/>
                <a:gd name="connsiteY2" fmla="*/ 0 h 600075"/>
              </a:gdLst>
              <a:ahLst/>
              <a:cxnLst>
                <a:cxn ang="0">
                  <a:pos x="connsiteX0" y="connsiteY0"/>
                </a:cxn>
                <a:cxn ang="0">
                  <a:pos x="connsiteX1" y="connsiteY1"/>
                </a:cxn>
                <a:cxn ang="0">
                  <a:pos x="connsiteX2" y="connsiteY2"/>
                </a:cxn>
              </a:cxnLst>
              <a:rect l="l" t="t" r="r" b="b"/>
              <a:pathLst>
                <a:path w="323850" h="600075">
                  <a:moveTo>
                    <a:pt x="323850" y="600075"/>
                  </a:moveTo>
                  <a:cubicBezTo>
                    <a:pt x="269875" y="473868"/>
                    <a:pt x="215900" y="347662"/>
                    <a:pt x="161925" y="247650"/>
                  </a:cubicBezTo>
                  <a:cubicBezTo>
                    <a:pt x="107950" y="147638"/>
                    <a:pt x="53975" y="73819"/>
                    <a:pt x="0" y="0"/>
                  </a:cubicBez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2C3438B-D4A9-D968-E5B4-A3ACFC457842}"/>
                </a:ext>
              </a:extLst>
            </p:cNvPr>
            <p:cNvSpPr txBox="1"/>
            <p:nvPr/>
          </p:nvSpPr>
          <p:spPr>
            <a:xfrm>
              <a:off x="7780361" y="3031192"/>
              <a:ext cx="1330236" cy="646331"/>
            </a:xfrm>
            <a:prstGeom prst="rect">
              <a:avLst/>
            </a:prstGeom>
            <a:noFill/>
          </p:spPr>
          <p:txBody>
            <a:bodyPr wrap="square" rtlCol="0">
              <a:spAutoFit/>
            </a:bodyPr>
            <a:lstStyle/>
            <a:p>
              <a:r>
                <a:rPr lang="en-US" i="1" dirty="0"/>
                <a:t>each line is a back-off</a:t>
              </a:r>
            </a:p>
          </p:txBody>
        </p:sp>
      </p:grpSp>
    </p:spTree>
    <p:extLst>
      <p:ext uri="{BB962C8B-B14F-4D97-AF65-F5344CB8AC3E}">
        <p14:creationId xmlns:p14="http://schemas.microsoft.com/office/powerpoint/2010/main" val="79802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15F9E-F772-FD39-4530-B344CD00C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C4613-BB9E-755D-A0B6-77B28F6933CB}"/>
              </a:ext>
            </a:extLst>
          </p:cNvPr>
          <p:cNvSpPr>
            <a:spLocks noGrp="1"/>
          </p:cNvSpPr>
          <p:nvPr>
            <p:ph type="title"/>
          </p:nvPr>
        </p:nvSpPr>
        <p:spPr/>
        <p:txBody>
          <a:bodyPr/>
          <a:lstStyle/>
          <a:p>
            <a:r>
              <a:rPr lang="en-US" dirty="0"/>
              <a:t>Fingerprinting Attack Overview</a:t>
            </a:r>
          </a:p>
        </p:txBody>
      </p:sp>
      <p:sp>
        <p:nvSpPr>
          <p:cNvPr id="3" name="Content Placeholder 2">
            <a:extLst>
              <a:ext uri="{FF2B5EF4-FFF2-40B4-BE49-F238E27FC236}">
                <a16:creationId xmlns:a16="http://schemas.microsoft.com/office/drawing/2014/main" id="{1A268C86-5820-B997-FE8E-5C0B4D82E06B}"/>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8A779BAC-392B-D515-93B6-7BFD413A8769}"/>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71417C90-9E2A-08D2-1122-19624F462C57}"/>
              </a:ext>
            </a:extLst>
          </p:cNvPr>
          <p:cNvSpPr>
            <a:spLocks noGrp="1"/>
          </p:cNvSpPr>
          <p:nvPr>
            <p:ph type="sldNum" sz="quarter" idx="12"/>
          </p:nvPr>
        </p:nvSpPr>
        <p:spPr/>
        <p:txBody>
          <a:bodyPr/>
          <a:lstStyle/>
          <a:p>
            <a:fld id="{CBE5B309-C2CE-4D90-B104-F7E98438FC65}" type="slidenum">
              <a:rPr lang="tr-TR" smtClean="0"/>
              <a:pPr/>
              <a:t>77</a:t>
            </a:fld>
            <a:endParaRPr lang="tr-TR" dirty="0"/>
          </a:p>
        </p:txBody>
      </p:sp>
      <p:pic>
        <p:nvPicPr>
          <p:cNvPr id="12" name="Picture 11">
            <a:extLst>
              <a:ext uri="{FF2B5EF4-FFF2-40B4-BE49-F238E27FC236}">
                <a16:creationId xmlns:a16="http://schemas.microsoft.com/office/drawing/2014/main" id="{3BD345E1-53B1-4878-2B61-195B3C0F2E3F}"/>
              </a:ext>
            </a:extLst>
          </p:cNvPr>
          <p:cNvPicPr>
            <a:picLocks noChangeAspect="1"/>
          </p:cNvPicPr>
          <p:nvPr/>
        </p:nvPicPr>
        <p:blipFill rotWithShape="1">
          <a:blip r:embed="rId3">
            <a:extLst>
              <a:ext uri="{28A0092B-C50C-407E-A947-70E740481C1C}">
                <a14:useLocalDpi xmlns:a14="http://schemas.microsoft.com/office/drawing/2010/main" val="0"/>
              </a:ext>
            </a:extLst>
          </a:blip>
          <a:srcRect l="4726" t="21295" r="5001" b="22250"/>
          <a:stretch/>
        </p:blipFill>
        <p:spPr>
          <a:xfrm rot="10800000">
            <a:off x="2838689" y="1305137"/>
            <a:ext cx="3616903" cy="1660935"/>
          </a:xfrm>
          <a:prstGeom prst="rect">
            <a:avLst/>
          </a:prstGeom>
        </p:spPr>
      </p:pic>
      <p:grpSp>
        <p:nvGrpSpPr>
          <p:cNvPr id="15" name="Group 14">
            <a:extLst>
              <a:ext uri="{FF2B5EF4-FFF2-40B4-BE49-F238E27FC236}">
                <a16:creationId xmlns:a16="http://schemas.microsoft.com/office/drawing/2014/main" id="{89B4F88D-3BB4-515A-EB12-7AF3063AFF2D}"/>
              </a:ext>
            </a:extLst>
          </p:cNvPr>
          <p:cNvGrpSpPr/>
          <p:nvPr/>
        </p:nvGrpSpPr>
        <p:grpSpPr>
          <a:xfrm flipH="1">
            <a:off x="697884" y="1305136"/>
            <a:ext cx="1562216" cy="2188607"/>
            <a:chOff x="6885359" y="1470482"/>
            <a:chExt cx="1562216" cy="2188607"/>
          </a:xfrm>
        </p:grpSpPr>
        <p:sp>
          <p:nvSpPr>
            <p:cNvPr id="11" name="Oval 10">
              <a:extLst>
                <a:ext uri="{FF2B5EF4-FFF2-40B4-BE49-F238E27FC236}">
                  <a16:creationId xmlns:a16="http://schemas.microsoft.com/office/drawing/2014/main" id="{63C8E009-136A-787A-BC7E-03D50EDDEBE3}"/>
                </a:ext>
              </a:extLst>
            </p:cNvPr>
            <p:cNvSpPr/>
            <p:nvPr/>
          </p:nvSpPr>
          <p:spPr>
            <a:xfrm>
              <a:off x="6926968" y="1690179"/>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Old woman wearing lightning shirt">
              <a:extLst>
                <a:ext uri="{FF2B5EF4-FFF2-40B4-BE49-F238E27FC236}">
                  <a16:creationId xmlns:a16="http://schemas.microsoft.com/office/drawing/2014/main" id="{BED00E51-D929-4D69-9918-8E92801764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7011645" y="1470482"/>
              <a:ext cx="1181100" cy="1819275"/>
            </a:xfrm>
            <a:prstGeom prst="rect">
              <a:avLst/>
            </a:prstGeom>
          </p:spPr>
        </p:pic>
        <p:sp>
          <p:nvSpPr>
            <p:cNvPr id="14" name="TextBox 13">
              <a:extLst>
                <a:ext uri="{FF2B5EF4-FFF2-40B4-BE49-F238E27FC236}">
                  <a16:creationId xmlns:a16="http://schemas.microsoft.com/office/drawing/2014/main" id="{AE9DF91C-2290-DB43-1268-037162B21AEC}"/>
                </a:ext>
              </a:extLst>
            </p:cNvPr>
            <p:cNvSpPr txBox="1"/>
            <p:nvPr/>
          </p:nvSpPr>
          <p:spPr>
            <a:xfrm>
              <a:off x="6885359" y="3289757"/>
              <a:ext cx="1433672" cy="369332"/>
            </a:xfrm>
            <a:prstGeom prst="rect">
              <a:avLst/>
            </a:prstGeom>
            <a:noFill/>
          </p:spPr>
          <p:txBody>
            <a:bodyPr wrap="square" rtlCol="0">
              <a:spAutoFit/>
            </a:bodyPr>
            <a:lstStyle/>
            <a:p>
              <a:pPr algn="ctr"/>
              <a:r>
                <a:rPr lang="en-US" b="1" i="1" dirty="0">
                  <a:solidFill>
                    <a:srgbClr val="6D40DC"/>
                  </a:solidFill>
                </a:rPr>
                <a:t>Attacker</a:t>
              </a:r>
            </a:p>
          </p:txBody>
        </p:sp>
      </p:grpSp>
      <p:pic>
        <p:nvPicPr>
          <p:cNvPr id="6" name="Graphic 5" descr="Magnifying glass with solid fill">
            <a:extLst>
              <a:ext uri="{FF2B5EF4-FFF2-40B4-BE49-F238E27FC236}">
                <a16:creationId xmlns:a16="http://schemas.microsoft.com/office/drawing/2014/main" id="{0C3952E7-3781-0B6E-43F2-8454D912A4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2260100" y="947758"/>
            <a:ext cx="1496868" cy="1496868"/>
          </a:xfrm>
          <a:prstGeom prst="rect">
            <a:avLst/>
          </a:prstGeom>
        </p:spPr>
      </p:pic>
      <p:grpSp>
        <p:nvGrpSpPr>
          <p:cNvPr id="8" name="Group 7">
            <a:extLst>
              <a:ext uri="{FF2B5EF4-FFF2-40B4-BE49-F238E27FC236}">
                <a16:creationId xmlns:a16="http://schemas.microsoft.com/office/drawing/2014/main" id="{55A5B61B-CE2A-26E6-BE58-A94E16FD1657}"/>
              </a:ext>
            </a:extLst>
          </p:cNvPr>
          <p:cNvGrpSpPr/>
          <p:nvPr/>
        </p:nvGrpSpPr>
        <p:grpSpPr>
          <a:xfrm flipH="1">
            <a:off x="6455592" y="1305136"/>
            <a:ext cx="2074227" cy="2101558"/>
            <a:chOff x="447040" y="1619250"/>
            <a:chExt cx="2074227" cy="2101558"/>
          </a:xfrm>
        </p:grpSpPr>
        <p:sp>
          <p:nvSpPr>
            <p:cNvPr id="18" name="Oval 17">
              <a:extLst>
                <a:ext uri="{FF2B5EF4-FFF2-40B4-BE49-F238E27FC236}">
                  <a16:creationId xmlns:a16="http://schemas.microsoft.com/office/drawing/2014/main" id="{0F04F247-7C79-FAAA-9F6C-F44F54C7EE9D}"/>
                </a:ext>
              </a:extLst>
            </p:cNvPr>
            <p:cNvSpPr/>
            <p:nvPr/>
          </p:nvSpPr>
          <p:spPr>
            <a:xfrm>
              <a:off x="447040" y="1747520"/>
              <a:ext cx="1630680" cy="1630680"/>
            </a:xfrm>
            <a:prstGeom prst="ellipse">
              <a:avLst/>
            </a:prstGeom>
            <a:solidFill>
              <a:schemeClr val="accent6">
                <a:lumMod val="75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6" name="Graphic 25" descr="Woman holding a laptop">
              <a:extLst>
                <a:ext uri="{FF2B5EF4-FFF2-40B4-BE49-F238E27FC236}">
                  <a16:creationId xmlns:a16="http://schemas.microsoft.com/office/drawing/2014/main" id="{3171BFED-AF27-1AE0-6BA9-68B58986C3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092" y="1619250"/>
              <a:ext cx="1781175" cy="1809750"/>
            </a:xfrm>
            <a:prstGeom prst="rect">
              <a:avLst/>
            </a:prstGeom>
          </p:spPr>
        </p:pic>
        <p:sp>
          <p:nvSpPr>
            <p:cNvPr id="28" name="TextBox 27">
              <a:extLst>
                <a:ext uri="{FF2B5EF4-FFF2-40B4-BE49-F238E27FC236}">
                  <a16:creationId xmlns:a16="http://schemas.microsoft.com/office/drawing/2014/main" id="{E4879111-C7E9-BC05-375A-345A6FF24E64}"/>
                </a:ext>
              </a:extLst>
            </p:cNvPr>
            <p:cNvSpPr txBox="1"/>
            <p:nvPr/>
          </p:nvSpPr>
          <p:spPr>
            <a:xfrm>
              <a:off x="887925" y="3351476"/>
              <a:ext cx="874835" cy="369332"/>
            </a:xfrm>
            <a:prstGeom prst="rect">
              <a:avLst/>
            </a:prstGeom>
            <a:noFill/>
          </p:spPr>
          <p:txBody>
            <a:bodyPr wrap="square" rtlCol="0">
              <a:spAutoFit/>
            </a:bodyPr>
            <a:lstStyle/>
            <a:p>
              <a:pPr algn="ctr"/>
              <a:r>
                <a:rPr lang="en-US" b="1" i="1" dirty="0">
                  <a:solidFill>
                    <a:schemeClr val="accent6">
                      <a:lumMod val="75000"/>
                    </a:schemeClr>
                  </a:solidFill>
                </a:rPr>
                <a:t>Victim</a:t>
              </a:r>
            </a:p>
          </p:txBody>
        </p:sp>
      </p:grpSp>
      <p:sp>
        <p:nvSpPr>
          <p:cNvPr id="46" name="Arrow: Pentagon 45">
            <a:extLst>
              <a:ext uri="{FF2B5EF4-FFF2-40B4-BE49-F238E27FC236}">
                <a16:creationId xmlns:a16="http://schemas.microsoft.com/office/drawing/2014/main" id="{79658A39-3E34-8C29-B948-5DD9CA545C64}"/>
              </a:ext>
            </a:extLst>
          </p:cNvPr>
          <p:cNvSpPr/>
          <p:nvPr/>
        </p:nvSpPr>
        <p:spPr>
          <a:xfrm>
            <a:off x="812300" y="3543072"/>
            <a:ext cx="2489200" cy="679785"/>
          </a:xfrm>
          <a:prstGeom prst="homePlate">
            <a:avLst/>
          </a:prstGeom>
          <a:solidFill>
            <a:srgbClr val="316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Measure memory request latencies</a:t>
            </a:r>
          </a:p>
        </p:txBody>
      </p:sp>
      <p:sp>
        <p:nvSpPr>
          <p:cNvPr id="47" name="Arrow: Chevron 46">
            <a:extLst>
              <a:ext uri="{FF2B5EF4-FFF2-40B4-BE49-F238E27FC236}">
                <a16:creationId xmlns:a16="http://schemas.microsoft.com/office/drawing/2014/main" id="{ACCF1117-8009-ED4E-C878-76B245021156}"/>
              </a:ext>
            </a:extLst>
          </p:cNvPr>
          <p:cNvSpPr/>
          <p:nvPr/>
        </p:nvSpPr>
        <p:spPr>
          <a:xfrm>
            <a:off x="2940134" y="3543072"/>
            <a:ext cx="2987382" cy="679783"/>
          </a:xfrm>
          <a:prstGeom prst="chevron">
            <a:avLst/>
          </a:prstGeom>
          <a:solidFill>
            <a:srgbClr val="6D40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Create fingerprints </a:t>
            </a:r>
            <a:br>
              <a:rPr lang="en-US" sz="2000" dirty="0">
                <a:solidFill>
                  <a:schemeClr val="bg1"/>
                </a:solidFill>
              </a:rPr>
            </a:br>
            <a:r>
              <a:rPr lang="en-US" sz="2000" dirty="0">
                <a:solidFill>
                  <a:schemeClr val="bg1"/>
                </a:solidFill>
              </a:rPr>
              <a:t>using backoffs</a:t>
            </a:r>
          </a:p>
        </p:txBody>
      </p:sp>
      <p:pic>
        <p:nvPicPr>
          <p:cNvPr id="13" name="Picture 12">
            <a:extLst>
              <a:ext uri="{FF2B5EF4-FFF2-40B4-BE49-F238E27FC236}">
                <a16:creationId xmlns:a16="http://schemas.microsoft.com/office/drawing/2014/main" id="{B9747691-94D9-73A4-22AF-8B15BBD89975}"/>
              </a:ext>
            </a:extLst>
          </p:cNvPr>
          <p:cNvPicPr>
            <a:picLocks noChangeAspect="1"/>
          </p:cNvPicPr>
          <p:nvPr/>
        </p:nvPicPr>
        <p:blipFill>
          <a:blip r:embed="rId7"/>
          <a:srcRect b="21338"/>
          <a:stretch>
            <a:fillRect/>
          </a:stretch>
        </p:blipFill>
        <p:spPr>
          <a:xfrm>
            <a:off x="556554" y="4309200"/>
            <a:ext cx="8047518" cy="1892428"/>
          </a:xfrm>
          <a:prstGeom prst="rect">
            <a:avLst/>
          </a:prstGeom>
        </p:spPr>
      </p:pic>
      <p:sp>
        <p:nvSpPr>
          <p:cNvPr id="17" name="Arrow: Chevron 16">
            <a:extLst>
              <a:ext uri="{FF2B5EF4-FFF2-40B4-BE49-F238E27FC236}">
                <a16:creationId xmlns:a16="http://schemas.microsoft.com/office/drawing/2014/main" id="{DABA34C1-C05B-D734-A4B5-CE90CE84D549}"/>
              </a:ext>
            </a:extLst>
          </p:cNvPr>
          <p:cNvSpPr/>
          <p:nvPr/>
        </p:nvSpPr>
        <p:spPr>
          <a:xfrm>
            <a:off x="5558752" y="3544104"/>
            <a:ext cx="2987382" cy="679783"/>
          </a:xfrm>
          <a:prstGeom prst="chevron">
            <a:avLst/>
          </a:prstGeom>
          <a:solidFill>
            <a:srgbClr val="E12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Collect</a:t>
            </a:r>
            <a:br>
              <a:rPr lang="en-US" sz="2000" dirty="0">
                <a:solidFill>
                  <a:schemeClr val="bg1"/>
                </a:solidFill>
              </a:rPr>
            </a:br>
            <a:r>
              <a:rPr lang="en-US" sz="2000" dirty="0">
                <a:solidFill>
                  <a:schemeClr val="bg1"/>
                </a:solidFill>
              </a:rPr>
              <a:t>many fingerprints</a:t>
            </a:r>
          </a:p>
        </p:txBody>
      </p:sp>
    </p:spTree>
    <p:extLst>
      <p:ext uri="{BB962C8B-B14F-4D97-AF65-F5344CB8AC3E}">
        <p14:creationId xmlns:p14="http://schemas.microsoft.com/office/powerpoint/2010/main" val="355170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5319-1E93-FA4F-1B90-8D208B33F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2AE42-0B5B-101A-F7EE-16BAD9E7539B}"/>
              </a:ext>
            </a:extLst>
          </p:cNvPr>
          <p:cNvSpPr>
            <a:spLocks noGrp="1"/>
          </p:cNvSpPr>
          <p:nvPr>
            <p:ph type="title"/>
          </p:nvPr>
        </p:nvSpPr>
        <p:spPr/>
        <p:txBody>
          <a:bodyPr/>
          <a:lstStyle/>
          <a:p>
            <a:r>
              <a:rPr lang="en-US" dirty="0"/>
              <a:t>Launching the Attack</a:t>
            </a:r>
          </a:p>
        </p:txBody>
      </p:sp>
      <p:sp>
        <p:nvSpPr>
          <p:cNvPr id="4" name="Footer Placeholder 3">
            <a:extLst>
              <a:ext uri="{FF2B5EF4-FFF2-40B4-BE49-F238E27FC236}">
                <a16:creationId xmlns:a16="http://schemas.microsoft.com/office/drawing/2014/main" id="{FD019E98-EA2F-5D21-F42F-2A806619350C}"/>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D17377F5-2757-83B0-9C3E-1D21D44D8A27}"/>
              </a:ext>
            </a:extLst>
          </p:cNvPr>
          <p:cNvSpPr>
            <a:spLocks noGrp="1"/>
          </p:cNvSpPr>
          <p:nvPr>
            <p:ph type="sldNum" sz="quarter" idx="12"/>
          </p:nvPr>
        </p:nvSpPr>
        <p:spPr/>
        <p:txBody>
          <a:bodyPr/>
          <a:lstStyle/>
          <a:p>
            <a:fld id="{CBE5B309-C2CE-4D90-B104-F7E98438FC65}" type="slidenum">
              <a:rPr lang="tr-TR" smtClean="0"/>
              <a:pPr/>
              <a:t>78</a:t>
            </a:fld>
            <a:endParaRPr lang="tr-TR" dirty="0"/>
          </a:p>
        </p:txBody>
      </p:sp>
      <p:grpSp>
        <p:nvGrpSpPr>
          <p:cNvPr id="15" name="Group 14">
            <a:extLst>
              <a:ext uri="{FF2B5EF4-FFF2-40B4-BE49-F238E27FC236}">
                <a16:creationId xmlns:a16="http://schemas.microsoft.com/office/drawing/2014/main" id="{4FBF492A-EA54-FC9D-9D26-5DEB3CB4E2E1}"/>
              </a:ext>
            </a:extLst>
          </p:cNvPr>
          <p:cNvGrpSpPr/>
          <p:nvPr/>
        </p:nvGrpSpPr>
        <p:grpSpPr>
          <a:xfrm flipH="1">
            <a:off x="697884" y="1305136"/>
            <a:ext cx="1562216" cy="2188607"/>
            <a:chOff x="6885359" y="1470482"/>
            <a:chExt cx="1562216" cy="2188607"/>
          </a:xfrm>
        </p:grpSpPr>
        <p:sp>
          <p:nvSpPr>
            <p:cNvPr id="11" name="Oval 10">
              <a:extLst>
                <a:ext uri="{FF2B5EF4-FFF2-40B4-BE49-F238E27FC236}">
                  <a16:creationId xmlns:a16="http://schemas.microsoft.com/office/drawing/2014/main" id="{2E5BD6B5-8784-36A0-7920-EBF685A1824C}"/>
                </a:ext>
              </a:extLst>
            </p:cNvPr>
            <p:cNvSpPr/>
            <p:nvPr/>
          </p:nvSpPr>
          <p:spPr>
            <a:xfrm>
              <a:off x="6926968" y="1690179"/>
              <a:ext cx="1520607" cy="1520607"/>
            </a:xfrm>
            <a:prstGeom prst="ellipse">
              <a:avLst/>
            </a:prstGeom>
            <a:solidFill>
              <a:srgbClr val="6D40DC"/>
            </a:solidFill>
            <a:ln>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Old woman wearing lightning shirt">
              <a:extLst>
                <a:ext uri="{FF2B5EF4-FFF2-40B4-BE49-F238E27FC236}">
                  <a16:creationId xmlns:a16="http://schemas.microsoft.com/office/drawing/2014/main" id="{AC89743C-14FE-9D2A-2B69-98E6DA196B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7011645" y="1470482"/>
              <a:ext cx="1181100" cy="1819275"/>
            </a:xfrm>
            <a:prstGeom prst="rect">
              <a:avLst/>
            </a:prstGeom>
          </p:spPr>
        </p:pic>
        <p:sp>
          <p:nvSpPr>
            <p:cNvPr id="14" name="TextBox 13">
              <a:extLst>
                <a:ext uri="{FF2B5EF4-FFF2-40B4-BE49-F238E27FC236}">
                  <a16:creationId xmlns:a16="http://schemas.microsoft.com/office/drawing/2014/main" id="{C669ECEB-F616-2CB6-6CB4-78C13D9B5F0F}"/>
                </a:ext>
              </a:extLst>
            </p:cNvPr>
            <p:cNvSpPr txBox="1"/>
            <p:nvPr/>
          </p:nvSpPr>
          <p:spPr>
            <a:xfrm>
              <a:off x="6885359" y="3289757"/>
              <a:ext cx="1433672" cy="369332"/>
            </a:xfrm>
            <a:prstGeom prst="rect">
              <a:avLst/>
            </a:prstGeom>
            <a:noFill/>
          </p:spPr>
          <p:txBody>
            <a:bodyPr wrap="square" rtlCol="0">
              <a:spAutoFit/>
            </a:bodyPr>
            <a:lstStyle/>
            <a:p>
              <a:pPr algn="ctr"/>
              <a:r>
                <a:rPr lang="en-US" b="1" i="1" dirty="0">
                  <a:solidFill>
                    <a:srgbClr val="6D40DC"/>
                  </a:solidFill>
                </a:rPr>
                <a:t>Attacker</a:t>
              </a:r>
            </a:p>
          </p:txBody>
        </p:sp>
      </p:grpSp>
      <p:grpSp>
        <p:nvGrpSpPr>
          <p:cNvPr id="8" name="Group 7">
            <a:extLst>
              <a:ext uri="{FF2B5EF4-FFF2-40B4-BE49-F238E27FC236}">
                <a16:creationId xmlns:a16="http://schemas.microsoft.com/office/drawing/2014/main" id="{2178B6FB-094B-D2F8-D6C1-8CE582AFBF3A}"/>
              </a:ext>
            </a:extLst>
          </p:cNvPr>
          <p:cNvGrpSpPr/>
          <p:nvPr/>
        </p:nvGrpSpPr>
        <p:grpSpPr>
          <a:xfrm>
            <a:off x="2260100" y="947758"/>
            <a:ext cx="4195492" cy="2018314"/>
            <a:chOff x="2260100" y="947758"/>
            <a:chExt cx="4195492" cy="2018314"/>
          </a:xfrm>
        </p:grpSpPr>
        <p:pic>
          <p:nvPicPr>
            <p:cNvPr id="12" name="Picture 11">
              <a:extLst>
                <a:ext uri="{FF2B5EF4-FFF2-40B4-BE49-F238E27FC236}">
                  <a16:creationId xmlns:a16="http://schemas.microsoft.com/office/drawing/2014/main" id="{7936F989-2E4D-FD65-3A39-CFBA7FDF0E30}"/>
                </a:ext>
              </a:extLst>
            </p:cNvPr>
            <p:cNvPicPr>
              <a:picLocks noChangeAspect="1"/>
            </p:cNvPicPr>
            <p:nvPr/>
          </p:nvPicPr>
          <p:blipFill rotWithShape="1">
            <a:blip r:embed="rId4">
              <a:extLst>
                <a:ext uri="{28A0092B-C50C-407E-A947-70E740481C1C}">
                  <a14:useLocalDpi xmlns:a14="http://schemas.microsoft.com/office/drawing/2010/main" val="0"/>
                </a:ext>
              </a:extLst>
            </a:blip>
            <a:srcRect l="4726" t="21295" r="5001" b="22250"/>
            <a:stretch/>
          </p:blipFill>
          <p:spPr>
            <a:xfrm rot="10800000">
              <a:off x="2838689" y="1305137"/>
              <a:ext cx="3616903" cy="1660935"/>
            </a:xfrm>
            <a:prstGeom prst="rect">
              <a:avLst/>
            </a:prstGeom>
          </p:spPr>
        </p:pic>
        <p:pic>
          <p:nvPicPr>
            <p:cNvPr id="6" name="Graphic 5" descr="Magnifying glass with solid fill">
              <a:extLst>
                <a:ext uri="{FF2B5EF4-FFF2-40B4-BE49-F238E27FC236}">
                  <a16:creationId xmlns:a16="http://schemas.microsoft.com/office/drawing/2014/main" id="{DFF0DD45-E04A-F0D5-5E32-7D235BB9E6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2260100" y="947758"/>
              <a:ext cx="1496868" cy="1496868"/>
            </a:xfrm>
            <a:prstGeom prst="rect">
              <a:avLst/>
            </a:prstGeom>
          </p:spPr>
        </p:pic>
        <p:grpSp>
          <p:nvGrpSpPr>
            <p:cNvPr id="19" name="Group 18">
              <a:extLst>
                <a:ext uri="{FF2B5EF4-FFF2-40B4-BE49-F238E27FC236}">
                  <a16:creationId xmlns:a16="http://schemas.microsoft.com/office/drawing/2014/main" id="{A44E8884-4A7E-EBD4-E5DF-5B5980717516}"/>
                </a:ext>
              </a:extLst>
            </p:cNvPr>
            <p:cNvGrpSpPr/>
            <p:nvPr/>
          </p:nvGrpSpPr>
          <p:grpSpPr>
            <a:xfrm>
              <a:off x="3171206" y="1753971"/>
              <a:ext cx="2946131" cy="558690"/>
              <a:chOff x="4611888" y="2044115"/>
              <a:chExt cx="2946131" cy="558690"/>
            </a:xfrm>
          </p:grpSpPr>
          <p:sp>
            <p:nvSpPr>
              <p:cNvPr id="7" name="Rectangle 6">
                <a:extLst>
                  <a:ext uri="{FF2B5EF4-FFF2-40B4-BE49-F238E27FC236}">
                    <a16:creationId xmlns:a16="http://schemas.microsoft.com/office/drawing/2014/main" id="{B2791B8B-DC26-7FBC-1D57-7D7E0AC0AE07}"/>
                  </a:ext>
                </a:extLst>
              </p:cNvPr>
              <p:cNvSpPr/>
              <p:nvPr/>
            </p:nvSpPr>
            <p:spPr>
              <a:xfrm>
                <a:off x="4611888" y="2504917"/>
                <a:ext cx="457200" cy="97888"/>
              </a:xfrm>
              <a:prstGeom prst="rect">
                <a:avLst/>
              </a:prstGeom>
              <a:solidFill>
                <a:srgbClr val="7A62E7"/>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C4A897-85A1-2F02-5B63-EAB86FE755A4}"/>
                  </a:ext>
                </a:extLst>
              </p:cNvPr>
              <p:cNvSpPr/>
              <p:nvPr/>
            </p:nvSpPr>
            <p:spPr>
              <a:xfrm>
                <a:off x="5319039" y="2162175"/>
                <a:ext cx="457200" cy="97888"/>
              </a:xfrm>
              <a:prstGeom prst="rect">
                <a:avLst/>
              </a:prstGeom>
              <a:solidFill>
                <a:srgbClr val="7A62E7"/>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91157C-5755-334E-86EA-99660C533DCC}"/>
                  </a:ext>
                </a:extLst>
              </p:cNvPr>
              <p:cNvSpPr/>
              <p:nvPr/>
            </p:nvSpPr>
            <p:spPr>
              <a:xfrm>
                <a:off x="6376919" y="2383327"/>
                <a:ext cx="457200" cy="97888"/>
              </a:xfrm>
              <a:prstGeom prst="rect">
                <a:avLst/>
              </a:prstGeom>
              <a:solidFill>
                <a:srgbClr val="7A62E7"/>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6CB9CF-D46D-F002-0441-9E0B4849F590}"/>
                  </a:ext>
                </a:extLst>
              </p:cNvPr>
              <p:cNvSpPr/>
              <p:nvPr/>
            </p:nvSpPr>
            <p:spPr>
              <a:xfrm>
                <a:off x="7100819" y="2044115"/>
                <a:ext cx="457200" cy="97888"/>
              </a:xfrm>
              <a:prstGeom prst="rect">
                <a:avLst/>
              </a:prstGeom>
              <a:solidFill>
                <a:srgbClr val="7A62E7"/>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 name="Group 40">
            <a:extLst>
              <a:ext uri="{FF2B5EF4-FFF2-40B4-BE49-F238E27FC236}">
                <a16:creationId xmlns:a16="http://schemas.microsoft.com/office/drawing/2014/main" id="{10EF7FC6-B49F-7BA2-A20B-14060604BCDD}"/>
              </a:ext>
            </a:extLst>
          </p:cNvPr>
          <p:cNvGrpSpPr/>
          <p:nvPr/>
        </p:nvGrpSpPr>
        <p:grpSpPr>
          <a:xfrm>
            <a:off x="3171206" y="3066194"/>
            <a:ext cx="3284385" cy="646331"/>
            <a:chOff x="7547691" y="2531838"/>
            <a:chExt cx="3284385" cy="646331"/>
          </a:xfrm>
        </p:grpSpPr>
        <p:sp>
          <p:nvSpPr>
            <p:cNvPr id="37" name="TextBox 36">
              <a:extLst>
                <a:ext uri="{FF2B5EF4-FFF2-40B4-BE49-F238E27FC236}">
                  <a16:creationId xmlns:a16="http://schemas.microsoft.com/office/drawing/2014/main" id="{B5A4A76E-438E-F537-5CED-4C04C1BC6C78}"/>
                </a:ext>
              </a:extLst>
            </p:cNvPr>
            <p:cNvSpPr txBox="1"/>
            <p:nvPr/>
          </p:nvSpPr>
          <p:spPr>
            <a:xfrm>
              <a:off x="7747825" y="2531838"/>
              <a:ext cx="3084251" cy="646331"/>
            </a:xfrm>
            <a:prstGeom prst="rect">
              <a:avLst/>
            </a:prstGeom>
            <a:noFill/>
          </p:spPr>
          <p:txBody>
            <a:bodyPr wrap="square" rtlCol="0">
              <a:spAutoFit/>
            </a:bodyPr>
            <a:lstStyle/>
            <a:p>
              <a:pPr algn="ctr"/>
              <a:r>
                <a:rPr lang="en-US" i="1" dirty="0"/>
                <a:t>Get </a:t>
              </a:r>
              <a:r>
                <a:rPr lang="en-US" i="1" dirty="0">
                  <a:solidFill>
                    <a:srgbClr val="DA8200"/>
                  </a:solidFill>
                </a:rPr>
                <a:t>a fingerprint </a:t>
              </a:r>
              <a:r>
                <a:rPr lang="en-US" i="1" dirty="0"/>
                <a:t>when </a:t>
              </a:r>
              <a:br>
                <a:rPr lang="en-US" i="1" dirty="0"/>
              </a:br>
              <a:r>
                <a:rPr lang="en-US" i="1" dirty="0">
                  <a:solidFill>
                    <a:schemeClr val="accent6">
                      <a:lumMod val="75000"/>
                    </a:schemeClr>
                  </a:solidFill>
                </a:rPr>
                <a:t>the victim loads a website</a:t>
              </a:r>
            </a:p>
          </p:txBody>
        </p:sp>
        <p:sp>
          <p:nvSpPr>
            <p:cNvPr id="38" name="Oval 37">
              <a:extLst>
                <a:ext uri="{FF2B5EF4-FFF2-40B4-BE49-F238E27FC236}">
                  <a16:creationId xmlns:a16="http://schemas.microsoft.com/office/drawing/2014/main" id="{2DF0414C-B978-8D23-EA25-2782790F2B3D}"/>
                </a:ext>
              </a:extLst>
            </p:cNvPr>
            <p:cNvSpPr/>
            <p:nvPr/>
          </p:nvSpPr>
          <p:spPr>
            <a:xfrm>
              <a:off x="7547691" y="2689577"/>
              <a:ext cx="348336" cy="3483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1</a:t>
              </a:r>
            </a:p>
          </p:txBody>
        </p:sp>
      </p:grpSp>
      <p:pic>
        <p:nvPicPr>
          <p:cNvPr id="44" name="Picture 43">
            <a:extLst>
              <a:ext uri="{FF2B5EF4-FFF2-40B4-BE49-F238E27FC236}">
                <a16:creationId xmlns:a16="http://schemas.microsoft.com/office/drawing/2014/main" id="{1F1F86ED-8C3B-7405-AAF7-8851100CAD66}"/>
              </a:ext>
            </a:extLst>
          </p:cNvPr>
          <p:cNvPicPr>
            <a:picLocks noChangeAspect="1"/>
          </p:cNvPicPr>
          <p:nvPr/>
        </p:nvPicPr>
        <p:blipFill>
          <a:blip r:embed="rId6"/>
          <a:srcRect t="3158" b="22326"/>
          <a:stretch>
            <a:fillRect/>
          </a:stretch>
        </p:blipFill>
        <p:spPr>
          <a:xfrm>
            <a:off x="270299" y="4476048"/>
            <a:ext cx="4738755" cy="1055596"/>
          </a:xfrm>
          <a:prstGeom prst="rect">
            <a:avLst/>
          </a:prstGeom>
        </p:spPr>
      </p:pic>
      <p:grpSp>
        <p:nvGrpSpPr>
          <p:cNvPr id="18" name="Group 17">
            <a:extLst>
              <a:ext uri="{FF2B5EF4-FFF2-40B4-BE49-F238E27FC236}">
                <a16:creationId xmlns:a16="http://schemas.microsoft.com/office/drawing/2014/main" id="{1E139DD7-711B-DBCD-C4D6-8AD43F980492}"/>
              </a:ext>
            </a:extLst>
          </p:cNvPr>
          <p:cNvGrpSpPr/>
          <p:nvPr/>
        </p:nvGrpSpPr>
        <p:grpSpPr>
          <a:xfrm flipH="1">
            <a:off x="6922384" y="1481209"/>
            <a:ext cx="2074227" cy="2101558"/>
            <a:chOff x="447040" y="1619250"/>
            <a:chExt cx="2074227" cy="2101558"/>
          </a:xfrm>
        </p:grpSpPr>
        <p:sp>
          <p:nvSpPr>
            <p:cNvPr id="20" name="Oval 19">
              <a:extLst>
                <a:ext uri="{FF2B5EF4-FFF2-40B4-BE49-F238E27FC236}">
                  <a16:creationId xmlns:a16="http://schemas.microsoft.com/office/drawing/2014/main" id="{B1853F11-6875-9C71-463C-A202FBF709D9}"/>
                </a:ext>
              </a:extLst>
            </p:cNvPr>
            <p:cNvSpPr/>
            <p:nvPr/>
          </p:nvSpPr>
          <p:spPr>
            <a:xfrm>
              <a:off x="447040" y="1747520"/>
              <a:ext cx="1630680" cy="1630680"/>
            </a:xfrm>
            <a:prstGeom prst="ellipse">
              <a:avLst/>
            </a:prstGeom>
            <a:solidFill>
              <a:schemeClr val="accent6">
                <a:lumMod val="75000"/>
              </a:schemeClr>
            </a:solidFill>
            <a:ln>
              <a:solidFill>
                <a:schemeClr val="accent6">
                  <a:lumMod val="75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21" name="Graphic 20" descr="Woman holding a laptop">
              <a:extLst>
                <a:ext uri="{FF2B5EF4-FFF2-40B4-BE49-F238E27FC236}">
                  <a16:creationId xmlns:a16="http://schemas.microsoft.com/office/drawing/2014/main" id="{69A83F9D-9487-6351-2AFC-3690151F65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0092" y="1619250"/>
              <a:ext cx="1781175" cy="1809750"/>
            </a:xfrm>
            <a:prstGeom prst="rect">
              <a:avLst/>
            </a:prstGeom>
          </p:spPr>
        </p:pic>
        <p:sp>
          <p:nvSpPr>
            <p:cNvPr id="22" name="TextBox 21">
              <a:extLst>
                <a:ext uri="{FF2B5EF4-FFF2-40B4-BE49-F238E27FC236}">
                  <a16:creationId xmlns:a16="http://schemas.microsoft.com/office/drawing/2014/main" id="{C8407850-2ABD-3101-F5B2-34DDA1BB5DA4}"/>
                </a:ext>
              </a:extLst>
            </p:cNvPr>
            <p:cNvSpPr txBox="1"/>
            <p:nvPr/>
          </p:nvSpPr>
          <p:spPr>
            <a:xfrm>
              <a:off x="887925" y="3351476"/>
              <a:ext cx="874835" cy="369332"/>
            </a:xfrm>
            <a:prstGeom prst="rect">
              <a:avLst/>
            </a:prstGeom>
            <a:noFill/>
          </p:spPr>
          <p:txBody>
            <a:bodyPr wrap="square" rtlCol="0">
              <a:spAutoFit/>
            </a:bodyPr>
            <a:lstStyle/>
            <a:p>
              <a:pPr algn="ctr"/>
              <a:r>
                <a:rPr lang="en-US" b="1" i="1" dirty="0">
                  <a:solidFill>
                    <a:schemeClr val="accent6">
                      <a:lumMod val="75000"/>
                    </a:schemeClr>
                  </a:solidFill>
                </a:rPr>
                <a:t>Victim</a:t>
              </a:r>
            </a:p>
          </p:txBody>
        </p:sp>
      </p:grpSp>
      <p:grpSp>
        <p:nvGrpSpPr>
          <p:cNvPr id="23" name="Group 22">
            <a:extLst>
              <a:ext uri="{FF2B5EF4-FFF2-40B4-BE49-F238E27FC236}">
                <a16:creationId xmlns:a16="http://schemas.microsoft.com/office/drawing/2014/main" id="{E606BC3A-FC06-89A3-751A-DCD90CB8B370}"/>
              </a:ext>
            </a:extLst>
          </p:cNvPr>
          <p:cNvGrpSpPr/>
          <p:nvPr/>
        </p:nvGrpSpPr>
        <p:grpSpPr>
          <a:xfrm>
            <a:off x="5660137" y="1558679"/>
            <a:ext cx="2197627" cy="1517189"/>
            <a:chOff x="5108048" y="1393213"/>
            <a:chExt cx="2197627" cy="1517189"/>
          </a:xfrm>
        </p:grpSpPr>
        <p:sp>
          <p:nvSpPr>
            <p:cNvPr id="24" name="Rectangle 23">
              <a:extLst>
                <a:ext uri="{FF2B5EF4-FFF2-40B4-BE49-F238E27FC236}">
                  <a16:creationId xmlns:a16="http://schemas.microsoft.com/office/drawing/2014/main" id="{7529D38F-E209-A14A-4307-4E7FC18492B4}"/>
                </a:ext>
              </a:extLst>
            </p:cNvPr>
            <p:cNvSpPr/>
            <p:nvPr/>
          </p:nvSpPr>
          <p:spPr>
            <a:xfrm>
              <a:off x="5108048" y="1914010"/>
              <a:ext cx="457200" cy="226523"/>
            </a:xfrm>
            <a:prstGeom prst="rect">
              <a:avLst/>
            </a:prstGeom>
            <a:solidFill>
              <a:srgbClr val="00B050">
                <a:alpha val="42000"/>
              </a:srgb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8D2A946F-7032-F97D-3322-CE9E0436DAE4}"/>
                </a:ext>
              </a:extLst>
            </p:cNvPr>
            <p:cNvCxnSpPr>
              <a:cxnSpLocks/>
            </p:cNvCxnSpPr>
            <p:nvPr/>
          </p:nvCxnSpPr>
          <p:spPr>
            <a:xfrm flipV="1">
              <a:off x="5599207" y="1393213"/>
              <a:ext cx="1706468" cy="4786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CB9D77-E1FE-D849-4249-8AB4A66AA463}"/>
                </a:ext>
              </a:extLst>
            </p:cNvPr>
            <p:cNvCxnSpPr>
              <a:cxnSpLocks/>
            </p:cNvCxnSpPr>
            <p:nvPr/>
          </p:nvCxnSpPr>
          <p:spPr>
            <a:xfrm>
              <a:off x="5565248" y="2140533"/>
              <a:ext cx="1072494" cy="769869"/>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pic>
        <p:nvPicPr>
          <p:cNvPr id="45" name="Picture 44">
            <a:extLst>
              <a:ext uri="{FF2B5EF4-FFF2-40B4-BE49-F238E27FC236}">
                <a16:creationId xmlns:a16="http://schemas.microsoft.com/office/drawing/2014/main" id="{FF08BA48-C5BA-0F90-9E0D-E808151941B2}"/>
              </a:ext>
            </a:extLst>
          </p:cNvPr>
          <p:cNvPicPr>
            <a:picLocks noChangeAspect="1"/>
          </p:cNvPicPr>
          <p:nvPr/>
        </p:nvPicPr>
        <p:blipFill>
          <a:blip r:embed="rId8"/>
          <a:srcRect b="61134"/>
          <a:stretch>
            <a:fillRect/>
          </a:stretch>
        </p:blipFill>
        <p:spPr>
          <a:xfrm>
            <a:off x="2464162" y="3703832"/>
            <a:ext cx="4673399" cy="238383"/>
          </a:xfrm>
          <a:prstGeom prst="rect">
            <a:avLst/>
          </a:prstGeom>
        </p:spPr>
      </p:pic>
      <p:grpSp>
        <p:nvGrpSpPr>
          <p:cNvPr id="46" name="Group 45">
            <a:extLst>
              <a:ext uri="{FF2B5EF4-FFF2-40B4-BE49-F238E27FC236}">
                <a16:creationId xmlns:a16="http://schemas.microsoft.com/office/drawing/2014/main" id="{F2C7DA11-3F34-4724-E801-FA3EE5C096D3}"/>
              </a:ext>
            </a:extLst>
          </p:cNvPr>
          <p:cNvGrpSpPr/>
          <p:nvPr/>
        </p:nvGrpSpPr>
        <p:grpSpPr>
          <a:xfrm>
            <a:off x="5547638" y="4551881"/>
            <a:ext cx="3284385" cy="646331"/>
            <a:chOff x="7547691" y="2531838"/>
            <a:chExt cx="3284385" cy="646331"/>
          </a:xfrm>
        </p:grpSpPr>
        <p:sp>
          <p:nvSpPr>
            <p:cNvPr id="47" name="TextBox 46">
              <a:extLst>
                <a:ext uri="{FF2B5EF4-FFF2-40B4-BE49-F238E27FC236}">
                  <a16:creationId xmlns:a16="http://schemas.microsoft.com/office/drawing/2014/main" id="{E1C23A5D-90C3-B729-BBF7-F10386DA6DE8}"/>
                </a:ext>
              </a:extLst>
            </p:cNvPr>
            <p:cNvSpPr txBox="1"/>
            <p:nvPr/>
          </p:nvSpPr>
          <p:spPr>
            <a:xfrm>
              <a:off x="7747825" y="2531838"/>
              <a:ext cx="3084251" cy="646331"/>
            </a:xfrm>
            <a:prstGeom prst="rect">
              <a:avLst/>
            </a:prstGeom>
            <a:noFill/>
          </p:spPr>
          <p:txBody>
            <a:bodyPr wrap="square" rtlCol="0">
              <a:spAutoFit/>
            </a:bodyPr>
            <a:lstStyle/>
            <a:p>
              <a:pPr algn="ctr"/>
              <a:r>
                <a:rPr lang="en-US" i="1" dirty="0"/>
                <a:t>compare with the database </a:t>
              </a:r>
              <a:br>
                <a:rPr lang="en-US" i="1" dirty="0"/>
              </a:br>
              <a:r>
                <a:rPr lang="en-US" i="1" dirty="0"/>
                <a:t>and </a:t>
              </a:r>
              <a:r>
                <a:rPr lang="en-US" i="1" dirty="0">
                  <a:solidFill>
                    <a:srgbClr val="7A62E7"/>
                  </a:solidFill>
                </a:rPr>
                <a:t>determine the website</a:t>
              </a:r>
            </a:p>
          </p:txBody>
        </p:sp>
        <p:sp>
          <p:nvSpPr>
            <p:cNvPr id="48" name="Oval 47">
              <a:extLst>
                <a:ext uri="{FF2B5EF4-FFF2-40B4-BE49-F238E27FC236}">
                  <a16:creationId xmlns:a16="http://schemas.microsoft.com/office/drawing/2014/main" id="{2EEB806A-2C7C-547A-82C8-71640E0CE6B0}"/>
                </a:ext>
              </a:extLst>
            </p:cNvPr>
            <p:cNvSpPr/>
            <p:nvPr/>
          </p:nvSpPr>
          <p:spPr>
            <a:xfrm>
              <a:off x="7547691" y="2689577"/>
              <a:ext cx="348336" cy="34833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2</a:t>
              </a:r>
            </a:p>
          </p:txBody>
        </p:sp>
      </p:grpSp>
      <p:sp>
        <p:nvSpPr>
          <p:cNvPr id="49" name="TextBox 48">
            <a:extLst>
              <a:ext uri="{FF2B5EF4-FFF2-40B4-BE49-F238E27FC236}">
                <a16:creationId xmlns:a16="http://schemas.microsoft.com/office/drawing/2014/main" id="{3EE033AC-A188-A40C-2450-00021BC157E2}"/>
              </a:ext>
            </a:extLst>
          </p:cNvPr>
          <p:cNvSpPr txBox="1"/>
          <p:nvPr/>
        </p:nvSpPr>
        <p:spPr>
          <a:xfrm>
            <a:off x="5940859" y="5696137"/>
            <a:ext cx="2526471" cy="369332"/>
          </a:xfrm>
          <a:prstGeom prst="rect">
            <a:avLst/>
          </a:prstGeom>
          <a:solidFill>
            <a:schemeClr val="bg1">
              <a:lumMod val="95000"/>
            </a:schemeClr>
          </a:solidFill>
        </p:spPr>
        <p:txBody>
          <a:bodyPr wrap="square" rtlCol="0">
            <a:spAutoFit/>
          </a:bodyPr>
          <a:lstStyle/>
          <a:p>
            <a:r>
              <a:rPr lang="en-US" dirty="0">
                <a:latin typeface="Cascadia Code" panose="020B0509020204030204" pitchFamily="49" charset="0"/>
              </a:rPr>
              <a:t>Website: </a:t>
            </a:r>
            <a:r>
              <a:rPr lang="en-US" dirty="0">
                <a:solidFill>
                  <a:srgbClr val="DA8200"/>
                </a:solidFill>
                <a:latin typeface="Cascadia Code" panose="020B0509020204030204" pitchFamily="49" charset="0"/>
              </a:rPr>
              <a:t>YouTube</a:t>
            </a:r>
          </a:p>
        </p:txBody>
      </p:sp>
      <p:cxnSp>
        <p:nvCxnSpPr>
          <p:cNvPr id="51" name="Straight Arrow Connector 50">
            <a:extLst>
              <a:ext uri="{FF2B5EF4-FFF2-40B4-BE49-F238E27FC236}">
                <a16:creationId xmlns:a16="http://schemas.microsoft.com/office/drawing/2014/main" id="{8CF6EA96-F387-E0B6-13D0-BB58217C8F26}"/>
              </a:ext>
            </a:extLst>
          </p:cNvPr>
          <p:cNvCxnSpPr>
            <a:cxnSpLocks/>
          </p:cNvCxnSpPr>
          <p:nvPr/>
        </p:nvCxnSpPr>
        <p:spPr>
          <a:xfrm>
            <a:off x="7048500" y="5198212"/>
            <a:ext cx="0" cy="40025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6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F229-7878-23F3-CDA7-777EDDC9AC28}"/>
              </a:ext>
            </a:extLst>
          </p:cNvPr>
          <p:cNvSpPr>
            <a:spLocks noGrp="1"/>
          </p:cNvSpPr>
          <p:nvPr>
            <p:ph type="title"/>
          </p:nvPr>
        </p:nvSpPr>
        <p:spPr/>
        <p:txBody>
          <a:bodyPr/>
          <a:lstStyle/>
          <a:p>
            <a:r>
              <a:rPr lang="en-US" dirty="0"/>
              <a:t>PRAC-Based Website Fingerprinting: Evaluation</a:t>
            </a:r>
          </a:p>
        </p:txBody>
      </p:sp>
      <p:sp>
        <p:nvSpPr>
          <p:cNvPr id="3" name="Content Placeholder 2">
            <a:extLst>
              <a:ext uri="{FF2B5EF4-FFF2-40B4-BE49-F238E27FC236}">
                <a16:creationId xmlns:a16="http://schemas.microsoft.com/office/drawing/2014/main" id="{3CE81EC6-767D-9856-A6C2-AE79F6F6D3A6}"/>
              </a:ext>
            </a:extLst>
          </p:cNvPr>
          <p:cNvSpPr>
            <a:spLocks noGrp="1"/>
          </p:cNvSpPr>
          <p:nvPr>
            <p:ph idx="1"/>
          </p:nvPr>
        </p:nvSpPr>
        <p:spPr/>
        <p:txBody>
          <a:bodyPr/>
          <a:lstStyle/>
          <a:p>
            <a:r>
              <a:rPr lang="en-US" dirty="0"/>
              <a:t>We collect</a:t>
            </a:r>
            <a:r>
              <a:rPr lang="en-US" dirty="0">
                <a:solidFill>
                  <a:srgbClr val="316CE3"/>
                </a:solidFill>
              </a:rPr>
              <a:t> back-off fingerprints </a:t>
            </a:r>
            <a:r>
              <a:rPr lang="en-US" dirty="0"/>
              <a:t>of many websites</a:t>
            </a:r>
          </a:p>
          <a:p>
            <a:pPr lvl="1"/>
            <a:r>
              <a:rPr lang="en-US" sz="2800" dirty="0">
                <a:solidFill>
                  <a:srgbClr val="316CE3"/>
                </a:solidFill>
              </a:rPr>
              <a:t>40 most-visited websites </a:t>
            </a:r>
            <a:br>
              <a:rPr lang="en-US" sz="2800" dirty="0">
                <a:solidFill>
                  <a:srgbClr val="316CE3"/>
                </a:solidFill>
              </a:rPr>
            </a:br>
            <a:r>
              <a:rPr lang="en-US" sz="2800" dirty="0"/>
              <a:t>from </a:t>
            </a:r>
            <a:r>
              <a:rPr lang="en-US" sz="2800" dirty="0" err="1"/>
              <a:t>Semrush</a:t>
            </a:r>
            <a:r>
              <a:rPr lang="en-US" sz="2800" dirty="0"/>
              <a:t> and </a:t>
            </a:r>
            <a:r>
              <a:rPr lang="en-US" sz="2800" dirty="0" err="1"/>
              <a:t>Similarweb</a:t>
            </a:r>
            <a:r>
              <a:rPr lang="en-US" sz="2800" dirty="0"/>
              <a:t> top sites</a:t>
            </a:r>
            <a:endParaRPr lang="en-US" dirty="0"/>
          </a:p>
          <a:p>
            <a:endParaRPr lang="en-US" sz="1400" dirty="0"/>
          </a:p>
          <a:p>
            <a:r>
              <a:rPr lang="en-US" dirty="0">
                <a:solidFill>
                  <a:srgbClr val="7A62E7"/>
                </a:solidFill>
              </a:rPr>
              <a:t>A machine learning approach </a:t>
            </a:r>
            <a:r>
              <a:rPr lang="en-US" dirty="0"/>
              <a:t>to classify websites:</a:t>
            </a:r>
          </a:p>
          <a:p>
            <a:pPr lvl="1"/>
            <a:r>
              <a:rPr lang="en-US" sz="2800" dirty="0"/>
              <a:t>Simple and lightweight machine learning models </a:t>
            </a:r>
            <a:br>
              <a:rPr lang="en-US" sz="2800" dirty="0"/>
            </a:br>
            <a:r>
              <a:rPr lang="en-US" sz="2800" dirty="0"/>
              <a:t>(e.g., decision tree, random forest, gradient boosting, </a:t>
            </a:r>
            <a:br>
              <a:rPr lang="en-US" sz="2800" dirty="0"/>
            </a:br>
            <a:r>
              <a:rPr lang="en-US" sz="2800" dirty="0"/>
              <a:t>k-nearest neighbors)</a:t>
            </a:r>
          </a:p>
          <a:p>
            <a:pPr lvl="1"/>
            <a:endParaRPr lang="en-US" dirty="0"/>
          </a:p>
        </p:txBody>
      </p:sp>
      <p:sp>
        <p:nvSpPr>
          <p:cNvPr id="4" name="Footer Placeholder 3">
            <a:extLst>
              <a:ext uri="{FF2B5EF4-FFF2-40B4-BE49-F238E27FC236}">
                <a16:creationId xmlns:a16="http://schemas.microsoft.com/office/drawing/2014/main" id="{C8115923-21D5-0368-5DA8-3271542571EA}"/>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6D552BD8-004F-FCA8-9DC0-35A3DC8A7167}"/>
              </a:ext>
            </a:extLst>
          </p:cNvPr>
          <p:cNvSpPr>
            <a:spLocks noGrp="1"/>
          </p:cNvSpPr>
          <p:nvPr>
            <p:ph type="sldNum" sz="quarter" idx="12"/>
          </p:nvPr>
        </p:nvSpPr>
        <p:spPr/>
        <p:txBody>
          <a:bodyPr/>
          <a:lstStyle/>
          <a:p>
            <a:fld id="{CBE5B309-C2CE-4D90-B104-F7E98438FC65}" type="slidenum">
              <a:rPr lang="tr-TR" smtClean="0"/>
              <a:pPr/>
              <a:t>79</a:t>
            </a:fld>
            <a:endParaRPr lang="tr-TR" dirty="0"/>
          </a:p>
        </p:txBody>
      </p:sp>
      <p:sp>
        <p:nvSpPr>
          <p:cNvPr id="6" name="Rectangle 5">
            <a:extLst>
              <a:ext uri="{FF2B5EF4-FFF2-40B4-BE49-F238E27FC236}">
                <a16:creationId xmlns:a16="http://schemas.microsoft.com/office/drawing/2014/main" id="{B6873822-7422-1C47-4ADA-87025B2C622E}"/>
              </a:ext>
            </a:extLst>
          </p:cNvPr>
          <p:cNvSpPr/>
          <p:nvPr/>
        </p:nvSpPr>
        <p:spPr>
          <a:xfrm>
            <a:off x="-25401" y="4775200"/>
            <a:ext cx="9245150" cy="1401763"/>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solidFill>
                  <a:schemeClr val="tx1"/>
                </a:solidFill>
                <a:latin typeface="+mj-lt"/>
              </a:rPr>
              <a:t>Using back-off-based fingerprints, </a:t>
            </a:r>
            <a:br>
              <a:rPr lang="en-US" sz="2800" dirty="0">
                <a:solidFill>
                  <a:schemeClr val="tx1"/>
                </a:solidFill>
                <a:latin typeface="+mj-lt"/>
              </a:rPr>
            </a:br>
            <a:r>
              <a:rPr lang="en-US" sz="2800" b="1" dirty="0">
                <a:solidFill>
                  <a:srgbClr val="316CE3"/>
                </a:solidFill>
                <a:latin typeface="+mj-lt"/>
              </a:rPr>
              <a:t>classical machine learning models </a:t>
            </a:r>
            <a:br>
              <a:rPr lang="en-US" sz="2800" dirty="0">
                <a:solidFill>
                  <a:schemeClr val="tx1"/>
                </a:solidFill>
                <a:latin typeface="+mj-lt"/>
              </a:rPr>
            </a:br>
            <a:r>
              <a:rPr lang="en-US" sz="2800" dirty="0">
                <a:solidFill>
                  <a:schemeClr val="tx1"/>
                </a:solidFill>
                <a:latin typeface="+mj-lt"/>
              </a:rPr>
              <a:t>can </a:t>
            </a:r>
            <a:r>
              <a:rPr lang="en-US" sz="2800" b="1" dirty="0">
                <a:solidFill>
                  <a:schemeClr val="accent6">
                    <a:lumMod val="75000"/>
                  </a:schemeClr>
                </a:solidFill>
                <a:latin typeface="+mj-lt"/>
              </a:rPr>
              <a:t>classify websites with up to 75% accuracy</a:t>
            </a:r>
          </a:p>
        </p:txBody>
      </p:sp>
    </p:spTree>
    <p:extLst>
      <p:ext uri="{BB962C8B-B14F-4D97-AF65-F5344CB8AC3E}">
        <p14:creationId xmlns:p14="http://schemas.microsoft.com/office/powerpoint/2010/main" val="337734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7ABFD-4AB6-AEEE-4D11-8E6E38EE7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E923B-24FE-39A4-3E4A-CFB48DEA5992}"/>
              </a:ext>
            </a:extLst>
          </p:cNvPr>
          <p:cNvSpPr>
            <a:spLocks noGrp="1"/>
          </p:cNvSpPr>
          <p:nvPr>
            <p:ph type="title"/>
          </p:nvPr>
        </p:nvSpPr>
        <p:spPr/>
        <p:txBody>
          <a:bodyPr/>
          <a:lstStyle/>
          <a:p>
            <a:r>
              <a:rPr lang="en-US" dirty="0"/>
              <a:t>Talk Outline</a:t>
            </a:r>
          </a:p>
        </p:txBody>
      </p:sp>
      <p:sp>
        <p:nvSpPr>
          <p:cNvPr id="3" name="Content Placeholder 2">
            <a:extLst>
              <a:ext uri="{FF2B5EF4-FFF2-40B4-BE49-F238E27FC236}">
                <a16:creationId xmlns:a16="http://schemas.microsoft.com/office/drawing/2014/main" id="{75688253-46FC-AAE9-44F7-59C42934CD8F}"/>
              </a:ext>
            </a:extLst>
          </p:cNvPr>
          <p:cNvSpPr>
            <a:spLocks noGrp="1"/>
          </p:cNvSpPr>
          <p:nvPr>
            <p:ph idx="1"/>
          </p:nvPr>
        </p:nvSpPr>
        <p:spPr/>
        <p:txBody>
          <a:bodyPr>
            <a:normAutofit/>
          </a:bodyPr>
          <a:lstStyle/>
          <a:p>
            <a:pPr marL="571500" indent="-571500">
              <a:lnSpc>
                <a:spcPct val="150000"/>
              </a:lnSpc>
              <a:buFont typeface="+mj-lt"/>
              <a:buAutoNum type="romanUcPeriod"/>
            </a:pPr>
            <a:r>
              <a:rPr lang="en-US" sz="3200" dirty="0">
                <a:solidFill>
                  <a:schemeClr val="tx1">
                    <a:lumMod val="50000"/>
                    <a:lumOff val="50000"/>
                  </a:schemeClr>
                </a:solidFill>
              </a:rPr>
              <a:t>Motivation and Problem</a:t>
            </a:r>
          </a:p>
          <a:p>
            <a:pPr marL="571500" indent="-571500">
              <a:lnSpc>
                <a:spcPct val="150000"/>
              </a:lnSpc>
              <a:buFont typeface="+mj-lt"/>
              <a:buAutoNum type="romanUcPeriod"/>
            </a:pPr>
            <a:r>
              <a:rPr lang="en-US" sz="3200" dirty="0">
                <a:solidFill>
                  <a:schemeClr val="tx1">
                    <a:lumMod val="50000"/>
                    <a:lumOff val="50000"/>
                  </a:schemeClr>
                </a:solidFill>
              </a:rPr>
              <a:t>Key Observation</a:t>
            </a:r>
          </a:p>
          <a:p>
            <a:pPr marL="571500" indent="-571500">
              <a:lnSpc>
                <a:spcPct val="150000"/>
              </a:lnSpc>
              <a:buFont typeface="+mj-lt"/>
              <a:buAutoNum type="romanUcPeriod"/>
            </a:pPr>
            <a:r>
              <a:rPr lang="en-US" sz="3200" dirty="0" err="1">
                <a:solidFill>
                  <a:schemeClr val="tx1">
                    <a:lumMod val="50000"/>
                    <a:lumOff val="50000"/>
                  </a:schemeClr>
                </a:solidFill>
              </a:rPr>
              <a:t>LeakyHammer</a:t>
            </a:r>
            <a:r>
              <a:rPr lang="en-US" sz="3200" dirty="0">
                <a:solidFill>
                  <a:schemeClr val="tx1">
                    <a:lumMod val="50000"/>
                    <a:lumOff val="50000"/>
                  </a:schemeClr>
                </a:solidFill>
              </a:rPr>
              <a:t> and Case Studies</a:t>
            </a:r>
          </a:p>
          <a:p>
            <a:pPr marL="571500" indent="-571500">
              <a:lnSpc>
                <a:spcPct val="150000"/>
              </a:lnSpc>
              <a:buFont typeface="+mj-lt"/>
              <a:buAutoNum type="romanUcPeriod"/>
            </a:pPr>
            <a:r>
              <a:rPr lang="en-US" sz="3200" b="1" dirty="0"/>
              <a:t>Mitigating </a:t>
            </a:r>
            <a:r>
              <a:rPr lang="en-US" sz="3200" b="1" dirty="0" err="1"/>
              <a:t>LeakyHammer</a:t>
            </a:r>
            <a:endParaRPr lang="en-US" sz="3200" b="1" dirty="0"/>
          </a:p>
          <a:p>
            <a:pPr marL="571500" indent="-571500">
              <a:lnSpc>
                <a:spcPct val="150000"/>
              </a:lnSpc>
              <a:buFont typeface="+mj-lt"/>
              <a:buAutoNum type="romanUcPeriod"/>
            </a:pPr>
            <a:r>
              <a:rPr lang="en-US" sz="3200" dirty="0">
                <a:solidFill>
                  <a:schemeClr val="tx1">
                    <a:lumMod val="50000"/>
                    <a:lumOff val="50000"/>
                  </a:schemeClr>
                </a:solidFill>
              </a:rPr>
              <a:t>Conclusion</a:t>
            </a:r>
          </a:p>
        </p:txBody>
      </p:sp>
      <p:sp>
        <p:nvSpPr>
          <p:cNvPr id="4" name="Footer Placeholder 3">
            <a:extLst>
              <a:ext uri="{FF2B5EF4-FFF2-40B4-BE49-F238E27FC236}">
                <a16:creationId xmlns:a16="http://schemas.microsoft.com/office/drawing/2014/main" id="{571E6A5F-E604-5235-4D1E-299776E08E53}"/>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D52FEFD3-58F2-3C7E-2A0A-B8CD93A7689C}"/>
              </a:ext>
            </a:extLst>
          </p:cNvPr>
          <p:cNvSpPr>
            <a:spLocks noGrp="1"/>
          </p:cNvSpPr>
          <p:nvPr>
            <p:ph type="sldNum" sz="quarter" idx="12"/>
          </p:nvPr>
        </p:nvSpPr>
        <p:spPr/>
        <p:txBody>
          <a:bodyPr/>
          <a:lstStyle/>
          <a:p>
            <a:fld id="{CBE5B309-C2CE-4D90-B104-F7E98438FC65}" type="slidenum">
              <a:rPr lang="tr-TR" smtClean="0"/>
              <a:pPr/>
              <a:t>80</a:t>
            </a:fld>
            <a:endParaRPr lang="tr-TR" dirty="0"/>
          </a:p>
        </p:txBody>
      </p:sp>
    </p:spTree>
    <p:extLst>
      <p:ext uri="{BB962C8B-B14F-4D97-AF65-F5344CB8AC3E}">
        <p14:creationId xmlns:p14="http://schemas.microsoft.com/office/powerpoint/2010/main" val="1282191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9B7C-2CE8-E4AA-0E74-85046DE14257}"/>
              </a:ext>
            </a:extLst>
          </p:cNvPr>
          <p:cNvSpPr>
            <a:spLocks noGrp="1"/>
          </p:cNvSpPr>
          <p:nvPr>
            <p:ph type="title"/>
          </p:nvPr>
        </p:nvSpPr>
        <p:spPr/>
        <p:txBody>
          <a:bodyPr/>
          <a:lstStyle/>
          <a:p>
            <a:r>
              <a:rPr lang="en-US" dirty="0"/>
              <a:t>Mitigating </a:t>
            </a:r>
            <a:r>
              <a:rPr lang="en-US" dirty="0" err="1"/>
              <a:t>LeakyHammer</a:t>
            </a:r>
            <a:endParaRPr lang="en-US" dirty="0"/>
          </a:p>
        </p:txBody>
      </p:sp>
      <p:sp>
        <p:nvSpPr>
          <p:cNvPr id="3" name="Content Placeholder 2">
            <a:extLst>
              <a:ext uri="{FF2B5EF4-FFF2-40B4-BE49-F238E27FC236}">
                <a16:creationId xmlns:a16="http://schemas.microsoft.com/office/drawing/2014/main" id="{9100FE33-6B64-2A6B-4392-0E84A51D47B9}"/>
              </a:ext>
            </a:extLst>
          </p:cNvPr>
          <p:cNvSpPr>
            <a:spLocks noGrp="1"/>
          </p:cNvSpPr>
          <p:nvPr>
            <p:ph idx="1"/>
          </p:nvPr>
        </p:nvSpPr>
        <p:spPr/>
        <p:txBody>
          <a:bodyPr/>
          <a:lstStyle/>
          <a:p>
            <a:r>
              <a:rPr lang="en-US" dirty="0"/>
              <a:t>We propose </a:t>
            </a:r>
            <a:r>
              <a:rPr lang="en-US" dirty="0">
                <a:solidFill>
                  <a:srgbClr val="316CE3"/>
                </a:solidFill>
              </a:rPr>
              <a:t>three countermeasures </a:t>
            </a:r>
            <a:r>
              <a:rPr lang="en-US" dirty="0"/>
              <a:t>against </a:t>
            </a:r>
            <a:r>
              <a:rPr lang="en-US" dirty="0" err="1"/>
              <a:t>LeakyHammer</a:t>
            </a:r>
            <a:r>
              <a:rPr lang="en-US" dirty="0"/>
              <a:t>:</a:t>
            </a:r>
          </a:p>
        </p:txBody>
      </p:sp>
      <p:sp>
        <p:nvSpPr>
          <p:cNvPr id="4" name="Footer Placeholder 3">
            <a:extLst>
              <a:ext uri="{FF2B5EF4-FFF2-40B4-BE49-F238E27FC236}">
                <a16:creationId xmlns:a16="http://schemas.microsoft.com/office/drawing/2014/main" id="{314C626E-3BFC-C8DE-1718-C04E036A4CDB}"/>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9F61E279-E238-EEA2-3453-F4CE1178208B}"/>
              </a:ext>
            </a:extLst>
          </p:cNvPr>
          <p:cNvSpPr>
            <a:spLocks noGrp="1"/>
          </p:cNvSpPr>
          <p:nvPr>
            <p:ph type="sldNum" sz="quarter" idx="12"/>
          </p:nvPr>
        </p:nvSpPr>
        <p:spPr/>
        <p:txBody>
          <a:bodyPr/>
          <a:lstStyle/>
          <a:p>
            <a:fld id="{CBE5B309-C2CE-4D90-B104-F7E98438FC65}" type="slidenum">
              <a:rPr lang="tr-TR" smtClean="0"/>
              <a:pPr/>
              <a:t>81</a:t>
            </a:fld>
            <a:endParaRPr lang="tr-TR" dirty="0"/>
          </a:p>
        </p:txBody>
      </p:sp>
      <p:sp>
        <p:nvSpPr>
          <p:cNvPr id="6" name="Rectangle 5">
            <a:extLst>
              <a:ext uri="{FF2B5EF4-FFF2-40B4-BE49-F238E27FC236}">
                <a16:creationId xmlns:a16="http://schemas.microsoft.com/office/drawing/2014/main" id="{5D41561D-E15A-CC36-F2D0-1DF3B2C84020}"/>
              </a:ext>
            </a:extLst>
          </p:cNvPr>
          <p:cNvSpPr/>
          <p:nvPr/>
        </p:nvSpPr>
        <p:spPr>
          <a:xfrm>
            <a:off x="-2" y="1597152"/>
            <a:ext cx="9144000" cy="1532492"/>
          </a:xfrm>
          <a:prstGeom prst="rect">
            <a:avLst/>
          </a:prstGeom>
          <a:solidFill>
            <a:srgbClr val="E2F0D8"/>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6">
                    <a:lumMod val="75000"/>
                  </a:schemeClr>
                </a:solidFill>
                <a:latin typeface="+mj-lt"/>
              </a:rPr>
              <a:t>Fixed-Rate RFM (FR-RFM) </a:t>
            </a:r>
            <a:br>
              <a:rPr lang="en-US" sz="2800" b="1" dirty="0">
                <a:solidFill>
                  <a:srgbClr val="00B050"/>
                </a:solidFill>
                <a:latin typeface="+mj-lt"/>
              </a:rPr>
            </a:br>
            <a:r>
              <a:rPr lang="en-US" sz="2800" dirty="0">
                <a:solidFill>
                  <a:schemeClr val="tx1"/>
                </a:solidFill>
                <a:latin typeface="+mj-lt"/>
              </a:rPr>
              <a:t>eliminates </a:t>
            </a:r>
            <a:r>
              <a:rPr lang="en-US" sz="2800" dirty="0" err="1">
                <a:solidFill>
                  <a:schemeClr val="tx1"/>
                </a:solidFill>
                <a:latin typeface="+mj-lt"/>
              </a:rPr>
              <a:t>LeakyHammer</a:t>
            </a:r>
            <a:r>
              <a:rPr lang="en-US" sz="2800" dirty="0">
                <a:solidFill>
                  <a:schemeClr val="tx1"/>
                </a:solidFill>
                <a:latin typeface="+mj-lt"/>
              </a:rPr>
              <a:t> by </a:t>
            </a:r>
            <a:r>
              <a:rPr lang="en-US" sz="2800" dirty="0">
                <a:solidFill>
                  <a:schemeClr val="accent6">
                    <a:lumMod val="75000"/>
                  </a:schemeClr>
                </a:solidFill>
                <a:latin typeface="+mj-lt"/>
              </a:rPr>
              <a:t>decoupling preventive actions </a:t>
            </a:r>
            <a:br>
              <a:rPr lang="en-US" sz="2800" dirty="0">
                <a:solidFill>
                  <a:schemeClr val="tx1"/>
                </a:solidFill>
                <a:latin typeface="+mj-lt"/>
              </a:rPr>
            </a:br>
            <a:r>
              <a:rPr lang="en-US" sz="2800" dirty="0">
                <a:solidFill>
                  <a:schemeClr val="tx1"/>
                </a:solidFill>
                <a:latin typeface="+mj-lt"/>
              </a:rPr>
              <a:t>from </a:t>
            </a:r>
            <a:r>
              <a:rPr lang="en-US" sz="2800" dirty="0">
                <a:solidFill>
                  <a:schemeClr val="accent6">
                    <a:lumMod val="75000"/>
                  </a:schemeClr>
                </a:solidFill>
                <a:latin typeface="+mj-lt"/>
              </a:rPr>
              <a:t>memory access patterns </a:t>
            </a:r>
            <a:r>
              <a:rPr lang="en-US" sz="2800" dirty="0">
                <a:solidFill>
                  <a:schemeClr val="tx1"/>
                </a:solidFill>
                <a:latin typeface="+mj-lt"/>
              </a:rPr>
              <a:t>of running applications</a:t>
            </a:r>
            <a:endParaRPr lang="en-US" sz="2800" b="1" dirty="0">
              <a:solidFill>
                <a:srgbClr val="00B050"/>
              </a:solidFill>
              <a:latin typeface="+mj-lt"/>
            </a:endParaRPr>
          </a:p>
        </p:txBody>
      </p:sp>
      <p:sp>
        <p:nvSpPr>
          <p:cNvPr id="7" name="Rectangle 6">
            <a:extLst>
              <a:ext uri="{FF2B5EF4-FFF2-40B4-BE49-F238E27FC236}">
                <a16:creationId xmlns:a16="http://schemas.microsoft.com/office/drawing/2014/main" id="{E67B3022-F63D-0D9F-FF2E-0C612C7FB4DC}"/>
              </a:ext>
            </a:extLst>
          </p:cNvPr>
          <p:cNvSpPr/>
          <p:nvPr/>
        </p:nvSpPr>
        <p:spPr>
          <a:xfrm>
            <a:off x="-2" y="3243943"/>
            <a:ext cx="9144000" cy="1295400"/>
          </a:xfrm>
          <a:prstGeom prst="rect">
            <a:avLst/>
          </a:prstGeom>
          <a:solidFill>
            <a:srgbClr val="FFEBCD"/>
          </a:solidFill>
          <a:ln w="38100">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E28700"/>
                </a:solidFill>
                <a:latin typeface="+mj-lt"/>
              </a:rPr>
              <a:t>Randomly Initialized Activation Counters (RIAC)</a:t>
            </a:r>
          </a:p>
          <a:p>
            <a:pPr algn="ctr"/>
            <a:r>
              <a:rPr lang="en-US" sz="2800" dirty="0">
                <a:solidFill>
                  <a:srgbClr val="E28700"/>
                </a:solidFill>
                <a:latin typeface="+mj-lt"/>
              </a:rPr>
              <a:t>reduces channel capacity </a:t>
            </a:r>
            <a:r>
              <a:rPr lang="en-US" sz="2800" dirty="0">
                <a:solidFill>
                  <a:schemeClr val="tx1"/>
                </a:solidFill>
                <a:latin typeface="+mj-lt"/>
              </a:rPr>
              <a:t>with </a:t>
            </a:r>
            <a:r>
              <a:rPr lang="en-US" sz="2800" dirty="0">
                <a:solidFill>
                  <a:srgbClr val="E28700"/>
                </a:solidFill>
                <a:latin typeface="+mj-lt"/>
              </a:rPr>
              <a:t>a randomization method</a:t>
            </a:r>
          </a:p>
        </p:txBody>
      </p:sp>
      <p:sp>
        <p:nvSpPr>
          <p:cNvPr id="8" name="Rectangle 7">
            <a:extLst>
              <a:ext uri="{FF2B5EF4-FFF2-40B4-BE49-F238E27FC236}">
                <a16:creationId xmlns:a16="http://schemas.microsoft.com/office/drawing/2014/main" id="{427D5C8D-9A7A-3EF7-17BB-A5F981C08C86}"/>
              </a:ext>
            </a:extLst>
          </p:cNvPr>
          <p:cNvSpPr/>
          <p:nvPr/>
        </p:nvSpPr>
        <p:spPr>
          <a:xfrm>
            <a:off x="-2" y="4644470"/>
            <a:ext cx="9144000" cy="1532493"/>
          </a:xfrm>
          <a:prstGeom prst="rect">
            <a:avLst/>
          </a:prstGeom>
          <a:solidFill>
            <a:srgbClr val="DAD3F9"/>
          </a:solidFill>
          <a:ln w="38100">
            <a:solidFill>
              <a:srgbClr val="6D40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6D40DC"/>
                </a:solidFill>
                <a:latin typeface="+mj-lt"/>
              </a:rPr>
              <a:t>Bank-Level PRAC (PRAC-Bank)</a:t>
            </a:r>
          </a:p>
          <a:p>
            <a:pPr algn="ctr"/>
            <a:r>
              <a:rPr lang="en-US" sz="2800" dirty="0">
                <a:solidFill>
                  <a:schemeClr val="tx1"/>
                </a:solidFill>
                <a:latin typeface="+mj-lt"/>
              </a:rPr>
              <a:t>performs bank-level preventive actions to limit the attack scope to that of existing DRAM-based attacks </a:t>
            </a:r>
            <a:endParaRPr lang="en-US" sz="2800" dirty="0">
              <a:solidFill>
                <a:srgbClr val="E28700"/>
              </a:solidFill>
              <a:latin typeface="+mj-lt"/>
            </a:endParaRPr>
          </a:p>
        </p:txBody>
      </p:sp>
    </p:spTree>
    <p:extLst>
      <p:ext uri="{BB962C8B-B14F-4D97-AF65-F5344CB8AC3E}">
        <p14:creationId xmlns:p14="http://schemas.microsoft.com/office/powerpoint/2010/main" val="211923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6A403-C4DA-63FF-791B-883ED41BA635}"/>
            </a:ext>
          </a:extLst>
        </p:cNvPr>
        <p:cNvGrpSpPr/>
        <p:nvPr/>
      </p:nvGrpSpPr>
      <p:grpSpPr>
        <a:xfrm>
          <a:off x="0" y="0"/>
          <a:ext cx="0" cy="0"/>
          <a:chOff x="0" y="0"/>
          <a:chExt cx="0" cy="0"/>
        </a:xfrm>
      </p:grpSpPr>
      <p:pic>
        <p:nvPicPr>
          <p:cNvPr id="13" name="Picture 12" descr="A graph of different colored bars&#10;&#10;AI-generated content may be incorrect.">
            <a:extLst>
              <a:ext uri="{FF2B5EF4-FFF2-40B4-BE49-F238E27FC236}">
                <a16:creationId xmlns:a16="http://schemas.microsoft.com/office/drawing/2014/main" id="{B3397087-AAD6-B905-F5CE-9C356085C5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26" y="2011814"/>
            <a:ext cx="8798011" cy="2841758"/>
          </a:xfrm>
          <a:prstGeom prst="rect">
            <a:avLst/>
          </a:prstGeom>
        </p:spPr>
      </p:pic>
      <p:sp>
        <p:nvSpPr>
          <p:cNvPr id="2" name="Title 1">
            <a:extLst>
              <a:ext uri="{FF2B5EF4-FFF2-40B4-BE49-F238E27FC236}">
                <a16:creationId xmlns:a16="http://schemas.microsoft.com/office/drawing/2014/main" id="{C67C1129-592E-A1A0-8803-32D8D6D92E8E}"/>
              </a:ext>
            </a:extLst>
          </p:cNvPr>
          <p:cNvSpPr>
            <a:spLocks noGrp="1"/>
          </p:cNvSpPr>
          <p:nvPr>
            <p:ph type="title"/>
          </p:nvPr>
        </p:nvSpPr>
        <p:spPr/>
        <p:txBody>
          <a:bodyPr/>
          <a:lstStyle/>
          <a:p>
            <a:r>
              <a:rPr lang="en-US" dirty="0"/>
              <a:t>Evaluating </a:t>
            </a:r>
            <a:r>
              <a:rPr lang="en-US" dirty="0" err="1"/>
              <a:t>LeakyHammer</a:t>
            </a:r>
            <a:r>
              <a:rPr lang="en-US" dirty="0"/>
              <a:t> Countermeasures</a:t>
            </a:r>
          </a:p>
        </p:txBody>
      </p:sp>
      <p:sp>
        <p:nvSpPr>
          <p:cNvPr id="3" name="Content Placeholder 2">
            <a:extLst>
              <a:ext uri="{FF2B5EF4-FFF2-40B4-BE49-F238E27FC236}">
                <a16:creationId xmlns:a16="http://schemas.microsoft.com/office/drawing/2014/main" id="{604AB236-4C74-BB33-A383-32DD4D8403E4}"/>
              </a:ext>
            </a:extLst>
          </p:cNvPr>
          <p:cNvSpPr>
            <a:spLocks noGrp="1"/>
          </p:cNvSpPr>
          <p:nvPr>
            <p:ph idx="1"/>
          </p:nvPr>
        </p:nvSpPr>
        <p:spPr>
          <a:xfrm>
            <a:off x="-1" y="931025"/>
            <a:ext cx="9143999" cy="5245938"/>
          </a:xfrm>
        </p:spPr>
        <p:txBody>
          <a:bodyPr/>
          <a:lstStyle/>
          <a:p>
            <a:r>
              <a:rPr lang="en-US" dirty="0"/>
              <a:t>60 four-core workloads: SPEC2017 and SPEC2006</a:t>
            </a:r>
          </a:p>
        </p:txBody>
      </p:sp>
      <p:sp>
        <p:nvSpPr>
          <p:cNvPr id="4" name="Footer Placeholder 3">
            <a:extLst>
              <a:ext uri="{FF2B5EF4-FFF2-40B4-BE49-F238E27FC236}">
                <a16:creationId xmlns:a16="http://schemas.microsoft.com/office/drawing/2014/main" id="{B8FED01C-DEED-C496-3111-F333A940B9CC}"/>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433CB9F5-7133-F47F-2BEA-9040C75E8C65}"/>
              </a:ext>
            </a:extLst>
          </p:cNvPr>
          <p:cNvSpPr>
            <a:spLocks noGrp="1"/>
          </p:cNvSpPr>
          <p:nvPr>
            <p:ph type="sldNum" sz="quarter" idx="12"/>
          </p:nvPr>
        </p:nvSpPr>
        <p:spPr/>
        <p:txBody>
          <a:bodyPr/>
          <a:lstStyle/>
          <a:p>
            <a:fld id="{CBE5B309-C2CE-4D90-B104-F7E98438FC65}" type="slidenum">
              <a:rPr lang="tr-TR" smtClean="0"/>
              <a:pPr/>
              <a:t>82</a:t>
            </a:fld>
            <a:endParaRPr lang="tr-TR" dirty="0"/>
          </a:p>
        </p:txBody>
      </p:sp>
      <p:grpSp>
        <p:nvGrpSpPr>
          <p:cNvPr id="9" name="Group 8">
            <a:extLst>
              <a:ext uri="{FF2B5EF4-FFF2-40B4-BE49-F238E27FC236}">
                <a16:creationId xmlns:a16="http://schemas.microsoft.com/office/drawing/2014/main" id="{A19E826D-669E-3DA8-289B-BBAA8C0159A7}"/>
              </a:ext>
            </a:extLst>
          </p:cNvPr>
          <p:cNvGrpSpPr/>
          <p:nvPr/>
        </p:nvGrpSpPr>
        <p:grpSpPr>
          <a:xfrm>
            <a:off x="330678" y="1359085"/>
            <a:ext cx="3648974" cy="875638"/>
            <a:chOff x="1091241" y="1816510"/>
            <a:chExt cx="3648974" cy="875638"/>
          </a:xfrm>
        </p:grpSpPr>
        <p:sp>
          <p:nvSpPr>
            <p:cNvPr id="6" name="TextBox 5">
              <a:extLst>
                <a:ext uri="{FF2B5EF4-FFF2-40B4-BE49-F238E27FC236}">
                  <a16:creationId xmlns:a16="http://schemas.microsoft.com/office/drawing/2014/main" id="{7982FDF3-061E-DCC1-D07A-625231CD25D8}"/>
                </a:ext>
              </a:extLst>
            </p:cNvPr>
            <p:cNvSpPr txBox="1"/>
            <p:nvPr/>
          </p:nvSpPr>
          <p:spPr>
            <a:xfrm>
              <a:off x="1091241" y="1816510"/>
              <a:ext cx="3648974" cy="646331"/>
            </a:xfrm>
            <a:prstGeom prst="rect">
              <a:avLst/>
            </a:prstGeom>
            <a:noFill/>
          </p:spPr>
          <p:txBody>
            <a:bodyPr wrap="square" rtlCol="0">
              <a:spAutoFit/>
            </a:bodyPr>
            <a:lstStyle/>
            <a:p>
              <a:pPr algn="ctr"/>
              <a:r>
                <a:rPr lang="en-US" i="1" dirty="0">
                  <a:solidFill>
                    <a:srgbClr val="E1257C"/>
                  </a:solidFill>
                </a:rPr>
                <a:t>not secure</a:t>
              </a:r>
              <a:br>
                <a:rPr lang="en-US" i="1" dirty="0">
                  <a:solidFill>
                    <a:srgbClr val="E1257C"/>
                  </a:solidFill>
                </a:rPr>
              </a:br>
              <a:r>
                <a:rPr lang="en-US" i="1" dirty="0">
                  <a:solidFill>
                    <a:srgbClr val="E1257C"/>
                  </a:solidFill>
                </a:rPr>
                <a:t>against </a:t>
              </a:r>
              <a:r>
                <a:rPr lang="en-US" i="1" dirty="0" err="1">
                  <a:solidFill>
                    <a:srgbClr val="E1257C"/>
                  </a:solidFill>
                </a:rPr>
                <a:t>LeakyHammer</a:t>
              </a:r>
              <a:endParaRPr lang="en-US" i="1" dirty="0">
                <a:solidFill>
                  <a:srgbClr val="E1257C"/>
                </a:solidFill>
              </a:endParaRPr>
            </a:p>
          </p:txBody>
        </p:sp>
        <p:sp>
          <p:nvSpPr>
            <p:cNvPr id="8" name="Rectangle 7">
              <a:extLst>
                <a:ext uri="{FF2B5EF4-FFF2-40B4-BE49-F238E27FC236}">
                  <a16:creationId xmlns:a16="http://schemas.microsoft.com/office/drawing/2014/main" id="{0D1F6EAD-DCFC-84D5-2B68-7A7BB8336039}"/>
                </a:ext>
              </a:extLst>
            </p:cNvPr>
            <p:cNvSpPr/>
            <p:nvPr/>
          </p:nvSpPr>
          <p:spPr>
            <a:xfrm>
              <a:off x="1690777" y="2462841"/>
              <a:ext cx="2501661" cy="229307"/>
            </a:xfrm>
            <a:prstGeom prst="rect">
              <a:avLst/>
            </a:prstGeom>
            <a:noFill/>
            <a:ln w="28575">
              <a:solidFill>
                <a:srgbClr val="E1257C"/>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41293502-ECEC-2492-3906-AF5830C00F6A}"/>
              </a:ext>
            </a:extLst>
          </p:cNvPr>
          <p:cNvSpPr/>
          <p:nvPr/>
        </p:nvSpPr>
        <p:spPr>
          <a:xfrm>
            <a:off x="-48552" y="4863204"/>
            <a:ext cx="9245150" cy="742538"/>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latin typeface="+mj-lt"/>
              </a:rPr>
              <a:t>FR-RFM </a:t>
            </a:r>
            <a:r>
              <a:rPr lang="en-US" sz="2400" dirty="0">
                <a:solidFill>
                  <a:srgbClr val="316CE3"/>
                </a:solidFill>
                <a:latin typeface="+mj-lt"/>
              </a:rPr>
              <a:t>mitigates </a:t>
            </a:r>
            <a:r>
              <a:rPr lang="en-US" sz="2400" dirty="0" err="1">
                <a:solidFill>
                  <a:srgbClr val="316CE3"/>
                </a:solidFill>
                <a:latin typeface="+mj-lt"/>
              </a:rPr>
              <a:t>LeakyHammer</a:t>
            </a:r>
            <a:r>
              <a:rPr lang="en-US" sz="2400" dirty="0">
                <a:solidFill>
                  <a:srgbClr val="316CE3"/>
                </a:solidFill>
                <a:latin typeface="+mj-lt"/>
              </a:rPr>
              <a:t> </a:t>
            </a:r>
            <a:r>
              <a:rPr lang="en-US" sz="2400" dirty="0">
                <a:solidFill>
                  <a:schemeClr val="tx1"/>
                </a:solidFill>
                <a:latin typeface="+mj-lt"/>
              </a:rPr>
              <a:t>and </a:t>
            </a:r>
            <a:r>
              <a:rPr lang="en-US" sz="2400" dirty="0">
                <a:solidFill>
                  <a:srgbClr val="316CE3"/>
                </a:solidFill>
                <a:latin typeface="+mj-lt"/>
              </a:rPr>
              <a:t>performs similar to PRAC and PRFM </a:t>
            </a:r>
            <a:r>
              <a:rPr lang="en-US" sz="2400" dirty="0">
                <a:solidFill>
                  <a:schemeClr val="tx1"/>
                </a:solidFill>
                <a:latin typeface="+mj-lt"/>
              </a:rPr>
              <a:t>for near-future N</a:t>
            </a:r>
            <a:r>
              <a:rPr lang="en-US" sz="2400" baseline="-25000" dirty="0">
                <a:solidFill>
                  <a:schemeClr val="tx1"/>
                </a:solidFill>
                <a:latin typeface="+mj-lt"/>
              </a:rPr>
              <a:t>RH</a:t>
            </a:r>
            <a:r>
              <a:rPr lang="en-US" sz="2400" dirty="0">
                <a:solidFill>
                  <a:schemeClr val="tx1"/>
                </a:solidFill>
                <a:latin typeface="+mj-lt"/>
              </a:rPr>
              <a:t> values (e.g., 1024)</a:t>
            </a:r>
            <a:endParaRPr lang="en-US" sz="2400" b="1" dirty="0">
              <a:solidFill>
                <a:srgbClr val="00B050"/>
              </a:solidFill>
              <a:latin typeface="+mj-lt"/>
            </a:endParaRPr>
          </a:p>
        </p:txBody>
      </p:sp>
      <p:sp>
        <p:nvSpPr>
          <p:cNvPr id="24" name="Rectangle 23">
            <a:extLst>
              <a:ext uri="{FF2B5EF4-FFF2-40B4-BE49-F238E27FC236}">
                <a16:creationId xmlns:a16="http://schemas.microsoft.com/office/drawing/2014/main" id="{AD080F1D-0258-BCA3-BD70-62FE31111351}"/>
              </a:ext>
            </a:extLst>
          </p:cNvPr>
          <p:cNvSpPr/>
          <p:nvPr/>
        </p:nvSpPr>
        <p:spPr>
          <a:xfrm>
            <a:off x="-42262" y="5717297"/>
            <a:ext cx="9245150" cy="742538"/>
          </a:xfrm>
          <a:prstGeom prst="rect">
            <a:avLst/>
          </a:prstGeom>
          <a:solidFill>
            <a:srgbClr val="FFE0D5"/>
          </a:solidFill>
          <a:ln w="28575">
            <a:solidFill>
              <a:srgbClr val="FE61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solidFill>
                  <a:schemeClr val="tx1"/>
                </a:solidFill>
              </a:rPr>
              <a:t>As N</a:t>
            </a:r>
            <a:r>
              <a:rPr lang="en-US" sz="2400" baseline="-25000" dirty="0">
                <a:solidFill>
                  <a:schemeClr val="tx1"/>
                </a:solidFill>
              </a:rPr>
              <a:t>RH </a:t>
            </a:r>
            <a:r>
              <a:rPr lang="en-US" sz="2400" dirty="0">
                <a:solidFill>
                  <a:schemeClr val="tx1"/>
                </a:solidFill>
              </a:rPr>
              <a:t>decreases, other</a:t>
            </a:r>
            <a:r>
              <a:rPr lang="en-US" sz="2400" dirty="0">
                <a:solidFill>
                  <a:schemeClr val="tx1"/>
                </a:solidFill>
                <a:latin typeface="+mj-lt"/>
              </a:rPr>
              <a:t> </a:t>
            </a:r>
            <a:r>
              <a:rPr lang="en-GB" sz="2400" dirty="0">
                <a:solidFill>
                  <a:schemeClr val="tx1"/>
                </a:solidFill>
                <a:latin typeface="+mj-lt"/>
              </a:rPr>
              <a:t>countermeasures </a:t>
            </a:r>
            <a:br>
              <a:rPr lang="en-GB" sz="2400" dirty="0">
                <a:solidFill>
                  <a:schemeClr val="tx1"/>
                </a:solidFill>
                <a:latin typeface="+mj-lt"/>
              </a:rPr>
            </a:br>
            <a:r>
              <a:rPr lang="en-GB" sz="2400" dirty="0">
                <a:solidFill>
                  <a:schemeClr val="tx1"/>
                </a:solidFill>
                <a:latin typeface="+mj-lt"/>
              </a:rPr>
              <a:t>have lower performance overheads</a:t>
            </a:r>
            <a:endParaRPr lang="en-US" sz="2400" b="1" dirty="0">
              <a:solidFill>
                <a:schemeClr val="tx1"/>
              </a:solidFill>
              <a:latin typeface="+mj-lt"/>
            </a:endParaRPr>
          </a:p>
        </p:txBody>
      </p:sp>
      <p:grpSp>
        <p:nvGrpSpPr>
          <p:cNvPr id="25" name="Group 24">
            <a:extLst>
              <a:ext uri="{FF2B5EF4-FFF2-40B4-BE49-F238E27FC236}">
                <a16:creationId xmlns:a16="http://schemas.microsoft.com/office/drawing/2014/main" id="{DCC3DA2F-9FF9-DAE9-1E9D-A1CFA1A35F69}"/>
              </a:ext>
            </a:extLst>
          </p:cNvPr>
          <p:cNvGrpSpPr/>
          <p:nvPr/>
        </p:nvGrpSpPr>
        <p:grpSpPr>
          <a:xfrm>
            <a:off x="3474136" y="1358951"/>
            <a:ext cx="2209414" cy="870519"/>
            <a:chOff x="4153755" y="1334237"/>
            <a:chExt cx="2209414" cy="870519"/>
          </a:xfrm>
        </p:grpSpPr>
        <p:sp>
          <p:nvSpPr>
            <p:cNvPr id="26" name="TextBox 25">
              <a:extLst>
                <a:ext uri="{FF2B5EF4-FFF2-40B4-BE49-F238E27FC236}">
                  <a16:creationId xmlns:a16="http://schemas.microsoft.com/office/drawing/2014/main" id="{9FCE6D7A-038C-428E-407E-FD37EA15CC77}"/>
                </a:ext>
              </a:extLst>
            </p:cNvPr>
            <p:cNvSpPr txBox="1"/>
            <p:nvPr/>
          </p:nvSpPr>
          <p:spPr>
            <a:xfrm>
              <a:off x="4153755" y="1334237"/>
              <a:ext cx="2209414" cy="646331"/>
            </a:xfrm>
            <a:prstGeom prst="rect">
              <a:avLst/>
            </a:prstGeom>
            <a:noFill/>
          </p:spPr>
          <p:txBody>
            <a:bodyPr wrap="square" rtlCol="0">
              <a:spAutoFit/>
            </a:bodyPr>
            <a:lstStyle/>
            <a:p>
              <a:pPr algn="ctr"/>
              <a:r>
                <a:rPr lang="en-US" i="1" dirty="0">
                  <a:solidFill>
                    <a:srgbClr val="F23F00"/>
                  </a:solidFill>
                </a:rPr>
                <a:t>reduces</a:t>
              </a:r>
              <a:br>
                <a:rPr lang="en-US" i="1" dirty="0">
                  <a:solidFill>
                    <a:srgbClr val="F23F00"/>
                  </a:solidFill>
                </a:rPr>
              </a:br>
              <a:r>
                <a:rPr lang="en-US" i="1" dirty="0">
                  <a:solidFill>
                    <a:srgbClr val="F23F00"/>
                  </a:solidFill>
                </a:rPr>
                <a:t>the capacity by 86%</a:t>
              </a:r>
            </a:p>
          </p:txBody>
        </p:sp>
        <p:sp>
          <p:nvSpPr>
            <p:cNvPr id="27" name="Rectangle 26">
              <a:extLst>
                <a:ext uri="{FF2B5EF4-FFF2-40B4-BE49-F238E27FC236}">
                  <a16:creationId xmlns:a16="http://schemas.microsoft.com/office/drawing/2014/main" id="{2F2A260F-01A4-9F53-2557-672821D93E71}"/>
                </a:ext>
              </a:extLst>
            </p:cNvPr>
            <p:cNvSpPr/>
            <p:nvPr/>
          </p:nvSpPr>
          <p:spPr>
            <a:xfrm>
              <a:off x="4310331" y="1975449"/>
              <a:ext cx="1853243" cy="229307"/>
            </a:xfrm>
            <a:prstGeom prst="rect">
              <a:avLst/>
            </a:prstGeom>
            <a:noFill/>
            <a:ln w="28575">
              <a:solidFill>
                <a:srgbClr val="F23F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554999A7-7AC0-F376-B1AA-5112EFDF6C53}"/>
              </a:ext>
            </a:extLst>
          </p:cNvPr>
          <p:cNvGrpSpPr/>
          <p:nvPr/>
        </p:nvGrpSpPr>
        <p:grpSpPr>
          <a:xfrm>
            <a:off x="5365582" y="1365482"/>
            <a:ext cx="2041586" cy="863988"/>
            <a:chOff x="4047335" y="1340768"/>
            <a:chExt cx="2041586" cy="863988"/>
          </a:xfrm>
        </p:grpSpPr>
        <p:sp>
          <p:nvSpPr>
            <p:cNvPr id="29" name="TextBox 28">
              <a:extLst>
                <a:ext uri="{FF2B5EF4-FFF2-40B4-BE49-F238E27FC236}">
                  <a16:creationId xmlns:a16="http://schemas.microsoft.com/office/drawing/2014/main" id="{07CBE706-0FB8-4EC6-EFF2-EFC0073328DC}"/>
                </a:ext>
              </a:extLst>
            </p:cNvPr>
            <p:cNvSpPr txBox="1"/>
            <p:nvPr/>
          </p:nvSpPr>
          <p:spPr>
            <a:xfrm>
              <a:off x="4047335" y="1340768"/>
              <a:ext cx="2041586" cy="646331"/>
            </a:xfrm>
            <a:prstGeom prst="rect">
              <a:avLst/>
            </a:prstGeom>
            <a:noFill/>
          </p:spPr>
          <p:txBody>
            <a:bodyPr wrap="square" rtlCol="0">
              <a:spAutoFit/>
            </a:bodyPr>
            <a:lstStyle/>
            <a:p>
              <a:pPr algn="ctr"/>
              <a:r>
                <a:rPr lang="en-US" i="1" dirty="0">
                  <a:solidFill>
                    <a:schemeClr val="accent6">
                      <a:lumMod val="75000"/>
                    </a:schemeClr>
                  </a:solidFill>
                </a:rPr>
                <a:t>secure against </a:t>
              </a:r>
              <a:r>
                <a:rPr lang="en-US" i="1" dirty="0" err="1">
                  <a:solidFill>
                    <a:schemeClr val="accent6">
                      <a:lumMod val="75000"/>
                    </a:schemeClr>
                  </a:solidFill>
                </a:rPr>
                <a:t>LeakyHammer</a:t>
              </a:r>
              <a:endParaRPr lang="en-US" i="1" dirty="0">
                <a:solidFill>
                  <a:schemeClr val="accent6">
                    <a:lumMod val="75000"/>
                  </a:schemeClr>
                </a:solidFill>
              </a:endParaRPr>
            </a:p>
          </p:txBody>
        </p:sp>
        <p:sp>
          <p:nvSpPr>
            <p:cNvPr id="30" name="Rectangle 29">
              <a:extLst>
                <a:ext uri="{FF2B5EF4-FFF2-40B4-BE49-F238E27FC236}">
                  <a16:creationId xmlns:a16="http://schemas.microsoft.com/office/drawing/2014/main" id="{9AAEFAAA-AED6-333C-D1EB-BE6A2A375110}"/>
                </a:ext>
              </a:extLst>
            </p:cNvPr>
            <p:cNvSpPr/>
            <p:nvPr/>
          </p:nvSpPr>
          <p:spPr>
            <a:xfrm>
              <a:off x="4310331" y="1975450"/>
              <a:ext cx="1504303" cy="229306"/>
            </a:xfrm>
            <a:prstGeom prst="rect">
              <a:avLst/>
            </a:prstGeom>
            <a:noFill/>
            <a:ln w="28575">
              <a:solidFill>
                <a:schemeClr val="accent6">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5A4445A9-23CC-4D5F-D153-08ADA08DCFB9}"/>
              </a:ext>
            </a:extLst>
          </p:cNvPr>
          <p:cNvGrpSpPr/>
          <p:nvPr/>
        </p:nvGrpSpPr>
        <p:grpSpPr>
          <a:xfrm>
            <a:off x="7155012" y="1365482"/>
            <a:ext cx="2041586" cy="863964"/>
            <a:chOff x="4047335" y="1340768"/>
            <a:chExt cx="2041586" cy="863964"/>
          </a:xfrm>
        </p:grpSpPr>
        <p:sp>
          <p:nvSpPr>
            <p:cNvPr id="21" name="TextBox 20">
              <a:extLst>
                <a:ext uri="{FF2B5EF4-FFF2-40B4-BE49-F238E27FC236}">
                  <a16:creationId xmlns:a16="http://schemas.microsoft.com/office/drawing/2014/main" id="{ACEFE1D8-4279-210D-AD0A-D92214D37FC9}"/>
                </a:ext>
              </a:extLst>
            </p:cNvPr>
            <p:cNvSpPr txBox="1"/>
            <p:nvPr/>
          </p:nvSpPr>
          <p:spPr>
            <a:xfrm>
              <a:off x="4047335" y="1340768"/>
              <a:ext cx="2041586" cy="646331"/>
            </a:xfrm>
            <a:prstGeom prst="rect">
              <a:avLst/>
            </a:prstGeom>
            <a:noFill/>
          </p:spPr>
          <p:txBody>
            <a:bodyPr wrap="square" rtlCol="0">
              <a:spAutoFit/>
            </a:bodyPr>
            <a:lstStyle/>
            <a:p>
              <a:pPr algn="ctr"/>
              <a:r>
                <a:rPr lang="en-US" i="1" dirty="0">
                  <a:solidFill>
                    <a:srgbClr val="7A62E7"/>
                  </a:solidFill>
                </a:rPr>
                <a:t>limits</a:t>
              </a:r>
              <a:br>
                <a:rPr lang="en-US" i="1" dirty="0">
                  <a:solidFill>
                    <a:srgbClr val="7A62E7"/>
                  </a:solidFill>
                </a:rPr>
              </a:br>
              <a:r>
                <a:rPr lang="en-US" i="1" dirty="0">
                  <a:solidFill>
                    <a:srgbClr val="7A62E7"/>
                  </a:solidFill>
                </a:rPr>
                <a:t>the attack scope</a:t>
              </a:r>
            </a:p>
          </p:txBody>
        </p:sp>
        <p:sp>
          <p:nvSpPr>
            <p:cNvPr id="33" name="Rectangle 32">
              <a:extLst>
                <a:ext uri="{FF2B5EF4-FFF2-40B4-BE49-F238E27FC236}">
                  <a16:creationId xmlns:a16="http://schemas.microsoft.com/office/drawing/2014/main" id="{D070EFC2-6FA6-4B5D-AB7A-7CF54445F4A1}"/>
                </a:ext>
              </a:extLst>
            </p:cNvPr>
            <p:cNvSpPr/>
            <p:nvPr/>
          </p:nvSpPr>
          <p:spPr>
            <a:xfrm>
              <a:off x="4273260" y="1975450"/>
              <a:ext cx="1618980" cy="229282"/>
            </a:xfrm>
            <a:prstGeom prst="rect">
              <a:avLst/>
            </a:prstGeom>
            <a:noFill/>
            <a:ln w="28575">
              <a:solidFill>
                <a:srgbClr val="7A62E7"/>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val 6">
            <a:extLst>
              <a:ext uri="{FF2B5EF4-FFF2-40B4-BE49-F238E27FC236}">
                <a16:creationId xmlns:a16="http://schemas.microsoft.com/office/drawing/2014/main" id="{467CA92F-0D69-B5D2-CC88-02F06B1427F4}"/>
              </a:ext>
            </a:extLst>
          </p:cNvPr>
          <p:cNvSpPr/>
          <p:nvPr/>
        </p:nvSpPr>
        <p:spPr>
          <a:xfrm>
            <a:off x="2080591" y="2425148"/>
            <a:ext cx="424070" cy="4559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6AD28E3-66B9-A930-6751-5F7AA18D2637}"/>
              </a:ext>
            </a:extLst>
          </p:cNvPr>
          <p:cNvSpPr/>
          <p:nvPr/>
        </p:nvSpPr>
        <p:spPr>
          <a:xfrm>
            <a:off x="3537231" y="2408245"/>
            <a:ext cx="424070" cy="4559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E05FA3E-8434-A64E-BE43-19764A217388}"/>
              </a:ext>
            </a:extLst>
          </p:cNvPr>
          <p:cNvSpPr/>
          <p:nvPr/>
        </p:nvSpPr>
        <p:spPr>
          <a:xfrm>
            <a:off x="7978392" y="3726094"/>
            <a:ext cx="424070" cy="4559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3A268EB-693F-3570-8A89-3E502538BE18}"/>
              </a:ext>
            </a:extLst>
          </p:cNvPr>
          <p:cNvSpPr/>
          <p:nvPr/>
        </p:nvSpPr>
        <p:spPr>
          <a:xfrm>
            <a:off x="6500775" y="3082306"/>
            <a:ext cx="424070" cy="4559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AB5E267-2124-0269-81F2-D9F15531BCFF}"/>
              </a:ext>
            </a:extLst>
          </p:cNvPr>
          <p:cNvSpPr/>
          <p:nvPr/>
        </p:nvSpPr>
        <p:spPr>
          <a:xfrm>
            <a:off x="5038141" y="2633966"/>
            <a:ext cx="424070" cy="4559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7738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6A456C-DB60-526D-756B-8971CBDAB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FE0CF-CC52-1196-AF75-A7D1D23CCB98}"/>
              </a:ext>
            </a:extLst>
          </p:cNvPr>
          <p:cNvSpPr>
            <a:spLocks noGrp="1"/>
          </p:cNvSpPr>
          <p:nvPr>
            <p:ph type="title"/>
          </p:nvPr>
        </p:nvSpPr>
        <p:spPr/>
        <p:txBody>
          <a:bodyPr/>
          <a:lstStyle/>
          <a:p>
            <a:r>
              <a:rPr lang="en-US" dirty="0"/>
              <a:t>More in the Paper</a:t>
            </a:r>
          </a:p>
        </p:txBody>
      </p:sp>
      <p:sp>
        <p:nvSpPr>
          <p:cNvPr id="3" name="Content Placeholder 2">
            <a:extLst>
              <a:ext uri="{FF2B5EF4-FFF2-40B4-BE49-F238E27FC236}">
                <a16:creationId xmlns:a16="http://schemas.microsoft.com/office/drawing/2014/main" id="{2EFD2D73-B575-B5F4-5971-AE9F5E1A3E00}"/>
              </a:ext>
            </a:extLst>
          </p:cNvPr>
          <p:cNvSpPr>
            <a:spLocks noGrp="1"/>
          </p:cNvSpPr>
          <p:nvPr>
            <p:ph idx="1"/>
          </p:nvPr>
        </p:nvSpPr>
        <p:spPr>
          <a:xfrm>
            <a:off x="133004" y="1088967"/>
            <a:ext cx="9010994" cy="5306390"/>
          </a:xfrm>
        </p:spPr>
        <p:txBody>
          <a:bodyPr>
            <a:normAutofit lnSpcReduction="10000"/>
          </a:bodyPr>
          <a:lstStyle/>
          <a:p>
            <a:r>
              <a:rPr lang="en-US" dirty="0">
                <a:solidFill>
                  <a:srgbClr val="B3195F"/>
                </a:solidFill>
              </a:rPr>
              <a:t>More details of </a:t>
            </a:r>
            <a:r>
              <a:rPr lang="en-US" dirty="0" err="1">
                <a:solidFill>
                  <a:srgbClr val="B3195F"/>
                </a:solidFill>
              </a:rPr>
              <a:t>LeakyHammer</a:t>
            </a:r>
            <a:endParaRPr lang="en-US" dirty="0">
              <a:solidFill>
                <a:srgbClr val="B3195F"/>
              </a:solidFill>
            </a:endParaRPr>
          </a:p>
          <a:p>
            <a:pPr lvl="1"/>
            <a:r>
              <a:rPr lang="en-US" dirty="0">
                <a:solidFill>
                  <a:srgbClr val="B3195F"/>
                </a:solidFill>
              </a:rPr>
              <a:t>Operational details on case studies </a:t>
            </a:r>
            <a:br>
              <a:rPr lang="en-US" dirty="0">
                <a:solidFill>
                  <a:srgbClr val="B3195F"/>
                </a:solidFill>
              </a:rPr>
            </a:br>
            <a:r>
              <a:rPr lang="en-US" dirty="0">
                <a:solidFill>
                  <a:srgbClr val="B3195F"/>
                </a:solidFill>
              </a:rPr>
              <a:t>(e.g., RFM-based covert channel)</a:t>
            </a:r>
          </a:p>
          <a:p>
            <a:pPr lvl="1"/>
            <a:r>
              <a:rPr lang="en-US" dirty="0">
                <a:solidFill>
                  <a:srgbClr val="B3195F"/>
                </a:solidFill>
              </a:rPr>
              <a:t>Multibit </a:t>
            </a:r>
            <a:r>
              <a:rPr lang="en-US" dirty="0" err="1">
                <a:solidFill>
                  <a:srgbClr val="B3195F"/>
                </a:solidFill>
              </a:rPr>
              <a:t>LeakyHammer</a:t>
            </a:r>
            <a:r>
              <a:rPr lang="en-US" dirty="0">
                <a:solidFill>
                  <a:srgbClr val="B3195F"/>
                </a:solidFill>
              </a:rPr>
              <a:t> covert channels</a:t>
            </a:r>
          </a:p>
          <a:p>
            <a:pPr lvl="1"/>
            <a:r>
              <a:rPr lang="en-US" dirty="0" err="1">
                <a:solidFill>
                  <a:srgbClr val="B3195F"/>
                </a:solidFill>
              </a:rPr>
              <a:t>LeakyHammer</a:t>
            </a:r>
            <a:r>
              <a:rPr lang="en-US" dirty="0">
                <a:solidFill>
                  <a:srgbClr val="B3195F"/>
                </a:solidFill>
              </a:rPr>
              <a:t> countermeasures</a:t>
            </a:r>
          </a:p>
          <a:p>
            <a:pPr lvl="1"/>
            <a:endParaRPr lang="en-US" dirty="0">
              <a:solidFill>
                <a:srgbClr val="FF5F25"/>
              </a:solidFill>
            </a:endParaRPr>
          </a:p>
          <a:p>
            <a:r>
              <a:rPr lang="en-US" dirty="0">
                <a:solidFill>
                  <a:srgbClr val="F23F00"/>
                </a:solidFill>
              </a:rPr>
              <a:t>More results and analyses</a:t>
            </a:r>
          </a:p>
          <a:p>
            <a:pPr lvl="1"/>
            <a:r>
              <a:rPr lang="en-US" dirty="0" err="1">
                <a:solidFill>
                  <a:srgbClr val="F23F00"/>
                </a:solidFill>
              </a:rPr>
              <a:t>LeakyHammer</a:t>
            </a:r>
            <a:r>
              <a:rPr lang="en-US" dirty="0">
                <a:solidFill>
                  <a:srgbClr val="F23F00"/>
                </a:solidFill>
              </a:rPr>
              <a:t> with other </a:t>
            </a:r>
            <a:r>
              <a:rPr lang="en-US" dirty="0" err="1">
                <a:solidFill>
                  <a:srgbClr val="F23F00"/>
                </a:solidFill>
              </a:rPr>
              <a:t>RowHammer</a:t>
            </a:r>
            <a:r>
              <a:rPr lang="en-US" dirty="0">
                <a:solidFill>
                  <a:srgbClr val="F23F00"/>
                </a:solidFill>
              </a:rPr>
              <a:t> mitigations</a:t>
            </a:r>
          </a:p>
          <a:p>
            <a:pPr lvl="1"/>
            <a:r>
              <a:rPr lang="en-US" dirty="0">
                <a:solidFill>
                  <a:srgbClr val="F23F00"/>
                </a:solidFill>
              </a:rPr>
              <a:t>Impact of real workloads on </a:t>
            </a:r>
            <a:r>
              <a:rPr lang="en-US" dirty="0" err="1">
                <a:solidFill>
                  <a:srgbClr val="F23F00"/>
                </a:solidFill>
              </a:rPr>
              <a:t>LeakyHammer</a:t>
            </a:r>
            <a:endParaRPr lang="en-US" dirty="0">
              <a:solidFill>
                <a:srgbClr val="F23F00"/>
              </a:solidFill>
            </a:endParaRPr>
          </a:p>
          <a:p>
            <a:pPr lvl="1"/>
            <a:r>
              <a:rPr lang="en-US" dirty="0">
                <a:solidFill>
                  <a:srgbClr val="F23F00"/>
                </a:solidFill>
              </a:rPr>
              <a:t>Sensitivity of PRAC-based covert channel </a:t>
            </a:r>
          </a:p>
          <a:p>
            <a:pPr lvl="2"/>
            <a:r>
              <a:rPr lang="en-US" dirty="0">
                <a:solidFill>
                  <a:srgbClr val="F23F00"/>
                </a:solidFill>
              </a:rPr>
              <a:t>Impact of RFM commands per back-off, </a:t>
            </a:r>
            <a:r>
              <a:rPr lang="en-US" dirty="0" err="1">
                <a:solidFill>
                  <a:srgbClr val="F23F00"/>
                </a:solidFill>
              </a:rPr>
              <a:t>RowHammer</a:t>
            </a:r>
            <a:r>
              <a:rPr lang="en-US" dirty="0">
                <a:solidFill>
                  <a:srgbClr val="F23F00"/>
                </a:solidFill>
              </a:rPr>
              <a:t> defense latency, larger cache hierarchy and data prefetchers </a:t>
            </a:r>
          </a:p>
          <a:p>
            <a:pPr lvl="1"/>
            <a:r>
              <a:rPr lang="en-US" dirty="0">
                <a:solidFill>
                  <a:srgbClr val="F23F00"/>
                </a:solidFill>
              </a:rPr>
              <a:t>Comparison against existing cache and memory-based timing channels</a:t>
            </a:r>
          </a:p>
        </p:txBody>
      </p:sp>
      <p:sp>
        <p:nvSpPr>
          <p:cNvPr id="4" name="Footer Placeholder 3">
            <a:extLst>
              <a:ext uri="{FF2B5EF4-FFF2-40B4-BE49-F238E27FC236}">
                <a16:creationId xmlns:a16="http://schemas.microsoft.com/office/drawing/2014/main" id="{F1E9F785-F0CD-045C-B689-A15333CA78F4}"/>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E9F3A726-98D3-CB70-BA40-75700F28772F}"/>
              </a:ext>
            </a:extLst>
          </p:cNvPr>
          <p:cNvSpPr>
            <a:spLocks noGrp="1"/>
          </p:cNvSpPr>
          <p:nvPr>
            <p:ph type="sldNum" sz="quarter" idx="12"/>
          </p:nvPr>
        </p:nvSpPr>
        <p:spPr/>
        <p:txBody>
          <a:bodyPr/>
          <a:lstStyle/>
          <a:p>
            <a:fld id="{CBE5B309-C2CE-4D90-B104-F7E98438FC65}" type="slidenum">
              <a:rPr lang="tr-TR" smtClean="0"/>
              <a:pPr/>
              <a:t>83</a:t>
            </a:fld>
            <a:endParaRPr lang="tr-TR" dirty="0"/>
          </a:p>
        </p:txBody>
      </p:sp>
    </p:spTree>
    <p:extLst>
      <p:ext uri="{BB962C8B-B14F-4D97-AF65-F5344CB8AC3E}">
        <p14:creationId xmlns:p14="http://schemas.microsoft.com/office/powerpoint/2010/main" val="36302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6BB-D572-7DDA-1EE8-9A54224C8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B571F-13A1-628E-1BC4-64E9769E3A3D}"/>
              </a:ext>
            </a:extLst>
          </p:cNvPr>
          <p:cNvSpPr>
            <a:spLocks noGrp="1"/>
          </p:cNvSpPr>
          <p:nvPr>
            <p:ph type="title"/>
          </p:nvPr>
        </p:nvSpPr>
        <p:spPr/>
        <p:txBody>
          <a:bodyPr/>
          <a:lstStyle/>
          <a:p>
            <a:r>
              <a:rPr lang="en-US" dirty="0"/>
              <a:t>More in the Paper</a:t>
            </a:r>
          </a:p>
        </p:txBody>
      </p:sp>
      <p:sp>
        <p:nvSpPr>
          <p:cNvPr id="3" name="Content Placeholder 2">
            <a:extLst>
              <a:ext uri="{FF2B5EF4-FFF2-40B4-BE49-F238E27FC236}">
                <a16:creationId xmlns:a16="http://schemas.microsoft.com/office/drawing/2014/main" id="{61FA17E7-0DAC-40CA-820F-B4971AB97EC9}"/>
              </a:ext>
            </a:extLst>
          </p:cNvPr>
          <p:cNvSpPr>
            <a:spLocks noGrp="1"/>
          </p:cNvSpPr>
          <p:nvPr>
            <p:ph idx="1"/>
          </p:nvPr>
        </p:nvSpPr>
        <p:spPr>
          <a:xfrm>
            <a:off x="133004" y="1088967"/>
            <a:ext cx="9010994" cy="5306390"/>
          </a:xfrm>
        </p:spPr>
        <p:txBody>
          <a:bodyPr>
            <a:normAutofit lnSpcReduction="10000"/>
          </a:bodyPr>
          <a:lstStyle/>
          <a:p>
            <a:r>
              <a:rPr lang="en-US" dirty="0">
                <a:solidFill>
                  <a:srgbClr val="00B050"/>
                </a:solidFill>
              </a:rPr>
              <a:t>More details of </a:t>
            </a:r>
            <a:r>
              <a:rPr lang="en-US" dirty="0" err="1">
                <a:solidFill>
                  <a:srgbClr val="00B050"/>
                </a:solidFill>
              </a:rPr>
              <a:t>LeakyHammer</a:t>
            </a:r>
            <a:endParaRPr lang="en-US" dirty="0">
              <a:solidFill>
                <a:srgbClr val="00B050"/>
              </a:solidFill>
            </a:endParaRPr>
          </a:p>
          <a:p>
            <a:pPr lvl="1"/>
            <a:r>
              <a:rPr lang="en-US" dirty="0">
                <a:solidFill>
                  <a:srgbClr val="00B050"/>
                </a:solidFill>
              </a:rPr>
              <a:t>Operational details on case studies </a:t>
            </a:r>
            <a:br>
              <a:rPr lang="en-US" dirty="0">
                <a:solidFill>
                  <a:srgbClr val="00B050"/>
                </a:solidFill>
              </a:rPr>
            </a:br>
            <a:r>
              <a:rPr lang="en-US" dirty="0">
                <a:solidFill>
                  <a:srgbClr val="00B050"/>
                </a:solidFill>
              </a:rPr>
              <a:t>(e.g., RFM-based covert channel)</a:t>
            </a:r>
          </a:p>
          <a:p>
            <a:pPr lvl="1"/>
            <a:r>
              <a:rPr lang="en-US" dirty="0">
                <a:solidFill>
                  <a:srgbClr val="00B050"/>
                </a:solidFill>
              </a:rPr>
              <a:t>Multibit </a:t>
            </a:r>
            <a:r>
              <a:rPr lang="en-US" dirty="0" err="1">
                <a:solidFill>
                  <a:srgbClr val="00B050"/>
                </a:solidFill>
              </a:rPr>
              <a:t>LeakyHammer</a:t>
            </a:r>
            <a:r>
              <a:rPr lang="en-US" dirty="0">
                <a:solidFill>
                  <a:srgbClr val="00B050"/>
                </a:solidFill>
              </a:rPr>
              <a:t> covert channels</a:t>
            </a:r>
          </a:p>
          <a:p>
            <a:pPr lvl="1"/>
            <a:r>
              <a:rPr lang="en-US" dirty="0" err="1">
                <a:solidFill>
                  <a:srgbClr val="00B050"/>
                </a:solidFill>
              </a:rPr>
              <a:t>LeakyHammer</a:t>
            </a:r>
            <a:r>
              <a:rPr lang="en-US" dirty="0">
                <a:solidFill>
                  <a:srgbClr val="00B050"/>
                </a:solidFill>
              </a:rPr>
              <a:t> countermeasures</a:t>
            </a:r>
          </a:p>
          <a:p>
            <a:pPr lvl="1"/>
            <a:endParaRPr lang="en-US" dirty="0">
              <a:solidFill>
                <a:srgbClr val="FF5F25"/>
              </a:solidFill>
            </a:endParaRPr>
          </a:p>
          <a:p>
            <a:r>
              <a:rPr lang="en-US" dirty="0">
                <a:solidFill>
                  <a:srgbClr val="6D40DC"/>
                </a:solidFill>
              </a:rPr>
              <a:t>More results and analyses</a:t>
            </a:r>
          </a:p>
          <a:p>
            <a:pPr lvl="1"/>
            <a:r>
              <a:rPr lang="en-US" dirty="0">
                <a:solidFill>
                  <a:srgbClr val="6D40DC"/>
                </a:solidFill>
              </a:rPr>
              <a:t>Analysis of </a:t>
            </a:r>
            <a:r>
              <a:rPr lang="en-US" dirty="0" err="1">
                <a:solidFill>
                  <a:srgbClr val="6D40DC"/>
                </a:solidFill>
              </a:rPr>
              <a:t>LeakyHammer</a:t>
            </a:r>
            <a:r>
              <a:rPr lang="en-US" dirty="0">
                <a:solidFill>
                  <a:srgbClr val="6D40DC"/>
                </a:solidFill>
              </a:rPr>
              <a:t> with other </a:t>
            </a:r>
            <a:r>
              <a:rPr lang="en-US" dirty="0" err="1">
                <a:solidFill>
                  <a:srgbClr val="6D40DC"/>
                </a:solidFill>
              </a:rPr>
              <a:t>RowHammer</a:t>
            </a:r>
            <a:r>
              <a:rPr lang="en-US" dirty="0">
                <a:solidFill>
                  <a:srgbClr val="6D40DC"/>
                </a:solidFill>
              </a:rPr>
              <a:t> mitigations</a:t>
            </a:r>
          </a:p>
          <a:p>
            <a:pPr lvl="1"/>
            <a:r>
              <a:rPr lang="en-US" dirty="0">
                <a:solidFill>
                  <a:srgbClr val="6D40DC"/>
                </a:solidFill>
              </a:rPr>
              <a:t>The impact of real workloads on </a:t>
            </a:r>
            <a:r>
              <a:rPr lang="en-US" dirty="0" err="1">
                <a:solidFill>
                  <a:srgbClr val="6D40DC"/>
                </a:solidFill>
              </a:rPr>
              <a:t>LeakyHammer</a:t>
            </a:r>
            <a:endParaRPr lang="en-US" dirty="0">
              <a:solidFill>
                <a:srgbClr val="6D40DC"/>
              </a:solidFill>
            </a:endParaRPr>
          </a:p>
          <a:p>
            <a:pPr lvl="1"/>
            <a:r>
              <a:rPr lang="en-US" dirty="0">
                <a:solidFill>
                  <a:srgbClr val="6D40DC"/>
                </a:solidFill>
              </a:rPr>
              <a:t>Sensitivity of PRAC-based covert channel </a:t>
            </a:r>
          </a:p>
          <a:p>
            <a:pPr lvl="2"/>
            <a:r>
              <a:rPr lang="en-US" dirty="0">
                <a:solidFill>
                  <a:srgbClr val="6D40DC"/>
                </a:solidFill>
              </a:rPr>
              <a:t>The impact of RFM commands per back-off, </a:t>
            </a:r>
            <a:r>
              <a:rPr lang="en-US" dirty="0" err="1">
                <a:solidFill>
                  <a:srgbClr val="6D40DC"/>
                </a:solidFill>
              </a:rPr>
              <a:t>RowHammer</a:t>
            </a:r>
            <a:r>
              <a:rPr lang="en-US" dirty="0">
                <a:solidFill>
                  <a:srgbClr val="6D40DC"/>
                </a:solidFill>
              </a:rPr>
              <a:t> defense latency, larger cache hierarchy and data prefetchers </a:t>
            </a:r>
          </a:p>
          <a:p>
            <a:pPr lvl="1"/>
            <a:r>
              <a:rPr lang="en-US" dirty="0">
                <a:solidFill>
                  <a:srgbClr val="6D40DC"/>
                </a:solidFill>
              </a:rPr>
              <a:t>Comparison against existing cache and memory-based timing channels</a:t>
            </a:r>
          </a:p>
        </p:txBody>
      </p:sp>
      <p:sp>
        <p:nvSpPr>
          <p:cNvPr id="4" name="Footer Placeholder 3">
            <a:extLst>
              <a:ext uri="{FF2B5EF4-FFF2-40B4-BE49-F238E27FC236}">
                <a16:creationId xmlns:a16="http://schemas.microsoft.com/office/drawing/2014/main" id="{BBAF89E5-2B02-E250-8217-914699B98984}"/>
              </a:ext>
            </a:extLst>
          </p:cNvPr>
          <p:cNvSpPr>
            <a:spLocks noGrp="1"/>
          </p:cNvSpPr>
          <p:nvPr>
            <p:ph type="ftr" sz="quarter" idx="11"/>
          </p:nvPr>
        </p:nvSpPr>
        <p:spPr/>
        <p:txBody>
          <a:bodyPr/>
          <a:lstStyle/>
          <a:p>
            <a:endParaRPr lang="tr-TR" dirty="0"/>
          </a:p>
        </p:txBody>
      </p:sp>
      <p:sp>
        <p:nvSpPr>
          <p:cNvPr id="5" name="Slide Number Placeholder 4">
            <a:extLst>
              <a:ext uri="{FF2B5EF4-FFF2-40B4-BE49-F238E27FC236}">
                <a16:creationId xmlns:a16="http://schemas.microsoft.com/office/drawing/2014/main" id="{963FCEDD-76FB-F2EE-8EB0-47F217E5A89C}"/>
              </a:ext>
            </a:extLst>
          </p:cNvPr>
          <p:cNvSpPr>
            <a:spLocks noGrp="1"/>
          </p:cNvSpPr>
          <p:nvPr>
            <p:ph type="sldNum" sz="quarter" idx="12"/>
          </p:nvPr>
        </p:nvSpPr>
        <p:spPr/>
        <p:txBody>
          <a:bodyPr/>
          <a:lstStyle/>
          <a:p>
            <a:fld id="{CBE5B309-C2CE-4D90-B104-F7E98438FC65}" type="slidenum">
              <a:rPr lang="tr-TR" smtClean="0"/>
              <a:pPr/>
              <a:t>84</a:t>
            </a:fld>
            <a:endParaRPr lang="tr-TR" dirty="0"/>
          </a:p>
        </p:txBody>
      </p:sp>
      <p:sp>
        <p:nvSpPr>
          <p:cNvPr id="6" name="Rectangle 5">
            <a:extLst>
              <a:ext uri="{FF2B5EF4-FFF2-40B4-BE49-F238E27FC236}">
                <a16:creationId xmlns:a16="http://schemas.microsoft.com/office/drawing/2014/main" id="{D3F6B43A-9243-D24E-D179-EF0E9AFA7226}"/>
              </a:ext>
            </a:extLst>
          </p:cNvPr>
          <p:cNvSpPr/>
          <p:nvPr/>
        </p:nvSpPr>
        <p:spPr>
          <a:xfrm>
            <a:off x="-190500" y="1088967"/>
            <a:ext cx="10039350" cy="5235632"/>
          </a:xfrm>
          <a:prstGeom prst="rect">
            <a:avLst/>
          </a:prstGeom>
          <a:solidFill>
            <a:schemeClr val="bg1">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etin kutusu 6">
            <a:extLst>
              <a:ext uri="{FF2B5EF4-FFF2-40B4-BE49-F238E27FC236}">
                <a16:creationId xmlns:a16="http://schemas.microsoft.com/office/drawing/2014/main" id="{BAF27861-BB23-C368-0576-CB43E97BFAE0}"/>
              </a:ext>
            </a:extLst>
          </p:cNvPr>
          <p:cNvSpPr txBox="1"/>
          <p:nvPr/>
        </p:nvSpPr>
        <p:spPr>
          <a:xfrm>
            <a:off x="1582991" y="5758562"/>
            <a:ext cx="5978013" cy="461665"/>
          </a:xfrm>
          <a:prstGeom prst="rect">
            <a:avLst/>
          </a:prstGeom>
          <a:noFill/>
        </p:spPr>
        <p:txBody>
          <a:bodyPr wrap="square" rtlCol="0">
            <a:spAutoFit/>
          </a:bodyPr>
          <a:lstStyle/>
          <a:p>
            <a:pPr algn="ctr"/>
            <a:r>
              <a:rPr lang="tr-TR" sz="2400" u="sng" dirty="0">
                <a:solidFill>
                  <a:srgbClr val="0563C1"/>
                </a:solidFill>
                <a:latin typeface="Tahoma" panose="020B0604030504040204" pitchFamily="34" charset="0"/>
                <a:ea typeface="Tahoma" panose="020B0604030504040204" pitchFamily="34" charset="0"/>
                <a:cs typeface="Tahoma" panose="020B0604030504040204" pitchFamily="34" charset="0"/>
              </a:rPr>
              <a:t>https://arxiv.org/</a:t>
            </a:r>
            <a:r>
              <a:rPr lang="en-US" sz="2400" u="sng" dirty="0">
                <a:solidFill>
                  <a:srgbClr val="0563C1"/>
                </a:solidFill>
                <a:latin typeface="Tahoma" panose="020B0604030504040204" pitchFamily="34" charset="0"/>
                <a:ea typeface="Tahoma" panose="020B0604030504040204" pitchFamily="34" charset="0"/>
                <a:cs typeface="Tahoma" panose="020B0604030504040204" pitchFamily="34" charset="0"/>
              </a:rPr>
              <a:t>abs</a:t>
            </a:r>
            <a:r>
              <a:rPr lang="tr-TR" sz="2400" u="sng" dirty="0">
                <a:solidFill>
                  <a:srgbClr val="0563C1"/>
                </a:solidFill>
                <a:latin typeface="Tahoma" panose="020B0604030504040204" pitchFamily="34" charset="0"/>
                <a:ea typeface="Tahoma" panose="020B0604030504040204" pitchFamily="34" charset="0"/>
                <a:cs typeface="Tahoma" panose="020B0604030504040204" pitchFamily="34" charset="0"/>
              </a:rPr>
              <a:t>/2503.17891</a:t>
            </a:r>
          </a:p>
        </p:txBody>
      </p:sp>
      <p:pic>
        <p:nvPicPr>
          <p:cNvPr id="10" name="Picture 9" descr="A close-up of a newspaper&#10;&#10;AI-generated content may be incorrect.">
            <a:extLst>
              <a:ext uri="{FF2B5EF4-FFF2-40B4-BE49-F238E27FC236}">
                <a16:creationId xmlns:a16="http://schemas.microsoft.com/office/drawing/2014/main" id="{37B0D415-C5F6-56AA-0A1D-A9A5C391F885}"/>
              </a:ext>
            </a:extLst>
          </p:cNvPr>
          <p:cNvPicPr>
            <a:picLocks noChangeAspect="1"/>
          </p:cNvPicPr>
          <p:nvPr/>
        </p:nvPicPr>
        <p:blipFill>
          <a:blip r:embed="rId2">
            <a:extLst>
              <a:ext uri="{28A0092B-C50C-407E-A947-70E740481C1C}">
                <a14:useLocalDpi xmlns:a14="http://schemas.microsoft.com/office/drawing/2010/main" val="0"/>
              </a:ext>
            </a:extLst>
          </a:blip>
          <a:srcRect b="9803"/>
          <a:stretch>
            <a:fillRect/>
          </a:stretch>
        </p:blipFill>
        <p:spPr>
          <a:xfrm>
            <a:off x="323850" y="1319688"/>
            <a:ext cx="8496300" cy="41190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892328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F001-7C6C-70F4-E409-72122A2DE11D}"/>
              </a:ext>
            </a:extLst>
          </p:cNvPr>
          <p:cNvSpPr>
            <a:spLocks noGrp="1"/>
          </p:cNvSpPr>
          <p:nvPr>
            <p:ph type="title"/>
          </p:nvPr>
        </p:nvSpPr>
        <p:spPr/>
        <p:txBody>
          <a:bodyPr/>
          <a:lstStyle/>
          <a:p>
            <a:r>
              <a:rPr lang="en-US" spc="-70" dirty="0" err="1"/>
              <a:t>LeakyHammer</a:t>
            </a:r>
            <a:r>
              <a:rPr lang="en-US" spc="-70" dirty="0"/>
              <a:t> is Open Source and Artifact Evaluated</a:t>
            </a:r>
          </a:p>
        </p:txBody>
      </p:sp>
      <p:sp>
        <p:nvSpPr>
          <p:cNvPr id="4" name="Footer Placeholder 3">
            <a:extLst>
              <a:ext uri="{FF2B5EF4-FFF2-40B4-BE49-F238E27FC236}">
                <a16:creationId xmlns:a16="http://schemas.microsoft.com/office/drawing/2014/main" id="{D6FA568A-9C0D-104B-B4E4-C354278FA2AD}"/>
              </a:ext>
            </a:extLst>
          </p:cNvPr>
          <p:cNvSpPr>
            <a:spLocks noGrp="1"/>
          </p:cNvSpPr>
          <p:nvPr>
            <p:ph type="ftr" sz="quarter" idx="11"/>
          </p:nvPr>
        </p:nvSpPr>
        <p:spPr/>
        <p:txBody>
          <a:bodyPr/>
          <a:lstStyle/>
          <a:p>
            <a:endParaRPr lang="tr-TR" dirty="0"/>
          </a:p>
        </p:txBody>
      </p:sp>
      <p:pic>
        <p:nvPicPr>
          <p:cNvPr id="17" name="Content Placeholder 16" descr="A screenshot of a computer&#10;&#10;AI-generated content may be incorrect.">
            <a:extLst>
              <a:ext uri="{FF2B5EF4-FFF2-40B4-BE49-F238E27FC236}">
                <a16:creationId xmlns:a16="http://schemas.microsoft.com/office/drawing/2014/main" id="{6E7FAFBD-9B00-372A-9D8A-84F949E3D78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4970"/>
          <a:stretch>
            <a:fillRect/>
          </a:stretch>
        </p:blipFill>
        <p:spPr>
          <a:xfrm>
            <a:off x="133004" y="2243698"/>
            <a:ext cx="8820474" cy="34483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Slide Number Placeholder 4">
            <a:extLst>
              <a:ext uri="{FF2B5EF4-FFF2-40B4-BE49-F238E27FC236}">
                <a16:creationId xmlns:a16="http://schemas.microsoft.com/office/drawing/2014/main" id="{9D366C4C-6EA2-1814-3F34-EE49BB3941EF}"/>
              </a:ext>
            </a:extLst>
          </p:cNvPr>
          <p:cNvSpPr>
            <a:spLocks noGrp="1"/>
          </p:cNvSpPr>
          <p:nvPr>
            <p:ph type="sldNum" sz="quarter" idx="12"/>
          </p:nvPr>
        </p:nvSpPr>
        <p:spPr/>
        <p:txBody>
          <a:bodyPr/>
          <a:lstStyle/>
          <a:p>
            <a:fld id="{CBE5B309-C2CE-4D90-B104-F7E98438FC65}" type="slidenum">
              <a:rPr lang="tr-TR" smtClean="0"/>
              <a:pPr/>
              <a:t>85</a:t>
            </a:fld>
            <a:endParaRPr lang="tr-TR" dirty="0"/>
          </a:p>
        </p:txBody>
      </p:sp>
      <p:sp>
        <p:nvSpPr>
          <p:cNvPr id="12" name="Alt Başlık 2">
            <a:extLst>
              <a:ext uri="{FF2B5EF4-FFF2-40B4-BE49-F238E27FC236}">
                <a16:creationId xmlns:a16="http://schemas.microsoft.com/office/drawing/2014/main" id="{687BF54C-AC83-2C75-5D16-9FDA938D6D32}"/>
              </a:ext>
            </a:extLst>
          </p:cNvPr>
          <p:cNvSpPr txBox="1">
            <a:spLocks/>
          </p:cNvSpPr>
          <p:nvPr/>
        </p:nvSpPr>
        <p:spPr>
          <a:xfrm>
            <a:off x="203761" y="5915680"/>
            <a:ext cx="8616713"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u="sng" dirty="0">
                <a:latin typeface="+mj-lt"/>
                <a:hlinkClick r:id="rId3"/>
              </a:rPr>
              <a:t>https://github.com/CMU-SAFARI/LeakyHammer</a:t>
            </a:r>
            <a:endParaRPr lang="en-US" u="sng" dirty="0">
              <a:latin typeface="+mj-lt"/>
            </a:endParaRPr>
          </a:p>
        </p:txBody>
      </p:sp>
      <p:grpSp>
        <p:nvGrpSpPr>
          <p:cNvPr id="15" name="Group 14">
            <a:extLst>
              <a:ext uri="{FF2B5EF4-FFF2-40B4-BE49-F238E27FC236}">
                <a16:creationId xmlns:a16="http://schemas.microsoft.com/office/drawing/2014/main" id="{85ACA787-1AE9-69D1-BA2A-786CEAB34E68}"/>
              </a:ext>
            </a:extLst>
          </p:cNvPr>
          <p:cNvGrpSpPr/>
          <p:nvPr/>
        </p:nvGrpSpPr>
        <p:grpSpPr>
          <a:xfrm>
            <a:off x="1787722" y="1008742"/>
            <a:ext cx="5568556" cy="1481002"/>
            <a:chOff x="1535603" y="757164"/>
            <a:chExt cx="5568556" cy="1481002"/>
          </a:xfrm>
        </p:grpSpPr>
        <p:pic>
          <p:nvPicPr>
            <p:cNvPr id="6" name="Picture 5" descr="A red circle with white text&#10;&#10;AI-generated content may be incorrect.">
              <a:extLst>
                <a:ext uri="{FF2B5EF4-FFF2-40B4-BE49-F238E27FC236}">
                  <a16:creationId xmlns:a16="http://schemas.microsoft.com/office/drawing/2014/main" id="{2841C114-D215-82B9-6636-0B68828488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5442" y="757164"/>
              <a:ext cx="1488879" cy="1481002"/>
            </a:xfrm>
            <a:prstGeom prst="rect">
              <a:avLst/>
            </a:prstGeom>
          </p:spPr>
        </p:pic>
        <p:pic>
          <p:nvPicPr>
            <p:cNvPr id="13" name="Picture 12"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7F022F42-59B3-0CE3-94A4-B47C1361E9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5603" y="757164"/>
              <a:ext cx="1488879" cy="1481002"/>
            </a:xfrm>
            <a:prstGeom prst="rect">
              <a:avLst/>
            </a:prstGeom>
          </p:spPr>
        </p:pic>
        <p:pic>
          <p:nvPicPr>
            <p:cNvPr id="14" name="Picture 13" descr="A blue circle with white text&#10;&#10;AI-generated content may be incorrect.">
              <a:extLst>
                <a:ext uri="{FF2B5EF4-FFF2-40B4-BE49-F238E27FC236}">
                  <a16:creationId xmlns:a16="http://schemas.microsoft.com/office/drawing/2014/main" id="{94FF5D20-D4D1-C07F-EC64-6AD9646D7D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15280" y="757164"/>
              <a:ext cx="1488879" cy="1481002"/>
            </a:xfrm>
            <a:prstGeom prst="rect">
              <a:avLst/>
            </a:prstGeom>
          </p:spPr>
        </p:pic>
      </p:grpSp>
    </p:spTree>
    <p:extLst>
      <p:ext uri="{BB962C8B-B14F-4D97-AF65-F5344CB8AC3E}">
        <p14:creationId xmlns:p14="http://schemas.microsoft.com/office/powerpoint/2010/main" val="15099250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3120F-BEA5-558F-2E51-0CB235766CC8}"/>
            </a:ext>
          </a:extLst>
        </p:cNvPr>
        <p:cNvGrpSpPr/>
        <p:nvPr/>
      </p:nvGrpSpPr>
      <p:grpSpPr>
        <a:xfrm>
          <a:off x="0" y="0"/>
          <a:ext cx="0" cy="0"/>
          <a:chOff x="0" y="0"/>
          <a:chExt cx="0" cy="0"/>
        </a:xfrm>
      </p:grpSpPr>
      <p:sp>
        <p:nvSpPr>
          <p:cNvPr id="11" name="Dikdörtgen 10">
            <a:extLst>
              <a:ext uri="{FF2B5EF4-FFF2-40B4-BE49-F238E27FC236}">
                <a16:creationId xmlns:a16="http://schemas.microsoft.com/office/drawing/2014/main" id="{C108966A-BD10-59E5-7915-B4133D6538EE}"/>
              </a:ext>
            </a:extLst>
          </p:cNvPr>
          <p:cNvSpPr/>
          <p:nvPr/>
        </p:nvSpPr>
        <p:spPr>
          <a:xfrm>
            <a:off x="0" y="0"/>
            <a:ext cx="9144000" cy="3428999"/>
          </a:xfrm>
          <a:prstGeom prst="rect">
            <a:avLst/>
          </a:prstGeom>
          <a:solidFill>
            <a:srgbClr val="C4D7F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solidFill>
                <a:srgbClr val="C4D7FC"/>
              </a:solidFill>
            </a:endParaRPr>
          </a:p>
        </p:txBody>
      </p:sp>
      <p:sp>
        <p:nvSpPr>
          <p:cNvPr id="2" name="Başlık 1">
            <a:extLst>
              <a:ext uri="{FF2B5EF4-FFF2-40B4-BE49-F238E27FC236}">
                <a16:creationId xmlns:a16="http://schemas.microsoft.com/office/drawing/2014/main" id="{21C98EA6-BED7-0BD2-EFEA-AA45D95B91D9}"/>
              </a:ext>
            </a:extLst>
          </p:cNvPr>
          <p:cNvSpPr>
            <a:spLocks noGrp="1"/>
          </p:cNvSpPr>
          <p:nvPr>
            <p:ph type="ctrTitle"/>
          </p:nvPr>
        </p:nvSpPr>
        <p:spPr>
          <a:xfrm>
            <a:off x="0" y="1102460"/>
            <a:ext cx="9144000" cy="1925093"/>
          </a:xfrm>
          <a:ln>
            <a:noFill/>
          </a:ln>
        </p:spPr>
        <p:txBody>
          <a:bodyPr>
            <a:noAutofit/>
          </a:bodyPr>
          <a:lstStyle/>
          <a:p>
            <a:r>
              <a:rPr lang="en-US" sz="3600" b="1" dirty="0">
                <a:solidFill>
                  <a:srgbClr val="316CE3"/>
                </a:solidFill>
                <a:ea typeface="Tahoma" panose="020B0604030504040204" pitchFamily="34" charset="0"/>
                <a:cs typeface="Tahoma" panose="020B0604030504040204" pitchFamily="34" charset="0"/>
              </a:rPr>
              <a:t>Understanding and Mitigating </a:t>
            </a:r>
            <a:br>
              <a:rPr lang="en-US" sz="3600" b="1" dirty="0">
                <a:solidFill>
                  <a:srgbClr val="316CE3"/>
                </a:solidFill>
                <a:ea typeface="Tahoma" panose="020B0604030504040204" pitchFamily="34" charset="0"/>
                <a:cs typeface="Tahoma" panose="020B0604030504040204" pitchFamily="34" charset="0"/>
              </a:rPr>
            </a:br>
            <a:r>
              <a:rPr lang="en-US" sz="3600" b="1" kern="0" spc="-80" dirty="0">
                <a:solidFill>
                  <a:srgbClr val="316CE3"/>
                </a:solidFill>
                <a:ea typeface="Tahoma" panose="020B0604030504040204" pitchFamily="34" charset="0"/>
                <a:cs typeface="Tahoma" panose="020B0604030504040204" pitchFamily="34" charset="0"/>
              </a:rPr>
              <a:t>Covert Channel and Side Channel Vulnerabilities </a:t>
            </a:r>
            <a:br>
              <a:rPr lang="en-US" sz="3600" b="1" dirty="0">
                <a:solidFill>
                  <a:srgbClr val="316CE3"/>
                </a:solidFill>
                <a:ea typeface="Tahoma" panose="020B0604030504040204" pitchFamily="34" charset="0"/>
                <a:cs typeface="Tahoma" panose="020B0604030504040204" pitchFamily="34" charset="0"/>
              </a:rPr>
            </a:br>
            <a:r>
              <a:rPr lang="en-US" sz="3600" b="1" dirty="0">
                <a:solidFill>
                  <a:srgbClr val="316CE3"/>
                </a:solidFill>
                <a:ea typeface="Tahoma" panose="020B0604030504040204" pitchFamily="34" charset="0"/>
                <a:cs typeface="Tahoma" panose="020B0604030504040204" pitchFamily="34" charset="0"/>
              </a:rPr>
              <a:t>Introduced by </a:t>
            </a:r>
            <a:r>
              <a:rPr lang="en-US" sz="3600" b="1" dirty="0" err="1">
                <a:solidFill>
                  <a:srgbClr val="316CE3"/>
                </a:solidFill>
                <a:ea typeface="Tahoma" panose="020B0604030504040204" pitchFamily="34" charset="0"/>
                <a:cs typeface="Tahoma" panose="020B0604030504040204" pitchFamily="34" charset="0"/>
              </a:rPr>
              <a:t>RowHammer</a:t>
            </a:r>
            <a:r>
              <a:rPr lang="en-US" sz="3600" b="1" dirty="0">
                <a:solidFill>
                  <a:srgbClr val="316CE3"/>
                </a:solidFill>
                <a:ea typeface="Tahoma" panose="020B0604030504040204" pitchFamily="34" charset="0"/>
                <a:cs typeface="Tahoma" panose="020B0604030504040204" pitchFamily="34" charset="0"/>
              </a:rPr>
              <a:t> Defenses</a:t>
            </a:r>
            <a:endParaRPr lang="tr-TR" sz="3600" b="1" dirty="0">
              <a:solidFill>
                <a:srgbClr val="316CE3"/>
              </a:solidFill>
              <a:ea typeface="Tahoma" panose="020B0604030504040204" pitchFamily="34" charset="0"/>
              <a:cs typeface="Tahoma" panose="020B0604030504040204" pitchFamily="34" charset="0"/>
            </a:endParaRPr>
          </a:p>
        </p:txBody>
      </p:sp>
      <p:sp>
        <p:nvSpPr>
          <p:cNvPr id="3" name="Alt Başlık 2">
            <a:extLst>
              <a:ext uri="{FF2B5EF4-FFF2-40B4-BE49-F238E27FC236}">
                <a16:creationId xmlns:a16="http://schemas.microsoft.com/office/drawing/2014/main" id="{40EBCA61-3EAF-D6E5-1683-3369C6E129B4}"/>
              </a:ext>
            </a:extLst>
          </p:cNvPr>
          <p:cNvSpPr>
            <a:spLocks noGrp="1"/>
          </p:cNvSpPr>
          <p:nvPr>
            <p:ph type="subTitle" idx="1"/>
          </p:nvPr>
        </p:nvSpPr>
        <p:spPr>
          <a:xfrm>
            <a:off x="0" y="3758713"/>
            <a:ext cx="9144000" cy="1522582"/>
          </a:xfrm>
        </p:spPr>
        <p:txBody>
          <a:bodyPr>
            <a:noAutofit/>
          </a:bodyPr>
          <a:lstStyle/>
          <a:p>
            <a:pPr>
              <a:lnSpc>
                <a:spcPct val="100000"/>
              </a:lnSpc>
              <a:spcBef>
                <a:spcPts val="0"/>
              </a:spcBef>
            </a:pPr>
            <a:r>
              <a:rPr lang="tr-TR" u="sng" dirty="0">
                <a:solidFill>
                  <a:srgbClr val="262626"/>
                </a:solidFill>
                <a:latin typeface="+mj-lt"/>
                <a:ea typeface="Tahoma" panose="020B0604030504040204" pitchFamily="34" charset="0"/>
                <a:cs typeface="Tahoma" panose="020B0604030504040204" pitchFamily="34" charset="0"/>
              </a:rPr>
              <a:t>F. Nisa Bostancı</a:t>
            </a:r>
            <a:endParaRPr lang="en-US" u="sng" dirty="0">
              <a:solidFill>
                <a:srgbClr val="262626"/>
              </a:solidFill>
              <a:latin typeface="+mj-lt"/>
              <a:ea typeface="Tahoma" panose="020B0604030504040204" pitchFamily="34" charset="0"/>
              <a:cs typeface="Tahoma" panose="020B0604030504040204" pitchFamily="34" charset="0"/>
            </a:endParaRPr>
          </a:p>
          <a:p>
            <a:pPr>
              <a:lnSpc>
                <a:spcPct val="100000"/>
              </a:lnSpc>
              <a:spcBef>
                <a:spcPts val="0"/>
              </a:spcBef>
            </a:pPr>
            <a:endParaRPr lang="en-US" sz="1100" u="sng" dirty="0">
              <a:solidFill>
                <a:srgbClr val="262626"/>
              </a:solidFill>
              <a:latin typeface="+mj-lt"/>
              <a:ea typeface="Tahoma" panose="020B0604030504040204" pitchFamily="34" charset="0"/>
              <a:cs typeface="Tahoma" panose="020B0604030504040204" pitchFamily="34" charset="0"/>
            </a:endParaRPr>
          </a:p>
          <a:p>
            <a:pPr>
              <a:lnSpc>
                <a:spcPct val="100000"/>
              </a:lnSpc>
              <a:spcBef>
                <a:spcPts val="0"/>
              </a:spcBef>
            </a:pPr>
            <a:r>
              <a:rPr lang="en-US" dirty="0">
                <a:solidFill>
                  <a:schemeClr val="tx1">
                    <a:lumMod val="50000"/>
                    <a:lumOff val="50000"/>
                  </a:schemeClr>
                </a:solidFill>
                <a:latin typeface="+mj-lt"/>
                <a:ea typeface="Tahoma" panose="020B0604030504040204" pitchFamily="34" charset="0"/>
                <a:cs typeface="Tahoma" panose="020B0604030504040204" pitchFamily="34" charset="0"/>
              </a:rPr>
              <a:t>O. Canpolat     A. Olgun    I. E. Y</a:t>
            </a:r>
            <a:r>
              <a:rPr lang="tr-TR" dirty="0">
                <a:solidFill>
                  <a:schemeClr val="tx1">
                    <a:lumMod val="50000"/>
                    <a:lumOff val="50000"/>
                  </a:schemeClr>
                </a:solidFill>
                <a:latin typeface="+mj-lt"/>
                <a:ea typeface="Tahoma" panose="020B0604030504040204" pitchFamily="34" charset="0"/>
                <a:cs typeface="Tahoma" panose="020B0604030504040204" pitchFamily="34" charset="0"/>
              </a:rPr>
              <a:t>ü</a:t>
            </a:r>
            <a:r>
              <a:rPr lang="en-US" dirty="0" err="1">
                <a:solidFill>
                  <a:schemeClr val="tx1">
                    <a:lumMod val="50000"/>
                    <a:lumOff val="50000"/>
                  </a:schemeClr>
                </a:solidFill>
                <a:latin typeface="+mj-lt"/>
                <a:ea typeface="Tahoma" panose="020B0604030504040204" pitchFamily="34" charset="0"/>
                <a:cs typeface="Tahoma" panose="020B0604030504040204" pitchFamily="34" charset="0"/>
              </a:rPr>
              <a:t>ksel</a:t>
            </a:r>
            <a:r>
              <a:rPr lang="en-US" dirty="0">
                <a:solidFill>
                  <a:schemeClr val="tx1">
                    <a:lumMod val="50000"/>
                    <a:lumOff val="50000"/>
                  </a:schemeClr>
                </a:solidFill>
                <a:latin typeface="+mj-lt"/>
                <a:ea typeface="Tahoma" panose="020B0604030504040204" pitchFamily="34" charset="0"/>
                <a:cs typeface="Tahoma" panose="020B0604030504040204" pitchFamily="34" charset="0"/>
              </a:rPr>
              <a:t>    K. Kanellopoulos</a:t>
            </a:r>
            <a:br>
              <a:rPr lang="en-US" dirty="0">
                <a:solidFill>
                  <a:schemeClr val="tx1">
                    <a:lumMod val="50000"/>
                    <a:lumOff val="50000"/>
                  </a:schemeClr>
                </a:solidFill>
                <a:latin typeface="+mj-lt"/>
                <a:ea typeface="Tahoma" panose="020B0604030504040204" pitchFamily="34" charset="0"/>
                <a:cs typeface="Tahoma" panose="020B0604030504040204" pitchFamily="34" charset="0"/>
              </a:rPr>
            </a:br>
            <a:r>
              <a:rPr lang="en-US" dirty="0">
                <a:solidFill>
                  <a:schemeClr val="tx1">
                    <a:lumMod val="50000"/>
                    <a:lumOff val="50000"/>
                  </a:schemeClr>
                </a:solidFill>
                <a:latin typeface="+mj-lt"/>
                <a:ea typeface="Tahoma" panose="020B0604030504040204" pitchFamily="34" charset="0"/>
                <a:cs typeface="Tahoma" panose="020B0604030504040204" pitchFamily="34" charset="0"/>
              </a:rPr>
              <a:t>M. </a:t>
            </a:r>
            <a:r>
              <a:rPr lang="en-US" dirty="0" err="1">
                <a:solidFill>
                  <a:schemeClr val="tx1">
                    <a:lumMod val="50000"/>
                    <a:lumOff val="50000"/>
                  </a:schemeClr>
                </a:solidFill>
                <a:latin typeface="+mj-lt"/>
                <a:ea typeface="Tahoma" panose="020B0604030504040204" pitchFamily="34" charset="0"/>
                <a:cs typeface="Tahoma" panose="020B0604030504040204" pitchFamily="34" charset="0"/>
              </a:rPr>
              <a:t>Sadrosadati</a:t>
            </a:r>
            <a:r>
              <a:rPr lang="en-US" dirty="0">
                <a:solidFill>
                  <a:schemeClr val="tx1">
                    <a:lumMod val="50000"/>
                    <a:lumOff val="50000"/>
                  </a:schemeClr>
                </a:solidFill>
                <a:latin typeface="+mj-lt"/>
                <a:ea typeface="Tahoma" panose="020B0604030504040204" pitchFamily="34" charset="0"/>
                <a:cs typeface="Tahoma" panose="020B0604030504040204" pitchFamily="34" charset="0"/>
              </a:rPr>
              <a:t>     A. G. </a:t>
            </a:r>
            <a:r>
              <a:rPr lang="tr-TR" dirty="0">
                <a:solidFill>
                  <a:schemeClr val="tx1">
                    <a:lumMod val="50000"/>
                    <a:lumOff val="50000"/>
                  </a:schemeClr>
                </a:solidFill>
                <a:latin typeface="+mj-lt"/>
                <a:ea typeface="Tahoma" panose="020B0604030504040204" pitchFamily="34" charset="0"/>
                <a:cs typeface="Tahoma" panose="020B0604030504040204" pitchFamily="34" charset="0"/>
              </a:rPr>
              <a:t>Yağlıkçı</a:t>
            </a:r>
            <a:r>
              <a:rPr lang="en-US" dirty="0">
                <a:solidFill>
                  <a:schemeClr val="tx1">
                    <a:lumMod val="50000"/>
                    <a:lumOff val="50000"/>
                  </a:schemeClr>
                </a:solidFill>
                <a:latin typeface="+mj-lt"/>
                <a:ea typeface="Tahoma" panose="020B0604030504040204" pitchFamily="34" charset="0"/>
                <a:cs typeface="Tahoma" panose="020B0604030504040204" pitchFamily="34" charset="0"/>
              </a:rPr>
              <a:t>    O. Mutlu</a:t>
            </a:r>
          </a:p>
        </p:txBody>
      </p:sp>
      <p:sp>
        <p:nvSpPr>
          <p:cNvPr id="4" name="Alt Bilgi Yer Tutucusu 3">
            <a:extLst>
              <a:ext uri="{FF2B5EF4-FFF2-40B4-BE49-F238E27FC236}">
                <a16:creationId xmlns:a16="http://schemas.microsoft.com/office/drawing/2014/main" id="{6EC76A80-2C0B-5E87-ECB6-16CB104426CC}"/>
              </a:ext>
            </a:extLst>
          </p:cNvPr>
          <p:cNvSpPr>
            <a:spLocks noGrp="1"/>
          </p:cNvSpPr>
          <p:nvPr>
            <p:ph type="ftr" sz="quarter" idx="11"/>
          </p:nvPr>
        </p:nvSpPr>
        <p:spPr>
          <a:xfrm>
            <a:off x="3448050" y="6356351"/>
            <a:ext cx="3086100" cy="365125"/>
          </a:xfrm>
        </p:spPr>
        <p:txBody>
          <a:bodyPr/>
          <a:lstStyle/>
          <a:p>
            <a:endParaRPr lang="tr-TR" dirty="0"/>
          </a:p>
        </p:txBody>
      </p:sp>
      <p:pic>
        <p:nvPicPr>
          <p:cNvPr id="13" name="Graphic 2">
            <a:extLst>
              <a:ext uri="{FF2B5EF4-FFF2-40B4-BE49-F238E27FC236}">
                <a16:creationId xmlns:a16="http://schemas.microsoft.com/office/drawing/2014/main" id="{8EBAA62F-4C4B-95C2-D534-E186D3EBF7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30109" y="6045791"/>
            <a:ext cx="2251491" cy="433144"/>
          </a:xfrm>
          <a:prstGeom prst="rect">
            <a:avLst/>
          </a:prstGeom>
        </p:spPr>
      </p:pic>
      <p:pic>
        <p:nvPicPr>
          <p:cNvPr id="14" name="Picture 9">
            <a:extLst>
              <a:ext uri="{FF2B5EF4-FFF2-40B4-BE49-F238E27FC236}">
                <a16:creationId xmlns:a16="http://schemas.microsoft.com/office/drawing/2014/main" id="{31A09245-7A0F-F199-5672-40DF7A37E9A9}"/>
              </a:ext>
            </a:extLst>
          </p:cNvPr>
          <p:cNvPicPr>
            <a:picLocks noChangeAspect="1"/>
          </p:cNvPicPr>
          <p:nvPr/>
        </p:nvPicPr>
        <p:blipFill rotWithShape="1">
          <a:blip r:embed="rId4"/>
          <a:srcRect l="11820" t="33599" r="12247" b="30996"/>
          <a:stretch/>
        </p:blipFill>
        <p:spPr>
          <a:xfrm>
            <a:off x="394283" y="6033079"/>
            <a:ext cx="2665416" cy="458568"/>
          </a:xfrm>
          <a:prstGeom prst="rect">
            <a:avLst/>
          </a:prstGeom>
        </p:spPr>
      </p:pic>
      <p:sp>
        <p:nvSpPr>
          <p:cNvPr id="5" name="Alt Başlık 2">
            <a:extLst>
              <a:ext uri="{FF2B5EF4-FFF2-40B4-BE49-F238E27FC236}">
                <a16:creationId xmlns:a16="http://schemas.microsoft.com/office/drawing/2014/main" id="{D29CD007-6BEE-638E-C99B-2612B0F8BD98}"/>
              </a:ext>
            </a:extLst>
          </p:cNvPr>
          <p:cNvSpPr txBox="1">
            <a:spLocks/>
          </p:cNvSpPr>
          <p:nvPr/>
        </p:nvSpPr>
        <p:spPr>
          <a:xfrm>
            <a:off x="546683" y="5528266"/>
            <a:ext cx="8355434" cy="3651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tr-TR" dirty="0">
              <a:solidFill>
                <a:srgbClr val="262626"/>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descr="A black background with a black square&#10;&#10;AI-generated content may be incorrect.">
            <a:extLst>
              <a:ext uri="{FF2B5EF4-FFF2-40B4-BE49-F238E27FC236}">
                <a16:creationId xmlns:a16="http://schemas.microsoft.com/office/drawing/2014/main" id="{A4D3695B-3A64-CC7B-7393-ECBC8CD325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2009" y="6045576"/>
            <a:ext cx="1697708" cy="433574"/>
          </a:xfrm>
          <a:prstGeom prst="rect">
            <a:avLst/>
          </a:prstGeom>
        </p:spPr>
      </p:pic>
      <p:pic>
        <p:nvPicPr>
          <p:cNvPr id="9" name="Picture 8" descr="A red circle with white text&#10;&#10;AI-generated content may be incorrect.">
            <a:extLst>
              <a:ext uri="{FF2B5EF4-FFF2-40B4-BE49-F238E27FC236}">
                <a16:creationId xmlns:a16="http://schemas.microsoft.com/office/drawing/2014/main" id="{226B41FD-8512-F89F-7B56-54C3785EBD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98608" y="61513"/>
            <a:ext cx="984643" cy="979434"/>
          </a:xfrm>
          <a:prstGeom prst="rect">
            <a:avLst/>
          </a:prstGeom>
        </p:spPr>
      </p:pic>
      <p:pic>
        <p:nvPicPr>
          <p:cNvPr id="12" name="Picture 11"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2BE809CC-FE33-2B75-E490-0397DBA1C2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6880" y="61513"/>
            <a:ext cx="984643" cy="979434"/>
          </a:xfrm>
          <a:prstGeom prst="rect">
            <a:avLst/>
          </a:prstGeom>
        </p:spPr>
      </p:pic>
      <p:pic>
        <p:nvPicPr>
          <p:cNvPr id="16" name="Picture 15" descr="A blue circle with white text&#10;&#10;AI-generated content may be incorrect.">
            <a:extLst>
              <a:ext uri="{FF2B5EF4-FFF2-40B4-BE49-F238E27FC236}">
                <a16:creationId xmlns:a16="http://schemas.microsoft.com/office/drawing/2014/main" id="{EE7F8ADB-B7AC-8329-BA22-8480465E4C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70337" y="61513"/>
            <a:ext cx="984643" cy="979434"/>
          </a:xfrm>
          <a:prstGeom prst="rect">
            <a:avLst/>
          </a:prstGeom>
        </p:spPr>
      </p:pic>
      <p:grpSp>
        <p:nvGrpSpPr>
          <p:cNvPr id="6" name="Group 5">
            <a:extLst>
              <a:ext uri="{FF2B5EF4-FFF2-40B4-BE49-F238E27FC236}">
                <a16:creationId xmlns:a16="http://schemas.microsoft.com/office/drawing/2014/main" id="{59696D26-3DB2-0B6C-9165-3EB9225E16D7}"/>
              </a:ext>
            </a:extLst>
          </p:cNvPr>
          <p:cNvGrpSpPr/>
          <p:nvPr/>
        </p:nvGrpSpPr>
        <p:grpSpPr>
          <a:xfrm>
            <a:off x="158550" y="61513"/>
            <a:ext cx="2000501" cy="1238116"/>
            <a:chOff x="-5848543" y="103142"/>
            <a:chExt cx="1935157" cy="1197674"/>
          </a:xfrm>
        </p:grpSpPr>
        <p:grpSp>
          <p:nvGrpSpPr>
            <p:cNvPr id="7" name="Group 6">
              <a:extLst>
                <a:ext uri="{FF2B5EF4-FFF2-40B4-BE49-F238E27FC236}">
                  <a16:creationId xmlns:a16="http://schemas.microsoft.com/office/drawing/2014/main" id="{ED2F1734-18CB-8208-D416-B2DC8E5955FB}"/>
                </a:ext>
              </a:extLst>
            </p:cNvPr>
            <p:cNvGrpSpPr/>
            <p:nvPr/>
          </p:nvGrpSpPr>
          <p:grpSpPr>
            <a:xfrm>
              <a:off x="-5848543" y="103143"/>
              <a:ext cx="933450" cy="1197673"/>
              <a:chOff x="-5925105" y="1464922"/>
              <a:chExt cx="933450" cy="1197673"/>
            </a:xfrm>
          </p:grpSpPr>
          <p:sp>
            <p:nvSpPr>
              <p:cNvPr id="20" name="Rectangle 19">
                <a:extLst>
                  <a:ext uri="{FF2B5EF4-FFF2-40B4-BE49-F238E27FC236}">
                    <a16:creationId xmlns:a16="http://schemas.microsoft.com/office/drawing/2014/main" id="{EC598367-0ADB-9DCC-A82E-1DC200C7A104}"/>
                  </a:ext>
                </a:extLst>
              </p:cNvPr>
              <p:cNvSpPr/>
              <p:nvPr/>
            </p:nvSpPr>
            <p:spPr>
              <a:xfrm>
                <a:off x="-5925105" y="1464922"/>
                <a:ext cx="933450" cy="1135542"/>
              </a:xfrm>
              <a:prstGeom prst="rect">
                <a:avLst/>
              </a:prstGeom>
              <a:solidFill>
                <a:srgbClr val="316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106B84B3-464B-C2AF-8D17-D3E4CB9AB672}"/>
                  </a:ext>
                </a:extLst>
              </p:cNvPr>
              <p:cNvGrpSpPr/>
              <p:nvPr/>
            </p:nvGrpSpPr>
            <p:grpSpPr>
              <a:xfrm>
                <a:off x="-5867367" y="1538877"/>
                <a:ext cx="817974" cy="1123718"/>
                <a:chOff x="-552501" y="127158"/>
                <a:chExt cx="1141603" cy="1568313"/>
              </a:xfrm>
            </p:grpSpPr>
            <p:sp>
              <p:nvSpPr>
                <p:cNvPr id="22" name="Metin kutusu 37">
                  <a:extLst>
                    <a:ext uri="{FF2B5EF4-FFF2-40B4-BE49-F238E27FC236}">
                      <a16:creationId xmlns:a16="http://schemas.microsoft.com/office/drawing/2014/main" id="{3A0339FD-F9C3-20F3-64E5-ADFC9B859931}"/>
                    </a:ext>
                  </a:extLst>
                </p:cNvPr>
                <p:cNvSpPr txBox="1"/>
                <p:nvPr/>
              </p:nvSpPr>
              <p:spPr>
                <a:xfrm>
                  <a:off x="-552500" y="1222969"/>
                  <a:ext cx="1141602" cy="472502"/>
                </a:xfrm>
                <a:prstGeom prst="rect">
                  <a:avLst/>
                </a:prstGeom>
                <a:noFill/>
              </p:spPr>
              <p:txBody>
                <a:bodyPr wrap="square" rtlCol="0">
                  <a:spAutoFit/>
                </a:bodyPr>
                <a:lstStyle/>
                <a:p>
                  <a:pPr algn="ctr"/>
                  <a:r>
                    <a:rPr lang="en-US" sz="1600" b="1" dirty="0" err="1">
                      <a:solidFill>
                        <a:schemeClr val="bg1"/>
                      </a:solidFill>
                      <a:latin typeface="+mj-lt"/>
                      <a:ea typeface="Tahoma" panose="020B0604030504040204" pitchFamily="34" charset="0"/>
                      <a:cs typeface="Tahoma" panose="020B0604030504040204" pitchFamily="34" charset="0"/>
                    </a:rPr>
                    <a:t>arXiv</a:t>
                  </a:r>
                  <a:endParaRPr lang="tr-TR" sz="1600" b="1" dirty="0">
                    <a:solidFill>
                      <a:schemeClr val="bg1"/>
                    </a:solidFill>
                    <a:latin typeface="+mj-lt"/>
                    <a:ea typeface="Tahoma" panose="020B0604030504040204" pitchFamily="34" charset="0"/>
                    <a:cs typeface="Tahoma" panose="020B0604030504040204" pitchFamily="34" charset="0"/>
                  </a:endParaRPr>
                </a:p>
              </p:txBody>
            </p:sp>
            <p:pic>
              <p:nvPicPr>
                <p:cNvPr id="23" name="Picture 22" descr="A qr code with a black background&#10;&#10;AI-generated content may be incorrect.">
                  <a:extLst>
                    <a:ext uri="{FF2B5EF4-FFF2-40B4-BE49-F238E27FC236}">
                      <a16:creationId xmlns:a16="http://schemas.microsoft.com/office/drawing/2014/main" id="{8DAC9218-4DCC-ED72-FAF2-8C46AC48847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2501" y="127158"/>
                  <a:ext cx="1141603" cy="1141602"/>
                </a:xfrm>
                <a:prstGeom prst="rect">
                  <a:avLst/>
                </a:prstGeom>
              </p:spPr>
            </p:pic>
          </p:grpSp>
        </p:grpSp>
        <p:grpSp>
          <p:nvGrpSpPr>
            <p:cNvPr id="10" name="Group 9">
              <a:extLst>
                <a:ext uri="{FF2B5EF4-FFF2-40B4-BE49-F238E27FC236}">
                  <a16:creationId xmlns:a16="http://schemas.microsoft.com/office/drawing/2014/main" id="{926E6835-B9CB-C29F-02CF-8CE10A63BA39}"/>
                </a:ext>
              </a:extLst>
            </p:cNvPr>
            <p:cNvGrpSpPr/>
            <p:nvPr/>
          </p:nvGrpSpPr>
          <p:grpSpPr>
            <a:xfrm>
              <a:off x="-4846836" y="103142"/>
              <a:ext cx="933450" cy="1197674"/>
              <a:chOff x="-5893678" y="1464921"/>
              <a:chExt cx="933450" cy="1197674"/>
            </a:xfrm>
          </p:grpSpPr>
          <p:sp>
            <p:nvSpPr>
              <p:cNvPr id="15" name="Rectangle 14">
                <a:extLst>
                  <a:ext uri="{FF2B5EF4-FFF2-40B4-BE49-F238E27FC236}">
                    <a16:creationId xmlns:a16="http://schemas.microsoft.com/office/drawing/2014/main" id="{FA2CFB0C-B8AC-1715-5B16-B3D9D40FFFC3}"/>
                  </a:ext>
                </a:extLst>
              </p:cNvPr>
              <p:cNvSpPr/>
              <p:nvPr/>
            </p:nvSpPr>
            <p:spPr>
              <a:xfrm>
                <a:off x="-5893678" y="1464921"/>
                <a:ext cx="933450" cy="1135542"/>
              </a:xfrm>
              <a:prstGeom prst="rect">
                <a:avLst/>
              </a:prstGeom>
              <a:solidFill>
                <a:srgbClr val="316C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Metin kutusu 37">
                <a:extLst>
                  <a:ext uri="{FF2B5EF4-FFF2-40B4-BE49-F238E27FC236}">
                    <a16:creationId xmlns:a16="http://schemas.microsoft.com/office/drawing/2014/main" id="{3F772D9E-B3C3-8893-9A2A-4F288CA8A102}"/>
                  </a:ext>
                </a:extLst>
              </p:cNvPr>
              <p:cNvSpPr txBox="1"/>
              <p:nvPr/>
            </p:nvSpPr>
            <p:spPr>
              <a:xfrm>
                <a:off x="-5835943" y="2324041"/>
                <a:ext cx="817973" cy="338554"/>
              </a:xfrm>
              <a:prstGeom prst="rect">
                <a:avLst/>
              </a:prstGeom>
              <a:noFill/>
            </p:spPr>
            <p:txBody>
              <a:bodyPr wrap="square" rtlCol="0">
                <a:spAutoFit/>
              </a:bodyPr>
              <a:lstStyle/>
              <a:p>
                <a:pPr algn="ctr"/>
                <a:r>
                  <a:rPr lang="en-US" sz="1600" b="1" dirty="0">
                    <a:solidFill>
                      <a:schemeClr val="bg1"/>
                    </a:solidFill>
                    <a:latin typeface="+mj-lt"/>
                    <a:ea typeface="Tahoma" panose="020B0604030504040204" pitchFamily="34" charset="0"/>
                    <a:cs typeface="Tahoma" panose="020B0604030504040204" pitchFamily="34" charset="0"/>
                  </a:rPr>
                  <a:t>GitHub</a:t>
                </a:r>
                <a:endParaRPr lang="tr-TR" sz="1600" b="1" dirty="0">
                  <a:solidFill>
                    <a:schemeClr val="bg1"/>
                  </a:solidFill>
                  <a:latin typeface="+mj-lt"/>
                  <a:ea typeface="Tahoma" panose="020B0604030504040204" pitchFamily="34" charset="0"/>
                  <a:cs typeface="Tahoma" panose="020B0604030504040204" pitchFamily="34" charset="0"/>
                </a:endParaRPr>
              </a:p>
            </p:txBody>
          </p:sp>
        </p:grpSp>
      </p:grpSp>
      <p:pic>
        <p:nvPicPr>
          <p:cNvPr id="25" name="Picture 24" descr="A qr code on a white background&#10;&#10;AI-generated content may be incorrect.">
            <a:extLst>
              <a:ext uri="{FF2B5EF4-FFF2-40B4-BE49-F238E27FC236}">
                <a16:creationId xmlns:a16="http://schemas.microsoft.com/office/drawing/2014/main" id="{DBD44FE9-6348-13A9-1BE4-D06010AA4001}"/>
              </a:ext>
            </a:extLst>
          </p:cNvPr>
          <p:cNvPicPr>
            <a:picLocks noChangeAspect="1"/>
          </p:cNvPicPr>
          <p:nvPr/>
        </p:nvPicPr>
        <p:blipFill>
          <a:blip r:embed="rId10">
            <a:extLst>
              <a:ext uri="{28A0092B-C50C-407E-A947-70E740481C1C}">
                <a14:useLocalDpi xmlns:a14="http://schemas.microsoft.com/office/drawing/2010/main" val="0"/>
              </a:ext>
            </a:extLst>
          </a:blip>
          <a:srcRect l="8333" t="9333" r="8667" b="9000"/>
          <a:stretch>
            <a:fillRect/>
          </a:stretch>
        </p:blipFill>
        <p:spPr>
          <a:xfrm>
            <a:off x="1246623" y="137965"/>
            <a:ext cx="859401" cy="845595"/>
          </a:xfrm>
          <a:prstGeom prst="rect">
            <a:avLst/>
          </a:prstGeom>
        </p:spPr>
      </p:pic>
    </p:spTree>
    <p:extLst>
      <p:ext uri="{BB962C8B-B14F-4D97-AF65-F5344CB8AC3E}">
        <p14:creationId xmlns:p14="http://schemas.microsoft.com/office/powerpoint/2010/main" val="16564507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82740-2DD7-BE6F-684F-F287BBE49C28}"/>
            </a:ext>
          </a:extLst>
        </p:cNvPr>
        <p:cNvGrpSpPr/>
        <p:nvPr/>
      </p:nvGrpSpPr>
      <p:grpSpPr>
        <a:xfrm>
          <a:off x="0" y="0"/>
          <a:ext cx="0" cy="0"/>
          <a:chOff x="0" y="0"/>
          <a:chExt cx="0" cy="0"/>
        </a:xfrm>
      </p:grpSpPr>
      <p:sp>
        <p:nvSpPr>
          <p:cNvPr id="104" name="Title 1">
            <a:extLst>
              <a:ext uri="{FF2B5EF4-FFF2-40B4-BE49-F238E27FC236}">
                <a16:creationId xmlns:a16="http://schemas.microsoft.com/office/drawing/2014/main" id="{7366C349-270F-D015-D87C-C59606A75BEA}"/>
              </a:ext>
            </a:extLst>
          </p:cNvPr>
          <p:cNvSpPr txBox="1">
            <a:spLocks/>
          </p:cNvSpPr>
          <p:nvPr/>
        </p:nvSpPr>
        <p:spPr>
          <a:xfrm>
            <a:off x="0" y="-1"/>
            <a:ext cx="9144000" cy="3689131"/>
          </a:xfrm>
          <a:prstGeom prst="rect">
            <a:avLst/>
          </a:prstGeom>
          <a:solidFill>
            <a:srgbClr val="316CE3"/>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6600" b="1" dirty="0">
              <a:solidFill>
                <a:srgbClr val="70AD47"/>
              </a:solidFill>
            </a:endParaRPr>
          </a:p>
        </p:txBody>
      </p:sp>
      <p:sp>
        <p:nvSpPr>
          <p:cNvPr id="102" name="Title 1">
            <a:extLst>
              <a:ext uri="{FF2B5EF4-FFF2-40B4-BE49-F238E27FC236}">
                <a16:creationId xmlns:a16="http://schemas.microsoft.com/office/drawing/2014/main" id="{A5237DF5-CFD6-3059-B9D4-31BBE5B2D96F}"/>
              </a:ext>
            </a:extLst>
          </p:cNvPr>
          <p:cNvSpPr>
            <a:spLocks noGrp="1"/>
          </p:cNvSpPr>
          <p:nvPr>
            <p:ph type="ctrTitle"/>
          </p:nvPr>
        </p:nvSpPr>
        <p:spPr>
          <a:xfrm>
            <a:off x="685800" y="1097854"/>
            <a:ext cx="7772400" cy="2387600"/>
          </a:xfrm>
          <a:prstGeom prst="rect">
            <a:avLst/>
          </a:prstGeom>
          <a:noFill/>
        </p:spPr>
        <p:txBody>
          <a:bodyPr anchor="ctr">
            <a:noAutofit/>
          </a:bodyPr>
          <a:lstStyle/>
          <a:p>
            <a:pPr algn="ctr">
              <a:lnSpc>
                <a:spcPct val="100000"/>
              </a:lnSpc>
            </a:pPr>
            <a:r>
              <a:rPr lang="en-US" sz="6600" b="1" dirty="0" err="1">
                <a:solidFill>
                  <a:schemeClr val="bg1"/>
                </a:solidFill>
              </a:rPr>
              <a:t>Ramulator</a:t>
            </a:r>
            <a:r>
              <a:rPr lang="en-US" sz="6600" b="1" dirty="0">
                <a:solidFill>
                  <a:schemeClr val="bg1"/>
                </a:solidFill>
              </a:rPr>
              <a:t>:</a:t>
            </a:r>
            <a:br>
              <a:rPr lang="en-US" sz="6600" b="1" dirty="0">
                <a:solidFill>
                  <a:schemeClr val="bg1"/>
                </a:solidFill>
              </a:rPr>
            </a:br>
            <a:r>
              <a:rPr lang="en-US" sz="6600" b="1" dirty="0">
                <a:solidFill>
                  <a:schemeClr val="bg1"/>
                </a:solidFill>
              </a:rPr>
              <a:t>Research Highlights</a:t>
            </a:r>
            <a:endParaRPr lang="en-US" sz="6600" b="1" dirty="0">
              <a:solidFill>
                <a:schemeClr val="bg1"/>
              </a:solidFill>
              <a:cs typeface="Cambria"/>
            </a:endParaRPr>
          </a:p>
        </p:txBody>
      </p:sp>
      <p:sp>
        <p:nvSpPr>
          <p:cNvPr id="103" name="Subtitle 2">
            <a:extLst>
              <a:ext uri="{FF2B5EF4-FFF2-40B4-BE49-F238E27FC236}">
                <a16:creationId xmlns:a16="http://schemas.microsoft.com/office/drawing/2014/main" id="{78863094-2778-4153-A061-BA513FE9AF45}"/>
              </a:ext>
            </a:extLst>
          </p:cNvPr>
          <p:cNvSpPr>
            <a:spLocks noGrp="1"/>
          </p:cNvSpPr>
          <p:nvPr>
            <p:ph type="subTitle" idx="1"/>
          </p:nvPr>
        </p:nvSpPr>
        <p:spPr>
          <a:xfrm>
            <a:off x="1143000" y="3979309"/>
            <a:ext cx="6858000" cy="1655762"/>
          </a:xfrm>
          <a:prstGeom prst="rect">
            <a:avLst/>
          </a:prstGeom>
        </p:spPr>
        <p:txBody>
          <a:bodyPr anchor="ctr">
            <a:noAutofit/>
          </a:bodyPr>
          <a:lstStyle/>
          <a:p>
            <a:pPr marL="0" indent="0" algn="ctr">
              <a:buNone/>
            </a:pPr>
            <a:r>
              <a:rPr lang="en-US" b="1" dirty="0">
                <a:latin typeface="+mj-lt"/>
                <a:cs typeface="Cambria"/>
              </a:rPr>
              <a:t>Nisa </a:t>
            </a:r>
            <a:r>
              <a:rPr lang="en-US" b="1" dirty="0" err="1">
                <a:latin typeface="+mj-lt"/>
                <a:cs typeface="Cambria"/>
              </a:rPr>
              <a:t>Bostanc</a:t>
            </a:r>
            <a:r>
              <a:rPr lang="tr-TR" b="1" dirty="0">
                <a:latin typeface="+mj-lt"/>
                <a:cs typeface="Cambria"/>
              </a:rPr>
              <a:t>ı</a:t>
            </a:r>
            <a:br>
              <a:rPr lang="en-US" dirty="0">
                <a:latin typeface="+mj-lt"/>
                <a:cs typeface="Cambria"/>
              </a:rPr>
            </a:br>
            <a:br>
              <a:rPr lang="en-US" dirty="0">
                <a:solidFill>
                  <a:schemeClr val="tx1">
                    <a:lumMod val="50000"/>
                    <a:lumOff val="50000"/>
                  </a:schemeClr>
                </a:solidFill>
                <a:latin typeface="+mj-lt"/>
                <a:cs typeface="Cambria"/>
              </a:rPr>
            </a:br>
            <a:r>
              <a:rPr lang="en-US" dirty="0">
                <a:solidFill>
                  <a:schemeClr val="tx1">
                    <a:lumMod val="50000"/>
                    <a:lumOff val="50000"/>
                  </a:schemeClr>
                </a:solidFill>
                <a:latin typeface="+mj-lt"/>
                <a:cs typeface="Cambria"/>
              </a:rPr>
              <a:t>27.06.2026</a:t>
            </a:r>
            <a:br>
              <a:rPr lang="en-US" dirty="0">
                <a:solidFill>
                  <a:schemeClr val="tx1">
                    <a:lumMod val="50000"/>
                    <a:lumOff val="50000"/>
                  </a:schemeClr>
                </a:solidFill>
                <a:latin typeface="+mj-lt"/>
                <a:cs typeface="Cambria"/>
              </a:rPr>
            </a:br>
            <a:r>
              <a:rPr lang="en-US" dirty="0">
                <a:solidFill>
                  <a:schemeClr val="tx1">
                    <a:lumMod val="50000"/>
                    <a:lumOff val="50000"/>
                  </a:schemeClr>
                </a:solidFill>
                <a:latin typeface="+mj-lt"/>
                <a:cs typeface="Cambria"/>
              </a:rPr>
              <a:t>R&amp;DB Tutorial at ISCA’26</a:t>
            </a:r>
          </a:p>
        </p:txBody>
      </p:sp>
      <p:pic>
        <p:nvPicPr>
          <p:cNvPr id="3" name="Graphic 2">
            <a:extLst>
              <a:ext uri="{FF2B5EF4-FFF2-40B4-BE49-F238E27FC236}">
                <a16:creationId xmlns:a16="http://schemas.microsoft.com/office/drawing/2014/main" id="{A9850161-7E14-8A07-DEC7-856209AAD7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4556" y="6128926"/>
            <a:ext cx="2176678" cy="418752"/>
          </a:xfrm>
          <a:prstGeom prst="rect">
            <a:avLst/>
          </a:prstGeom>
        </p:spPr>
      </p:pic>
      <p:pic>
        <p:nvPicPr>
          <p:cNvPr id="10" name="Picture 9">
            <a:extLst>
              <a:ext uri="{FF2B5EF4-FFF2-40B4-BE49-F238E27FC236}">
                <a16:creationId xmlns:a16="http://schemas.microsoft.com/office/drawing/2014/main" id="{01A5CE2E-7494-B79C-6C20-20A39F24572B}"/>
              </a:ext>
            </a:extLst>
          </p:cNvPr>
          <p:cNvPicPr>
            <a:picLocks noChangeAspect="1"/>
          </p:cNvPicPr>
          <p:nvPr userDrawn="1"/>
        </p:nvPicPr>
        <p:blipFill rotWithShape="1">
          <a:blip r:embed="rId4"/>
          <a:srcRect l="11820" t="33599" r="12247" b="30996"/>
          <a:stretch/>
        </p:blipFill>
        <p:spPr>
          <a:xfrm>
            <a:off x="6111979" y="6090478"/>
            <a:ext cx="2657465" cy="457200"/>
          </a:xfrm>
          <a:prstGeom prst="rect">
            <a:avLst/>
          </a:prstGeom>
        </p:spPr>
      </p:pic>
    </p:spTree>
    <p:extLst>
      <p:ext uri="{BB962C8B-B14F-4D97-AF65-F5344CB8AC3E}">
        <p14:creationId xmlns:p14="http://schemas.microsoft.com/office/powerpoint/2010/main" val="27211920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0AE3-104E-AD06-6E2C-1E48F3CCCA1E}"/>
            </a:ext>
          </a:extLst>
        </p:cNvPr>
        <p:cNvGrpSpPr/>
        <p:nvPr/>
      </p:nvGrpSpPr>
      <p:grpSpPr>
        <a:xfrm>
          <a:off x="0" y="0"/>
          <a:ext cx="0" cy="0"/>
          <a:chOff x="0" y="0"/>
          <a:chExt cx="0" cy="0"/>
        </a:xfrm>
      </p:grpSpPr>
      <p:sp>
        <p:nvSpPr>
          <p:cNvPr id="104" name="Title 1">
            <a:extLst>
              <a:ext uri="{FF2B5EF4-FFF2-40B4-BE49-F238E27FC236}">
                <a16:creationId xmlns:a16="http://schemas.microsoft.com/office/drawing/2014/main" id="{49ED4C44-AFEE-8058-B87F-DD8855869AEB}"/>
              </a:ext>
            </a:extLst>
          </p:cNvPr>
          <p:cNvSpPr txBox="1">
            <a:spLocks/>
          </p:cNvSpPr>
          <p:nvPr/>
        </p:nvSpPr>
        <p:spPr>
          <a:xfrm>
            <a:off x="0" y="-1"/>
            <a:ext cx="9144000" cy="3979309"/>
          </a:xfrm>
          <a:prstGeom prst="rect">
            <a:avLst/>
          </a:prstGeom>
          <a:solidFill>
            <a:srgbClr val="CFDEFD"/>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6600" b="1">
              <a:solidFill>
                <a:srgbClr val="70AD47"/>
              </a:solidFill>
            </a:endParaRPr>
          </a:p>
        </p:txBody>
      </p:sp>
      <p:pic>
        <p:nvPicPr>
          <p:cNvPr id="2" name="Picture 1" descr="A red circle with white text&#10;&#10;AI-generated content may be incorrect.">
            <a:extLst>
              <a:ext uri="{FF2B5EF4-FFF2-40B4-BE49-F238E27FC236}">
                <a16:creationId xmlns:a16="http://schemas.microsoft.com/office/drawing/2014/main" id="{44091162-FCE2-A6E9-9135-D2AD0CFFF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7104" y="139787"/>
            <a:ext cx="984643" cy="979434"/>
          </a:xfrm>
          <a:prstGeom prst="rect">
            <a:avLst/>
          </a:prstGeom>
        </p:spPr>
      </p:pic>
      <p:pic>
        <p:nvPicPr>
          <p:cNvPr id="4" name="Picture 3" descr="A green circle with white text and a white circle with a white circle and a white circle with a white circle with a white circle with a white circle with a white circle with a white circle with&#10;&#10;AI-generated content may be incorrect.">
            <a:extLst>
              <a:ext uri="{FF2B5EF4-FFF2-40B4-BE49-F238E27FC236}">
                <a16:creationId xmlns:a16="http://schemas.microsoft.com/office/drawing/2014/main" id="{34A50D65-6AE6-E68C-B3FE-54FA7E57FD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5376" y="139787"/>
            <a:ext cx="984643" cy="979434"/>
          </a:xfrm>
          <a:prstGeom prst="rect">
            <a:avLst/>
          </a:prstGeom>
        </p:spPr>
      </p:pic>
      <p:pic>
        <p:nvPicPr>
          <p:cNvPr id="5" name="Picture 4" descr="A blue circle with white text&#10;&#10;AI-generated content may be incorrect.">
            <a:extLst>
              <a:ext uri="{FF2B5EF4-FFF2-40B4-BE49-F238E27FC236}">
                <a16:creationId xmlns:a16="http://schemas.microsoft.com/office/drawing/2014/main" id="{89A66EDB-7BF5-EF92-D663-6D4000AFB2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8833" y="139787"/>
            <a:ext cx="984643" cy="979434"/>
          </a:xfrm>
          <a:prstGeom prst="rect">
            <a:avLst/>
          </a:prstGeom>
        </p:spPr>
      </p:pic>
      <p:sp>
        <p:nvSpPr>
          <p:cNvPr id="102" name="Title 1">
            <a:extLst>
              <a:ext uri="{FF2B5EF4-FFF2-40B4-BE49-F238E27FC236}">
                <a16:creationId xmlns:a16="http://schemas.microsoft.com/office/drawing/2014/main" id="{E92768D0-BEB8-78EC-37D7-72755D11F542}"/>
              </a:ext>
            </a:extLst>
          </p:cNvPr>
          <p:cNvSpPr>
            <a:spLocks noGrp="1"/>
          </p:cNvSpPr>
          <p:nvPr>
            <p:ph type="ctrTitle"/>
          </p:nvPr>
        </p:nvSpPr>
        <p:spPr>
          <a:xfrm>
            <a:off x="374556" y="1549927"/>
            <a:ext cx="8394888" cy="2387600"/>
          </a:xfrm>
          <a:prstGeom prst="rect">
            <a:avLst/>
          </a:prstGeom>
          <a:noFill/>
        </p:spPr>
        <p:txBody>
          <a:bodyPr anchor="ctr">
            <a:noAutofit/>
          </a:bodyPr>
          <a:lstStyle/>
          <a:p>
            <a:pPr algn="ctr">
              <a:lnSpc>
                <a:spcPct val="75000"/>
              </a:lnSpc>
            </a:pPr>
            <a:r>
              <a:rPr lang="en-US" b="1">
                <a:solidFill>
                  <a:srgbClr val="DC5F0B"/>
                </a:solidFill>
              </a:rPr>
              <a:t>Cleaning up the Mess</a:t>
            </a:r>
            <a:br>
              <a:rPr lang="en-US" sz="5400" b="1">
                <a:solidFill>
                  <a:srgbClr val="DC5F0B"/>
                </a:solidFill>
              </a:rPr>
            </a:br>
            <a:br>
              <a:rPr lang="en-US" sz="1000" b="1">
                <a:solidFill>
                  <a:srgbClr val="DC5F0B"/>
                </a:solidFill>
              </a:rPr>
            </a:br>
            <a:r>
              <a:rPr lang="en-US" sz="3600" b="1" spc="100"/>
              <a:t>Re-Evaluating the Real-System</a:t>
            </a:r>
            <a:br>
              <a:rPr lang="en-US" sz="3600" b="1" spc="100"/>
            </a:br>
            <a:r>
              <a:rPr lang="en-US" sz="3600" b="1" spc="100"/>
              <a:t>Modeling Accuracy of </a:t>
            </a:r>
            <a:r>
              <a:rPr lang="en-US" sz="3600" b="1" spc="100" err="1"/>
              <a:t>Ramulator</a:t>
            </a:r>
            <a:r>
              <a:rPr lang="en-US" sz="3600" b="1" spc="100"/>
              <a:t> 2.0</a:t>
            </a:r>
            <a:endParaRPr lang="en-US" sz="4800" b="1" spc="100">
              <a:cs typeface="Cambria"/>
            </a:endParaRPr>
          </a:p>
        </p:txBody>
      </p:sp>
      <p:sp>
        <p:nvSpPr>
          <p:cNvPr id="103" name="Subtitle 2">
            <a:extLst>
              <a:ext uri="{FF2B5EF4-FFF2-40B4-BE49-F238E27FC236}">
                <a16:creationId xmlns:a16="http://schemas.microsoft.com/office/drawing/2014/main" id="{3F94AECB-5688-BCF3-7D66-B39529F71AEC}"/>
              </a:ext>
            </a:extLst>
          </p:cNvPr>
          <p:cNvSpPr>
            <a:spLocks noGrp="1"/>
          </p:cNvSpPr>
          <p:nvPr>
            <p:ph type="subTitle" idx="1"/>
          </p:nvPr>
        </p:nvSpPr>
        <p:spPr>
          <a:xfrm>
            <a:off x="374556" y="4100370"/>
            <a:ext cx="8394888" cy="1907493"/>
          </a:xfrm>
          <a:prstGeom prst="rect">
            <a:avLst/>
          </a:prstGeom>
        </p:spPr>
        <p:txBody>
          <a:bodyPr anchor="ctr">
            <a:noAutofit/>
          </a:bodyPr>
          <a:lstStyle/>
          <a:p>
            <a:pPr marL="0" indent="0" algn="ctr">
              <a:lnSpc>
                <a:spcPct val="100000"/>
              </a:lnSpc>
              <a:buNone/>
            </a:pPr>
            <a:r>
              <a:rPr lang="en-US">
                <a:latin typeface="+mj-lt"/>
                <a:cs typeface="Cambria"/>
              </a:rPr>
              <a:t>F. Nisa </a:t>
            </a:r>
            <a:r>
              <a:rPr lang="en-US" err="1">
                <a:latin typeface="+mj-lt"/>
                <a:cs typeface="Cambria"/>
              </a:rPr>
              <a:t>Bostanc</a:t>
            </a:r>
            <a:r>
              <a:rPr lang="tr-TR">
                <a:latin typeface="+mj-lt"/>
                <a:cs typeface="Cambria"/>
              </a:rPr>
              <a:t>ı</a:t>
            </a:r>
            <a:r>
              <a:rPr lang="en-US">
                <a:latin typeface="+mj-lt"/>
                <a:cs typeface="Cambria"/>
              </a:rPr>
              <a:t>*	</a:t>
            </a:r>
            <a:r>
              <a:rPr lang="en-US" err="1">
                <a:latin typeface="+mj-lt"/>
                <a:cs typeface="Cambria"/>
              </a:rPr>
              <a:t>Haocong</a:t>
            </a:r>
            <a:r>
              <a:rPr lang="en-US">
                <a:latin typeface="+mj-lt"/>
                <a:cs typeface="Cambria"/>
              </a:rPr>
              <a:t> Luo*		</a:t>
            </a:r>
            <a:r>
              <a:rPr lang="en-US" err="1">
                <a:solidFill>
                  <a:schemeClr val="bg2">
                    <a:lumMod val="50000"/>
                  </a:schemeClr>
                </a:solidFill>
                <a:latin typeface="+mj-lt"/>
                <a:cs typeface="Cambria"/>
              </a:rPr>
              <a:t>Ataberk</a:t>
            </a:r>
            <a:r>
              <a:rPr lang="en-US">
                <a:solidFill>
                  <a:schemeClr val="bg2">
                    <a:lumMod val="50000"/>
                  </a:schemeClr>
                </a:solidFill>
                <a:latin typeface="+mj-lt"/>
                <a:cs typeface="Cambria"/>
              </a:rPr>
              <a:t> Olgun*</a:t>
            </a:r>
            <a:br>
              <a:rPr lang="en-US">
                <a:solidFill>
                  <a:schemeClr val="bg2">
                    <a:lumMod val="50000"/>
                  </a:schemeClr>
                </a:solidFill>
                <a:latin typeface="+mj-lt"/>
                <a:cs typeface="Cambria"/>
              </a:rPr>
            </a:br>
            <a:r>
              <a:rPr lang="en-US">
                <a:solidFill>
                  <a:schemeClr val="bg2">
                    <a:lumMod val="50000"/>
                  </a:schemeClr>
                </a:solidFill>
                <a:latin typeface="+mj-lt"/>
                <a:cs typeface="Cambria"/>
              </a:rPr>
              <a:t>Maria </a:t>
            </a:r>
            <a:r>
              <a:rPr lang="en-US" err="1">
                <a:solidFill>
                  <a:schemeClr val="bg2">
                    <a:lumMod val="50000"/>
                  </a:schemeClr>
                </a:solidFill>
                <a:latin typeface="+mj-lt"/>
                <a:cs typeface="Cambria"/>
              </a:rPr>
              <a:t>Makeenkova</a:t>
            </a:r>
            <a:r>
              <a:rPr lang="en-US">
                <a:solidFill>
                  <a:schemeClr val="bg2">
                    <a:lumMod val="50000"/>
                  </a:schemeClr>
                </a:solidFill>
                <a:latin typeface="+mj-lt"/>
                <a:cs typeface="Cambria"/>
              </a:rPr>
              <a:t>	Geraldo F. de Oliveira</a:t>
            </a:r>
            <a:br>
              <a:rPr lang="en-US">
                <a:solidFill>
                  <a:schemeClr val="bg2">
                    <a:lumMod val="50000"/>
                  </a:schemeClr>
                </a:solidFill>
                <a:latin typeface="+mj-lt"/>
                <a:cs typeface="Cambria"/>
              </a:rPr>
            </a:br>
            <a:r>
              <a:rPr lang="en-US">
                <a:solidFill>
                  <a:schemeClr val="bg2">
                    <a:lumMod val="50000"/>
                  </a:schemeClr>
                </a:solidFill>
                <a:latin typeface="+mj-lt"/>
                <a:cs typeface="Cambria"/>
              </a:rPr>
              <a:t>A. Giray Ya</a:t>
            </a:r>
            <a:r>
              <a:rPr lang="tr-TR" err="1">
                <a:solidFill>
                  <a:schemeClr val="bg2">
                    <a:lumMod val="50000"/>
                  </a:schemeClr>
                </a:solidFill>
                <a:latin typeface="+mj-lt"/>
                <a:cs typeface="Cambria"/>
              </a:rPr>
              <a:t>ğlıkçı</a:t>
            </a:r>
            <a:r>
              <a:rPr lang="en-US">
                <a:solidFill>
                  <a:schemeClr val="bg2">
                    <a:lumMod val="50000"/>
                  </a:schemeClr>
                </a:solidFill>
                <a:latin typeface="+mj-lt"/>
                <a:cs typeface="Cambria"/>
              </a:rPr>
              <a:t>	Onur Mutlu</a:t>
            </a:r>
            <a:br>
              <a:rPr lang="en-US">
                <a:solidFill>
                  <a:schemeClr val="bg2">
                    <a:lumMod val="50000"/>
                  </a:schemeClr>
                </a:solidFill>
                <a:latin typeface="+mj-lt"/>
                <a:cs typeface="Cambria"/>
              </a:rPr>
            </a:br>
            <a:br>
              <a:rPr lang="en-US" sz="1000">
                <a:solidFill>
                  <a:schemeClr val="bg2">
                    <a:lumMod val="50000"/>
                  </a:schemeClr>
                </a:solidFill>
                <a:latin typeface="+mj-lt"/>
                <a:cs typeface="Cambria"/>
              </a:rPr>
            </a:br>
            <a:r>
              <a:rPr lang="en-US" sz="1800">
                <a:solidFill>
                  <a:schemeClr val="bg2">
                    <a:lumMod val="75000"/>
                  </a:schemeClr>
                </a:solidFill>
                <a:latin typeface="+mj-lt"/>
                <a:cs typeface="Cambria"/>
              </a:rPr>
              <a:t>* Equal Contribution</a:t>
            </a:r>
          </a:p>
        </p:txBody>
      </p:sp>
      <p:pic>
        <p:nvPicPr>
          <p:cNvPr id="3" name="Graphic 2">
            <a:extLst>
              <a:ext uri="{FF2B5EF4-FFF2-40B4-BE49-F238E27FC236}">
                <a16:creationId xmlns:a16="http://schemas.microsoft.com/office/drawing/2014/main" id="{5A8B1527-B505-2B58-42B3-B690F188A8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556" y="6128926"/>
            <a:ext cx="2176678" cy="418752"/>
          </a:xfrm>
          <a:prstGeom prst="rect">
            <a:avLst/>
          </a:prstGeom>
        </p:spPr>
      </p:pic>
      <p:pic>
        <p:nvPicPr>
          <p:cNvPr id="10" name="Picture 9">
            <a:extLst>
              <a:ext uri="{FF2B5EF4-FFF2-40B4-BE49-F238E27FC236}">
                <a16:creationId xmlns:a16="http://schemas.microsoft.com/office/drawing/2014/main" id="{C6325262-12C3-706D-6091-2A94F3B84B62}"/>
              </a:ext>
            </a:extLst>
          </p:cNvPr>
          <p:cNvPicPr>
            <a:picLocks noChangeAspect="1"/>
          </p:cNvPicPr>
          <p:nvPr userDrawn="1"/>
        </p:nvPicPr>
        <p:blipFill rotWithShape="1">
          <a:blip r:embed="rId7"/>
          <a:srcRect l="11820" t="33599" r="12247" b="30996"/>
          <a:stretch/>
        </p:blipFill>
        <p:spPr>
          <a:xfrm>
            <a:off x="6111979" y="6090478"/>
            <a:ext cx="2657465" cy="457200"/>
          </a:xfrm>
          <a:prstGeom prst="rect">
            <a:avLst/>
          </a:prstGeom>
        </p:spPr>
      </p:pic>
      <p:sp>
        <p:nvSpPr>
          <p:cNvPr id="6" name="Rectangle 5">
            <a:extLst>
              <a:ext uri="{FF2B5EF4-FFF2-40B4-BE49-F238E27FC236}">
                <a16:creationId xmlns:a16="http://schemas.microsoft.com/office/drawing/2014/main" id="{326DFD74-D89D-7619-8927-B9E1675764BA}"/>
              </a:ext>
            </a:extLst>
          </p:cNvPr>
          <p:cNvSpPr/>
          <p:nvPr/>
        </p:nvSpPr>
        <p:spPr>
          <a:xfrm>
            <a:off x="0" y="3618411"/>
            <a:ext cx="9144000" cy="440178"/>
          </a:xfrm>
          <a:prstGeom prst="rect">
            <a:avLst/>
          </a:prstGeom>
          <a:solidFill>
            <a:srgbClr val="FF5F25"/>
          </a:solidFill>
          <a:ln>
            <a:solidFill>
              <a:srgbClr val="F23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Backup Slides</a:t>
            </a:r>
          </a:p>
        </p:txBody>
      </p:sp>
    </p:spTree>
    <p:extLst>
      <p:ext uri="{BB962C8B-B14F-4D97-AF65-F5344CB8AC3E}">
        <p14:creationId xmlns:p14="http://schemas.microsoft.com/office/powerpoint/2010/main" val="9743413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256A4-7009-BB5F-946B-34E962BD8493}"/>
              </a:ext>
            </a:extLst>
          </p:cNvPr>
          <p:cNvSpPr>
            <a:spLocks noGrp="1"/>
          </p:cNvSpPr>
          <p:nvPr>
            <p:ph type="title"/>
          </p:nvPr>
        </p:nvSpPr>
        <p:spPr/>
        <p:txBody>
          <a:bodyPr/>
          <a:lstStyle/>
          <a:p>
            <a:r>
              <a:rPr lang="en-US"/>
              <a:t>Maximum Achievable Bandwidth</a:t>
            </a:r>
          </a:p>
        </p:txBody>
      </p:sp>
      <p:sp>
        <p:nvSpPr>
          <p:cNvPr id="3" name="Content Placeholder 2">
            <a:extLst>
              <a:ext uri="{FF2B5EF4-FFF2-40B4-BE49-F238E27FC236}">
                <a16:creationId xmlns:a16="http://schemas.microsoft.com/office/drawing/2014/main" id="{AEF47DA0-04BF-ABF5-AEC8-71E498F4DAA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1AB3D59-8433-291E-F054-BF20033C89C3}"/>
              </a:ext>
            </a:extLst>
          </p:cNvPr>
          <p:cNvSpPr>
            <a:spLocks noGrp="1"/>
          </p:cNvSpPr>
          <p:nvPr>
            <p:ph type="sldNum" sz="quarter" idx="12"/>
          </p:nvPr>
        </p:nvSpPr>
        <p:spPr/>
        <p:txBody>
          <a:bodyPr/>
          <a:lstStyle/>
          <a:p>
            <a:fld id="{CBE5B309-C2CE-4D90-B104-F7E98438FC65}" type="slidenum">
              <a:rPr lang="tr-TR" smtClean="0"/>
              <a:pPr/>
              <a:t>89</a:t>
            </a:fld>
            <a:endParaRPr lang="tr-TR"/>
          </a:p>
        </p:txBody>
      </p:sp>
      <p:pic>
        <p:nvPicPr>
          <p:cNvPr id="6" name="Picture 5">
            <a:extLst>
              <a:ext uri="{FF2B5EF4-FFF2-40B4-BE49-F238E27FC236}">
                <a16:creationId xmlns:a16="http://schemas.microsoft.com/office/drawing/2014/main" id="{02C1F53C-59FC-C0BD-AD08-2006FACEB75B}"/>
              </a:ext>
            </a:extLst>
          </p:cNvPr>
          <p:cNvPicPr>
            <a:picLocks noChangeAspect="1"/>
          </p:cNvPicPr>
          <p:nvPr/>
        </p:nvPicPr>
        <p:blipFill>
          <a:blip r:embed="rId2"/>
          <a:stretch>
            <a:fillRect/>
          </a:stretch>
        </p:blipFill>
        <p:spPr>
          <a:xfrm>
            <a:off x="0" y="2316663"/>
            <a:ext cx="9144000" cy="2224673"/>
          </a:xfrm>
          <a:prstGeom prst="rect">
            <a:avLst/>
          </a:prstGeom>
        </p:spPr>
      </p:pic>
    </p:spTree>
    <p:extLst>
      <p:ext uri="{BB962C8B-B14F-4D97-AF65-F5344CB8AC3E}">
        <p14:creationId xmlns:p14="http://schemas.microsoft.com/office/powerpoint/2010/main" val="31274921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ED0AB-93EF-DE39-7658-5FBA13CC482D}"/>
              </a:ext>
            </a:extLst>
          </p:cNvPr>
          <p:cNvSpPr>
            <a:spLocks noGrp="1"/>
          </p:cNvSpPr>
          <p:nvPr>
            <p:ph type="title"/>
          </p:nvPr>
        </p:nvSpPr>
        <p:spPr/>
        <p:txBody>
          <a:bodyPr/>
          <a:lstStyle/>
          <a:p>
            <a:r>
              <a:rPr lang="en-US"/>
              <a:t>Further Evaluation of DAMOV Results</a:t>
            </a:r>
          </a:p>
        </p:txBody>
      </p:sp>
      <p:sp>
        <p:nvSpPr>
          <p:cNvPr id="3" name="Content Placeholder 2">
            <a:extLst>
              <a:ext uri="{FF2B5EF4-FFF2-40B4-BE49-F238E27FC236}">
                <a16:creationId xmlns:a16="http://schemas.microsoft.com/office/drawing/2014/main" id="{E11BBDA6-BED3-8DB1-C1E6-58ACC5FC6CD7}"/>
              </a:ext>
            </a:extLst>
          </p:cNvPr>
          <p:cNvSpPr>
            <a:spLocks noGrp="1"/>
          </p:cNvSpPr>
          <p:nvPr>
            <p:ph idx="1"/>
          </p:nvPr>
        </p:nvSpPr>
        <p:spPr>
          <a:xfrm>
            <a:off x="-1" y="4870763"/>
            <a:ext cx="9143999" cy="1306199"/>
          </a:xfrm>
        </p:spPr>
        <p:txBody>
          <a:bodyPr>
            <a:normAutofit fontScale="92500" lnSpcReduction="20000"/>
          </a:bodyPr>
          <a:lstStyle/>
          <a:p>
            <a:r>
              <a:rPr lang="en-GB" sz="2600"/>
              <a:t>The bandwidth gap can be caused by a combination of workload characteristics, system configuration, and the integration of the core and memory models</a:t>
            </a:r>
          </a:p>
          <a:p>
            <a:pPr lvl="1"/>
            <a:r>
              <a:rPr lang="en-GB" sz="2600"/>
              <a:t>E.g., DRAM address mapping, core model optimizations </a:t>
            </a:r>
          </a:p>
          <a:p>
            <a:endParaRPr lang="en-US"/>
          </a:p>
        </p:txBody>
      </p:sp>
      <p:sp>
        <p:nvSpPr>
          <p:cNvPr id="4" name="Slide Number Placeholder 3">
            <a:extLst>
              <a:ext uri="{FF2B5EF4-FFF2-40B4-BE49-F238E27FC236}">
                <a16:creationId xmlns:a16="http://schemas.microsoft.com/office/drawing/2014/main" id="{8438A845-CB90-021C-0D04-FA37E6D186A1}"/>
              </a:ext>
            </a:extLst>
          </p:cNvPr>
          <p:cNvSpPr>
            <a:spLocks noGrp="1"/>
          </p:cNvSpPr>
          <p:nvPr>
            <p:ph type="sldNum" sz="quarter" idx="12"/>
          </p:nvPr>
        </p:nvSpPr>
        <p:spPr/>
        <p:txBody>
          <a:bodyPr/>
          <a:lstStyle/>
          <a:p>
            <a:fld id="{CBE5B309-C2CE-4D90-B104-F7E98438FC65}" type="slidenum">
              <a:rPr lang="tr-TR" smtClean="0"/>
              <a:pPr/>
              <a:t>90</a:t>
            </a:fld>
            <a:endParaRPr lang="tr-TR"/>
          </a:p>
        </p:txBody>
      </p:sp>
      <p:pic>
        <p:nvPicPr>
          <p:cNvPr id="6" name="Picture 5">
            <a:extLst>
              <a:ext uri="{FF2B5EF4-FFF2-40B4-BE49-F238E27FC236}">
                <a16:creationId xmlns:a16="http://schemas.microsoft.com/office/drawing/2014/main" id="{24F60B3A-87CD-5471-5579-BB0DF04E25B2}"/>
              </a:ext>
            </a:extLst>
          </p:cNvPr>
          <p:cNvPicPr>
            <a:picLocks noChangeAspect="1"/>
          </p:cNvPicPr>
          <p:nvPr/>
        </p:nvPicPr>
        <p:blipFill>
          <a:blip r:embed="rId2">
            <a:extLst>
              <a:ext uri="{28A0092B-C50C-407E-A947-70E740481C1C}">
                <a14:useLocalDpi xmlns:a14="http://schemas.microsoft.com/office/drawing/2010/main" val="0"/>
              </a:ext>
            </a:extLst>
          </a:blip>
          <a:srcRect t="7084"/>
          <a:stretch>
            <a:fillRect/>
          </a:stretch>
        </p:blipFill>
        <p:spPr>
          <a:xfrm>
            <a:off x="1387881" y="987087"/>
            <a:ext cx="6845010" cy="3816086"/>
          </a:xfrm>
          <a:prstGeom prst="rect">
            <a:avLst/>
          </a:prstGeom>
        </p:spPr>
      </p:pic>
      <p:sp>
        <p:nvSpPr>
          <p:cNvPr id="9" name="Rectangle 8">
            <a:extLst>
              <a:ext uri="{FF2B5EF4-FFF2-40B4-BE49-F238E27FC236}">
                <a16:creationId xmlns:a16="http://schemas.microsoft.com/office/drawing/2014/main" id="{618D91B9-FD8A-962E-897F-AB13A8CF5834}"/>
              </a:ext>
            </a:extLst>
          </p:cNvPr>
          <p:cNvSpPr/>
          <p:nvPr/>
        </p:nvSpPr>
        <p:spPr>
          <a:xfrm>
            <a:off x="5625494" y="1826928"/>
            <a:ext cx="1090164" cy="2395056"/>
          </a:xfrm>
          <a:prstGeom prst="rect">
            <a:avLst/>
          </a:prstGeom>
          <a:solidFill>
            <a:srgbClr val="F23F00">
              <a:alpha val="2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15254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EB20-62DA-4AA4-97A7-D832CC7AC1D4}"/>
              </a:ext>
            </a:extLst>
          </p:cNvPr>
          <p:cNvSpPr>
            <a:spLocks noGrp="1"/>
          </p:cNvSpPr>
          <p:nvPr>
            <p:ph type="title"/>
          </p:nvPr>
        </p:nvSpPr>
        <p:spPr/>
        <p:txBody>
          <a:bodyPr/>
          <a:lstStyle/>
          <a:p>
            <a:r>
              <a:rPr lang="en-US" err="1"/>
              <a:t>Ramulator</a:t>
            </a:r>
            <a:r>
              <a:rPr lang="en-US"/>
              <a:t> (v1) – Mess Benchmark</a:t>
            </a:r>
          </a:p>
        </p:txBody>
      </p:sp>
      <p:sp>
        <p:nvSpPr>
          <p:cNvPr id="4" name="Slide Number Placeholder 3">
            <a:extLst>
              <a:ext uri="{FF2B5EF4-FFF2-40B4-BE49-F238E27FC236}">
                <a16:creationId xmlns:a16="http://schemas.microsoft.com/office/drawing/2014/main" id="{F98BC84A-EABB-E1F3-4004-BBD21B6716FB}"/>
              </a:ext>
            </a:extLst>
          </p:cNvPr>
          <p:cNvSpPr>
            <a:spLocks noGrp="1"/>
          </p:cNvSpPr>
          <p:nvPr>
            <p:ph type="sldNum" sz="quarter" idx="12"/>
          </p:nvPr>
        </p:nvSpPr>
        <p:spPr/>
        <p:txBody>
          <a:bodyPr/>
          <a:lstStyle/>
          <a:p>
            <a:fld id="{CBE5B309-C2CE-4D90-B104-F7E98438FC65}" type="slidenum">
              <a:rPr lang="tr-TR" smtClean="0"/>
              <a:pPr/>
              <a:t>91</a:t>
            </a:fld>
            <a:endParaRPr lang="tr-TR"/>
          </a:p>
        </p:txBody>
      </p:sp>
      <p:pic>
        <p:nvPicPr>
          <p:cNvPr id="8" name="Content Placeholder 7">
            <a:extLst>
              <a:ext uri="{FF2B5EF4-FFF2-40B4-BE49-F238E27FC236}">
                <a16:creationId xmlns:a16="http://schemas.microsoft.com/office/drawing/2014/main" id="{9F6B40E2-C195-0DD9-4E28-46C1B4AED6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41854"/>
            <a:ext cx="9144000" cy="5220556"/>
          </a:xfrm>
          <a:prstGeom prst="rect">
            <a:avLst/>
          </a:prstGeom>
        </p:spPr>
      </p:pic>
    </p:spTree>
    <p:extLst>
      <p:ext uri="{BB962C8B-B14F-4D97-AF65-F5344CB8AC3E}">
        <p14:creationId xmlns:p14="http://schemas.microsoft.com/office/powerpoint/2010/main" val="26848609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C72D-34CB-9659-5DD4-9B57C9DF99EA}"/>
              </a:ext>
            </a:extLst>
          </p:cNvPr>
          <p:cNvSpPr>
            <a:spLocks noGrp="1"/>
          </p:cNvSpPr>
          <p:nvPr>
            <p:ph type="title"/>
          </p:nvPr>
        </p:nvSpPr>
        <p:spPr/>
        <p:txBody>
          <a:bodyPr/>
          <a:lstStyle/>
          <a:p>
            <a:r>
              <a:rPr lang="en-US"/>
              <a:t>Another DDR4 Real System Result </a:t>
            </a:r>
            <a:br>
              <a:rPr lang="en-US"/>
            </a:br>
            <a:r>
              <a:rPr lang="en-US"/>
              <a:t>from the Mess Paper</a:t>
            </a:r>
          </a:p>
        </p:txBody>
      </p:sp>
      <p:sp>
        <p:nvSpPr>
          <p:cNvPr id="3" name="Content Placeholder 2">
            <a:extLst>
              <a:ext uri="{FF2B5EF4-FFF2-40B4-BE49-F238E27FC236}">
                <a16:creationId xmlns:a16="http://schemas.microsoft.com/office/drawing/2014/main" id="{CEE2334E-1A32-EE25-35D7-EF358A4F1C7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5DEE40E-D75F-1E8B-946B-0E839813CCE7}"/>
              </a:ext>
            </a:extLst>
          </p:cNvPr>
          <p:cNvSpPr>
            <a:spLocks noGrp="1"/>
          </p:cNvSpPr>
          <p:nvPr>
            <p:ph type="sldNum" sz="quarter" idx="12"/>
          </p:nvPr>
        </p:nvSpPr>
        <p:spPr/>
        <p:txBody>
          <a:bodyPr/>
          <a:lstStyle/>
          <a:p>
            <a:fld id="{CBE5B309-C2CE-4D90-B104-F7E98438FC65}" type="slidenum">
              <a:rPr lang="tr-TR" smtClean="0"/>
              <a:pPr/>
              <a:t>92</a:t>
            </a:fld>
            <a:endParaRPr lang="tr-TR"/>
          </a:p>
        </p:txBody>
      </p:sp>
      <p:pic>
        <p:nvPicPr>
          <p:cNvPr id="6" name="Picture 5">
            <a:extLst>
              <a:ext uri="{FF2B5EF4-FFF2-40B4-BE49-F238E27FC236}">
                <a16:creationId xmlns:a16="http://schemas.microsoft.com/office/drawing/2014/main" id="{7EF9A4A2-3DF9-4F7F-50BE-AD790BDC8C98}"/>
              </a:ext>
            </a:extLst>
          </p:cNvPr>
          <p:cNvPicPr>
            <a:picLocks noChangeAspect="1"/>
          </p:cNvPicPr>
          <p:nvPr/>
        </p:nvPicPr>
        <p:blipFill>
          <a:blip r:embed="rId2"/>
          <a:stretch>
            <a:fillRect/>
          </a:stretch>
        </p:blipFill>
        <p:spPr>
          <a:xfrm>
            <a:off x="696685" y="1108446"/>
            <a:ext cx="8069943" cy="5353641"/>
          </a:xfrm>
          <a:prstGeom prst="rect">
            <a:avLst/>
          </a:prstGeom>
        </p:spPr>
      </p:pic>
    </p:spTree>
    <p:extLst>
      <p:ext uri="{BB962C8B-B14F-4D97-AF65-F5344CB8AC3E}">
        <p14:creationId xmlns:p14="http://schemas.microsoft.com/office/powerpoint/2010/main" val="3243370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DA57-84F3-0B86-8563-1E577043BD7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FC43D7E-AFDB-E465-FF10-992474D138CC}"/>
              </a:ext>
            </a:extLst>
          </p:cNvPr>
          <p:cNvSpPr>
            <a:spLocks noGrp="1"/>
          </p:cNvSpPr>
          <p:nvPr>
            <p:ph type="title"/>
          </p:nvPr>
        </p:nvSpPr>
        <p:spPr/>
        <p:txBody>
          <a:bodyPr>
            <a:noAutofit/>
          </a:bodyPr>
          <a:lstStyle/>
          <a:p>
            <a:r>
              <a:rPr lang="en-US" err="1"/>
              <a:t>Ramulator</a:t>
            </a:r>
            <a:r>
              <a:rPr lang="en-US"/>
              <a:t> 2.1 DRAM Standards Lat-</a:t>
            </a:r>
            <a:r>
              <a:rPr lang="en-US" err="1"/>
              <a:t>Tp</a:t>
            </a:r>
            <a:r>
              <a:rPr lang="en-US"/>
              <a:t> Plots</a:t>
            </a:r>
          </a:p>
        </p:txBody>
      </p:sp>
      <p:sp>
        <p:nvSpPr>
          <p:cNvPr id="4" name="Slide Number Placeholder 3">
            <a:extLst>
              <a:ext uri="{FF2B5EF4-FFF2-40B4-BE49-F238E27FC236}">
                <a16:creationId xmlns:a16="http://schemas.microsoft.com/office/drawing/2014/main" id="{4473F414-2214-A2C8-A576-18FDCA6E8312}"/>
              </a:ext>
            </a:extLst>
          </p:cNvPr>
          <p:cNvSpPr>
            <a:spLocks noGrp="1"/>
          </p:cNvSpPr>
          <p:nvPr>
            <p:ph type="sldNum" sz="quarter" idx="12"/>
          </p:nvPr>
        </p:nvSpPr>
        <p:spPr/>
        <p:txBody>
          <a:bodyPr/>
          <a:lstStyle/>
          <a:p>
            <a:fld id="{CBE5B309-C2CE-4D90-B104-F7E98438FC65}" type="slidenum">
              <a:rPr lang="tr-TR" smtClean="0"/>
              <a:pPr/>
              <a:t>93</a:t>
            </a:fld>
            <a:endParaRPr lang="tr-TR"/>
          </a:p>
        </p:txBody>
      </p:sp>
      <p:pic>
        <p:nvPicPr>
          <p:cNvPr id="6" name="Picture 5">
            <a:extLst>
              <a:ext uri="{FF2B5EF4-FFF2-40B4-BE49-F238E27FC236}">
                <a16:creationId xmlns:a16="http://schemas.microsoft.com/office/drawing/2014/main" id="{34AA1DF1-8102-209F-6F73-F3CB2D42B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83" y="1195036"/>
            <a:ext cx="3437737" cy="2383566"/>
          </a:xfrm>
          <a:prstGeom prst="rect">
            <a:avLst/>
          </a:prstGeom>
        </p:spPr>
      </p:pic>
      <p:pic>
        <p:nvPicPr>
          <p:cNvPr id="9" name="Picture 8" descr="A graph of a number of data&#10;&#10;AI-generated content may be incorrect.">
            <a:extLst>
              <a:ext uri="{FF2B5EF4-FFF2-40B4-BE49-F238E27FC236}">
                <a16:creationId xmlns:a16="http://schemas.microsoft.com/office/drawing/2014/main" id="{A353840F-AC5E-20D8-7FE1-EEA510D096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6958" y="1195036"/>
            <a:ext cx="3444068" cy="2383566"/>
          </a:xfrm>
          <a:prstGeom prst="rect">
            <a:avLst/>
          </a:prstGeom>
        </p:spPr>
      </p:pic>
      <p:pic>
        <p:nvPicPr>
          <p:cNvPr id="11" name="Picture 10">
            <a:extLst>
              <a:ext uri="{FF2B5EF4-FFF2-40B4-BE49-F238E27FC236}">
                <a16:creationId xmlns:a16="http://schemas.microsoft.com/office/drawing/2014/main" id="{AF755440-4F05-1F0A-5BC4-E1CAC8E142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481" y="3748998"/>
            <a:ext cx="3444069" cy="2383566"/>
          </a:xfrm>
          <a:prstGeom prst="rect">
            <a:avLst/>
          </a:prstGeom>
        </p:spPr>
      </p:pic>
      <p:pic>
        <p:nvPicPr>
          <p:cNvPr id="13" name="Picture 12">
            <a:extLst>
              <a:ext uri="{FF2B5EF4-FFF2-40B4-BE49-F238E27FC236}">
                <a16:creationId xmlns:a16="http://schemas.microsoft.com/office/drawing/2014/main" id="{71014FA5-6558-03F4-2F9C-C626F971F2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66958" y="3748997"/>
            <a:ext cx="3444067" cy="2383565"/>
          </a:xfrm>
          <a:prstGeom prst="rect">
            <a:avLst/>
          </a:prstGeom>
        </p:spPr>
      </p:pic>
    </p:spTree>
    <p:extLst>
      <p:ext uri="{BB962C8B-B14F-4D97-AF65-F5344CB8AC3E}">
        <p14:creationId xmlns:p14="http://schemas.microsoft.com/office/powerpoint/2010/main" val="39730601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7DBB2-A3E4-5413-470D-AB6D46BCE4E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FC24EAC-C04E-A888-BDFC-59FC535BD74E}"/>
              </a:ext>
            </a:extLst>
          </p:cNvPr>
          <p:cNvSpPr>
            <a:spLocks noGrp="1"/>
          </p:cNvSpPr>
          <p:nvPr>
            <p:ph type="title"/>
          </p:nvPr>
        </p:nvSpPr>
        <p:spPr/>
        <p:txBody>
          <a:bodyPr>
            <a:noAutofit/>
          </a:bodyPr>
          <a:lstStyle/>
          <a:p>
            <a:r>
              <a:rPr lang="en-US" err="1"/>
              <a:t>Ramulator</a:t>
            </a:r>
            <a:r>
              <a:rPr lang="en-US"/>
              <a:t> 2.1 DRAM Standards Lat-</a:t>
            </a:r>
            <a:r>
              <a:rPr lang="en-US" err="1"/>
              <a:t>Tp</a:t>
            </a:r>
            <a:r>
              <a:rPr lang="en-US"/>
              <a:t> Plots</a:t>
            </a:r>
          </a:p>
        </p:txBody>
      </p:sp>
      <p:sp>
        <p:nvSpPr>
          <p:cNvPr id="4" name="Slide Number Placeholder 3">
            <a:extLst>
              <a:ext uri="{FF2B5EF4-FFF2-40B4-BE49-F238E27FC236}">
                <a16:creationId xmlns:a16="http://schemas.microsoft.com/office/drawing/2014/main" id="{9788DBA7-91F5-BF35-8336-4DFA3C00981D}"/>
              </a:ext>
            </a:extLst>
          </p:cNvPr>
          <p:cNvSpPr>
            <a:spLocks noGrp="1"/>
          </p:cNvSpPr>
          <p:nvPr>
            <p:ph type="sldNum" sz="quarter" idx="12"/>
          </p:nvPr>
        </p:nvSpPr>
        <p:spPr/>
        <p:txBody>
          <a:bodyPr/>
          <a:lstStyle/>
          <a:p>
            <a:fld id="{CBE5B309-C2CE-4D90-B104-F7E98438FC65}" type="slidenum">
              <a:rPr lang="tr-TR" smtClean="0"/>
              <a:pPr/>
              <a:t>94</a:t>
            </a:fld>
            <a:endParaRPr lang="tr-TR"/>
          </a:p>
        </p:txBody>
      </p:sp>
      <p:pic>
        <p:nvPicPr>
          <p:cNvPr id="5" name="Picture 4" descr="A graph of a graph&#10;&#10;AI-generated content may be incorrect.">
            <a:extLst>
              <a:ext uri="{FF2B5EF4-FFF2-40B4-BE49-F238E27FC236}">
                <a16:creationId xmlns:a16="http://schemas.microsoft.com/office/drawing/2014/main" id="{B0C10B5A-5650-7787-975C-CB4D382E1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162" y="1538007"/>
            <a:ext cx="3380743" cy="2339237"/>
          </a:xfrm>
          <a:prstGeom prst="rect">
            <a:avLst/>
          </a:prstGeom>
        </p:spPr>
      </p:pic>
      <p:pic>
        <p:nvPicPr>
          <p:cNvPr id="8" name="Picture 7">
            <a:extLst>
              <a:ext uri="{FF2B5EF4-FFF2-40B4-BE49-F238E27FC236}">
                <a16:creationId xmlns:a16="http://schemas.microsoft.com/office/drawing/2014/main" id="{51D451E5-943B-0E84-A78D-3C21D77C4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4686" y="1538007"/>
            <a:ext cx="3387075" cy="2339237"/>
          </a:xfrm>
          <a:prstGeom prst="rect">
            <a:avLst/>
          </a:prstGeom>
        </p:spPr>
      </p:pic>
      <p:pic>
        <p:nvPicPr>
          <p:cNvPr id="12" name="Picture 11">
            <a:extLst>
              <a:ext uri="{FF2B5EF4-FFF2-40B4-BE49-F238E27FC236}">
                <a16:creationId xmlns:a16="http://schemas.microsoft.com/office/drawing/2014/main" id="{470CB72C-F54E-14ED-E1EF-61D92854AB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4450" y="3938141"/>
            <a:ext cx="3387074" cy="2339236"/>
          </a:xfrm>
          <a:prstGeom prst="rect">
            <a:avLst/>
          </a:prstGeom>
        </p:spPr>
      </p:pic>
      <p:sp>
        <p:nvSpPr>
          <p:cNvPr id="15" name="İçerik Yer Tutucusu 2">
            <a:extLst>
              <a:ext uri="{FF2B5EF4-FFF2-40B4-BE49-F238E27FC236}">
                <a16:creationId xmlns:a16="http://schemas.microsoft.com/office/drawing/2014/main" id="{8C7865AB-57F8-DB7B-88D8-D394AB5532E1}"/>
              </a:ext>
            </a:extLst>
          </p:cNvPr>
          <p:cNvSpPr>
            <a:spLocks noGrp="1"/>
          </p:cNvSpPr>
          <p:nvPr>
            <p:ph idx="1"/>
          </p:nvPr>
        </p:nvSpPr>
        <p:spPr>
          <a:xfrm>
            <a:off x="-1" y="931025"/>
            <a:ext cx="9143999" cy="5245938"/>
          </a:xfrm>
        </p:spPr>
        <p:txBody>
          <a:bodyPr vert="horz" lIns="91440" tIns="45720" rIns="91440" bIns="45720" rtlCol="0" anchor="t">
            <a:noAutofit/>
          </a:bodyPr>
          <a:lstStyle/>
          <a:p>
            <a:pPr marL="0" indent="0">
              <a:lnSpc>
                <a:spcPct val="100000"/>
              </a:lnSpc>
              <a:spcBef>
                <a:spcPts val="0"/>
              </a:spcBef>
              <a:buClr>
                <a:srgbClr val="000000"/>
              </a:buClr>
              <a:buNone/>
            </a:pPr>
            <a:r>
              <a:rPr lang="en-US"/>
              <a:t>* HBM timings are guestimates</a:t>
            </a:r>
          </a:p>
        </p:txBody>
      </p:sp>
    </p:spTree>
    <p:extLst>
      <p:ext uri="{BB962C8B-B14F-4D97-AF65-F5344CB8AC3E}">
        <p14:creationId xmlns:p14="http://schemas.microsoft.com/office/powerpoint/2010/main" val="139691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26DC5-3ED7-563A-64FE-847FF098E0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63EE1B1-8E4E-0D56-489A-5F7E70548192}"/>
              </a:ext>
            </a:extLst>
          </p:cNvPr>
          <p:cNvSpPr>
            <a:spLocks noGrp="1"/>
          </p:cNvSpPr>
          <p:nvPr>
            <p:ph type="title"/>
          </p:nvPr>
        </p:nvSpPr>
        <p:spPr/>
        <p:txBody>
          <a:bodyPr>
            <a:noAutofit/>
          </a:bodyPr>
          <a:lstStyle/>
          <a:p>
            <a:r>
              <a:rPr lang="en-US" err="1"/>
              <a:t>Ramulator</a:t>
            </a:r>
            <a:r>
              <a:rPr lang="en-US"/>
              <a:t> 2.1</a:t>
            </a:r>
          </a:p>
        </p:txBody>
      </p:sp>
      <p:sp>
        <p:nvSpPr>
          <p:cNvPr id="3" name="İçerik Yer Tutucusu 2">
            <a:extLst>
              <a:ext uri="{FF2B5EF4-FFF2-40B4-BE49-F238E27FC236}">
                <a16:creationId xmlns:a16="http://schemas.microsoft.com/office/drawing/2014/main" id="{31E46EE7-2842-6485-18E7-D981618EA2D5}"/>
              </a:ext>
            </a:extLst>
          </p:cNvPr>
          <p:cNvSpPr>
            <a:spLocks noGrp="1"/>
          </p:cNvSpPr>
          <p:nvPr>
            <p:ph idx="1"/>
          </p:nvPr>
        </p:nvSpPr>
        <p:spPr/>
        <p:txBody>
          <a:bodyPr vert="horz" lIns="91440" tIns="45720" rIns="91440" bIns="45720" rtlCol="0" anchor="t">
            <a:noAutofit/>
          </a:bodyPr>
          <a:lstStyle/>
          <a:p>
            <a:pPr>
              <a:lnSpc>
                <a:spcPct val="100000"/>
              </a:lnSpc>
              <a:spcBef>
                <a:spcPts val="0"/>
              </a:spcBef>
              <a:buClr>
                <a:schemeClr val="tx1"/>
              </a:buClr>
            </a:pPr>
            <a:r>
              <a:rPr lang="en-US" b="1"/>
              <a:t>Major overhaul of </a:t>
            </a:r>
            <a:r>
              <a:rPr lang="en-US" b="1" err="1"/>
              <a:t>Ramulator</a:t>
            </a:r>
            <a:r>
              <a:rPr lang="en-US" b="1"/>
              <a:t> 2.0</a:t>
            </a:r>
            <a:r>
              <a:rPr lang="en-US"/>
              <a:t> that includes</a:t>
            </a:r>
          </a:p>
          <a:p>
            <a:pPr lvl="1">
              <a:lnSpc>
                <a:spcPct val="100000"/>
              </a:lnSpc>
              <a:spcBef>
                <a:spcPts val="0"/>
              </a:spcBef>
              <a:buClr>
                <a:srgbClr val="000000"/>
              </a:buClr>
              <a:buFont typeface="Wingdings" panose="020B0604020202020204" pitchFamily="34" charset="0"/>
              <a:buChar char="Ø"/>
            </a:pPr>
            <a:r>
              <a:rPr lang="en-US"/>
              <a:t>  Aggregated bug fixes and code quality improvements</a:t>
            </a:r>
          </a:p>
          <a:p>
            <a:pPr lvl="1">
              <a:lnSpc>
                <a:spcPct val="100000"/>
              </a:lnSpc>
              <a:spcBef>
                <a:spcPts val="0"/>
              </a:spcBef>
              <a:buClr>
                <a:srgbClr val="000000"/>
              </a:buClr>
              <a:buFont typeface="Wingdings" panose="020B0604020202020204" pitchFamily="34" charset="0"/>
              <a:buChar char="Ø"/>
            </a:pPr>
            <a:r>
              <a:rPr lang="en-US"/>
              <a:t>  Better support of newer DRAM and controller features, e.g.,</a:t>
            </a:r>
          </a:p>
          <a:p>
            <a:pPr lvl="2">
              <a:lnSpc>
                <a:spcPct val="100000"/>
              </a:lnSpc>
              <a:spcBef>
                <a:spcPts val="0"/>
              </a:spcBef>
              <a:buClr>
                <a:srgbClr val="000000"/>
              </a:buClr>
              <a:buFont typeface="Wingdings" panose="020B0604020202020204" pitchFamily="34" charset="0"/>
              <a:buChar char="§"/>
            </a:pPr>
            <a:r>
              <a:rPr lang="en-US">
                <a:solidFill>
                  <a:srgbClr val="548235"/>
                </a:solidFill>
              </a:rPr>
              <a:t>Row-Col command dual issue controller for HBM2+</a:t>
            </a:r>
          </a:p>
          <a:p>
            <a:pPr lvl="2">
              <a:lnSpc>
                <a:spcPct val="100000"/>
              </a:lnSpc>
              <a:spcBef>
                <a:spcPts val="0"/>
              </a:spcBef>
              <a:buClr>
                <a:srgbClr val="000000"/>
              </a:buClr>
              <a:buFont typeface="Wingdings" panose="020B0604020202020204" pitchFamily="34" charset="0"/>
              <a:buChar char="§"/>
            </a:pPr>
            <a:r>
              <a:rPr lang="en-US">
                <a:solidFill>
                  <a:srgbClr val="548235"/>
                </a:solidFill>
                <a:ea typeface="+mj-lt"/>
                <a:cs typeface="+mj-lt"/>
              </a:rPr>
              <a:t>WCK2CK sync and expiry tracking </a:t>
            </a:r>
            <a:r>
              <a:rPr lang="en-US">
                <a:solidFill>
                  <a:srgbClr val="548235"/>
                </a:solidFill>
              </a:rPr>
              <a:t>and ACT-1/ACT-2 split with </a:t>
            </a:r>
            <a:r>
              <a:rPr lang="en-US" err="1">
                <a:solidFill>
                  <a:srgbClr val="548235"/>
                </a:solidFill>
              </a:rPr>
              <a:t>tAAD</a:t>
            </a:r>
            <a:r>
              <a:rPr lang="en-US">
                <a:solidFill>
                  <a:srgbClr val="548235"/>
                </a:solidFill>
              </a:rPr>
              <a:t> </a:t>
            </a:r>
            <a:br>
              <a:rPr lang="en-US">
                <a:solidFill>
                  <a:srgbClr val="F23F00"/>
                </a:solidFill>
              </a:rPr>
            </a:br>
            <a:r>
              <a:rPr lang="en-US">
                <a:solidFill>
                  <a:srgbClr val="548235"/>
                </a:solidFill>
              </a:rPr>
              <a:t>deadline aware scheduling for LPDDR5</a:t>
            </a:r>
          </a:p>
          <a:p>
            <a:pPr lvl="1">
              <a:lnSpc>
                <a:spcPct val="100000"/>
              </a:lnSpc>
              <a:spcBef>
                <a:spcPts val="0"/>
              </a:spcBef>
              <a:buClr>
                <a:srgbClr val="000000"/>
              </a:buClr>
              <a:buFont typeface="Wingdings" panose="020B0604020202020204" pitchFamily="34" charset="0"/>
              <a:buChar char="Ø"/>
            </a:pPr>
            <a:r>
              <a:rPr lang="en-US"/>
              <a:t> Significantly improved ease-of-use, configuration, and extension</a:t>
            </a:r>
          </a:p>
          <a:p>
            <a:pPr lvl="1">
              <a:lnSpc>
                <a:spcPct val="100000"/>
              </a:lnSpc>
              <a:spcBef>
                <a:spcPts val="0"/>
              </a:spcBef>
              <a:buClr>
                <a:srgbClr val="000000"/>
              </a:buClr>
              <a:buFont typeface="Wingdings" panose="020B0604020202020204" pitchFamily="34" charset="0"/>
              <a:buChar char="Ø"/>
            </a:pPr>
            <a:r>
              <a:rPr lang="en-US"/>
              <a:t> More comprehensive test suite</a:t>
            </a:r>
          </a:p>
          <a:p>
            <a:pPr lvl="1">
              <a:lnSpc>
                <a:spcPct val="100000"/>
              </a:lnSpc>
              <a:spcBef>
                <a:spcPts val="0"/>
              </a:spcBef>
              <a:buClr>
                <a:srgbClr val="000000"/>
              </a:buClr>
              <a:buFont typeface="Wingdings" panose="020B0604020202020204" pitchFamily="34" charset="0"/>
              <a:buChar char="Ø"/>
            </a:pPr>
            <a:r>
              <a:rPr lang="en-US"/>
              <a:t> More comprehensive documentation</a:t>
            </a:r>
          </a:p>
          <a:p>
            <a:pPr>
              <a:lnSpc>
                <a:spcPct val="100000"/>
              </a:lnSpc>
              <a:spcBef>
                <a:spcPts val="600"/>
              </a:spcBef>
              <a:buClr>
                <a:srgbClr val="000000"/>
              </a:buClr>
            </a:pPr>
            <a:r>
              <a:rPr lang="en-US"/>
              <a:t>Currently available as a pre-release in the v2.1 branch</a:t>
            </a:r>
          </a:p>
          <a:p>
            <a:pPr>
              <a:lnSpc>
                <a:spcPct val="100000"/>
              </a:lnSpc>
              <a:spcBef>
                <a:spcPts val="600"/>
              </a:spcBef>
              <a:buClr>
                <a:srgbClr val="000000"/>
              </a:buClr>
            </a:pPr>
            <a:endParaRPr lang="en-US"/>
          </a:p>
          <a:p>
            <a:pPr>
              <a:lnSpc>
                <a:spcPct val="100000"/>
              </a:lnSpc>
              <a:spcBef>
                <a:spcPts val="600"/>
              </a:spcBef>
              <a:buClr>
                <a:srgbClr val="000000"/>
              </a:buClr>
            </a:pPr>
            <a:r>
              <a:rPr lang="en-US"/>
              <a:t>Welcomes your use, contribution, and feedback!</a:t>
            </a:r>
          </a:p>
          <a:p>
            <a:pPr lvl="1">
              <a:lnSpc>
                <a:spcPct val="100000"/>
              </a:lnSpc>
              <a:spcBef>
                <a:spcPts val="600"/>
              </a:spcBef>
              <a:buClr>
                <a:srgbClr val="000000"/>
              </a:buClr>
              <a:buFont typeface="Wingdings" panose="020B0604020202020204" pitchFamily="34" charset="0"/>
              <a:buChar char="Ø"/>
            </a:pPr>
            <a:r>
              <a:rPr lang="en-US" b="1">
                <a:solidFill>
                  <a:srgbClr val="316CE3"/>
                </a:solidFill>
              </a:rPr>
              <a:t> We will be making v2.1 the default branch soon</a:t>
            </a:r>
            <a:endParaRPr lang="en-US">
              <a:solidFill>
                <a:srgbClr val="316CE3"/>
              </a:solidFill>
            </a:endParaRPr>
          </a:p>
          <a:p>
            <a:pPr>
              <a:lnSpc>
                <a:spcPct val="100000"/>
              </a:lnSpc>
              <a:spcBef>
                <a:spcPts val="600"/>
              </a:spcBef>
              <a:buClr>
                <a:srgbClr val="000000"/>
              </a:buClr>
            </a:pPr>
            <a:endParaRPr lang="en-US"/>
          </a:p>
        </p:txBody>
      </p:sp>
      <p:sp>
        <p:nvSpPr>
          <p:cNvPr id="4" name="Slide Number Placeholder 3">
            <a:extLst>
              <a:ext uri="{FF2B5EF4-FFF2-40B4-BE49-F238E27FC236}">
                <a16:creationId xmlns:a16="http://schemas.microsoft.com/office/drawing/2014/main" id="{220E739C-9857-6763-92D9-908F5396A2F3}"/>
              </a:ext>
            </a:extLst>
          </p:cNvPr>
          <p:cNvSpPr>
            <a:spLocks noGrp="1"/>
          </p:cNvSpPr>
          <p:nvPr>
            <p:ph type="sldNum" sz="quarter" idx="12"/>
          </p:nvPr>
        </p:nvSpPr>
        <p:spPr/>
        <p:txBody>
          <a:bodyPr/>
          <a:lstStyle/>
          <a:p>
            <a:fld id="{CBE5B309-C2CE-4D90-B104-F7E98438FC65}" type="slidenum">
              <a:rPr lang="tr-TR" smtClean="0"/>
              <a:pPr/>
              <a:t>95</a:t>
            </a:fld>
            <a:endParaRPr lang="tr-TR"/>
          </a:p>
        </p:txBody>
      </p:sp>
      <p:sp>
        <p:nvSpPr>
          <p:cNvPr id="8" name="TextBox 7">
            <a:extLst>
              <a:ext uri="{FF2B5EF4-FFF2-40B4-BE49-F238E27FC236}">
                <a16:creationId xmlns:a16="http://schemas.microsoft.com/office/drawing/2014/main" id="{FBF967A8-F83A-5E6D-0F2E-99CE30D5661D}"/>
              </a:ext>
            </a:extLst>
          </p:cNvPr>
          <p:cNvSpPr txBox="1"/>
          <p:nvPr/>
        </p:nvSpPr>
        <p:spPr>
          <a:xfrm>
            <a:off x="437989" y="4692155"/>
            <a:ext cx="8261816" cy="461665"/>
          </a:xfrm>
          <a:prstGeom prst="rect">
            <a:avLst/>
          </a:prstGeom>
          <a:noFill/>
        </p:spPr>
        <p:txBody>
          <a:bodyPr wrap="square" lIns="91440" tIns="45720" rIns="91440" bIns="45720" rtlCol="0" anchor="t">
            <a:spAutoFit/>
          </a:bodyPr>
          <a:lstStyle/>
          <a:p>
            <a:pPr algn="ctr"/>
            <a:r>
              <a:rPr lang="en-US" sz="2400">
                <a:latin typeface="+mj-lt"/>
                <a:hlinkClick r:id="rId3"/>
              </a:rPr>
              <a:t>https://github.com/CMU-SAFARI/ramulator2/tree/v2.1</a:t>
            </a:r>
            <a:endParaRPr lang="en-US" sz="2400">
              <a:latin typeface="+mj-lt"/>
            </a:endParaRPr>
          </a:p>
        </p:txBody>
      </p:sp>
    </p:spTree>
    <p:extLst>
      <p:ext uri="{BB962C8B-B14F-4D97-AF65-F5344CB8AC3E}">
        <p14:creationId xmlns:p14="http://schemas.microsoft.com/office/powerpoint/2010/main" val="387661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4F6FD-F90E-1860-A482-43799E41083A}"/>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2763F190-5979-A90D-50E1-392434B070F1}"/>
              </a:ext>
            </a:extLst>
          </p:cNvPr>
          <p:cNvGrpSpPr/>
          <p:nvPr/>
        </p:nvGrpSpPr>
        <p:grpSpPr>
          <a:xfrm>
            <a:off x="4571998" y="2388809"/>
            <a:ext cx="4572000" cy="3034972"/>
            <a:chOff x="4571998" y="1952950"/>
            <a:chExt cx="4572000" cy="3034972"/>
          </a:xfrm>
        </p:grpSpPr>
        <p:pic>
          <p:nvPicPr>
            <p:cNvPr id="3" name="Content Placeholder 11" descr="A blue and black text&#10;&#10;AI-generated content may be incorrect.">
              <a:extLst>
                <a:ext uri="{FF2B5EF4-FFF2-40B4-BE49-F238E27FC236}">
                  <a16:creationId xmlns:a16="http://schemas.microsoft.com/office/drawing/2014/main" id="{01FF3B8D-5259-6653-8364-FD75557A0932}"/>
                </a:ext>
              </a:extLst>
            </p:cNvPr>
            <p:cNvPicPr>
              <a:picLocks noChangeAspect="1"/>
            </p:cNvPicPr>
            <p:nvPr/>
          </p:nvPicPr>
          <p:blipFill>
            <a:blip r:embed="rId3">
              <a:extLst>
                <a:ext uri="{28A0092B-C50C-407E-A947-70E740481C1C}">
                  <a14:useLocalDpi xmlns:a14="http://schemas.microsoft.com/office/drawing/2010/main" val="0"/>
                </a:ext>
              </a:extLst>
            </a:blip>
            <a:srcRect l="32582" r="34911"/>
            <a:stretch>
              <a:fillRect/>
            </a:stretch>
          </p:blipFill>
          <p:spPr>
            <a:xfrm>
              <a:off x="4571998" y="1952950"/>
              <a:ext cx="4572000" cy="3034972"/>
            </a:xfrm>
            <a:prstGeom prst="rect">
              <a:avLst/>
            </a:prstGeom>
          </p:spPr>
        </p:pic>
        <p:sp>
          <p:nvSpPr>
            <p:cNvPr id="5" name="Rectangle 4">
              <a:extLst>
                <a:ext uri="{FF2B5EF4-FFF2-40B4-BE49-F238E27FC236}">
                  <a16:creationId xmlns:a16="http://schemas.microsoft.com/office/drawing/2014/main" id="{E1363073-8EA9-19DA-12CE-326E4DD7A87D}"/>
                </a:ext>
              </a:extLst>
            </p:cNvPr>
            <p:cNvSpPr/>
            <p:nvPr/>
          </p:nvSpPr>
          <p:spPr>
            <a:xfrm>
              <a:off x="5938469" y="1967418"/>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1827595-B6D0-C428-8DAD-DCB0A9FC1ABB}"/>
              </a:ext>
            </a:extLst>
          </p:cNvPr>
          <p:cNvSpPr>
            <a:spLocks noGrp="1"/>
          </p:cNvSpPr>
          <p:nvPr>
            <p:ph type="title"/>
          </p:nvPr>
        </p:nvSpPr>
        <p:spPr/>
        <p:txBody>
          <a:bodyPr/>
          <a:lstStyle/>
          <a:p>
            <a:r>
              <a:rPr lang="en-US" sz="3200"/>
              <a:t>Fundamental Configuration Errors:</a:t>
            </a:r>
            <a:br>
              <a:rPr lang="en-US" sz="3200"/>
            </a:br>
            <a:r>
              <a:rPr lang="en-US" sz="3200"/>
              <a:t>Smaller Used Bandwidth</a:t>
            </a:r>
          </a:p>
        </p:txBody>
      </p:sp>
      <p:sp>
        <p:nvSpPr>
          <p:cNvPr id="6" name="Content Placeholder 5">
            <a:extLst>
              <a:ext uri="{FF2B5EF4-FFF2-40B4-BE49-F238E27FC236}">
                <a16:creationId xmlns:a16="http://schemas.microsoft.com/office/drawing/2014/main" id="{836BC54A-9F6A-CDBB-E189-8A21AF6EBBBD}"/>
              </a:ext>
            </a:extLst>
          </p:cNvPr>
          <p:cNvSpPr>
            <a:spLocks noGrp="1"/>
          </p:cNvSpPr>
          <p:nvPr>
            <p:ph idx="1"/>
          </p:nvPr>
        </p:nvSpPr>
        <p:spPr>
          <a:xfrm>
            <a:off x="-1" y="986209"/>
            <a:ext cx="9143999" cy="1456790"/>
          </a:xfrm>
        </p:spPr>
        <p:txBody>
          <a:bodyPr>
            <a:normAutofit/>
          </a:bodyPr>
          <a:lstStyle/>
          <a:p>
            <a:pPr marL="0" indent="0">
              <a:buNone/>
            </a:pPr>
            <a:r>
              <a:rPr lang="en-US" sz="2400"/>
              <a:t>The Mess paper's evaluation:</a:t>
            </a:r>
          </a:p>
        </p:txBody>
      </p:sp>
      <p:sp>
        <p:nvSpPr>
          <p:cNvPr id="4" name="Slide Number Placeholder 3">
            <a:extLst>
              <a:ext uri="{FF2B5EF4-FFF2-40B4-BE49-F238E27FC236}">
                <a16:creationId xmlns:a16="http://schemas.microsoft.com/office/drawing/2014/main" id="{9451C283-D07C-B5A3-2B09-33C955CD3BD2}"/>
              </a:ext>
            </a:extLst>
          </p:cNvPr>
          <p:cNvSpPr>
            <a:spLocks noGrp="1"/>
          </p:cNvSpPr>
          <p:nvPr>
            <p:ph type="sldNum" sz="quarter" idx="12"/>
          </p:nvPr>
        </p:nvSpPr>
        <p:spPr/>
        <p:txBody>
          <a:bodyPr/>
          <a:lstStyle/>
          <a:p>
            <a:fld id="{CBE5B309-C2CE-4D90-B104-F7E98438FC65}" type="slidenum">
              <a:rPr lang="tr-TR" smtClean="0"/>
              <a:pPr/>
              <a:t>96</a:t>
            </a:fld>
            <a:endParaRPr lang="tr-TR"/>
          </a:p>
        </p:txBody>
      </p:sp>
      <p:sp>
        <p:nvSpPr>
          <p:cNvPr id="24" name="Rectangle 23">
            <a:extLst>
              <a:ext uri="{FF2B5EF4-FFF2-40B4-BE49-F238E27FC236}">
                <a16:creationId xmlns:a16="http://schemas.microsoft.com/office/drawing/2014/main" id="{8665B1C8-7AD0-FF9E-B2B6-1BB9E4B85D80}"/>
              </a:ext>
            </a:extLst>
          </p:cNvPr>
          <p:cNvSpPr/>
          <p:nvPr/>
        </p:nvSpPr>
        <p:spPr>
          <a:xfrm>
            <a:off x="99051" y="1434219"/>
            <a:ext cx="4358787" cy="435860"/>
          </a:xfrm>
          <a:prstGeom prst="rect">
            <a:avLst/>
          </a:prstGeom>
          <a:solidFill>
            <a:srgbClr val="E28700"/>
          </a:solidFill>
          <a:ln w="28575">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spc="100" err="1">
                <a:latin typeface="+mj-lt"/>
              </a:rPr>
              <a:t>Ramulator</a:t>
            </a:r>
            <a:r>
              <a:rPr lang="en-US" sz="2400" b="1" spc="100">
                <a:latin typeface="+mj-lt"/>
              </a:rPr>
              <a:t> 2.0</a:t>
            </a:r>
          </a:p>
        </p:txBody>
      </p:sp>
      <p:sp>
        <p:nvSpPr>
          <p:cNvPr id="31" name="Rectangle 30">
            <a:extLst>
              <a:ext uri="{FF2B5EF4-FFF2-40B4-BE49-F238E27FC236}">
                <a16:creationId xmlns:a16="http://schemas.microsoft.com/office/drawing/2014/main" id="{3C62C773-762C-28D1-8EA8-665F0100ABD6}"/>
              </a:ext>
            </a:extLst>
          </p:cNvPr>
          <p:cNvSpPr/>
          <p:nvPr/>
        </p:nvSpPr>
        <p:spPr>
          <a:xfrm>
            <a:off x="4633165" y="1430691"/>
            <a:ext cx="4358787" cy="435859"/>
          </a:xfrm>
          <a:prstGeom prst="rect">
            <a:avLst/>
          </a:prstGeom>
          <a:solidFill>
            <a:srgbClr val="B3195F"/>
          </a:solidFill>
          <a:ln w="28575">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spc="100">
                <a:latin typeface="+mj-lt"/>
              </a:rPr>
              <a:t>Real System</a:t>
            </a:r>
          </a:p>
        </p:txBody>
      </p:sp>
      <p:cxnSp>
        <p:nvCxnSpPr>
          <p:cNvPr id="27" name="Straight Connector 26">
            <a:extLst>
              <a:ext uri="{FF2B5EF4-FFF2-40B4-BE49-F238E27FC236}">
                <a16:creationId xmlns:a16="http://schemas.microsoft.com/office/drawing/2014/main" id="{C6652416-A4B4-2B40-0E0E-322DB35C4690}"/>
              </a:ext>
            </a:extLst>
          </p:cNvPr>
          <p:cNvCxnSpPr>
            <a:cxnSpLocks/>
          </p:cNvCxnSpPr>
          <p:nvPr/>
        </p:nvCxnSpPr>
        <p:spPr>
          <a:xfrm>
            <a:off x="4572000" y="1580974"/>
            <a:ext cx="0" cy="370222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80785A95-3587-9468-759A-C2A46A153C57}"/>
              </a:ext>
            </a:extLst>
          </p:cNvPr>
          <p:cNvSpPr txBox="1"/>
          <p:nvPr/>
        </p:nvSpPr>
        <p:spPr>
          <a:xfrm>
            <a:off x="181514" y="1866549"/>
            <a:ext cx="4276324" cy="461665"/>
          </a:xfrm>
          <a:prstGeom prst="rect">
            <a:avLst/>
          </a:prstGeom>
          <a:noFill/>
        </p:spPr>
        <p:txBody>
          <a:bodyPr wrap="square" rtlCol="0">
            <a:spAutoFit/>
          </a:bodyPr>
          <a:lstStyle/>
          <a:p>
            <a:pPr algn="ctr"/>
            <a:r>
              <a:rPr lang="en-US" sz="2400" b="1">
                <a:solidFill>
                  <a:srgbClr val="E28700"/>
                </a:solidFill>
                <a:latin typeface="+mj-lt"/>
              </a:rPr>
              <a:t>8 DDR5 channels </a:t>
            </a:r>
          </a:p>
        </p:txBody>
      </p:sp>
      <p:sp>
        <p:nvSpPr>
          <p:cNvPr id="84" name="TextBox 83">
            <a:extLst>
              <a:ext uri="{FF2B5EF4-FFF2-40B4-BE49-F238E27FC236}">
                <a16:creationId xmlns:a16="http://schemas.microsoft.com/office/drawing/2014/main" id="{DBF67385-4888-DF1A-82B1-54779B9284F3}"/>
              </a:ext>
            </a:extLst>
          </p:cNvPr>
          <p:cNvSpPr txBox="1"/>
          <p:nvPr/>
        </p:nvSpPr>
        <p:spPr>
          <a:xfrm>
            <a:off x="4715628" y="1866548"/>
            <a:ext cx="4276324" cy="461665"/>
          </a:xfrm>
          <a:prstGeom prst="rect">
            <a:avLst/>
          </a:prstGeom>
          <a:noFill/>
        </p:spPr>
        <p:txBody>
          <a:bodyPr wrap="square" rtlCol="0">
            <a:spAutoFit/>
          </a:bodyPr>
          <a:lstStyle/>
          <a:p>
            <a:pPr algn="ctr"/>
            <a:r>
              <a:rPr lang="en-US" sz="2400" b="1">
                <a:solidFill>
                  <a:srgbClr val="B3195F"/>
                </a:solidFill>
                <a:latin typeface="+mj-lt"/>
              </a:rPr>
              <a:t>16 DDR5 channels </a:t>
            </a:r>
          </a:p>
        </p:txBody>
      </p:sp>
      <p:grpSp>
        <p:nvGrpSpPr>
          <p:cNvPr id="22" name="Group 21">
            <a:extLst>
              <a:ext uri="{FF2B5EF4-FFF2-40B4-BE49-F238E27FC236}">
                <a16:creationId xmlns:a16="http://schemas.microsoft.com/office/drawing/2014/main" id="{6E27BB30-6D4E-99DA-0B13-BF3394F06907}"/>
              </a:ext>
            </a:extLst>
          </p:cNvPr>
          <p:cNvGrpSpPr/>
          <p:nvPr/>
        </p:nvGrpSpPr>
        <p:grpSpPr>
          <a:xfrm>
            <a:off x="99051" y="2403277"/>
            <a:ext cx="4451882" cy="3034972"/>
            <a:chOff x="99051" y="1967418"/>
            <a:chExt cx="4451882" cy="3034972"/>
          </a:xfrm>
        </p:grpSpPr>
        <p:pic>
          <p:nvPicPr>
            <p:cNvPr id="7" name="Content Placeholder 11" descr="A blue and black text&#10;&#10;AI-generated content may be incorrect.">
              <a:extLst>
                <a:ext uri="{FF2B5EF4-FFF2-40B4-BE49-F238E27FC236}">
                  <a16:creationId xmlns:a16="http://schemas.microsoft.com/office/drawing/2014/main" id="{D14A04D7-EB17-C546-559A-0E974863A449}"/>
                </a:ext>
              </a:extLst>
            </p:cNvPr>
            <p:cNvPicPr>
              <a:picLocks noChangeAspect="1"/>
            </p:cNvPicPr>
            <p:nvPr/>
          </p:nvPicPr>
          <p:blipFill>
            <a:blip r:embed="rId3">
              <a:extLst>
                <a:ext uri="{28A0092B-C50C-407E-A947-70E740481C1C}">
                  <a14:useLocalDpi xmlns:a14="http://schemas.microsoft.com/office/drawing/2010/main" val="0"/>
                </a:ext>
              </a:extLst>
            </a:blip>
            <a:srcRect r="68347"/>
            <a:stretch>
              <a:fillRect/>
            </a:stretch>
          </p:blipFill>
          <p:spPr>
            <a:xfrm>
              <a:off x="99051" y="1967418"/>
              <a:ext cx="4451882" cy="3034972"/>
            </a:xfrm>
            <a:prstGeom prst="rect">
              <a:avLst/>
            </a:prstGeom>
          </p:spPr>
        </p:pic>
        <p:sp>
          <p:nvSpPr>
            <p:cNvPr id="8" name="Rectangle 7">
              <a:extLst>
                <a:ext uri="{FF2B5EF4-FFF2-40B4-BE49-F238E27FC236}">
                  <a16:creationId xmlns:a16="http://schemas.microsoft.com/office/drawing/2014/main" id="{B7156FB5-DDB9-457F-121D-8DF7D0A6FEE0}"/>
                </a:ext>
              </a:extLst>
            </p:cNvPr>
            <p:cNvSpPr/>
            <p:nvPr/>
          </p:nvSpPr>
          <p:spPr>
            <a:xfrm>
              <a:off x="1320514" y="1981886"/>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3AA8E6D-5F61-695E-F969-ED6209B0BA9C}"/>
              </a:ext>
            </a:extLst>
          </p:cNvPr>
          <p:cNvGrpSpPr/>
          <p:nvPr/>
        </p:nvGrpSpPr>
        <p:grpSpPr>
          <a:xfrm>
            <a:off x="2197100" y="3086100"/>
            <a:ext cx="6438900" cy="1816100"/>
            <a:chOff x="2197100" y="3086100"/>
            <a:chExt cx="6438900" cy="1816100"/>
          </a:xfrm>
        </p:grpSpPr>
        <p:cxnSp>
          <p:nvCxnSpPr>
            <p:cNvPr id="26" name="Straight Arrow Connector 25">
              <a:extLst>
                <a:ext uri="{FF2B5EF4-FFF2-40B4-BE49-F238E27FC236}">
                  <a16:creationId xmlns:a16="http://schemas.microsoft.com/office/drawing/2014/main" id="{E145D999-F0EF-679D-BDBC-6936E2C573C2}"/>
                </a:ext>
              </a:extLst>
            </p:cNvPr>
            <p:cNvCxnSpPr>
              <a:cxnSpLocks/>
            </p:cNvCxnSpPr>
            <p:nvPr/>
          </p:nvCxnSpPr>
          <p:spPr>
            <a:xfrm flipH="1">
              <a:off x="2324100" y="4356100"/>
              <a:ext cx="1828800" cy="0"/>
            </a:xfrm>
            <a:prstGeom prst="straightConnector1">
              <a:avLst/>
            </a:prstGeom>
            <a:ln w="101600">
              <a:solidFill>
                <a:srgbClr val="F23F00">
                  <a:alpha val="7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40C3DD7-A7F1-3A1E-DE9D-74DC1CBC74A6}"/>
                </a:ext>
              </a:extLst>
            </p:cNvPr>
            <p:cNvCxnSpPr/>
            <p:nvPr/>
          </p:nvCxnSpPr>
          <p:spPr>
            <a:xfrm>
              <a:off x="86360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BB442F-7FDD-228F-836F-0322E5F35BD6}"/>
                </a:ext>
              </a:extLst>
            </p:cNvPr>
            <p:cNvCxnSpPr/>
            <p:nvPr/>
          </p:nvCxnSpPr>
          <p:spPr>
            <a:xfrm>
              <a:off x="21971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10F66B80-DCF6-4541-149A-21EFE5ECAEC2}"/>
              </a:ext>
            </a:extLst>
          </p:cNvPr>
          <p:cNvSpPr txBox="1"/>
          <p:nvPr/>
        </p:nvSpPr>
        <p:spPr>
          <a:xfrm>
            <a:off x="181514" y="5271626"/>
            <a:ext cx="8724469" cy="1200329"/>
          </a:xfrm>
          <a:prstGeom prst="rect">
            <a:avLst/>
          </a:prstGeom>
          <a:noFill/>
        </p:spPr>
        <p:txBody>
          <a:bodyPr wrap="square">
            <a:spAutoFit/>
          </a:bodyPr>
          <a:lstStyle/>
          <a:p>
            <a:pPr algn="ctr"/>
            <a:r>
              <a:rPr lang="en-US" sz="2400">
                <a:latin typeface="+mj-lt"/>
              </a:rPr>
              <a:t>The Mess paper </a:t>
            </a:r>
            <a:r>
              <a:rPr lang="en-US" sz="2400" b="1">
                <a:solidFill>
                  <a:srgbClr val="F23F00"/>
                </a:solidFill>
                <a:latin typeface="+mj-lt"/>
              </a:rPr>
              <a:t>incorrectly assumes</a:t>
            </a:r>
            <a:r>
              <a:rPr lang="en-US" sz="2400" b="1">
                <a:latin typeface="+mj-lt"/>
              </a:rPr>
              <a:t> </a:t>
            </a:r>
            <a:r>
              <a:rPr lang="en-US" sz="2400">
                <a:latin typeface="+mj-lt"/>
              </a:rPr>
              <a:t>a DDR5 channel in </a:t>
            </a:r>
            <a:br>
              <a:rPr lang="en-US" sz="2400">
                <a:latin typeface="+mj-lt"/>
              </a:rPr>
            </a:br>
            <a:r>
              <a:rPr lang="en-US" sz="2400" err="1">
                <a:latin typeface="+mj-lt"/>
              </a:rPr>
              <a:t>Ramulator</a:t>
            </a:r>
            <a:r>
              <a:rPr lang="en-US" sz="2400">
                <a:latin typeface="+mj-lt"/>
              </a:rPr>
              <a:t> 2.0 is </a:t>
            </a:r>
            <a:r>
              <a:rPr lang="en-US" sz="2400" b="1">
                <a:solidFill>
                  <a:srgbClr val="F23F00"/>
                </a:solidFill>
                <a:latin typeface="+mj-lt"/>
              </a:rPr>
              <a:t>64-bit</a:t>
            </a:r>
            <a:r>
              <a:rPr lang="en-US" sz="2400" b="1">
                <a:latin typeface="+mj-lt"/>
              </a:rPr>
              <a:t>, </a:t>
            </a:r>
            <a:r>
              <a:rPr lang="en-US" sz="2400">
                <a:latin typeface="+mj-lt"/>
              </a:rPr>
              <a:t>instead of </a:t>
            </a:r>
            <a:r>
              <a:rPr lang="en-US" sz="2400" b="1">
                <a:solidFill>
                  <a:srgbClr val="F23F00"/>
                </a:solidFill>
                <a:latin typeface="+mj-lt"/>
              </a:rPr>
              <a:t>the actual width of 32-bit</a:t>
            </a:r>
            <a:r>
              <a:rPr lang="en-US" sz="2400">
                <a:latin typeface="+mj-lt"/>
              </a:rPr>
              <a:t> </a:t>
            </a:r>
            <a:br>
              <a:rPr lang="en-US" sz="2400">
                <a:latin typeface="+mj-lt"/>
              </a:rPr>
            </a:br>
            <a:r>
              <a:rPr lang="en-US" sz="2400">
                <a:latin typeface="+mj-lt"/>
              </a:rPr>
              <a:t>that is </a:t>
            </a:r>
            <a:r>
              <a:rPr lang="en-US" sz="2400" b="1">
                <a:solidFill>
                  <a:srgbClr val="F23F00"/>
                </a:solidFill>
                <a:latin typeface="+mj-lt"/>
              </a:rPr>
              <a:t>consistent</a:t>
            </a:r>
            <a:r>
              <a:rPr lang="en-US" sz="2400" b="1">
                <a:latin typeface="+mj-lt"/>
              </a:rPr>
              <a:t>  </a:t>
            </a:r>
            <a:r>
              <a:rPr lang="en-US" sz="2400" b="1">
                <a:solidFill>
                  <a:srgbClr val="F23F00"/>
                </a:solidFill>
                <a:latin typeface="+mj-lt"/>
              </a:rPr>
              <a:t>with</a:t>
            </a:r>
            <a:r>
              <a:rPr lang="en-US" sz="2400" b="1">
                <a:latin typeface="+mj-lt"/>
              </a:rPr>
              <a:t> </a:t>
            </a:r>
            <a:r>
              <a:rPr lang="en-US" sz="2400" b="1">
                <a:solidFill>
                  <a:srgbClr val="F23F00"/>
                </a:solidFill>
                <a:latin typeface="+mj-lt"/>
              </a:rPr>
              <a:t>JEDEC DDR5 standards </a:t>
            </a:r>
            <a:r>
              <a:rPr lang="en-US" sz="2400">
                <a:latin typeface="+mj-lt"/>
              </a:rPr>
              <a:t>(JESD79-5)</a:t>
            </a:r>
          </a:p>
        </p:txBody>
      </p:sp>
    </p:spTree>
    <p:extLst>
      <p:ext uri="{BB962C8B-B14F-4D97-AF65-F5344CB8AC3E}">
        <p14:creationId xmlns:p14="http://schemas.microsoft.com/office/powerpoint/2010/main" val="35208539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A7E4E-9A38-8630-C9EC-1EA6CB6FD2F5}"/>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AC1965E1-91D0-8279-D692-B71CF8C0413E}"/>
              </a:ext>
            </a:extLst>
          </p:cNvPr>
          <p:cNvGrpSpPr/>
          <p:nvPr/>
        </p:nvGrpSpPr>
        <p:grpSpPr>
          <a:xfrm>
            <a:off x="4571998" y="2388809"/>
            <a:ext cx="4572000" cy="3034972"/>
            <a:chOff x="4571998" y="1952950"/>
            <a:chExt cx="4572000" cy="3034972"/>
          </a:xfrm>
        </p:grpSpPr>
        <p:pic>
          <p:nvPicPr>
            <p:cNvPr id="3" name="Content Placeholder 11" descr="A blue and black text&#10;&#10;AI-generated content may be incorrect.">
              <a:extLst>
                <a:ext uri="{FF2B5EF4-FFF2-40B4-BE49-F238E27FC236}">
                  <a16:creationId xmlns:a16="http://schemas.microsoft.com/office/drawing/2014/main" id="{74E1997D-4D23-F266-B6D7-FA241FD8A4B4}"/>
                </a:ext>
              </a:extLst>
            </p:cNvPr>
            <p:cNvPicPr>
              <a:picLocks noChangeAspect="1"/>
            </p:cNvPicPr>
            <p:nvPr/>
          </p:nvPicPr>
          <p:blipFill>
            <a:blip r:embed="rId3">
              <a:extLst>
                <a:ext uri="{28A0092B-C50C-407E-A947-70E740481C1C}">
                  <a14:useLocalDpi xmlns:a14="http://schemas.microsoft.com/office/drawing/2010/main" val="0"/>
                </a:ext>
              </a:extLst>
            </a:blip>
            <a:srcRect l="32582" r="34911"/>
            <a:stretch>
              <a:fillRect/>
            </a:stretch>
          </p:blipFill>
          <p:spPr>
            <a:xfrm>
              <a:off x="4571998" y="1952950"/>
              <a:ext cx="4572000" cy="3034972"/>
            </a:xfrm>
            <a:prstGeom prst="rect">
              <a:avLst/>
            </a:prstGeom>
          </p:spPr>
        </p:pic>
        <p:sp>
          <p:nvSpPr>
            <p:cNvPr id="5" name="Rectangle 4">
              <a:extLst>
                <a:ext uri="{FF2B5EF4-FFF2-40B4-BE49-F238E27FC236}">
                  <a16:creationId xmlns:a16="http://schemas.microsoft.com/office/drawing/2014/main" id="{760C695B-484C-2B40-271D-6B81A5E06BF3}"/>
                </a:ext>
              </a:extLst>
            </p:cNvPr>
            <p:cNvSpPr/>
            <p:nvPr/>
          </p:nvSpPr>
          <p:spPr>
            <a:xfrm>
              <a:off x="5938469" y="1967418"/>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079D3E-E629-23ED-0004-6D12A8ADBAA2}"/>
              </a:ext>
            </a:extLst>
          </p:cNvPr>
          <p:cNvSpPr>
            <a:spLocks noGrp="1"/>
          </p:cNvSpPr>
          <p:nvPr>
            <p:ph type="title"/>
          </p:nvPr>
        </p:nvSpPr>
        <p:spPr/>
        <p:txBody>
          <a:bodyPr/>
          <a:lstStyle/>
          <a:p>
            <a:r>
              <a:rPr lang="en-US" sz="3200"/>
              <a:t>Fundamental Configuration Errors:</a:t>
            </a:r>
            <a:br>
              <a:rPr lang="en-US" sz="3200"/>
            </a:br>
            <a:r>
              <a:rPr lang="en-US" sz="3200"/>
              <a:t>Smaller Used Bandwidth</a:t>
            </a:r>
          </a:p>
        </p:txBody>
      </p:sp>
      <p:sp>
        <p:nvSpPr>
          <p:cNvPr id="6" name="Content Placeholder 5">
            <a:extLst>
              <a:ext uri="{FF2B5EF4-FFF2-40B4-BE49-F238E27FC236}">
                <a16:creationId xmlns:a16="http://schemas.microsoft.com/office/drawing/2014/main" id="{1220D0BB-549E-400B-E47D-350F27F82475}"/>
              </a:ext>
            </a:extLst>
          </p:cNvPr>
          <p:cNvSpPr>
            <a:spLocks noGrp="1"/>
          </p:cNvSpPr>
          <p:nvPr>
            <p:ph idx="1"/>
          </p:nvPr>
        </p:nvSpPr>
        <p:spPr>
          <a:xfrm>
            <a:off x="-1" y="986209"/>
            <a:ext cx="9143999" cy="1456790"/>
          </a:xfrm>
        </p:spPr>
        <p:txBody>
          <a:bodyPr>
            <a:normAutofit/>
          </a:bodyPr>
          <a:lstStyle/>
          <a:p>
            <a:pPr marL="0" indent="0">
              <a:buNone/>
            </a:pPr>
            <a:r>
              <a:rPr lang="en-US" sz="2400"/>
              <a:t>The Mess paper's evaluation:</a:t>
            </a:r>
          </a:p>
        </p:txBody>
      </p:sp>
      <p:sp>
        <p:nvSpPr>
          <p:cNvPr id="4" name="Slide Number Placeholder 3">
            <a:extLst>
              <a:ext uri="{FF2B5EF4-FFF2-40B4-BE49-F238E27FC236}">
                <a16:creationId xmlns:a16="http://schemas.microsoft.com/office/drawing/2014/main" id="{41D55F5B-AB23-7DD1-E466-31FEE39694CF}"/>
              </a:ext>
            </a:extLst>
          </p:cNvPr>
          <p:cNvSpPr>
            <a:spLocks noGrp="1"/>
          </p:cNvSpPr>
          <p:nvPr>
            <p:ph type="sldNum" sz="quarter" idx="12"/>
          </p:nvPr>
        </p:nvSpPr>
        <p:spPr/>
        <p:txBody>
          <a:bodyPr/>
          <a:lstStyle/>
          <a:p>
            <a:fld id="{CBE5B309-C2CE-4D90-B104-F7E98438FC65}" type="slidenum">
              <a:rPr lang="tr-TR" smtClean="0"/>
              <a:pPr/>
              <a:t>97</a:t>
            </a:fld>
            <a:endParaRPr lang="tr-TR"/>
          </a:p>
        </p:txBody>
      </p:sp>
      <p:sp>
        <p:nvSpPr>
          <p:cNvPr id="24" name="Rectangle 23">
            <a:extLst>
              <a:ext uri="{FF2B5EF4-FFF2-40B4-BE49-F238E27FC236}">
                <a16:creationId xmlns:a16="http://schemas.microsoft.com/office/drawing/2014/main" id="{3C910564-20FB-8DE8-5846-B7574EAF37A3}"/>
              </a:ext>
            </a:extLst>
          </p:cNvPr>
          <p:cNvSpPr/>
          <p:nvPr/>
        </p:nvSpPr>
        <p:spPr>
          <a:xfrm>
            <a:off x="99051" y="1434219"/>
            <a:ext cx="4358787" cy="435860"/>
          </a:xfrm>
          <a:prstGeom prst="rect">
            <a:avLst/>
          </a:prstGeom>
          <a:solidFill>
            <a:srgbClr val="E28700"/>
          </a:solidFill>
          <a:ln w="28575">
            <a:solidFill>
              <a:srgbClr val="E28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spc="100">
                <a:latin typeface="+mj-lt"/>
              </a:rPr>
              <a:t>Ramulator 2.0</a:t>
            </a:r>
          </a:p>
        </p:txBody>
      </p:sp>
      <p:sp>
        <p:nvSpPr>
          <p:cNvPr id="31" name="Rectangle 30">
            <a:extLst>
              <a:ext uri="{FF2B5EF4-FFF2-40B4-BE49-F238E27FC236}">
                <a16:creationId xmlns:a16="http://schemas.microsoft.com/office/drawing/2014/main" id="{85D077EA-5D4C-E003-38EC-A11DF8C91C51}"/>
              </a:ext>
            </a:extLst>
          </p:cNvPr>
          <p:cNvSpPr/>
          <p:nvPr/>
        </p:nvSpPr>
        <p:spPr>
          <a:xfrm>
            <a:off x="4633165" y="1430691"/>
            <a:ext cx="4358787" cy="435859"/>
          </a:xfrm>
          <a:prstGeom prst="rect">
            <a:avLst/>
          </a:prstGeom>
          <a:solidFill>
            <a:srgbClr val="B3195F"/>
          </a:solidFill>
          <a:ln w="28575">
            <a:solidFill>
              <a:srgbClr val="B319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spc="100">
                <a:latin typeface="+mj-lt"/>
              </a:rPr>
              <a:t>Real System</a:t>
            </a:r>
          </a:p>
        </p:txBody>
      </p:sp>
      <p:cxnSp>
        <p:nvCxnSpPr>
          <p:cNvPr id="27" name="Straight Connector 26">
            <a:extLst>
              <a:ext uri="{FF2B5EF4-FFF2-40B4-BE49-F238E27FC236}">
                <a16:creationId xmlns:a16="http://schemas.microsoft.com/office/drawing/2014/main" id="{A2E5FA8C-7FBF-3830-794F-332CCF7847D5}"/>
              </a:ext>
            </a:extLst>
          </p:cNvPr>
          <p:cNvCxnSpPr>
            <a:cxnSpLocks/>
          </p:cNvCxnSpPr>
          <p:nvPr/>
        </p:nvCxnSpPr>
        <p:spPr>
          <a:xfrm>
            <a:off x="4572000" y="1580974"/>
            <a:ext cx="0" cy="370222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A4824D9E-4A9B-4B65-1775-402BAF992330}"/>
              </a:ext>
            </a:extLst>
          </p:cNvPr>
          <p:cNvSpPr txBox="1"/>
          <p:nvPr/>
        </p:nvSpPr>
        <p:spPr>
          <a:xfrm>
            <a:off x="181514" y="1866549"/>
            <a:ext cx="4276324" cy="461665"/>
          </a:xfrm>
          <a:prstGeom prst="rect">
            <a:avLst/>
          </a:prstGeom>
          <a:noFill/>
        </p:spPr>
        <p:txBody>
          <a:bodyPr wrap="square" rtlCol="0">
            <a:spAutoFit/>
          </a:bodyPr>
          <a:lstStyle/>
          <a:p>
            <a:pPr algn="ctr"/>
            <a:r>
              <a:rPr lang="en-US" sz="2400" b="1">
                <a:solidFill>
                  <a:srgbClr val="E28700"/>
                </a:solidFill>
                <a:latin typeface="+mj-lt"/>
              </a:rPr>
              <a:t>8 DDR5 channels </a:t>
            </a:r>
          </a:p>
        </p:txBody>
      </p:sp>
      <p:sp>
        <p:nvSpPr>
          <p:cNvPr id="84" name="TextBox 83">
            <a:extLst>
              <a:ext uri="{FF2B5EF4-FFF2-40B4-BE49-F238E27FC236}">
                <a16:creationId xmlns:a16="http://schemas.microsoft.com/office/drawing/2014/main" id="{DCF592B3-827A-1CDE-9021-E82374FACD18}"/>
              </a:ext>
            </a:extLst>
          </p:cNvPr>
          <p:cNvSpPr txBox="1"/>
          <p:nvPr/>
        </p:nvSpPr>
        <p:spPr>
          <a:xfrm>
            <a:off x="4715628" y="1866548"/>
            <a:ext cx="4276324" cy="461665"/>
          </a:xfrm>
          <a:prstGeom prst="rect">
            <a:avLst/>
          </a:prstGeom>
          <a:noFill/>
        </p:spPr>
        <p:txBody>
          <a:bodyPr wrap="square" rtlCol="0">
            <a:spAutoFit/>
          </a:bodyPr>
          <a:lstStyle/>
          <a:p>
            <a:pPr algn="ctr"/>
            <a:r>
              <a:rPr lang="en-US" sz="2400" b="1">
                <a:solidFill>
                  <a:srgbClr val="B3195F"/>
                </a:solidFill>
                <a:latin typeface="+mj-lt"/>
              </a:rPr>
              <a:t>16 DDR5 channels </a:t>
            </a:r>
          </a:p>
        </p:txBody>
      </p:sp>
      <p:grpSp>
        <p:nvGrpSpPr>
          <p:cNvPr id="22" name="Group 21">
            <a:extLst>
              <a:ext uri="{FF2B5EF4-FFF2-40B4-BE49-F238E27FC236}">
                <a16:creationId xmlns:a16="http://schemas.microsoft.com/office/drawing/2014/main" id="{E3EB622D-C4EE-873D-B6DF-A677AF11252A}"/>
              </a:ext>
            </a:extLst>
          </p:cNvPr>
          <p:cNvGrpSpPr/>
          <p:nvPr/>
        </p:nvGrpSpPr>
        <p:grpSpPr>
          <a:xfrm>
            <a:off x="99051" y="2403277"/>
            <a:ext cx="4451882" cy="3034972"/>
            <a:chOff x="99051" y="1967418"/>
            <a:chExt cx="4451882" cy="3034972"/>
          </a:xfrm>
        </p:grpSpPr>
        <p:pic>
          <p:nvPicPr>
            <p:cNvPr id="7" name="Content Placeholder 11" descr="A blue and black text&#10;&#10;AI-generated content may be incorrect.">
              <a:extLst>
                <a:ext uri="{FF2B5EF4-FFF2-40B4-BE49-F238E27FC236}">
                  <a16:creationId xmlns:a16="http://schemas.microsoft.com/office/drawing/2014/main" id="{43846D2E-FA23-CAC6-E5B2-7882883809F2}"/>
                </a:ext>
              </a:extLst>
            </p:cNvPr>
            <p:cNvPicPr>
              <a:picLocks noChangeAspect="1"/>
            </p:cNvPicPr>
            <p:nvPr/>
          </p:nvPicPr>
          <p:blipFill>
            <a:blip r:embed="rId3">
              <a:extLst>
                <a:ext uri="{28A0092B-C50C-407E-A947-70E740481C1C}">
                  <a14:useLocalDpi xmlns:a14="http://schemas.microsoft.com/office/drawing/2010/main" val="0"/>
                </a:ext>
              </a:extLst>
            </a:blip>
            <a:srcRect r="68347"/>
            <a:stretch>
              <a:fillRect/>
            </a:stretch>
          </p:blipFill>
          <p:spPr>
            <a:xfrm>
              <a:off x="99051" y="1967418"/>
              <a:ext cx="4451882" cy="3034972"/>
            </a:xfrm>
            <a:prstGeom prst="rect">
              <a:avLst/>
            </a:prstGeom>
          </p:spPr>
        </p:pic>
        <p:sp>
          <p:nvSpPr>
            <p:cNvPr id="8" name="Rectangle 7">
              <a:extLst>
                <a:ext uri="{FF2B5EF4-FFF2-40B4-BE49-F238E27FC236}">
                  <a16:creationId xmlns:a16="http://schemas.microsoft.com/office/drawing/2014/main" id="{EBB222C7-F885-72DF-EEE1-F0BEC2F04B76}"/>
                </a:ext>
              </a:extLst>
            </p:cNvPr>
            <p:cNvSpPr/>
            <p:nvPr/>
          </p:nvSpPr>
          <p:spPr>
            <a:xfrm>
              <a:off x="1320514" y="1981886"/>
              <a:ext cx="399394" cy="2475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49AF1B7E-02EA-1D44-AD0D-8DF10FF10777}"/>
              </a:ext>
            </a:extLst>
          </p:cNvPr>
          <p:cNvGrpSpPr/>
          <p:nvPr/>
        </p:nvGrpSpPr>
        <p:grpSpPr>
          <a:xfrm>
            <a:off x="2197100" y="3086100"/>
            <a:ext cx="6438900" cy="1816100"/>
            <a:chOff x="2197100" y="3086100"/>
            <a:chExt cx="6438900" cy="1816100"/>
          </a:xfrm>
        </p:grpSpPr>
        <p:cxnSp>
          <p:nvCxnSpPr>
            <p:cNvPr id="26" name="Straight Arrow Connector 25">
              <a:extLst>
                <a:ext uri="{FF2B5EF4-FFF2-40B4-BE49-F238E27FC236}">
                  <a16:creationId xmlns:a16="http://schemas.microsoft.com/office/drawing/2014/main" id="{A0A17A2A-BEE3-A221-43ED-52A0650015F9}"/>
                </a:ext>
              </a:extLst>
            </p:cNvPr>
            <p:cNvCxnSpPr>
              <a:cxnSpLocks/>
            </p:cNvCxnSpPr>
            <p:nvPr/>
          </p:nvCxnSpPr>
          <p:spPr>
            <a:xfrm flipH="1">
              <a:off x="2324100" y="4356100"/>
              <a:ext cx="1828800" cy="0"/>
            </a:xfrm>
            <a:prstGeom prst="straightConnector1">
              <a:avLst/>
            </a:prstGeom>
            <a:ln w="101600">
              <a:solidFill>
                <a:srgbClr val="F23F00">
                  <a:alpha val="7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727E04C-E2C7-5A14-2749-BA91AC9538D4}"/>
                </a:ext>
              </a:extLst>
            </p:cNvPr>
            <p:cNvCxnSpPr/>
            <p:nvPr/>
          </p:nvCxnSpPr>
          <p:spPr>
            <a:xfrm>
              <a:off x="86360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8BD43D-200F-1890-2767-2A3807557714}"/>
                </a:ext>
              </a:extLst>
            </p:cNvPr>
            <p:cNvCxnSpPr/>
            <p:nvPr/>
          </p:nvCxnSpPr>
          <p:spPr>
            <a:xfrm>
              <a:off x="2197100" y="3086100"/>
              <a:ext cx="0" cy="1816100"/>
            </a:xfrm>
            <a:prstGeom prst="line">
              <a:avLst/>
            </a:prstGeom>
            <a:ln w="57150">
              <a:solidFill>
                <a:srgbClr val="F23F00">
                  <a:alpha val="70000"/>
                </a:srgbClr>
              </a:solidFill>
              <a:prstDash val="sysDash"/>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62A8FE53-379E-4156-9461-6137473EB3BC}"/>
              </a:ext>
            </a:extLst>
          </p:cNvPr>
          <p:cNvSpPr txBox="1"/>
          <p:nvPr/>
        </p:nvSpPr>
        <p:spPr>
          <a:xfrm>
            <a:off x="181514" y="5271626"/>
            <a:ext cx="8724469" cy="1200329"/>
          </a:xfrm>
          <a:prstGeom prst="rect">
            <a:avLst/>
          </a:prstGeom>
          <a:noFill/>
        </p:spPr>
        <p:txBody>
          <a:bodyPr wrap="square">
            <a:spAutoFit/>
          </a:bodyPr>
          <a:lstStyle/>
          <a:p>
            <a:pPr algn="ctr"/>
            <a:r>
              <a:rPr lang="en-US" sz="2400">
                <a:latin typeface="+mj-lt"/>
              </a:rPr>
              <a:t>The Mess paper </a:t>
            </a:r>
            <a:r>
              <a:rPr lang="en-US" sz="2400" b="1">
                <a:solidFill>
                  <a:srgbClr val="F23F00"/>
                </a:solidFill>
                <a:latin typeface="+mj-lt"/>
              </a:rPr>
              <a:t>incorrectly assumes</a:t>
            </a:r>
            <a:r>
              <a:rPr lang="en-US" sz="2400" b="1">
                <a:latin typeface="+mj-lt"/>
              </a:rPr>
              <a:t> </a:t>
            </a:r>
            <a:r>
              <a:rPr lang="en-US" sz="2400">
                <a:latin typeface="+mj-lt"/>
              </a:rPr>
              <a:t>a DDR5 channel in </a:t>
            </a:r>
            <a:br>
              <a:rPr lang="en-US" sz="2400">
                <a:latin typeface="+mj-lt"/>
              </a:rPr>
            </a:br>
            <a:r>
              <a:rPr lang="en-US" sz="2400" err="1">
                <a:latin typeface="+mj-lt"/>
              </a:rPr>
              <a:t>Ramulator</a:t>
            </a:r>
            <a:r>
              <a:rPr lang="en-US" sz="2400">
                <a:latin typeface="+mj-lt"/>
              </a:rPr>
              <a:t> 2.0 is </a:t>
            </a:r>
            <a:r>
              <a:rPr lang="en-US" sz="2400" b="1">
                <a:solidFill>
                  <a:srgbClr val="F23F00"/>
                </a:solidFill>
                <a:latin typeface="+mj-lt"/>
              </a:rPr>
              <a:t>64-bit</a:t>
            </a:r>
            <a:r>
              <a:rPr lang="en-US" sz="2400" b="1">
                <a:latin typeface="+mj-lt"/>
              </a:rPr>
              <a:t>, </a:t>
            </a:r>
            <a:r>
              <a:rPr lang="en-US" sz="2400">
                <a:latin typeface="+mj-lt"/>
              </a:rPr>
              <a:t>instead of </a:t>
            </a:r>
            <a:r>
              <a:rPr lang="en-US" sz="2400" b="1">
                <a:solidFill>
                  <a:srgbClr val="F23F00"/>
                </a:solidFill>
                <a:latin typeface="+mj-lt"/>
              </a:rPr>
              <a:t>the actual width of 32-bit</a:t>
            </a:r>
            <a:r>
              <a:rPr lang="en-US" sz="2400">
                <a:latin typeface="+mj-lt"/>
              </a:rPr>
              <a:t> </a:t>
            </a:r>
            <a:br>
              <a:rPr lang="en-US" sz="2400">
                <a:latin typeface="+mj-lt"/>
              </a:rPr>
            </a:br>
            <a:r>
              <a:rPr lang="en-US" sz="2400">
                <a:latin typeface="+mj-lt"/>
              </a:rPr>
              <a:t>that is </a:t>
            </a:r>
            <a:r>
              <a:rPr lang="en-US" sz="2400" b="1">
                <a:solidFill>
                  <a:srgbClr val="F23F00"/>
                </a:solidFill>
                <a:latin typeface="+mj-lt"/>
              </a:rPr>
              <a:t>consistent</a:t>
            </a:r>
            <a:r>
              <a:rPr lang="en-US" sz="2400" b="1">
                <a:latin typeface="+mj-lt"/>
              </a:rPr>
              <a:t>  </a:t>
            </a:r>
            <a:r>
              <a:rPr lang="en-US" sz="2400" b="1">
                <a:solidFill>
                  <a:srgbClr val="F23F00"/>
                </a:solidFill>
                <a:latin typeface="+mj-lt"/>
              </a:rPr>
              <a:t>with</a:t>
            </a:r>
            <a:r>
              <a:rPr lang="en-US" sz="2400" b="1">
                <a:latin typeface="+mj-lt"/>
              </a:rPr>
              <a:t> </a:t>
            </a:r>
            <a:r>
              <a:rPr lang="en-US" sz="2400" b="1">
                <a:solidFill>
                  <a:srgbClr val="F23F00"/>
                </a:solidFill>
                <a:latin typeface="+mj-lt"/>
              </a:rPr>
              <a:t>JEDEC DDR5 standards </a:t>
            </a:r>
            <a:r>
              <a:rPr lang="en-US" sz="2400">
                <a:latin typeface="+mj-lt"/>
              </a:rPr>
              <a:t>(JESD79-5)</a:t>
            </a:r>
          </a:p>
        </p:txBody>
      </p:sp>
      <p:sp>
        <p:nvSpPr>
          <p:cNvPr id="38" name="Content Placeholder 2">
            <a:extLst>
              <a:ext uri="{FF2B5EF4-FFF2-40B4-BE49-F238E27FC236}">
                <a16:creationId xmlns:a16="http://schemas.microsoft.com/office/drawing/2014/main" id="{DB1B1B3A-5432-F9B6-D5A3-94E0D5061AB4}"/>
              </a:ext>
            </a:extLst>
          </p:cNvPr>
          <p:cNvSpPr txBox="1">
            <a:spLocks/>
          </p:cNvSpPr>
          <p:nvPr/>
        </p:nvSpPr>
        <p:spPr>
          <a:xfrm>
            <a:off x="0" y="5367661"/>
            <a:ext cx="9144000" cy="1008259"/>
          </a:xfrm>
          <a:prstGeom prst="rect">
            <a:avLst/>
          </a:prstGeom>
          <a:solidFill>
            <a:srgbClr val="FFEDE7"/>
          </a:solidFill>
          <a:ln w="28575">
            <a:solidFill>
              <a:srgbClr val="FF5F25"/>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Cambria" panose="02040503050406030204" pitchFamily="18" charset="0"/>
                <a:ea typeface="+mn-ea"/>
                <a:cs typeface="+mn-cs"/>
              </a:defRPr>
            </a:lvl1pPr>
            <a:lvl2pPr marL="685800" indent="-228600" algn="l" defTabSz="914400" rtl="0" eaLnBrk="1" latinLnBrk="0" hangingPunct="1">
              <a:lnSpc>
                <a:spcPct val="90000"/>
              </a:lnSpc>
              <a:spcBef>
                <a:spcPts val="500"/>
              </a:spcBef>
              <a:buFont typeface="Cambria" panose="02040503050406030204" pitchFamily="18"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spc="-60">
                <a:solidFill>
                  <a:srgbClr val="F23F00"/>
                </a:solidFill>
                <a:latin typeface="+mj-lt"/>
              </a:rPr>
              <a:t>The Mess paper configures Ramulator 2.0 with </a:t>
            </a:r>
            <a:r>
              <a:rPr lang="en-US" sz="2400" b="1" spc="-60">
                <a:solidFill>
                  <a:srgbClr val="F23F00"/>
                </a:solidFill>
                <a:latin typeface="+mj-lt"/>
              </a:rPr>
              <a:t>half the channels </a:t>
            </a:r>
            <a:r>
              <a:rPr lang="en-US" sz="2400" spc="-60">
                <a:solidFill>
                  <a:srgbClr val="F23F00"/>
                </a:solidFill>
                <a:latin typeface="+mj-lt"/>
              </a:rPr>
              <a:t>of </a:t>
            </a:r>
            <a:br>
              <a:rPr lang="en-US" sz="2400" spc="-60">
                <a:solidFill>
                  <a:srgbClr val="F23F00"/>
                </a:solidFill>
                <a:latin typeface="+mj-lt"/>
              </a:rPr>
            </a:br>
            <a:r>
              <a:rPr lang="en-US" sz="2400" spc="-60">
                <a:solidFill>
                  <a:srgbClr val="F23F00"/>
                </a:solidFill>
                <a:latin typeface="+mj-lt"/>
              </a:rPr>
              <a:t>a real system, and thus, results </a:t>
            </a:r>
            <a:r>
              <a:rPr lang="en-US" sz="2400" b="1" spc="-60">
                <a:solidFill>
                  <a:srgbClr val="F23F00"/>
                </a:solidFill>
                <a:latin typeface="+mj-lt"/>
              </a:rPr>
              <a:t>in smaller used bandwidth</a:t>
            </a:r>
          </a:p>
        </p:txBody>
      </p:sp>
    </p:spTree>
    <p:extLst>
      <p:ext uri="{BB962C8B-B14F-4D97-AF65-F5344CB8AC3E}">
        <p14:creationId xmlns:p14="http://schemas.microsoft.com/office/powerpoint/2010/main" val="3447853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E9C68-6CE7-E941-2212-47A51E2C152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CCC7E71-47A0-A7E4-5AC0-5BB3A9A8B99B}"/>
              </a:ext>
            </a:extLst>
          </p:cNvPr>
          <p:cNvSpPr>
            <a:spLocks noGrp="1"/>
          </p:cNvSpPr>
          <p:nvPr>
            <p:ph type="title"/>
          </p:nvPr>
        </p:nvSpPr>
        <p:spPr/>
        <p:txBody>
          <a:bodyPr>
            <a:noAutofit/>
          </a:bodyPr>
          <a:lstStyle/>
          <a:p>
            <a:r>
              <a:rPr lang="en-US"/>
              <a:t>DDR5 Channel Terminology</a:t>
            </a:r>
          </a:p>
        </p:txBody>
      </p:sp>
      <p:sp>
        <p:nvSpPr>
          <p:cNvPr id="4" name="Slide Number Placeholder 3">
            <a:extLst>
              <a:ext uri="{FF2B5EF4-FFF2-40B4-BE49-F238E27FC236}">
                <a16:creationId xmlns:a16="http://schemas.microsoft.com/office/drawing/2014/main" id="{2A6F8298-0378-E2EB-2AE3-3C2A687597E9}"/>
              </a:ext>
            </a:extLst>
          </p:cNvPr>
          <p:cNvSpPr>
            <a:spLocks noGrp="1"/>
          </p:cNvSpPr>
          <p:nvPr>
            <p:ph type="sldNum" sz="quarter" idx="12"/>
          </p:nvPr>
        </p:nvSpPr>
        <p:spPr/>
        <p:txBody>
          <a:bodyPr/>
          <a:lstStyle/>
          <a:p>
            <a:fld id="{CBE5B309-C2CE-4D90-B104-F7E98438FC65}" type="slidenum">
              <a:rPr lang="tr-TR" smtClean="0"/>
              <a:pPr/>
              <a:t>98</a:t>
            </a:fld>
            <a:endParaRPr lang="tr-TR"/>
          </a:p>
        </p:txBody>
      </p:sp>
      <p:pic>
        <p:nvPicPr>
          <p:cNvPr id="9" name="Picture 8">
            <a:extLst>
              <a:ext uri="{FF2B5EF4-FFF2-40B4-BE49-F238E27FC236}">
                <a16:creationId xmlns:a16="http://schemas.microsoft.com/office/drawing/2014/main" id="{690256E4-9FFF-CDB2-34A1-20BB43A2A3EF}"/>
              </a:ext>
            </a:extLst>
          </p:cNvPr>
          <p:cNvPicPr>
            <a:picLocks noChangeAspect="1"/>
          </p:cNvPicPr>
          <p:nvPr/>
        </p:nvPicPr>
        <p:blipFill>
          <a:blip r:embed="rId3"/>
          <a:stretch>
            <a:fillRect/>
          </a:stretch>
        </p:blipFill>
        <p:spPr>
          <a:xfrm>
            <a:off x="454420" y="987087"/>
            <a:ext cx="8183880" cy="3054180"/>
          </a:xfrm>
          <a:prstGeom prst="rect">
            <a:avLst/>
          </a:prstGeom>
        </p:spPr>
      </p:pic>
      <p:pic>
        <p:nvPicPr>
          <p:cNvPr id="11" name="Picture 10">
            <a:extLst>
              <a:ext uri="{FF2B5EF4-FFF2-40B4-BE49-F238E27FC236}">
                <a16:creationId xmlns:a16="http://schemas.microsoft.com/office/drawing/2014/main" id="{92DFCDEC-52FE-5C4B-6119-B286F542EF26}"/>
              </a:ext>
            </a:extLst>
          </p:cNvPr>
          <p:cNvPicPr>
            <a:picLocks noChangeAspect="1"/>
          </p:cNvPicPr>
          <p:nvPr/>
        </p:nvPicPr>
        <p:blipFill>
          <a:blip r:embed="rId4"/>
          <a:stretch>
            <a:fillRect/>
          </a:stretch>
        </p:blipFill>
        <p:spPr>
          <a:xfrm>
            <a:off x="617220" y="4041267"/>
            <a:ext cx="7658100" cy="2260671"/>
          </a:xfrm>
          <a:prstGeom prst="rect">
            <a:avLst/>
          </a:prstGeom>
        </p:spPr>
      </p:pic>
    </p:spTree>
    <p:extLst>
      <p:ext uri="{BB962C8B-B14F-4D97-AF65-F5344CB8AC3E}">
        <p14:creationId xmlns:p14="http://schemas.microsoft.com/office/powerpoint/2010/main" val="32673165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4C5F-77A4-F31B-94A0-087859248B8D}"/>
              </a:ext>
            </a:extLst>
          </p:cNvPr>
          <p:cNvSpPr>
            <a:spLocks noGrp="1"/>
          </p:cNvSpPr>
          <p:nvPr>
            <p:ph type="title"/>
          </p:nvPr>
        </p:nvSpPr>
        <p:spPr/>
        <p:txBody>
          <a:bodyPr/>
          <a:lstStyle/>
          <a:p>
            <a:r>
              <a:rPr lang="en-US" err="1"/>
              <a:t>Ramulator</a:t>
            </a:r>
            <a:r>
              <a:rPr lang="en-US"/>
              <a:t> 2.0 Simulation Configurations</a:t>
            </a:r>
          </a:p>
        </p:txBody>
      </p:sp>
      <p:sp>
        <p:nvSpPr>
          <p:cNvPr id="3" name="Content Placeholder 2">
            <a:extLst>
              <a:ext uri="{FF2B5EF4-FFF2-40B4-BE49-F238E27FC236}">
                <a16:creationId xmlns:a16="http://schemas.microsoft.com/office/drawing/2014/main" id="{FF64DE1C-C3FE-42D0-A8E9-5517040781D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21CBA4C-1804-C294-4302-E7217E500AC1}"/>
              </a:ext>
            </a:extLst>
          </p:cNvPr>
          <p:cNvSpPr>
            <a:spLocks noGrp="1"/>
          </p:cNvSpPr>
          <p:nvPr>
            <p:ph type="sldNum" sz="quarter" idx="12"/>
          </p:nvPr>
        </p:nvSpPr>
        <p:spPr/>
        <p:txBody>
          <a:bodyPr/>
          <a:lstStyle/>
          <a:p>
            <a:fld id="{CBE5B309-C2CE-4D90-B104-F7E98438FC65}" type="slidenum">
              <a:rPr lang="tr-TR" smtClean="0"/>
              <a:pPr/>
              <a:t>99</a:t>
            </a:fld>
            <a:endParaRPr lang="tr-TR"/>
          </a:p>
        </p:txBody>
      </p:sp>
      <p:pic>
        <p:nvPicPr>
          <p:cNvPr id="6" name="Picture 5">
            <a:extLst>
              <a:ext uri="{FF2B5EF4-FFF2-40B4-BE49-F238E27FC236}">
                <a16:creationId xmlns:a16="http://schemas.microsoft.com/office/drawing/2014/main" id="{DE988B2C-FD60-6026-C9FA-2AF28F48E0BC}"/>
              </a:ext>
            </a:extLst>
          </p:cNvPr>
          <p:cNvPicPr>
            <a:picLocks noChangeAspect="1"/>
          </p:cNvPicPr>
          <p:nvPr/>
        </p:nvPicPr>
        <p:blipFill>
          <a:blip r:embed="rId2"/>
          <a:stretch>
            <a:fillRect/>
          </a:stretch>
        </p:blipFill>
        <p:spPr>
          <a:xfrm>
            <a:off x="1618838" y="1271286"/>
            <a:ext cx="5906324" cy="4315427"/>
          </a:xfrm>
          <a:prstGeom prst="rect">
            <a:avLst/>
          </a:prstGeom>
        </p:spPr>
      </p:pic>
    </p:spTree>
    <p:extLst>
      <p:ext uri="{BB962C8B-B14F-4D97-AF65-F5344CB8AC3E}">
        <p14:creationId xmlns:p14="http://schemas.microsoft.com/office/powerpoint/2010/main" val="20559433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8B413-094A-D985-03D4-3EBF74774686}"/>
              </a:ext>
            </a:extLst>
          </p:cNvPr>
          <p:cNvSpPr>
            <a:spLocks noGrp="1"/>
          </p:cNvSpPr>
          <p:nvPr>
            <p:ph type="title"/>
          </p:nvPr>
        </p:nvSpPr>
        <p:spPr/>
        <p:txBody>
          <a:bodyPr/>
          <a:lstStyle/>
          <a:p>
            <a:r>
              <a:rPr lang="en-US"/>
              <a:t>DAMOV Simulation Configurations</a:t>
            </a:r>
          </a:p>
        </p:txBody>
      </p:sp>
      <p:sp>
        <p:nvSpPr>
          <p:cNvPr id="3" name="Content Placeholder 2">
            <a:extLst>
              <a:ext uri="{FF2B5EF4-FFF2-40B4-BE49-F238E27FC236}">
                <a16:creationId xmlns:a16="http://schemas.microsoft.com/office/drawing/2014/main" id="{9387A10D-0771-E805-83DA-142321D119F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7AF0C39-41B8-E978-9160-8025E65B105B}"/>
              </a:ext>
            </a:extLst>
          </p:cNvPr>
          <p:cNvSpPr>
            <a:spLocks noGrp="1"/>
          </p:cNvSpPr>
          <p:nvPr>
            <p:ph type="sldNum" sz="quarter" idx="12"/>
          </p:nvPr>
        </p:nvSpPr>
        <p:spPr/>
        <p:txBody>
          <a:bodyPr/>
          <a:lstStyle/>
          <a:p>
            <a:fld id="{CBE5B309-C2CE-4D90-B104-F7E98438FC65}" type="slidenum">
              <a:rPr lang="tr-TR" smtClean="0"/>
              <a:pPr/>
              <a:t>100</a:t>
            </a:fld>
            <a:endParaRPr lang="tr-TR"/>
          </a:p>
        </p:txBody>
      </p:sp>
      <p:pic>
        <p:nvPicPr>
          <p:cNvPr id="6" name="Picture 5">
            <a:extLst>
              <a:ext uri="{FF2B5EF4-FFF2-40B4-BE49-F238E27FC236}">
                <a16:creationId xmlns:a16="http://schemas.microsoft.com/office/drawing/2014/main" id="{21F6FD5F-B128-5FF2-5DF5-1FC9BA674C8D}"/>
              </a:ext>
            </a:extLst>
          </p:cNvPr>
          <p:cNvPicPr>
            <a:picLocks noChangeAspect="1"/>
          </p:cNvPicPr>
          <p:nvPr/>
        </p:nvPicPr>
        <p:blipFill>
          <a:blip r:embed="rId2"/>
          <a:stretch>
            <a:fillRect/>
          </a:stretch>
        </p:blipFill>
        <p:spPr>
          <a:xfrm>
            <a:off x="1571206" y="1066470"/>
            <a:ext cx="6001588" cy="4725059"/>
          </a:xfrm>
          <a:prstGeom prst="rect">
            <a:avLst/>
          </a:prstGeom>
        </p:spPr>
      </p:pic>
    </p:spTree>
    <p:extLst>
      <p:ext uri="{BB962C8B-B14F-4D97-AF65-F5344CB8AC3E}">
        <p14:creationId xmlns:p14="http://schemas.microsoft.com/office/powerpoint/2010/main" val="39559304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EB20-62DA-4AA4-97A7-D832CC7AC1D4}"/>
              </a:ext>
            </a:extLst>
          </p:cNvPr>
          <p:cNvSpPr>
            <a:spLocks noGrp="1"/>
          </p:cNvSpPr>
          <p:nvPr>
            <p:ph type="title"/>
          </p:nvPr>
        </p:nvSpPr>
        <p:spPr/>
        <p:txBody>
          <a:bodyPr/>
          <a:lstStyle/>
          <a:p>
            <a:r>
              <a:rPr lang="en-US" dirty="0" err="1"/>
              <a:t>Ramulator</a:t>
            </a:r>
            <a:r>
              <a:rPr lang="en-US" dirty="0"/>
              <a:t> (v1) – Mess Benchmark</a:t>
            </a:r>
          </a:p>
        </p:txBody>
      </p:sp>
      <p:pic>
        <p:nvPicPr>
          <p:cNvPr id="6" name="Content Placeholder 5">
            <a:extLst>
              <a:ext uri="{FF2B5EF4-FFF2-40B4-BE49-F238E27FC236}">
                <a16:creationId xmlns:a16="http://schemas.microsoft.com/office/drawing/2014/main" id="{950F7C3F-F157-83DA-164F-BFC69E1E07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579" y="930275"/>
            <a:ext cx="8586841" cy="5246688"/>
          </a:xfrm>
          <a:prstGeom prst="rect">
            <a:avLst/>
          </a:prstGeom>
        </p:spPr>
      </p:pic>
      <p:sp>
        <p:nvSpPr>
          <p:cNvPr id="4" name="Slide Number Placeholder 3">
            <a:extLst>
              <a:ext uri="{FF2B5EF4-FFF2-40B4-BE49-F238E27FC236}">
                <a16:creationId xmlns:a16="http://schemas.microsoft.com/office/drawing/2014/main" id="{F98BC84A-EABB-E1F3-4004-BBD21B6716FB}"/>
              </a:ext>
            </a:extLst>
          </p:cNvPr>
          <p:cNvSpPr>
            <a:spLocks noGrp="1"/>
          </p:cNvSpPr>
          <p:nvPr>
            <p:ph type="sldNum" sz="quarter" idx="12"/>
          </p:nvPr>
        </p:nvSpPr>
        <p:spPr/>
        <p:txBody>
          <a:bodyPr/>
          <a:lstStyle/>
          <a:p>
            <a:fld id="{CBE5B309-C2CE-4D90-B104-F7E98438FC65}" type="slidenum">
              <a:rPr lang="tr-TR" smtClean="0"/>
              <a:pPr/>
              <a:t>101</a:t>
            </a:fld>
            <a:endParaRPr lang="tr-TR" dirty="0"/>
          </a:p>
        </p:txBody>
      </p:sp>
    </p:spTree>
    <p:extLst>
      <p:ext uri="{BB962C8B-B14F-4D97-AF65-F5344CB8AC3E}">
        <p14:creationId xmlns:p14="http://schemas.microsoft.com/office/powerpoint/2010/main" val="2929099513"/>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33931</TotalTime>
  <Words>8030</Words>
  <Application>Microsoft Macintosh PowerPoint</Application>
  <PresentationFormat>On-screen Show (4:3)</PresentationFormat>
  <Paragraphs>1129</Paragraphs>
  <Slides>101</Slides>
  <Notes>76</Notes>
  <HiddenSlides>4</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101</vt:i4>
      </vt:variant>
    </vt:vector>
  </HeadingPairs>
  <TitlesOfParts>
    <vt:vector size="116" baseType="lpstr">
      <vt:lpstr>ＭＳ Ｐゴシック</vt:lpstr>
      <vt:lpstr>Aptos</vt:lpstr>
      <vt:lpstr>Aptos Display</vt:lpstr>
      <vt:lpstr>Aptos Mono</vt:lpstr>
      <vt:lpstr>Arial</vt:lpstr>
      <vt:lpstr>Calibri</vt:lpstr>
      <vt:lpstr>Cambria</vt:lpstr>
      <vt:lpstr>Cascadia Code</vt:lpstr>
      <vt:lpstr>Garamond</vt:lpstr>
      <vt:lpstr>Tahoma</vt:lpstr>
      <vt:lpstr>Trebuchet MS</vt:lpstr>
      <vt:lpstr>Wingdings</vt:lpstr>
      <vt:lpstr>Office Teması</vt:lpstr>
      <vt:lpstr>Edge</vt:lpstr>
      <vt:lpstr>Image</vt:lpstr>
      <vt:lpstr>Ramulator: Research Highlights</vt:lpstr>
      <vt:lpstr>Cleaning up the Mess  Re-Evaluating the Real-System Modeling Accuracy of Ramulator 2.0</vt:lpstr>
      <vt:lpstr>DRAM and Memory System Simulation</vt:lpstr>
      <vt:lpstr>Mess: A MICRO'24 Best Paper Runner-Up</vt:lpstr>
      <vt:lpstr>Cleaning up the Mess</vt:lpstr>
      <vt:lpstr>Cleaning up the Mess</vt:lpstr>
      <vt:lpstr>Ramulator 2.0: A Modern, Modular, and Extensible DRAM Simulator</vt:lpstr>
      <vt:lpstr>High-Level Memory System  Performance Evaluation &amp; Reasoning</vt:lpstr>
      <vt:lpstr>The Mess Paper's Evaluation of Ramulator 2.0</vt:lpstr>
      <vt:lpstr>Analysis of the Evaluation of Ramulator 2.0 in the Mess Paper</vt:lpstr>
      <vt:lpstr>Fundamental Configuration Errors</vt:lpstr>
      <vt:lpstr>Fundamental Configuration Errors: Smaller Used Bandwidth</vt:lpstr>
      <vt:lpstr>Fundamental Configuration Errors: Smaller Used Bandwidth</vt:lpstr>
      <vt:lpstr>Fundamental Configuration Errors: Smaller Used Bandwidth</vt:lpstr>
      <vt:lpstr>Fundamental Configuration Errors: Smaller Memory Access Latency</vt:lpstr>
      <vt:lpstr>Our Evaluation Methodology</vt:lpstr>
      <vt:lpstr>Our Key Results</vt:lpstr>
      <vt:lpstr>Our Key Results</vt:lpstr>
      <vt:lpstr>Our Key Results</vt:lpstr>
      <vt:lpstr>Cleaning up the Mess</vt:lpstr>
      <vt:lpstr>DAMOV: A Simulation Framework for PiM</vt:lpstr>
      <vt:lpstr>The Mess Paper's Evaluation of DAMOV</vt:lpstr>
      <vt:lpstr>Analysis of the Evaluation of DAMOV in the Mess Paper</vt:lpstr>
      <vt:lpstr>Our Key DAMOV Results</vt:lpstr>
      <vt:lpstr>More in the Paper</vt:lpstr>
      <vt:lpstr>Cleaning up the Mess is Open Source</vt:lpstr>
      <vt:lpstr>Cleaning up the Mess</vt:lpstr>
      <vt:lpstr>Ramulator 2.0 and DAMOV Best Practices</vt:lpstr>
      <vt:lpstr>Conclusion</vt:lpstr>
      <vt:lpstr>Cleaning up the Mess  Re-Evaluating the Real-System Modeling Accuracy of Ramulator 2.0</vt:lpstr>
      <vt:lpstr>RowHammer Mitigation Evaluation  Research Highlights</vt:lpstr>
      <vt:lpstr>Implementing Many RowHammer Mitigations in Ramulator 2.0</vt:lpstr>
      <vt:lpstr>Implementing Many RowHammer Mitigations in Ramulator 2.0</vt:lpstr>
      <vt:lpstr>Recent Improvements in JEDEC (2024)</vt:lpstr>
      <vt:lpstr>Evaluating Per-Row Activation Counting  (as introduced in DDR5 standard)</vt:lpstr>
      <vt:lpstr>Understanding PRAC (DRAMSec'24)</vt:lpstr>
      <vt:lpstr>Addressing Drawbacks of PRAC</vt:lpstr>
      <vt:lpstr>Chronus (HPCA'25) – Extended Analysis of PRAC</vt:lpstr>
      <vt:lpstr>Chronus (HPCA'25) – Key Ideas</vt:lpstr>
      <vt:lpstr>Chronus (HPCA'25) – Key Results</vt:lpstr>
      <vt:lpstr>Addressing Drawbacks of PRAC</vt:lpstr>
      <vt:lpstr>A Recent Paper using gem5+Ramulator 2.0</vt:lpstr>
      <vt:lpstr>Talk Outline</vt:lpstr>
      <vt:lpstr>A Typical DRAM-Based Computing System</vt:lpstr>
      <vt:lpstr>A Typical DRAM-Based Computing System</vt:lpstr>
      <vt:lpstr>DRAM Read Disturbance </vt:lpstr>
      <vt:lpstr>Mitigating Read Disturbance (I): Preventive Refresh</vt:lpstr>
      <vt:lpstr>Mitigating Read Disturbance (II): Preventive Refresh</vt:lpstr>
      <vt:lpstr>Read Disturbance is Getting Worse</vt:lpstr>
      <vt:lpstr>Latest Industry Defenses for RowHammer</vt:lpstr>
      <vt:lpstr>Problem</vt:lpstr>
      <vt:lpstr>Talk Outline</vt:lpstr>
      <vt:lpstr>Key Observation (I)</vt:lpstr>
      <vt:lpstr>Key Observation (II)</vt:lpstr>
      <vt:lpstr>Talk Outline</vt:lpstr>
      <vt:lpstr>PowerPoint Presentation</vt:lpstr>
      <vt:lpstr>LeakyHammer Case Studies</vt:lpstr>
      <vt:lpstr>Evaluation Methodology</vt:lpstr>
      <vt:lpstr>LeakyHammer Case Studies</vt:lpstr>
      <vt:lpstr>Per Row Activation Counting in DDR5</vt:lpstr>
      <vt:lpstr>Observing PRAC-Induced Latencies (I)</vt:lpstr>
      <vt:lpstr>Observing PRAC-Induced Latencies (II)</vt:lpstr>
      <vt:lpstr>Observing PRAC-Induced Latencies (II)</vt:lpstr>
      <vt:lpstr>PRAC-Based Covert Channel: Attack Overview</vt:lpstr>
      <vt:lpstr>PRAC-Based Covert Channel: Attack Overview</vt:lpstr>
      <vt:lpstr>PRAC-Based Covert Channel: Attack Overview</vt:lpstr>
      <vt:lpstr>PRAC-Based Covert Channel: Attack Overview</vt:lpstr>
      <vt:lpstr>PRAC-Based Covert Channel:  Proof-of-Concept and Channel Capacity</vt:lpstr>
      <vt:lpstr>PRAC-Based Covert Channel: Noise Analysis</vt:lpstr>
      <vt:lpstr>LeakyHammer Case Studies</vt:lpstr>
      <vt:lpstr>RFM-Based Covert Channel Summary</vt:lpstr>
      <vt:lpstr>RFM-Based Covert Channel Summary</vt:lpstr>
      <vt:lpstr>LeakyHammer Case Studies</vt:lpstr>
      <vt:lpstr>PRAC-Based Website Fingerprinting Attack</vt:lpstr>
      <vt:lpstr>Fingerprinting Attack Overview</vt:lpstr>
      <vt:lpstr>Fingerprinting Attack Overview</vt:lpstr>
      <vt:lpstr>Fingerprinting Attack Overview</vt:lpstr>
      <vt:lpstr>Launching the Attack</vt:lpstr>
      <vt:lpstr>PRAC-Based Website Fingerprinting: Evaluation</vt:lpstr>
      <vt:lpstr>Talk Outline</vt:lpstr>
      <vt:lpstr>Mitigating LeakyHammer</vt:lpstr>
      <vt:lpstr>Evaluating LeakyHammer Countermeasures</vt:lpstr>
      <vt:lpstr>More in the Paper</vt:lpstr>
      <vt:lpstr>More in the Paper</vt:lpstr>
      <vt:lpstr>LeakyHammer is Open Source and Artifact Evaluated</vt:lpstr>
      <vt:lpstr>Understanding and Mitigating  Covert Channel and Side Channel Vulnerabilities  Introduced by RowHammer Defenses</vt:lpstr>
      <vt:lpstr>Ramulator: Research Highlights</vt:lpstr>
      <vt:lpstr>Cleaning up the Mess  Re-Evaluating the Real-System Modeling Accuracy of Ramulator 2.0</vt:lpstr>
      <vt:lpstr>Maximum Achievable Bandwidth</vt:lpstr>
      <vt:lpstr>Further Evaluation of DAMOV Results</vt:lpstr>
      <vt:lpstr>Ramulator (v1) – Mess Benchmark</vt:lpstr>
      <vt:lpstr>Another DDR4 Real System Result  from the Mess Paper</vt:lpstr>
      <vt:lpstr>Ramulator 2.1 DRAM Standards Lat-Tp Plots</vt:lpstr>
      <vt:lpstr>Ramulator 2.1 DRAM Standards Lat-Tp Plots</vt:lpstr>
      <vt:lpstr>Ramulator 2.1</vt:lpstr>
      <vt:lpstr>Fundamental Configuration Errors: Smaller Used Bandwidth</vt:lpstr>
      <vt:lpstr>Fundamental Configuration Errors: Smaller Used Bandwidth</vt:lpstr>
      <vt:lpstr>DDR5 Channel Terminology</vt:lpstr>
      <vt:lpstr>Ramulator 2.0 Simulation Configurations</vt:lpstr>
      <vt:lpstr>DAMOV Simulation Configurations</vt:lpstr>
      <vt:lpstr>Ramulator (v1) – Mess Benchmark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LeakyHammer and IMPACT</dc:title>
  <dc:creator>Fatma Nisa Bostancı</dc:creator>
  <cp:lastModifiedBy>Bostanci  Fatma Nisa</cp:lastModifiedBy>
  <cp:revision>811</cp:revision>
  <dcterms:created xsi:type="dcterms:W3CDTF">2022-03-02T08:12:14Z</dcterms:created>
  <dcterms:modified xsi:type="dcterms:W3CDTF">2026-06-27T04:21:30Z</dcterms:modified>
</cp:coreProperties>
</file>