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0" r:id="rId4"/>
    <p:sldMasterId id="2147483698" r:id="rId5"/>
  </p:sldMasterIdLst>
  <p:notesMasterIdLst>
    <p:notesMasterId r:id="rId25"/>
  </p:notesMasterIdLst>
  <p:handoutMasterIdLst>
    <p:handoutMasterId r:id="rId26"/>
  </p:handoutMasterIdLst>
  <p:sldIdLst>
    <p:sldId id="7355" r:id="rId6"/>
    <p:sldId id="7357" r:id="rId7"/>
    <p:sldId id="7358" r:id="rId8"/>
    <p:sldId id="7365" r:id="rId9"/>
    <p:sldId id="7366" r:id="rId10"/>
    <p:sldId id="7359" r:id="rId11"/>
    <p:sldId id="7367" r:id="rId12"/>
    <p:sldId id="7368" r:id="rId13"/>
    <p:sldId id="7360" r:id="rId14"/>
    <p:sldId id="7369" r:id="rId15"/>
    <p:sldId id="7361" r:id="rId16"/>
    <p:sldId id="7372" r:id="rId17"/>
    <p:sldId id="7373" r:id="rId18"/>
    <p:sldId id="7370" r:id="rId19"/>
    <p:sldId id="7371" r:id="rId20"/>
    <p:sldId id="7362" r:id="rId21"/>
    <p:sldId id="7363" r:id="rId22"/>
    <p:sldId id="7375" r:id="rId23"/>
    <p:sldId id="7374" r:id="rId24"/>
  </p:sldIdLst>
  <p:sldSz cx="9144000" cy="6858000" type="screen4x3"/>
  <p:notesSz cx="6858000" cy="9144000"/>
  <p:embeddedFontLst>
    <p:embeddedFont>
      <p:font typeface="ＭＳ Ｐゴシック" panose="020B0600070205080204" pitchFamily="34" charset="-128"/>
      <p:regular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Garamond" panose="02020404030301010803" pitchFamily="18" charset="0"/>
      <p:regular r:id="rId32"/>
      <p:bold r:id="rId33"/>
      <p:italic r:id="rId34"/>
    </p:embeddedFont>
    <p:embeddedFont>
      <p:font typeface="Tahoma" panose="020B0604030504040204" pitchFamily="34" charset="0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5CA9F4-C014-4D42-A27D-6FB6206EF324}">
          <p14:sldIdLst>
            <p14:sldId id="7355"/>
            <p14:sldId id="7357"/>
            <p14:sldId id="7358"/>
            <p14:sldId id="7365"/>
            <p14:sldId id="7366"/>
            <p14:sldId id="7359"/>
            <p14:sldId id="7367"/>
            <p14:sldId id="7368"/>
            <p14:sldId id="7360"/>
            <p14:sldId id="7369"/>
            <p14:sldId id="7361"/>
            <p14:sldId id="7372"/>
            <p14:sldId id="7373"/>
            <p14:sldId id="7370"/>
            <p14:sldId id="7371"/>
            <p14:sldId id="7362"/>
            <p14:sldId id="7363"/>
            <p14:sldId id="7375"/>
            <p14:sldId id="73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565768-B9C7-452C-840C-CF80B6EBBAF4}" name="Olgun  Ataberk" initials="OA" userId="S::aolgun@ethz.ch::af774e6e-6259-4f74-8c0e-70a4d8a1692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berk Olgun" initials="AO" lastIdx="2" clrIdx="0">
    <p:extLst>
      <p:ext uri="{19B8F6BF-5375-455C-9EA6-DF929625EA0E}">
        <p15:presenceInfo xmlns:p15="http://schemas.microsoft.com/office/powerpoint/2012/main" userId="S::aolgun@etu.edu.tr::acd4a36d-8e2b-4bf9-9640-24bbf4f0f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9900"/>
    <a:srgbClr val="000000"/>
    <a:srgbClr val="E9EEF2"/>
    <a:srgbClr val="A6A6A6"/>
    <a:srgbClr val="006633"/>
    <a:srgbClr val="CC0000"/>
    <a:srgbClr val="FF00FF"/>
    <a:srgbClr val="FF6600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4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178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77DA08E8-53C0-41C1-B14E-9595836993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0143DBD-F10E-492C-ADF8-342A939EC0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9D07D-4A00-4F92-AF55-18EA03C4412A}" type="datetimeFigureOut">
              <a:rPr lang="tr-TR" smtClean="0"/>
              <a:t>10.07.2026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6D6159E-3F4F-4721-B75C-D4A1DC236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30C48-0F14-4D5C-A4D0-95BC221427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8118C-437E-4328-ACDE-5D7FE2C38D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548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B997D-A77B-4492-B8BA-B7DF74E65B62}" type="datetimeFigureOut">
              <a:rPr lang="tr-TR" smtClean="0"/>
              <a:t>10.07.2026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5381-7527-4E0E-A355-7550D954D0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41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B6A3-5002-F9A5-7D50-8087CBD3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149731C0-35F3-027C-A3D1-9DFCB5E76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EB913B-253C-AD49-B9C4-8FBF00D4106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12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EFC02CCF-BB75-FA6E-434D-80223EC82E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A7ED6F3-3253-CF76-1C09-745A015E1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1359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0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8B7E-9D90-9B48-A8F0-5C08F12D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70062"/>
            <a:ext cx="9144000" cy="1325563"/>
          </a:xfrm>
          <a:prstGeom prst="rect">
            <a:avLst/>
          </a:prstGeom>
        </p:spPr>
        <p:txBody>
          <a:bodyPr/>
          <a:lstStyle>
            <a:lvl1pPr>
              <a:defRPr sz="6600" b="1" i="1" baseline="0"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7C05B-AE6B-CA40-92B3-312C96F8E5F4}"/>
              </a:ext>
            </a:extLst>
          </p:cNvPr>
          <p:cNvSpPr/>
          <p:nvPr userDrawn="1"/>
        </p:nvSpPr>
        <p:spPr>
          <a:xfrm>
            <a:off x="0" y="4697080"/>
            <a:ext cx="9144000" cy="143750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3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6FA48C-FC23-4C73-AC9B-B702C151A810}"/>
              </a:ext>
            </a:extLst>
          </p:cNvPr>
          <p:cNvSpPr/>
          <p:nvPr userDrawn="1"/>
        </p:nvSpPr>
        <p:spPr>
          <a:xfrm>
            <a:off x="0" y="0"/>
            <a:ext cx="9144000" cy="86041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91" y="11100"/>
            <a:ext cx="8987621" cy="76125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Aft>
                <a:spcPts val="600"/>
              </a:spcAft>
              <a:defRPr sz="4000" b="1" baseline="0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91" y="975034"/>
            <a:ext cx="8987622" cy="543504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Cambria" panose="02040503050406030204" pitchFamily="18" charset="0"/>
              </a:defRPr>
            </a:lvl1pPr>
            <a:lvl2pPr marL="685800" indent="-228600">
              <a:buFont typeface="Cambria" panose="02040503050406030204" pitchFamily="18" charset="0"/>
              <a:buChar char="-"/>
              <a:defRPr sz="2800">
                <a:latin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7924800" y="647146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tx1">
                    <a:tint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2B188-1D62-4FCA-8363-938AD4629BB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afari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991" y="6524699"/>
            <a:ext cx="977147" cy="2827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8180C1-8B68-AC4C-94FA-42ACC1C193E9}"/>
              </a:ext>
            </a:extLst>
          </p:cNvPr>
          <p:cNvSpPr/>
          <p:nvPr userDrawn="1"/>
        </p:nvSpPr>
        <p:spPr>
          <a:xfrm>
            <a:off x="1073731" y="6449551"/>
            <a:ext cx="779781" cy="343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54604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BB22F3D8-372A-7E4F-BAF0-2B62E16D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2538D10A-B20C-1F4A-A69F-0F0B507B6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323C0A52-D6B6-4A4D-BD73-5955293DBD0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3D96CF-D2B5-284A-8A3B-88E2B14F16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E92EBB-E8F1-BB42-9972-9FC2F1E39D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15D7EE-6875-8949-837F-2AE3A4F79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800691C5-9FA5-3F46-90A7-ED5D0D102B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30506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30D4116A-1656-924F-8339-968CDC00B5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A92E4BB7-CF8F-934D-88CB-2C51D02F64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33320-76E4-0249-8CA9-3902D97168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5303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D009077-10AD-0947-8806-7D3C25918E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AA347429-32EA-F843-AE5C-FC1A699EBC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AB052-3664-BF4F-993F-29369860E1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6482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4642810-0270-CB48-A1CA-24DCF4455E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31DA97B-4E00-DC4F-B7DB-18E15C4344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EB4A5-7404-294B-999D-175F606D62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209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24BD8FCD-1BEB-6A42-B8B1-C39ED5BE27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91A21973-5A9E-154E-A49A-033DD08EB7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13A1E-7D24-2943-AA19-843CF9E699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35733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DB659D62-F008-694B-A107-310AB43E4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866F093A-DC6C-3444-8F25-CDFB50F79E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812E9-CA0A-8244-A046-0571FC5453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66752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F96B94DE-149A-A84D-858F-4D5B428FA7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24B1C692-591D-3346-8E1A-A19CC1BBF0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001C4-BF5C-F640-BD99-70162C2025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9492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7690CA2F-7EF4-4D4B-B05E-9CD06D97C0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3EF9E563-85B6-884B-A069-BAB01B87B7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D0717-7499-9E44-845B-E851FCB169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50259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562426B-A5A0-F944-991E-0F589442A9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EBECD59-3F6D-0145-A9B5-5EE2DF859F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9139E-1132-E74D-AAEB-A81F8150B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37925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BB00FC4D-28B2-774A-BDF5-CB3A5D1E70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EBDB0E60-2A7B-1B44-BB6D-97BF3A139C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C9412-F662-064D-BEDC-D33A60B08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6335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10E3EA30-DFF3-9C4B-9691-5C9AAB88EB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2B2EE262-3A13-4443-80B8-614C7A4B25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70A1F-36EE-AC4A-B790-1CFE7EECDE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2461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A476F68-C964-6F4C-B323-CADD64DDE3D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F4A41114-0EC5-4244-A8AE-388F27C490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1C9BF-9555-1749-A87B-CA7C52D01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63221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57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1026">
            <a:extLst>
              <a:ext uri="{FF2B5EF4-FFF2-40B4-BE49-F238E27FC236}">
                <a16:creationId xmlns:a16="http://schemas.microsoft.com/office/drawing/2014/main" id="{767842EF-2E87-9649-8E4C-4EF07515E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25667" name="Rectangle 1027">
            <a:extLst>
              <a:ext uri="{FF2B5EF4-FFF2-40B4-BE49-F238E27FC236}">
                <a16:creationId xmlns:a16="http://schemas.microsoft.com/office/drawing/2014/main" id="{7F46E882-405C-294F-A176-5EB4B6E5E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7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3955FDDD-00C5-1D4C-912E-1BDB0E3BD3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2C1267A1-BE40-C34F-A587-D92B7D4A5D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latin typeface="Garamond" charset="0"/>
              </a:defRPr>
            </a:lvl1pPr>
          </a:lstStyle>
          <a:p>
            <a:pPr>
              <a:defRPr/>
            </a:pPr>
            <a:fld id="{B1C60925-3F6D-0244-A63C-8428EA4EFD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25670" name="Line 1032">
            <a:extLst>
              <a:ext uri="{FF2B5EF4-FFF2-40B4-BE49-F238E27FC236}">
                <a16:creationId xmlns:a16="http://schemas.microsoft.com/office/drawing/2014/main" id="{BEFE2080-76AE-4B40-AEAD-392FD767B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671" name="Line 1033">
            <a:extLst>
              <a:ext uri="{FF2B5EF4-FFF2-40B4-BE49-F238E27FC236}">
                <a16:creationId xmlns:a16="http://schemas.microsoft.com/office/drawing/2014/main" id="{23A53299-EA82-2047-A09E-6BA5006568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5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02444" indent="-24407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1650">
          <a:solidFill>
            <a:schemeClr val="tx1"/>
          </a:solidFill>
          <a:latin typeface="+mn-lt"/>
          <a:ea typeface="ＭＳ Ｐゴシック" pitchFamily="-106" charset="-128"/>
        </a:defRPr>
      </a:lvl2pPr>
      <a:lvl3pPr marL="766763" indent="-2631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ＭＳ Ｐゴシック" pitchFamily="-106" charset="-128"/>
        </a:defRPr>
      </a:lvl3pPr>
      <a:lvl4pPr marL="1004888" indent="-23693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260872" indent="-2547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ＭＳ Ｐゴシック" pitchFamily="-106" charset="-128"/>
        </a:defRPr>
      </a:lvl5pPr>
      <a:lvl6pPr marL="16037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19466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22895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26324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MU-SAFARI/ramulator2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MU-SAFARI/ramulator2/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328A-0307-77F0-EF06-7B4B213B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4">
            <a:extLst>
              <a:ext uri="{FF2B5EF4-FFF2-40B4-BE49-F238E27FC236}">
                <a16:creationId xmlns:a16="http://schemas.microsoft.com/office/drawing/2014/main" id="{18B80015-5613-9219-1588-2F3BE7C143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6081" y="1151724"/>
            <a:ext cx="8428037" cy="2198749"/>
          </a:xfrm>
        </p:spPr>
        <p:txBody>
          <a:bodyPr anchor="ctr"/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ea typeface="ＭＳ Ｐゴシック" charset="-128"/>
              </a:rPr>
              <a:t>Introduction to Ramulator 2.1</a:t>
            </a:r>
            <a:endParaRPr lang="en-US" altLang="en-US" sz="4400" dirty="0">
              <a:ea typeface="ＭＳ Ｐゴシック" charset="-128"/>
            </a:endParaRPr>
          </a:p>
        </p:txBody>
      </p:sp>
      <p:sp>
        <p:nvSpPr>
          <p:cNvPr id="96258" name="Rectangle 5">
            <a:extLst>
              <a:ext uri="{FF2B5EF4-FFF2-40B4-BE49-F238E27FC236}">
                <a16:creationId xmlns:a16="http://schemas.microsoft.com/office/drawing/2014/main" id="{78DC755A-2527-A0F7-84F2-34468DF595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799" y="3773573"/>
            <a:ext cx="7821071" cy="2708190"/>
          </a:xfrm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solidFill>
                  <a:srgbClr val="003399"/>
                </a:solidFill>
                <a:ea typeface="ＭＳ Ｐゴシック" charset="-128"/>
              </a:rPr>
              <a:t>Haocong Luo</a:t>
            </a:r>
            <a:endParaRPr lang="en-US" altLang="en-US" sz="2400" dirty="0">
              <a:solidFill>
                <a:srgbClr val="003399"/>
              </a:solidFill>
              <a:ea typeface="ＭＳ Ｐゴシック" charset="-128"/>
            </a:endParaRPr>
          </a:p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ea typeface="ＭＳ Ｐゴシック" charset="-128"/>
              </a:rPr>
              <a:t>ETH Zurich</a:t>
            </a:r>
          </a:p>
          <a:p>
            <a:pPr eaLnBrk="1" hangingPunct="1"/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2</a:t>
            </a:r>
            <a:r>
              <a:rPr lang="en-US" altLang="en-US" sz="2400" baseline="300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nd</a:t>
            </a:r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 R&amp;DB Workshop and Tutorial @ ISCA’26</a:t>
            </a:r>
          </a:p>
          <a:p>
            <a:pPr eaLnBrk="1" hangingPunct="1"/>
            <a:r>
              <a:rPr lang="en-US" altLang="en-US" sz="2400" dirty="0">
                <a:solidFill>
                  <a:schemeClr val="bg1">
                    <a:lumMod val="65000"/>
                  </a:schemeClr>
                </a:solidFill>
                <a:ea typeface="ＭＳ Ｐゴシック" charset="-128"/>
              </a:rPr>
              <a:t>27.06.2026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F76C684-B64A-0ACD-D8B5-9F03902569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954" y="6405806"/>
            <a:ext cx="1621717" cy="311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C9767C-5DA2-8525-1723-ABC3F96373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20" t="33599" r="12247" b="30996"/>
          <a:stretch/>
        </p:blipFill>
        <p:spPr>
          <a:xfrm>
            <a:off x="7051627" y="6400703"/>
            <a:ext cx="1813419" cy="31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069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F1E54-6506-51AB-2548-7157994C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007D-872D-E0E8-1DF3-46DDE13C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Introduction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66C0-7753-666C-58C9-2C51C443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Ramulator 2.1 is a </a:t>
            </a:r>
            <a:r>
              <a:rPr lang="en-US" sz="2400" b="1" dirty="0">
                <a:solidFill>
                  <a:srgbClr val="0066CC"/>
                </a:solidFill>
              </a:rPr>
              <a:t>major overhaul </a:t>
            </a:r>
            <a:r>
              <a:rPr lang="en-US" sz="2400" b="1" dirty="0"/>
              <a:t>of Ramulator 2.0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Fixes bugs </a:t>
            </a:r>
            <a:r>
              <a:rPr lang="en-US" sz="2000" dirty="0"/>
              <a:t>identified by </a:t>
            </a:r>
            <a:r>
              <a:rPr lang="en-US" sz="2000" dirty="0" err="1"/>
              <a:t>Github</a:t>
            </a:r>
            <a:r>
              <a:rPr lang="en-US" sz="2000" dirty="0"/>
              <a:t> issues and internal testing</a:t>
            </a:r>
          </a:p>
          <a:p>
            <a:pPr lvl="1"/>
            <a:r>
              <a:rPr lang="en-US" sz="2000" dirty="0"/>
              <a:t>More comprehensive support for </a:t>
            </a:r>
            <a:r>
              <a:rPr lang="en-US" sz="2000" b="1" dirty="0">
                <a:solidFill>
                  <a:srgbClr val="0066CC"/>
                </a:solidFill>
              </a:rPr>
              <a:t>new DRAM &amp; controller features</a:t>
            </a:r>
          </a:p>
          <a:p>
            <a:pPr lvl="1"/>
            <a:r>
              <a:rPr lang="en-US" sz="2000" dirty="0"/>
              <a:t>More comprehensive set of </a:t>
            </a:r>
            <a:r>
              <a:rPr lang="en-US" sz="2000" b="1" dirty="0">
                <a:solidFill>
                  <a:srgbClr val="0066CC"/>
                </a:solidFill>
              </a:rPr>
              <a:t>tests and validations</a:t>
            </a:r>
          </a:p>
          <a:p>
            <a:pPr lvl="1"/>
            <a:r>
              <a:rPr lang="en-US" sz="2000" dirty="0"/>
              <a:t>Significantly improved </a:t>
            </a:r>
            <a:r>
              <a:rPr lang="en-US" sz="2000" b="1" dirty="0">
                <a:solidFill>
                  <a:srgbClr val="0066CC"/>
                </a:solidFill>
              </a:rPr>
              <a:t>ease of use, configuration, and extension</a:t>
            </a:r>
          </a:p>
          <a:p>
            <a:pPr lvl="1"/>
            <a:r>
              <a:rPr lang="en-US" sz="2000" dirty="0"/>
              <a:t>Overall code quality and documentation improvements</a:t>
            </a:r>
          </a:p>
          <a:p>
            <a:pPr>
              <a:spcBef>
                <a:spcPts val="1200"/>
              </a:spcBef>
            </a:pPr>
            <a:r>
              <a:rPr lang="en-US" sz="2400" dirty="0" err="1"/>
              <a:t>Github</a:t>
            </a:r>
            <a:r>
              <a:rPr lang="en-US" sz="2400" dirty="0"/>
              <a:t> main branch updated to v2.1.0</a:t>
            </a:r>
            <a:endParaRPr lang="en-US" sz="2400" b="1" dirty="0">
              <a:solidFill>
                <a:srgbClr val="0066CC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sz="2000" dirty="0">
                <a:hlinkClick r:id="rId2"/>
              </a:rPr>
              <a:t>https://github.com/CMU-SAFARI/ramulator2/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 err="1"/>
              <a:t>codespace</a:t>
            </a:r>
            <a:r>
              <a:rPr lang="en-US" sz="2000" dirty="0"/>
              <a:t> and </a:t>
            </a:r>
            <a:r>
              <a:rPr lang="en-US" sz="2000" dirty="0" err="1"/>
              <a:t>devcontainer</a:t>
            </a:r>
            <a:r>
              <a:rPr lang="en-US" sz="2000" dirty="0"/>
              <a:t> ready!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V2.0a is archived as legacy/v2.0a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Welcomes your </a:t>
            </a:r>
            <a:r>
              <a:rPr lang="en-US" sz="2400" b="1" dirty="0">
                <a:solidFill>
                  <a:srgbClr val="0066CC"/>
                </a:solidFill>
              </a:rPr>
              <a:t>use, contribution, and feedback</a:t>
            </a:r>
            <a:r>
              <a:rPr lang="en-US" sz="2400" b="1" dirty="0"/>
              <a:t>!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Issues &amp; Discussions on </a:t>
            </a:r>
            <a:r>
              <a:rPr lang="en-US" sz="2000" dirty="0" err="1"/>
              <a:t>Github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/>
              <a:t>Open PRs for bug fixes, improvements, and new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EF727-6CFD-94C7-7D13-8560FA22FD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627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33A2-F91F-E35F-4029-07B4B9B4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CBE9-D0A6-D141-86B4-A3D22620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Key Bug Fixes &amp; New Features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EDB0-E0B4-1246-8072-7D782EBC0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Currently modeled DRAM Standards</a:t>
            </a:r>
          </a:p>
          <a:p>
            <a:pPr lvl="1"/>
            <a:r>
              <a:rPr lang="en-US" sz="2400" b="1" dirty="0">
                <a:solidFill>
                  <a:srgbClr val="0066CC"/>
                </a:solidFill>
              </a:rPr>
              <a:t>DDR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DDR3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DDR4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DDR5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50" dirty="0"/>
          </a:p>
          <a:p>
            <a:pPr>
              <a:buFont typeface="Wingdings" panose="05000000000000000000" pitchFamily="2" charset="2"/>
              <a:buChar char="q"/>
            </a:pPr>
            <a:endParaRPr lang="en-US" sz="2450" dirty="0"/>
          </a:p>
          <a:p>
            <a:r>
              <a:rPr lang="en-US" sz="2400" b="1" dirty="0"/>
              <a:t>Modeling scope &amp; priority</a:t>
            </a:r>
            <a:endParaRPr lang="en-US" sz="2150" dirty="0"/>
          </a:p>
          <a:p>
            <a:pPr lvl="1"/>
            <a:r>
              <a:rPr lang="en-US" sz="2250" dirty="0"/>
              <a:t>Timing and functional simulation of DRAM commands</a:t>
            </a:r>
          </a:p>
          <a:p>
            <a:pPr lvl="1"/>
            <a:r>
              <a:rPr lang="en-US" sz="2250" dirty="0"/>
              <a:t>Load/Store transactions, refresh, read disturbance mitigation</a:t>
            </a:r>
          </a:p>
          <a:p>
            <a:pPr lvl="1"/>
            <a:r>
              <a:rPr lang="en-US" sz="2250" dirty="0"/>
              <a:t>High frequency operation and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63088-9838-EA94-EEAE-3C1586C744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EA2420-50B5-E7D9-CF0B-8C3F56BD4103}"/>
              </a:ext>
            </a:extLst>
          </p:cNvPr>
          <p:cNvSpPr txBox="1">
            <a:spLocks/>
          </p:cNvSpPr>
          <p:nvPr/>
        </p:nvSpPr>
        <p:spPr bwMode="auto">
          <a:xfrm>
            <a:off x="1671320" y="1441180"/>
            <a:ext cx="2713644" cy="191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02444" indent="-24407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165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766763" indent="-26312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004888" indent="-23693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260872" indent="-2547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16037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6pPr>
            <a:lvl7pPr marL="19466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7pPr>
            <a:lvl8pPr marL="22895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8pPr>
            <a:lvl9pPr marL="26324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1" defTabSz="914400"/>
            <a:r>
              <a:rPr lang="en-US" sz="2400" b="1" kern="0" dirty="0">
                <a:solidFill>
                  <a:srgbClr val="0066CC"/>
                </a:solidFill>
              </a:rPr>
              <a:t>LPDDR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LPDDR5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LPDDR6</a:t>
            </a:r>
          </a:p>
          <a:p>
            <a:pPr lvl="1" defTabSz="914400">
              <a:buFont typeface="Wingdings" pitchFamily="2" charset="2"/>
              <a:buChar char="ü"/>
            </a:pPr>
            <a:endParaRPr lang="en-US" sz="2150" kern="0" dirty="0"/>
          </a:p>
          <a:p>
            <a:pPr marL="258365" lvl="1" indent="0" defTabSz="914400">
              <a:buFont typeface="Wingdings" pitchFamily="2" charset="2"/>
              <a:buNone/>
            </a:pPr>
            <a:endParaRPr lang="en-US" sz="2150" kern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0C66C0-F69C-8313-263B-940FD2FA7C5A}"/>
              </a:ext>
            </a:extLst>
          </p:cNvPr>
          <p:cNvSpPr txBox="1">
            <a:spLocks/>
          </p:cNvSpPr>
          <p:nvPr/>
        </p:nvSpPr>
        <p:spPr bwMode="auto">
          <a:xfrm>
            <a:off x="3398520" y="1441181"/>
            <a:ext cx="3230880" cy="17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02444" indent="-24407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165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766763" indent="-26312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004888" indent="-23693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260872" indent="-2547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16037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6pPr>
            <a:lvl7pPr marL="19466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7pPr>
            <a:lvl8pPr marL="22895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8pPr>
            <a:lvl9pPr marL="26324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en-US" sz="2400" b="1" dirty="0">
                <a:solidFill>
                  <a:srgbClr val="0066CC"/>
                </a:solidFill>
              </a:rPr>
              <a:t>GDDR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GDDR6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GDDR7</a:t>
            </a:r>
            <a:endParaRPr lang="en-US" sz="2150" kern="0" dirty="0"/>
          </a:p>
          <a:p>
            <a:pPr marL="258365" lvl="1" indent="0" defTabSz="914400">
              <a:buFont typeface="Wingdings" pitchFamily="2" charset="2"/>
              <a:buNone/>
            </a:pPr>
            <a:endParaRPr lang="en-US" sz="2150" kern="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3CF9986-D06B-77CD-C06A-FB189209DF06}"/>
              </a:ext>
            </a:extLst>
          </p:cNvPr>
          <p:cNvSpPr txBox="1">
            <a:spLocks/>
          </p:cNvSpPr>
          <p:nvPr/>
        </p:nvSpPr>
        <p:spPr bwMode="auto">
          <a:xfrm>
            <a:off x="4879338" y="1441181"/>
            <a:ext cx="8610600" cy="233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02444" indent="-24407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165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766763" indent="-26312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004888" indent="-23693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260872" indent="-2547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16037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6pPr>
            <a:lvl7pPr marL="19466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7pPr>
            <a:lvl8pPr marL="22895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8pPr>
            <a:lvl9pPr marL="2632472" indent="-254794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1" defTabSz="914400"/>
            <a:r>
              <a:rPr lang="en-US" sz="2400" b="1" kern="0" dirty="0">
                <a:solidFill>
                  <a:srgbClr val="0066CC"/>
                </a:solidFill>
              </a:rPr>
              <a:t>HBM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HBM1 (Legacy mode)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HBM2 (</a:t>
            </a:r>
            <a:r>
              <a:rPr lang="en-US" sz="2000" kern="0" dirty="0" err="1"/>
              <a:t>Pseudochannel</a:t>
            </a:r>
            <a:r>
              <a:rPr lang="en-US" sz="2000" kern="0" dirty="0"/>
              <a:t> mode)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HBM3</a:t>
            </a:r>
          </a:p>
          <a:p>
            <a:pPr lvl="2" defTabSz="914400">
              <a:buFont typeface="Wingdings" pitchFamily="2" charset="2"/>
              <a:buChar char="ü"/>
            </a:pPr>
            <a:r>
              <a:rPr lang="en-US" sz="2000" kern="0" dirty="0"/>
              <a:t>HBM4</a:t>
            </a:r>
          </a:p>
          <a:p>
            <a:pPr lvl="1" defTabSz="914400">
              <a:buFont typeface="Wingdings" pitchFamily="2" charset="2"/>
              <a:buChar char="ü"/>
            </a:pPr>
            <a:endParaRPr lang="en-US" sz="2150" kern="0" dirty="0"/>
          </a:p>
          <a:p>
            <a:pPr marL="258365" lvl="1" indent="0" defTabSz="914400">
              <a:buFont typeface="Wingdings" pitchFamily="2" charset="2"/>
              <a:buNone/>
            </a:pPr>
            <a:endParaRPr lang="en-US" sz="2150" kern="0" dirty="0"/>
          </a:p>
        </p:txBody>
      </p:sp>
    </p:spTree>
    <p:extLst>
      <p:ext uri="{BB962C8B-B14F-4D97-AF65-F5344CB8AC3E}">
        <p14:creationId xmlns:p14="http://schemas.microsoft.com/office/powerpoint/2010/main" val="625455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5C6F-3FB2-23D6-DDAB-5CD85164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2D62-42B0-9DB7-261A-7B87E6F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Key Bug Fixes &amp; New Features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0ABE-09EE-0264-9A48-77AD7D54B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Major bugs from </a:t>
            </a:r>
            <a:r>
              <a:rPr lang="en-US" sz="2400" b="1" dirty="0" err="1"/>
              <a:t>Github</a:t>
            </a:r>
            <a:r>
              <a:rPr lang="en-US" sz="2400" b="1" dirty="0"/>
              <a:t> Issues all fixed</a:t>
            </a:r>
          </a:p>
          <a:p>
            <a:pPr lvl="1"/>
            <a:r>
              <a:rPr lang="en-US" sz="2000" dirty="0"/>
              <a:t>HBM/HBM2/HBM3 organization, timing, throughput, etc.</a:t>
            </a:r>
          </a:p>
          <a:p>
            <a:pPr lvl="1"/>
            <a:r>
              <a:rPr lang="en-US" sz="2000" dirty="0"/>
              <a:t>LPDDR5 timing, WCK2CK sync commands, etc.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Better support for new DRAM &amp; controller features</a:t>
            </a:r>
          </a:p>
          <a:p>
            <a:pPr lvl="1"/>
            <a:r>
              <a:rPr lang="en-US" sz="2000" b="1" dirty="0" err="1">
                <a:solidFill>
                  <a:srgbClr val="0066CC"/>
                </a:solidFill>
              </a:rPr>
              <a:t>HBMController</a:t>
            </a:r>
            <a:r>
              <a:rPr lang="en-US" sz="2000" b="1" dirty="0">
                <a:solidFill>
                  <a:srgbClr val="0066CC"/>
                </a:solidFill>
              </a:rPr>
              <a:t> for HBM/HBM2/HBM3/HBM4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Pseudo Channels (HBM2+)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000" dirty="0"/>
              <a:t>Row and Column commands dual-issue in the same cycle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LPDDR5/6 Controller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50" dirty="0"/>
              <a:t>WCK2CK sync (CAS_RD/WR) commands with sync state expiry tracking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50" dirty="0"/>
              <a:t>ACT1-ACT2 separation with </a:t>
            </a:r>
            <a:r>
              <a:rPr lang="en-US" sz="1850" dirty="0" err="1"/>
              <a:t>tAAD</a:t>
            </a:r>
            <a:r>
              <a:rPr lang="en-US" sz="1850" dirty="0"/>
              <a:t> deadline-aware scheduling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GDDR7 Controller</a:t>
            </a:r>
            <a:endParaRPr lang="en-US" sz="1850" dirty="0"/>
          </a:p>
          <a:p>
            <a:pPr>
              <a:spcBef>
                <a:spcPts val="1200"/>
              </a:spcBef>
            </a:pPr>
            <a:r>
              <a:rPr lang="en-US" altLang="zh-CN" sz="2400" b="1" dirty="0"/>
              <a:t>Improved scheduler implementation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Add custom filtering logic to FR-FCFS via lambdas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1A1E1-0638-5612-C3D0-C5E4D3C81C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6981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D8C8F-6247-6E3B-7207-1F77AA71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91CD-FFA5-BB39-4925-C381B618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Key Bug Fixes &amp; New Features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5182-F1C8-CD62-727B-CAD0CB6B5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Enhanced memory controller plugins</a:t>
            </a:r>
          </a:p>
          <a:p>
            <a:pPr lvl="1"/>
            <a:r>
              <a:rPr lang="en-US" sz="2000" dirty="0"/>
              <a:t>Standardized and modular interface to flexibly extend the functionality of existing memory controllers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Enables </a:t>
            </a:r>
            <a:r>
              <a:rPr lang="en-US" sz="2000" dirty="0" err="1"/>
              <a:t>plug&amp;play</a:t>
            </a:r>
            <a:r>
              <a:rPr lang="en-US" sz="2000" dirty="0"/>
              <a:t> implementation of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Utilities like DRAM command trace recorder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RH mitigations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87AB1-31AC-71D9-B93C-BB951FB87E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6F989-0329-E06E-9ADD-C79B101E4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69" y="2211300"/>
            <a:ext cx="7437261" cy="26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155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1F0A-80FA-95AD-267F-2A4C3517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0F7A-2C92-8B86-C8EC-42F23157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Tests &amp; Validations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B1A8-EBC4-15E5-EA4D-BD5D869F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Three automated test &amp; validation workflows</a:t>
            </a:r>
          </a:p>
          <a:p>
            <a:pPr lvl="1"/>
            <a:r>
              <a:rPr lang="en-US" sz="2000" dirty="0">
                <a:solidFill>
                  <a:srgbClr val="0066CC"/>
                </a:solidFill>
              </a:rPr>
              <a:t>Smoke tests: </a:t>
            </a:r>
            <a:r>
              <a:rPr lang="en-US" sz="2000" dirty="0"/>
              <a:t>Quick checks to see if simulation crashes</a:t>
            </a:r>
          </a:p>
          <a:p>
            <a:pPr lvl="1"/>
            <a:r>
              <a:rPr lang="en-US" sz="2000" dirty="0">
                <a:solidFill>
                  <a:srgbClr val="0066CC"/>
                </a:solidFill>
              </a:rPr>
              <a:t>DRAM command and request traces: </a:t>
            </a:r>
            <a:r>
              <a:rPr lang="en-US" sz="2000" dirty="0"/>
              <a:t>Low-level verification of DRAM timings and controller scheduling </a:t>
            </a:r>
          </a:p>
          <a:p>
            <a:pPr lvl="1"/>
            <a:r>
              <a:rPr lang="en-US" sz="2000" dirty="0">
                <a:solidFill>
                  <a:srgbClr val="0066CC"/>
                </a:solidFill>
              </a:rPr>
              <a:t>Latency-Throughput Plots: </a:t>
            </a:r>
            <a:r>
              <a:rPr lang="en-US" sz="2000" dirty="0"/>
              <a:t>High-level validation of memory system performance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785C-C425-64B9-4D19-536EAF5664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196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7AFE-CD7D-1185-D301-99906D95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1B12-E386-23EC-97AF-D6D9F660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Tests &amp; Validations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D2C7-D4A2-8360-643A-C874AB77B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DRAM Commands and Timings Test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4AB4-6D6F-FF19-CAC4-9192E67303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8240D-9EF6-391B-5B54-A1E5FECE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43" y="1523578"/>
            <a:ext cx="7405314" cy="473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850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9D14-DCBB-B10D-86B7-CA804441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56B1-AA35-9749-5F59-D63F0BC1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Tests &amp; Validations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E9ED-F0DF-7711-1B7C-2891999A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Latency-Throughput Plots</a:t>
            </a:r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65979-9556-E939-EAEC-0016B0F10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4AD91-A462-8D58-DC62-26BF43BCE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658"/>
            <a:ext cx="9144000" cy="431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964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2B566-BD14-FF0E-25FC-717242E7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0591-B160-FDDD-A890-709C8EBC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2010-3BB0-B19E-A97B-EBD94B04C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Ramulator is now a </a:t>
            </a:r>
            <a:r>
              <a:rPr lang="en-US" sz="2400" b="1" dirty="0">
                <a:solidFill>
                  <a:srgbClr val="0066CC"/>
                </a:solidFill>
              </a:rPr>
              <a:t>python package</a:t>
            </a:r>
          </a:p>
          <a:p>
            <a:pPr lvl="1"/>
            <a:r>
              <a:rPr lang="en-US" sz="2000" dirty="0"/>
              <a:t>C++ code with python bindings</a:t>
            </a:r>
          </a:p>
          <a:p>
            <a:r>
              <a:rPr lang="en-US" sz="2400" b="1" dirty="0"/>
              <a:t>Python driven configuration</a:t>
            </a:r>
          </a:p>
          <a:p>
            <a:pPr lvl="1"/>
            <a:r>
              <a:rPr lang="en-US" sz="2000" dirty="0"/>
              <a:t>Configuration, simulation, results </a:t>
            </a:r>
            <a:r>
              <a:rPr lang="en-US" sz="2000" b="1" dirty="0">
                <a:solidFill>
                  <a:srgbClr val="0066CC"/>
                </a:solidFill>
              </a:rPr>
              <a:t>parsing all in one script</a:t>
            </a:r>
          </a:p>
          <a:p>
            <a:pPr lvl="1"/>
            <a:r>
              <a:rPr lang="en-US" sz="2000" dirty="0"/>
              <a:t>Easy parameter sweeps with python flexibility</a:t>
            </a:r>
          </a:p>
          <a:p>
            <a:pPr lvl="1"/>
            <a:r>
              <a:rPr lang="en-US" sz="2000" dirty="0"/>
              <a:t>gem5 friendly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Both SE and FS works out-of-box (tested with gem5 v25.1)</a:t>
            </a:r>
            <a:endParaRPr lang="en-US" sz="1850" dirty="0"/>
          </a:p>
          <a:p>
            <a:pPr>
              <a:spcBef>
                <a:spcPts val="1200"/>
              </a:spcBef>
            </a:pPr>
            <a:r>
              <a:rPr lang="en-US" sz="2400" b="1" dirty="0"/>
              <a:t>No extra burden for end-user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Single-source of truth implementation</a:t>
            </a:r>
          </a:p>
          <a:p>
            <a:pPr lvl="1"/>
            <a:r>
              <a:rPr lang="en-US" sz="2000" dirty="0"/>
              <a:t>Python wrappers are </a:t>
            </a:r>
            <a:r>
              <a:rPr lang="en-US" sz="2000" b="1" dirty="0">
                <a:solidFill>
                  <a:srgbClr val="0066CC"/>
                </a:solidFill>
              </a:rPr>
              <a:t>automatically generated</a:t>
            </a:r>
            <a:r>
              <a:rPr lang="en-US" sz="2000" dirty="0"/>
              <a:t> from C++ </a:t>
            </a:r>
          </a:p>
          <a:p>
            <a:pPr lvl="2"/>
            <a:r>
              <a:rPr lang="en-US" sz="2000" dirty="0">
                <a:solidFill>
                  <a:srgbClr val="0066CC"/>
                </a:solidFill>
              </a:rPr>
              <a:t>No need of manual maintenance of boilerplate code</a:t>
            </a:r>
          </a:p>
          <a:p>
            <a:pPr lvl="1"/>
            <a:r>
              <a:rPr lang="en-US" sz="2000" dirty="0"/>
              <a:t>Equivalent YAML config can be </a:t>
            </a:r>
            <a:r>
              <a:rPr lang="en-US" sz="2000" b="1" dirty="0">
                <a:solidFill>
                  <a:srgbClr val="0066CC"/>
                </a:solidFill>
              </a:rPr>
              <a:t>automatically generated </a:t>
            </a:r>
            <a:r>
              <a:rPr lang="en-US" sz="2000" dirty="0"/>
              <a:t>for other pure C++ simulators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35243-F5F3-5C01-2D07-8F60C1D5C0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789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54CD-78FC-3BD9-8D62-0C639ED2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1E71-593D-D99D-FBF3-A9566488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E3219-7B06-A500-F118-DE0217BCB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dirty="0"/>
              <a:t>Write code in C++</a:t>
            </a:r>
          </a:p>
          <a:p>
            <a:r>
              <a:rPr lang="en-US" sz="2400" dirty="0"/>
              <a:t>Use macros to register your interface, implementation, parameters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Ramulator 2.1’s software framework and build system automatically picks up these information to:</a:t>
            </a:r>
          </a:p>
          <a:p>
            <a:pPr lvl="1"/>
            <a:r>
              <a:rPr lang="en-US" sz="2250" dirty="0"/>
              <a:t>Understand, register, and build the object hierarchy of your interfaces and implementations</a:t>
            </a:r>
          </a:p>
          <a:p>
            <a:pPr lvl="1"/>
            <a:r>
              <a:rPr lang="en-US" sz="2250" dirty="0"/>
              <a:t>Create Python wrappers (proxy objects) with the specified parameters</a:t>
            </a:r>
          </a:p>
          <a:p>
            <a:pPr lvl="1"/>
            <a:endParaRPr lang="en-US" sz="18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DB4DC-7BD5-C648-9F35-8E6CAE619A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D9D8E9-3898-DA3C-DAC8-3DC0A86A0E6F}"/>
              </a:ext>
            </a:extLst>
          </p:cNvPr>
          <p:cNvGrpSpPr/>
          <p:nvPr/>
        </p:nvGrpSpPr>
        <p:grpSpPr>
          <a:xfrm>
            <a:off x="362280" y="2527075"/>
            <a:ext cx="8343240" cy="1218867"/>
            <a:chOff x="362280" y="2527075"/>
            <a:chExt cx="8343240" cy="121886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01C4EC-0C92-B609-99A5-81EDCC322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280" y="2527075"/>
              <a:ext cx="8343240" cy="58865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0F23A2-0741-FF8B-E23B-7E7E7ED50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2280" y="3157285"/>
              <a:ext cx="6653370" cy="588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1954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F11D0-F1D0-6543-2FD8-AD2A50E78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AA1B-C5EF-5562-FA5C-A1093B73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4B109-DE84-7225-D29F-DFEBAD57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DRAM Standard Authoring in python</a:t>
            </a:r>
          </a:p>
          <a:p>
            <a:pPr lvl="1"/>
            <a:r>
              <a:rPr lang="en-US" sz="2000" dirty="0"/>
              <a:t>Replaced verbose and hacky C++ DRAM specs in Ramulator 2.0 with much </a:t>
            </a:r>
            <a:r>
              <a:rPr lang="en-US" sz="2000" b="1" dirty="0">
                <a:solidFill>
                  <a:srgbClr val="0066CC"/>
                </a:solidFill>
              </a:rPr>
              <a:t>cleaner python scripts</a:t>
            </a:r>
          </a:p>
          <a:p>
            <a:pPr lvl="1"/>
            <a:r>
              <a:rPr lang="en-US" sz="2000" dirty="0"/>
              <a:t>Flexible authoring of DRAM organization, commands, and timings, etc. thanks to the </a:t>
            </a:r>
            <a:r>
              <a:rPr lang="en-US" sz="2000" dirty="0" err="1"/>
              <a:t>scriptibility</a:t>
            </a:r>
            <a:r>
              <a:rPr lang="en-US" sz="2000" dirty="0"/>
              <a:t> of Python</a:t>
            </a:r>
          </a:p>
          <a:p>
            <a:pPr lvl="1"/>
            <a:r>
              <a:rPr lang="en-US" sz="2000" dirty="0"/>
              <a:t>Code generation utility </a:t>
            </a:r>
            <a:r>
              <a:rPr lang="en-US" sz="2000" b="1" dirty="0">
                <a:solidFill>
                  <a:srgbClr val="0066CC"/>
                </a:solidFill>
              </a:rPr>
              <a:t>automatically generates </a:t>
            </a:r>
            <a:r>
              <a:rPr lang="en-US" sz="2000" dirty="0"/>
              <a:t>C++ </a:t>
            </a:r>
            <a:br>
              <a:rPr lang="en-US" sz="2000" dirty="0"/>
            </a:br>
            <a:r>
              <a:rPr lang="en-US" sz="2000" dirty="0"/>
              <a:t>DRAM specs that Ramulator 2’s internal modeling and simulation engine recognizes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949EE-3B6E-59CC-AF5F-68D4AD92B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8922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11BF-C942-7AD0-2294-68DDBEA6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30E4-A709-A6E5-DBF2-0A3D7738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841F-749F-2E60-5BD2-790E85675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DRAM Standard Authoring in python</a:t>
            </a:r>
          </a:p>
          <a:p>
            <a:pPr lvl="1"/>
            <a:r>
              <a:rPr lang="en-US" sz="2000" dirty="0"/>
              <a:t>Replaced verbose and hacky C++ DRAM specs in Ramulator 2.0 with much </a:t>
            </a:r>
            <a:r>
              <a:rPr lang="en-US" sz="2000" b="1" dirty="0">
                <a:solidFill>
                  <a:srgbClr val="0066CC"/>
                </a:solidFill>
              </a:rPr>
              <a:t>cleaner python scripts</a:t>
            </a:r>
          </a:p>
          <a:p>
            <a:pPr lvl="1"/>
            <a:r>
              <a:rPr lang="en-US" sz="2000" dirty="0"/>
              <a:t>Flexible authoring of DRAM organization, commands, and timings, etc. thanks to the </a:t>
            </a:r>
            <a:r>
              <a:rPr lang="en-US" sz="2000" dirty="0" err="1"/>
              <a:t>scriptibility</a:t>
            </a:r>
            <a:r>
              <a:rPr lang="en-US" sz="2000" dirty="0"/>
              <a:t> of Python</a:t>
            </a:r>
          </a:p>
          <a:p>
            <a:pPr lvl="1"/>
            <a:r>
              <a:rPr lang="en-US" sz="2000" dirty="0"/>
              <a:t>Code generation utility </a:t>
            </a:r>
            <a:r>
              <a:rPr lang="en-US" sz="2000" b="1" dirty="0">
                <a:solidFill>
                  <a:srgbClr val="0066CC"/>
                </a:solidFill>
              </a:rPr>
              <a:t>automatically generates </a:t>
            </a:r>
            <a:r>
              <a:rPr lang="en-US" sz="2000" dirty="0"/>
              <a:t>C++ </a:t>
            </a:r>
            <a:br>
              <a:rPr lang="en-US" sz="2000" dirty="0"/>
            </a:br>
            <a:r>
              <a:rPr lang="en-US" sz="2000" dirty="0"/>
              <a:t>DRAM specs that Ramulator 2’s internal modeling and simulation engine recognizes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2E811-F7DF-C9AE-E1C2-C06DE8C83C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277A9-8AB4-4417-9A5E-617F257E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83" y="0"/>
            <a:ext cx="5997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4058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662F-275B-EACC-BA92-376BC53C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6C02-2EA5-30DF-F1CF-F26D5B96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E2FBB-8D2A-E9A8-F696-270A77F22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DRAM Standard Authoring in python</a:t>
            </a:r>
          </a:p>
          <a:p>
            <a:pPr lvl="1"/>
            <a:r>
              <a:rPr lang="en-US" sz="2000" dirty="0"/>
              <a:t>Replaced verbose and hacky C++ DRAM specs in Ramulator 2.0 with much </a:t>
            </a:r>
            <a:r>
              <a:rPr lang="en-US" sz="2000" b="1" dirty="0">
                <a:solidFill>
                  <a:srgbClr val="0066CC"/>
                </a:solidFill>
              </a:rPr>
              <a:t>cleaner python scripts</a:t>
            </a:r>
          </a:p>
          <a:p>
            <a:pPr lvl="1"/>
            <a:r>
              <a:rPr lang="en-US" sz="2000" dirty="0"/>
              <a:t>Flexible authoring of DRAM organization, commands, and timings, etc. thanks to the </a:t>
            </a:r>
            <a:r>
              <a:rPr lang="en-US" sz="2000" dirty="0" err="1"/>
              <a:t>scriptibility</a:t>
            </a:r>
            <a:r>
              <a:rPr lang="en-US" sz="2000" dirty="0"/>
              <a:t> of Python</a:t>
            </a:r>
          </a:p>
          <a:p>
            <a:pPr lvl="1"/>
            <a:r>
              <a:rPr lang="en-US" sz="2000" dirty="0"/>
              <a:t>Code generation utility </a:t>
            </a:r>
            <a:r>
              <a:rPr lang="en-US" sz="2000" b="1" dirty="0">
                <a:solidFill>
                  <a:srgbClr val="0066CC"/>
                </a:solidFill>
              </a:rPr>
              <a:t>automatically generates </a:t>
            </a:r>
            <a:r>
              <a:rPr lang="en-US" sz="2000" dirty="0"/>
              <a:t>C++ </a:t>
            </a:r>
            <a:br>
              <a:rPr lang="en-US" sz="2000" dirty="0"/>
            </a:br>
            <a:r>
              <a:rPr lang="en-US" sz="2000" dirty="0"/>
              <a:t>DRAM specs that Ramulator 2’s internal modeling and simulation engine recognizes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7DDB4-1DCD-79A6-02CE-7ED020C5B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9412A-D491-CC9A-7CC7-4BF8F7E45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83" y="0"/>
            <a:ext cx="599723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26564-072E-C7E9-B76D-E54C65EFE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748"/>
            <a:ext cx="9144000" cy="65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4224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9BDA-D124-BF03-7634-F1685755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C453-C9CD-34F3-4748-CE66CADD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DC672-8CDC-26A3-CB3C-91623914C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DRAM Standard Authoring in python</a:t>
            </a:r>
          </a:p>
          <a:p>
            <a:pPr lvl="1"/>
            <a:r>
              <a:rPr lang="en-US" sz="2000" dirty="0"/>
              <a:t>Significant reduction in lines of source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DB637-AFF6-AF55-2D99-FEC3A64BC9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FC83B-9616-E858-053A-5912C123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1907850"/>
            <a:ext cx="5776497" cy="434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23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EBC6-E5B8-D684-9682-6D2166D3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948F-49F4-9A51-2306-1132CCD2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(V)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4935-D09B-DD39-8BDD-F7A2787FF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DRAM Standard Authoring in python</a:t>
            </a:r>
          </a:p>
          <a:p>
            <a:pPr lvl="1"/>
            <a:r>
              <a:rPr lang="en-US" sz="2000" dirty="0"/>
              <a:t>Python scripting enables </a:t>
            </a:r>
            <a:r>
              <a:rPr lang="en-US" sz="2000" b="1" dirty="0">
                <a:solidFill>
                  <a:srgbClr val="0066CC"/>
                </a:solidFill>
              </a:rPr>
              <a:t>easy extension of DRAM stand</a:t>
            </a:r>
            <a:r>
              <a:rPr lang="en-US" sz="2000" dirty="0"/>
              <a:t>ards by just adding what is new (i.e., no duplication of base DRAM code)</a:t>
            </a:r>
          </a:p>
          <a:p>
            <a:pPr marL="979884" lvl="2" indent="-457200">
              <a:buSzPct val="100000"/>
              <a:buFont typeface="+mj-lt"/>
              <a:buAutoNum type="arabicPeriod"/>
            </a:pPr>
            <a:r>
              <a:rPr lang="en-US" sz="1850" dirty="0"/>
              <a:t>Inherit the base DRAM standard</a:t>
            </a:r>
          </a:p>
          <a:p>
            <a:pPr marL="979884" lvl="2" indent="-457200">
              <a:buSzPct val="100000"/>
              <a:buFont typeface="+mj-lt"/>
              <a:buAutoNum type="arabicPeriod"/>
            </a:pPr>
            <a:r>
              <a:rPr lang="en-US" sz="1850" dirty="0"/>
              <a:t>Append just the new commands, timings, etc. to those of the base DRAM 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010D5-2386-2FED-E293-411ADEA9CB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51318-E8D3-F1DF-3EF0-FB1AFCF71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57" b="25321"/>
          <a:stretch>
            <a:fillRect/>
          </a:stretch>
        </p:blipFill>
        <p:spPr>
          <a:xfrm>
            <a:off x="322118" y="3197013"/>
            <a:ext cx="8423563" cy="272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88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80FF-7085-D605-5DBA-3721D3D1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685F-85AF-4499-A970-DF8BF02C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QoL Improvements (III)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2ED7-ECDA-472A-776F-EF70955A8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266889" cy="5193723"/>
          </a:xfrm>
        </p:spPr>
        <p:txBody>
          <a:bodyPr/>
          <a:lstStyle/>
          <a:p>
            <a:r>
              <a:rPr lang="en-US" sz="2400" b="1" dirty="0"/>
              <a:t>Web-Based Interactive DRAM Trace Visualizer</a:t>
            </a:r>
          </a:p>
          <a:p>
            <a:pPr lvl="1"/>
            <a:r>
              <a:rPr lang="en-US" sz="2000" dirty="0"/>
              <a:t>Supports both </a:t>
            </a:r>
            <a:r>
              <a:rPr lang="en-US" sz="2000" b="1" dirty="0">
                <a:solidFill>
                  <a:srgbClr val="0066CC"/>
                </a:solidFill>
              </a:rPr>
              <a:t>offline</a:t>
            </a:r>
            <a:r>
              <a:rPr lang="en-US" sz="2000" dirty="0"/>
              <a:t> (read dumped trace file) and </a:t>
            </a:r>
            <a:r>
              <a:rPr lang="en-US" sz="2000" b="1" dirty="0">
                <a:solidFill>
                  <a:srgbClr val="0066CC"/>
                </a:solidFill>
              </a:rPr>
              <a:t>online</a:t>
            </a:r>
            <a:r>
              <a:rPr lang="en-US" sz="2000" dirty="0"/>
              <a:t> (from a running simulation) visualization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Inspect memory requests and DRAM commands</a:t>
            </a:r>
            <a:r>
              <a:rPr lang="en-US" sz="2000" dirty="0"/>
              <a:t> for performance analysis &amp; debugging (e.g., timing violation)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Many convenient and QoL features WIP</a:t>
            </a:r>
          </a:p>
          <a:p>
            <a:pPr lvl="1"/>
            <a:r>
              <a:rPr lang="en-US" sz="2000" dirty="0"/>
              <a:t>Real-time interactive rendering (tested w/ a 300MB+ trace)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C17CB-1FF2-8D7D-C176-F8F4D0B00B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F1F5C-869F-36B0-08CD-1FA79A005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50" y="3594390"/>
            <a:ext cx="7185500" cy="272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2AAD-507D-3389-4202-C245DC73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2B92-857E-D489-288C-24995550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Contribute to Ramulator 2.1 (I)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8D7DA-E25A-C9C5-A28F-7D217A48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Released on </a:t>
            </a:r>
            <a:r>
              <a:rPr lang="en-US" sz="2400" b="1" dirty="0" err="1"/>
              <a:t>Github</a:t>
            </a:r>
            <a:r>
              <a:rPr lang="en-US" sz="2400" b="1" dirty="0"/>
              <a:t> (current tag v2.1.0)</a:t>
            </a:r>
          </a:p>
          <a:p>
            <a:pPr lvl="1"/>
            <a:r>
              <a:rPr lang="en-US" sz="2000" dirty="0">
                <a:hlinkClick r:id="rId2"/>
              </a:rPr>
              <a:t>https://github.com/CMU-SAFARI/ramulator2/</a:t>
            </a:r>
            <a:endParaRPr lang="en-US" sz="2000" dirty="0"/>
          </a:p>
          <a:p>
            <a:pPr lvl="1"/>
            <a:r>
              <a:rPr lang="en-US" sz="2000" dirty="0"/>
              <a:t>Please checkout v2.1 and let us know if you encounter any issues!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We will regularly address issues and check PRs</a:t>
            </a:r>
          </a:p>
          <a:p>
            <a:pPr lvl="1"/>
            <a:r>
              <a:rPr lang="en-US" sz="2150" dirty="0"/>
              <a:t>Earlier v2.0a version is archived at legacy/v2.0a </a:t>
            </a:r>
            <a:endParaRPr lang="en-US" sz="2000" dirty="0"/>
          </a:p>
          <a:p>
            <a:pPr>
              <a:spcBef>
                <a:spcPts val="1200"/>
              </a:spcBef>
            </a:pPr>
            <a:r>
              <a:rPr lang="en-US" sz="2400" b="1" dirty="0"/>
              <a:t>How to contribute to Ramulator 2.1</a:t>
            </a:r>
          </a:p>
          <a:p>
            <a:pPr lvl="1"/>
            <a:r>
              <a:rPr lang="en-US" sz="2000" dirty="0"/>
              <a:t>Use it, report any issue/feedback you have on </a:t>
            </a:r>
            <a:r>
              <a:rPr lang="en-US" sz="2000" dirty="0" err="1"/>
              <a:t>Github</a:t>
            </a:r>
            <a:endParaRPr lang="en-US" sz="2000" dirty="0"/>
          </a:p>
          <a:p>
            <a:pPr lvl="1"/>
            <a:r>
              <a:rPr lang="en-US" sz="2000" dirty="0"/>
              <a:t>Add new features and components</a:t>
            </a:r>
          </a:p>
          <a:p>
            <a:pPr lvl="1"/>
            <a:r>
              <a:rPr lang="en-US" sz="2000" dirty="0"/>
              <a:t>Add more testcases</a:t>
            </a:r>
          </a:p>
          <a:p>
            <a:pPr lvl="1"/>
            <a:r>
              <a:rPr lang="en-US" sz="2000" dirty="0"/>
              <a:t>…</a:t>
            </a:r>
          </a:p>
          <a:p>
            <a:pPr>
              <a:spcBef>
                <a:spcPts val="1200"/>
              </a:spcBef>
            </a:pPr>
            <a:r>
              <a:rPr lang="en-US" sz="2400" b="1" dirty="0">
                <a:solidFill>
                  <a:srgbClr val="0066CC"/>
                </a:solidFill>
              </a:rPr>
              <a:t>Check our detailed README and rich in-source documentation on using, extending, and integrating Ramulator 2.1</a:t>
            </a:r>
          </a:p>
          <a:p>
            <a:endParaRPr lang="en-US" sz="2150" dirty="0"/>
          </a:p>
          <a:p>
            <a:endParaRPr lang="en-US" sz="21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63356-B2FB-1578-05F3-6E08BD14EC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744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093D-E371-3BB2-E0F7-C9CD4DC0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15DA-E12E-D1DF-BC2A-800A8C9A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Contribute to Ramulator 2.1 (II)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2B4A-5713-2EE3-86F6-D54198E88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Example directions of contributions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Better timing presets of DRAM standards</a:t>
            </a:r>
          </a:p>
          <a:p>
            <a:pPr lvl="2"/>
            <a:r>
              <a:rPr lang="en-US" sz="2000" dirty="0"/>
              <a:t>Some of the DRAM timings are our best effort “guesstimates”</a:t>
            </a:r>
          </a:p>
          <a:p>
            <a:pPr lvl="2"/>
            <a:r>
              <a:rPr lang="en-US" sz="2000" dirty="0"/>
              <a:t>We welcome your more accurate set of timings w/o breaking NDA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DRAM request scheduling techniques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DRAM read disturbance mitigation techniques</a:t>
            </a:r>
          </a:p>
          <a:p>
            <a:pPr lvl="2"/>
            <a:r>
              <a:rPr lang="en-US" sz="2000" dirty="0"/>
              <a:t>Make use of controller plugins and scheduler filters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intelligent scheduling of refresh</a:t>
            </a:r>
          </a:p>
          <a:p>
            <a:pPr lvl="2"/>
            <a:r>
              <a:rPr lang="en-US" sz="2000" dirty="0"/>
              <a:t>Refresh postponing &amp; pull-in</a:t>
            </a:r>
          </a:p>
          <a:p>
            <a:pPr lvl="2"/>
            <a:r>
              <a:rPr lang="en-US" sz="2000" dirty="0"/>
              <a:t>Dynamic choice of </a:t>
            </a:r>
            <a:r>
              <a:rPr lang="en-US" sz="2000" dirty="0" err="1"/>
              <a:t>REFab</a:t>
            </a:r>
            <a:r>
              <a:rPr lang="en-US" sz="2000" dirty="0"/>
              <a:t>/sb/pb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PUD/PNM modeling</a:t>
            </a:r>
          </a:p>
          <a:p>
            <a:pPr lvl="1"/>
            <a:r>
              <a:rPr lang="en-US" sz="2000" b="1" dirty="0">
                <a:solidFill>
                  <a:srgbClr val="0066CC"/>
                </a:solidFill>
              </a:rPr>
              <a:t>More integration with other simulators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Please open an Issue/Discussion first to coordinate with potential internal development!</a:t>
            </a:r>
          </a:p>
          <a:p>
            <a:pPr marL="0" indent="0">
              <a:buNone/>
            </a:pPr>
            <a:endParaRPr lang="en-US" sz="2150" b="1" dirty="0">
              <a:solidFill>
                <a:srgbClr val="00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28AD9-98FC-6F67-2E23-4083C1A38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0628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5533-ED36-186B-4410-2C183CA6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069C-8EC4-5561-D898-1A683F55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845129"/>
          </a:xfrm>
        </p:spPr>
        <p:txBody>
          <a:bodyPr anchor="ctr"/>
          <a:lstStyle/>
          <a:p>
            <a:r>
              <a:rPr lang="en-US" sz="3600" b="1" dirty="0"/>
              <a:t>Acknowledgements</a:t>
            </a:r>
            <a:endParaRPr lang="LID4096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4BE48-0B85-59B3-CA10-3772102B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7529"/>
            <a:ext cx="8682038" cy="5193723"/>
          </a:xfrm>
        </p:spPr>
        <p:txBody>
          <a:bodyPr/>
          <a:lstStyle/>
          <a:p>
            <a:r>
              <a:rPr lang="en-US" sz="2400" b="1" dirty="0"/>
              <a:t>Contributors (growing)</a:t>
            </a:r>
          </a:p>
          <a:p>
            <a:pPr lvl="1"/>
            <a:r>
              <a:rPr lang="en-US" sz="2000" dirty="0"/>
              <a:t>Haocong Luo</a:t>
            </a:r>
          </a:p>
          <a:p>
            <a:pPr lvl="1"/>
            <a:r>
              <a:rPr lang="en-US" sz="2000" dirty="0"/>
              <a:t>Nisa Bostancı</a:t>
            </a:r>
          </a:p>
          <a:p>
            <a:pPr lvl="1"/>
            <a:r>
              <a:rPr lang="en-US" sz="2000" dirty="0"/>
              <a:t>Ataberk Olgun </a:t>
            </a:r>
          </a:p>
          <a:p>
            <a:pPr lvl="1"/>
            <a:r>
              <a:rPr lang="en-US" sz="2000" dirty="0"/>
              <a:t>Maria Makeenkova</a:t>
            </a:r>
          </a:p>
          <a:p>
            <a:pPr lvl="1"/>
            <a:r>
              <a:rPr lang="en-US" sz="2000" dirty="0"/>
              <a:t>Ziad Malik </a:t>
            </a:r>
          </a:p>
          <a:p>
            <a:pPr lvl="1"/>
            <a:r>
              <a:rPr lang="en-US" sz="2000" dirty="0"/>
              <a:t>Ipek Akdeniz</a:t>
            </a:r>
          </a:p>
          <a:p>
            <a:pPr lvl="1"/>
            <a:r>
              <a:rPr lang="en-US" sz="2000" dirty="0"/>
              <a:t>Kislay Arya</a:t>
            </a:r>
          </a:p>
          <a:p>
            <a:pPr lvl="1"/>
            <a:r>
              <a:rPr lang="en-US" sz="2000" dirty="0"/>
              <a:t>Roman Hoffmann</a:t>
            </a:r>
          </a:p>
          <a:p>
            <a:pPr lvl="1"/>
            <a:r>
              <a:rPr lang="en-US" sz="2000" dirty="0" err="1"/>
              <a:t>Wonhyuk</a:t>
            </a:r>
            <a:r>
              <a:rPr lang="en-US" sz="2000" dirty="0"/>
              <a:t> Yang</a:t>
            </a:r>
          </a:p>
          <a:p>
            <a:pPr lvl="1"/>
            <a:r>
              <a:rPr lang="en-US" sz="2000" dirty="0"/>
              <a:t>@jiegec</a:t>
            </a:r>
          </a:p>
          <a:p>
            <a:pPr lvl="1"/>
            <a:r>
              <a:rPr lang="en-US" sz="2000" dirty="0"/>
              <a:t>Julien Eudine</a:t>
            </a:r>
          </a:p>
          <a:p>
            <a:pPr lvl="1"/>
            <a:r>
              <a:rPr lang="en-US" sz="2000" dirty="0" err="1"/>
              <a:t>Sangjae</a:t>
            </a:r>
            <a:r>
              <a:rPr lang="en-US" sz="2000" dirty="0"/>
              <a:t> Park</a:t>
            </a:r>
          </a:p>
          <a:p>
            <a:pPr lvl="1"/>
            <a:r>
              <a:rPr lang="en-US" sz="2000" dirty="0"/>
              <a:t>…</a:t>
            </a:r>
          </a:p>
          <a:p>
            <a:pPr lvl="1"/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30C2B-45C3-8361-138E-794D861D79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E33320-76E4-0249-8CA9-3902D97168F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6A284-3426-8BDD-660B-373C761DEBA9}"/>
              </a:ext>
            </a:extLst>
          </p:cNvPr>
          <p:cNvGrpSpPr/>
          <p:nvPr/>
        </p:nvGrpSpPr>
        <p:grpSpPr>
          <a:xfrm>
            <a:off x="3782388" y="3240447"/>
            <a:ext cx="4672353" cy="707886"/>
            <a:chOff x="3782388" y="3240447"/>
            <a:chExt cx="4672353" cy="707886"/>
          </a:xfrm>
        </p:grpSpPr>
        <p:sp>
          <p:nvSpPr>
            <p:cNvPr id="6" name="Arrow: Left 5">
              <a:extLst>
                <a:ext uri="{FF2B5EF4-FFF2-40B4-BE49-F238E27FC236}">
                  <a16:creationId xmlns:a16="http://schemas.microsoft.com/office/drawing/2014/main" id="{0B7A2995-51E0-288A-8012-84B30B615BB2}"/>
                </a:ext>
              </a:extLst>
            </p:cNvPr>
            <p:cNvSpPr/>
            <p:nvPr/>
          </p:nvSpPr>
          <p:spPr bwMode="auto">
            <a:xfrm>
              <a:off x="3782388" y="3378928"/>
              <a:ext cx="978408" cy="484632"/>
            </a:xfrm>
            <a:prstGeom prst="leftArrow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5C5710-F26A-D85C-EA5F-14777A127F2A}"/>
                </a:ext>
              </a:extLst>
            </p:cNvPr>
            <p:cNvSpPr txBox="1"/>
            <p:nvPr/>
          </p:nvSpPr>
          <p:spPr>
            <a:xfrm>
              <a:off x="5099335" y="3240447"/>
              <a:ext cx="33554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tx2"/>
                  </a:solidFill>
                </a:rPr>
                <a:t>Join the list!</a:t>
              </a:r>
              <a:endParaRPr lang="LID4096" sz="40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6579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38100">
          <a:solidFill>
            <a:schemeClr val="tx1"/>
          </a:solidFill>
        </a:ln>
      </a:spPr>
      <a:bodyPr rtlCol="0" anchor="ctr"/>
      <a:lstStyle>
        <a:defPPr algn="ctr">
          <a:defRPr dirty="0" smtClean="0">
            <a:latin typeface="Cambria" panose="02040503050406030204" pitchFamily="18" charset="0"/>
            <a:ea typeface="Cambria" panose="0204050305040603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>
            <a:latin typeface="Cambria" panose="02040503050406030204" pitchFamily="18" charset="0"/>
            <a:ea typeface="Cambria" panose="0204050305040603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136c2-bcae-4815-abde-6fabe11e70e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BD002CAFB3264890C230D19E131FFF" ma:contentTypeVersion="9" ma:contentTypeDescription="Ein neues Dokument erstellen." ma:contentTypeScope="" ma:versionID="55f6e0906779d11b42fb2ee343cfa23d">
  <xsd:schema xmlns:xsd="http://www.w3.org/2001/XMLSchema" xmlns:xs="http://www.w3.org/2001/XMLSchema" xmlns:p="http://schemas.microsoft.com/office/2006/metadata/properties" xmlns:ns3="efc136c2-bcae-4815-abde-6fabe11e70e0" xmlns:ns4="a3499594-7ad5-4181-bb48-75a3221fb6a9" targetNamespace="http://schemas.microsoft.com/office/2006/metadata/properties" ma:root="true" ma:fieldsID="e011328a3614556c53e29411f781c411" ns3:_="" ns4:_="">
    <xsd:import namespace="efc136c2-bcae-4815-abde-6fabe11e70e0"/>
    <xsd:import namespace="a3499594-7ad5-4181-bb48-75a3221fb6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136c2-bcae-4815-abde-6fabe11e70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499594-7ad5-4181-bb48-75a3221fb6a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524522-DDEF-471B-93A0-A99916A69934}">
  <ds:schemaRefs>
    <ds:schemaRef ds:uri="efc136c2-bcae-4815-abde-6fabe11e70e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openxmlformats.org/package/2006/metadata/core-properties"/>
    <ds:schemaRef ds:uri="a3499594-7ad5-4181-bb48-75a3221fb6a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A5B4FBD-F71C-44C5-88C8-311EBA4B7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7A7BF9-FFF1-41B7-A182-76AD8808F1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c136c2-bcae-4815-abde-6fabe11e70e0"/>
    <ds:schemaRef ds:uri="a3499594-7ad5-4181-bb48-75a3221fb6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5473</TotalTime>
  <Words>1125</Words>
  <Application>Microsoft Office PowerPoint</Application>
  <PresentationFormat>On-screen Show (4:3)</PresentationFormat>
  <Paragraphs>192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Cambria</vt:lpstr>
      <vt:lpstr>Arial</vt:lpstr>
      <vt:lpstr>Garamond</vt:lpstr>
      <vt:lpstr>Wingdings</vt:lpstr>
      <vt:lpstr>Calibri</vt:lpstr>
      <vt:lpstr>Tahoma</vt:lpstr>
      <vt:lpstr>ＭＳ Ｐゴシック</vt:lpstr>
      <vt:lpstr>Office Theme</vt:lpstr>
      <vt:lpstr>2_Edge</vt:lpstr>
      <vt:lpstr>Introduction to Ramulator 2.1</vt:lpstr>
      <vt:lpstr>Introduction</vt:lpstr>
      <vt:lpstr>Key Bug Fixes &amp; New Features (I)</vt:lpstr>
      <vt:lpstr>Key Bug Fixes &amp; New Features (II)</vt:lpstr>
      <vt:lpstr>Key Bug Fixes &amp; New Features (III)</vt:lpstr>
      <vt:lpstr>Tests &amp; Validations (I)</vt:lpstr>
      <vt:lpstr>Tests &amp; Validations (II)</vt:lpstr>
      <vt:lpstr>Tests &amp; Validations (III)</vt:lpstr>
      <vt:lpstr>QoL Improvements (I)</vt:lpstr>
      <vt:lpstr>QoL Improvements (II)</vt:lpstr>
      <vt:lpstr>QoL Improvements (III)</vt:lpstr>
      <vt:lpstr>QoL Improvements (III)</vt:lpstr>
      <vt:lpstr>QoL Improvements (III)</vt:lpstr>
      <vt:lpstr>QoL Improvements (IV)</vt:lpstr>
      <vt:lpstr>QoL Improvements (V)</vt:lpstr>
      <vt:lpstr>QoL Improvements (III)</vt:lpstr>
      <vt:lpstr>Contribute to Ramulator 2.1 (I)</vt:lpstr>
      <vt:lpstr>Contribute to Ramulator 2.1 (II)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VTS 25 Read Disturbance</dc:title>
  <dc:creator>Haocong Luo</dc:creator>
  <cp:lastModifiedBy>Haocong Luo</cp:lastModifiedBy>
  <cp:revision>474</cp:revision>
  <dcterms:created xsi:type="dcterms:W3CDTF">2020-10-13T05:06:54Z</dcterms:created>
  <dcterms:modified xsi:type="dcterms:W3CDTF">2026-07-09T23:11:40Z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0x01010091BD002CAFB3264890C230D19E131FFF</vt:lpwstr>
  </property>
</Properties>
</file>