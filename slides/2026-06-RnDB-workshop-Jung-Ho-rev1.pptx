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00" r:id="rId1"/>
  </p:sldMasterIdLst>
  <p:notesMasterIdLst>
    <p:notesMasterId r:id="rId21"/>
  </p:notesMasterIdLst>
  <p:sldIdLst>
    <p:sldId id="264" r:id="rId2"/>
    <p:sldId id="4326" r:id="rId3"/>
    <p:sldId id="3359" r:id="rId4"/>
    <p:sldId id="4334" r:id="rId5"/>
    <p:sldId id="4335" r:id="rId6"/>
    <p:sldId id="4328" r:id="rId7"/>
    <p:sldId id="4336" r:id="rId8"/>
    <p:sldId id="4337" r:id="rId9"/>
    <p:sldId id="4338" r:id="rId10"/>
    <p:sldId id="4344" r:id="rId11"/>
    <p:sldId id="4339" r:id="rId12"/>
    <p:sldId id="4329" r:id="rId13"/>
    <p:sldId id="4331" r:id="rId14"/>
    <p:sldId id="4332" r:id="rId15"/>
    <p:sldId id="4343" r:id="rId16"/>
    <p:sldId id="4340" r:id="rId17"/>
    <p:sldId id="4341" r:id="rId18"/>
    <p:sldId id="4342" r:id="rId19"/>
    <p:sldId id="4333" r:id="rId20"/>
  </p:sldIdLst>
  <p:sldSz cx="12798425" cy="7199313"/>
  <p:notesSz cx="6858000" cy="9144000"/>
  <p:embeddedFontLst>
    <p:embeddedFont>
      <p:font typeface="Arial Unicode MS" panose="020B0604020202020204" pitchFamily="34" charset="-128"/>
      <p:regular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C94"/>
    <a:srgbClr val="4C6BFE"/>
    <a:srgbClr val="44546A"/>
    <a:srgbClr val="ED7D31"/>
    <a:srgbClr val="FFF7EB"/>
    <a:srgbClr val="A5A5A5"/>
    <a:srgbClr val="D9D9D9"/>
    <a:srgbClr val="004099"/>
    <a:srgbClr val="231B15"/>
    <a:srgbClr val="7D6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57" autoAdjust="0"/>
    <p:restoredTop sz="94231"/>
  </p:normalViewPr>
  <p:slideViewPr>
    <p:cSldViewPr snapToObjects="1">
      <p:cViewPr varScale="1">
        <p:scale>
          <a:sx n="57" d="100"/>
          <a:sy n="57" d="100"/>
        </p:scale>
        <p:origin x="176" y="472"/>
      </p:cViewPr>
      <p:guideLst>
        <p:guide orient="horz" pos="2268"/>
        <p:guide pos="40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9AB8B-802E-054B-8799-E0DBC6D244BE}" type="datetimeFigureOut">
              <a:rPr kumimoji="1" lang="ko-Kore-KR" altLang="en-US" smtClean="0"/>
              <a:t>2026. 6. 25.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41FF9-8631-114B-937D-2B8324C1B5E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845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41FF9-8631-114B-937D-2B8324C1B5E2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07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19862" y="954240"/>
            <a:ext cx="10570038" cy="2191866"/>
          </a:xfrm>
        </p:spPr>
        <p:txBody>
          <a:bodyPr anchor="b"/>
          <a:lstStyle>
            <a:lvl1pPr algn="ctr"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64338" y="4053207"/>
            <a:ext cx="9069750" cy="1814201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>
                <a:solidFill>
                  <a:schemeClr val="bg2"/>
                </a:solidFill>
              </a:defRPr>
            </a:lvl1pPr>
            <a:lvl2pPr marL="479923" indent="0" algn="ctr">
              <a:buNone/>
              <a:defRPr sz="2099"/>
            </a:lvl2pPr>
            <a:lvl3pPr marL="959846" indent="0" algn="ctr">
              <a:buNone/>
              <a:defRPr sz="1889"/>
            </a:lvl3pPr>
            <a:lvl4pPr marL="1439769" indent="0" algn="ctr">
              <a:buNone/>
              <a:defRPr sz="1680"/>
            </a:lvl4pPr>
            <a:lvl5pPr marL="1919691" indent="0" algn="ctr">
              <a:buNone/>
              <a:defRPr sz="1680"/>
            </a:lvl5pPr>
            <a:lvl6pPr marL="2399614" indent="0" algn="ctr">
              <a:buNone/>
              <a:defRPr sz="1680"/>
            </a:lvl6pPr>
            <a:lvl7pPr marL="2879537" indent="0" algn="ctr">
              <a:buNone/>
              <a:defRPr sz="1680"/>
            </a:lvl7pPr>
            <a:lvl8pPr marL="3359460" indent="0" algn="ctr">
              <a:buNone/>
              <a:defRPr sz="1680"/>
            </a:lvl8pPr>
            <a:lvl9pPr marL="3839383" indent="0" algn="ctr">
              <a:buNone/>
              <a:defRPr sz="168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E75061A9-3947-7B48-BFF8-AD18966F39F1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0979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latinLnBrk="0">
              <a:lnSpc>
                <a:spcPct val="99000"/>
              </a:lnSpc>
              <a:defRPr sz="2400" baseline="0">
                <a:latin typeface="+mn-lt"/>
                <a:ea typeface="+mn-ea"/>
              </a:defRPr>
            </a:lvl1pPr>
            <a:lvl2pPr marL="719884" indent="-239961" latinLnBrk="0">
              <a:lnSpc>
                <a:spcPct val="99000"/>
              </a:lnSpc>
              <a:buFont typeface="Arial" panose="020B0604020202020204" pitchFamily="34" charset="0"/>
              <a:buChar char="–"/>
              <a:defRPr sz="2000" baseline="0">
                <a:latin typeface="+mn-lt"/>
                <a:ea typeface="+mn-ea"/>
              </a:defRPr>
            </a:lvl2pPr>
            <a:lvl3pPr marL="1199807" indent="-239961" latinLnBrk="0">
              <a:lnSpc>
                <a:spcPct val="99000"/>
              </a:lnSpc>
              <a:buFont typeface="Arial" panose="020B0604020202020204" pitchFamily="34" charset="0"/>
              <a:buChar char="="/>
              <a:defRPr sz="1800" baseline="0">
                <a:latin typeface="+mn-lt"/>
                <a:ea typeface="+mn-ea"/>
              </a:defRPr>
            </a:lvl3pPr>
            <a:lvl4pPr marL="1679730" indent="-239961" latinLnBrk="0">
              <a:lnSpc>
                <a:spcPct val="99000"/>
              </a:lnSpc>
              <a:buFont typeface="Arial" panose="020B0604020202020204" pitchFamily="34" charset="0"/>
              <a:buChar char="+"/>
              <a:defRPr sz="1600" baseline="0">
                <a:latin typeface="+mn-lt"/>
                <a:ea typeface="+mn-ea"/>
              </a:defRPr>
            </a:lvl4pPr>
            <a:lvl5pPr latinLnBrk="0">
              <a:lnSpc>
                <a:spcPct val="99000"/>
              </a:lnSpc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b="0" baseline="0">
                <a:effectLst/>
                <a:latin typeface="+mn-lt"/>
                <a:ea typeface="+mn-ea"/>
              </a:defRPr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645351" y="6622990"/>
            <a:ext cx="755813" cy="576323"/>
          </a:xfrm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30458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7" userDrawn="1">
          <p15:clr>
            <a:srgbClr val="FBAE40"/>
          </p15:clr>
        </p15:guide>
        <p15:guide id="2" pos="403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73226" y="1794830"/>
            <a:ext cx="11038642" cy="2994714"/>
          </a:xfrm>
        </p:spPr>
        <p:txBody>
          <a:bodyPr anchor="ctr"/>
          <a:lstStyle>
            <a:lvl1pPr algn="ctr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73226" y="4817875"/>
            <a:ext cx="11038642" cy="1574849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>
                <a:solidFill>
                  <a:schemeClr val="bg2"/>
                </a:solidFill>
              </a:defRPr>
            </a:lvl1pPr>
            <a:lvl2pPr marL="479923" indent="0">
              <a:buNone/>
              <a:defRPr sz="2099">
                <a:solidFill>
                  <a:schemeClr val="tx1">
                    <a:tint val="75000"/>
                  </a:schemeClr>
                </a:solidFill>
              </a:defRPr>
            </a:lvl2pPr>
            <a:lvl3pPr marL="959846" indent="0">
              <a:buNone/>
              <a:defRPr sz="1889">
                <a:solidFill>
                  <a:schemeClr val="tx1">
                    <a:tint val="75000"/>
                  </a:schemeClr>
                </a:solidFill>
              </a:defRPr>
            </a:lvl3pPr>
            <a:lvl4pPr marL="1439769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69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61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53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4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38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E75061A9-3947-7B48-BFF8-AD18966F39F1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589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79892" y="1916484"/>
            <a:ext cx="5439331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79202" y="1916484"/>
            <a:ext cx="5439331" cy="456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1530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81558" y="383297"/>
            <a:ext cx="11038642" cy="1391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81559" y="1764832"/>
            <a:ext cx="5414333" cy="864917"/>
          </a:xfrm>
        </p:spPr>
        <p:txBody>
          <a:bodyPr anchor="b"/>
          <a:lstStyle>
            <a:lvl1pPr marL="0" indent="0">
              <a:buNone/>
              <a:defRPr sz="2519" b="1"/>
            </a:lvl1pPr>
            <a:lvl2pPr marL="479923" indent="0">
              <a:buNone/>
              <a:defRPr sz="2099" b="1"/>
            </a:lvl2pPr>
            <a:lvl3pPr marL="959846" indent="0">
              <a:buNone/>
              <a:defRPr sz="1889" b="1"/>
            </a:lvl3pPr>
            <a:lvl4pPr marL="1439769" indent="0">
              <a:buNone/>
              <a:defRPr sz="1680" b="1"/>
            </a:lvl4pPr>
            <a:lvl5pPr marL="1919691" indent="0">
              <a:buNone/>
              <a:defRPr sz="1680" b="1"/>
            </a:lvl5pPr>
            <a:lvl6pPr marL="2399614" indent="0">
              <a:buNone/>
              <a:defRPr sz="1680" b="1"/>
            </a:lvl6pPr>
            <a:lvl7pPr marL="2879537" indent="0">
              <a:buNone/>
              <a:defRPr sz="1680" b="1"/>
            </a:lvl7pPr>
            <a:lvl8pPr marL="3359460" indent="0">
              <a:buNone/>
              <a:defRPr sz="1680" b="1"/>
            </a:lvl8pPr>
            <a:lvl9pPr marL="3839383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81559" y="2629749"/>
            <a:ext cx="5414333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79202" y="1764832"/>
            <a:ext cx="5440998" cy="864917"/>
          </a:xfrm>
        </p:spPr>
        <p:txBody>
          <a:bodyPr anchor="b"/>
          <a:lstStyle>
            <a:lvl1pPr marL="0" indent="0">
              <a:buNone/>
              <a:defRPr sz="2519" b="1"/>
            </a:lvl1pPr>
            <a:lvl2pPr marL="479923" indent="0">
              <a:buNone/>
              <a:defRPr sz="2099" b="1"/>
            </a:lvl2pPr>
            <a:lvl3pPr marL="959846" indent="0">
              <a:buNone/>
              <a:defRPr sz="1889" b="1"/>
            </a:lvl3pPr>
            <a:lvl4pPr marL="1439769" indent="0">
              <a:buNone/>
              <a:defRPr sz="1680" b="1"/>
            </a:lvl4pPr>
            <a:lvl5pPr marL="1919691" indent="0">
              <a:buNone/>
              <a:defRPr sz="1680" b="1"/>
            </a:lvl5pPr>
            <a:lvl6pPr marL="2399614" indent="0">
              <a:buNone/>
              <a:defRPr sz="1680" b="1"/>
            </a:lvl6pPr>
            <a:lvl7pPr marL="2879537" indent="0">
              <a:buNone/>
              <a:defRPr sz="1680" b="1"/>
            </a:lvl7pPr>
            <a:lvl8pPr marL="3359460" indent="0">
              <a:buNone/>
              <a:defRPr sz="1680" b="1"/>
            </a:lvl8pPr>
            <a:lvl9pPr marL="3839383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79202" y="2629749"/>
            <a:ext cx="5440998" cy="3867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7578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668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0114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81559" y="479954"/>
            <a:ext cx="412782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40997" y="1036569"/>
            <a:ext cx="6479203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19"/>
            </a:lvl3pPr>
            <a:lvl4pPr>
              <a:defRPr sz="2099"/>
            </a:lvl4pPr>
            <a:lvl5pPr>
              <a:defRPr sz="2099"/>
            </a:lvl5pPr>
            <a:lvl6pPr>
              <a:defRPr sz="2099"/>
            </a:lvl6pPr>
            <a:lvl7pPr>
              <a:defRPr sz="2099"/>
            </a:lvl7pPr>
            <a:lvl8pPr>
              <a:defRPr sz="2099"/>
            </a:lvl8pPr>
            <a:lvl9pPr>
              <a:defRPr sz="209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81559" y="2159794"/>
            <a:ext cx="412782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23" indent="0">
              <a:buNone/>
              <a:defRPr sz="1470"/>
            </a:lvl2pPr>
            <a:lvl3pPr marL="959846" indent="0">
              <a:buNone/>
              <a:defRPr sz="1260"/>
            </a:lvl3pPr>
            <a:lvl4pPr marL="1439769" indent="0">
              <a:buNone/>
              <a:defRPr sz="1050"/>
            </a:lvl4pPr>
            <a:lvl5pPr marL="1919691" indent="0">
              <a:buNone/>
              <a:defRPr sz="1050"/>
            </a:lvl5pPr>
            <a:lvl6pPr marL="2399614" indent="0">
              <a:buNone/>
              <a:defRPr sz="1050"/>
            </a:lvl6pPr>
            <a:lvl7pPr marL="2879537" indent="0">
              <a:buNone/>
              <a:defRPr sz="1050"/>
            </a:lvl7pPr>
            <a:lvl8pPr marL="3359460" indent="0">
              <a:buNone/>
              <a:defRPr sz="1050"/>
            </a:lvl8pPr>
            <a:lvl9pPr marL="3839383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1095958"/>
            <a:ext cx="1107307" cy="236198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386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81559" y="479954"/>
            <a:ext cx="412782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440997" y="1036569"/>
            <a:ext cx="6479203" cy="5116178"/>
          </a:xfrm>
        </p:spPr>
        <p:txBody>
          <a:bodyPr/>
          <a:lstStyle>
            <a:lvl1pPr marL="0" indent="0">
              <a:buNone/>
              <a:defRPr sz="3359"/>
            </a:lvl1pPr>
            <a:lvl2pPr marL="479923" indent="0">
              <a:buNone/>
              <a:defRPr sz="2939"/>
            </a:lvl2pPr>
            <a:lvl3pPr marL="959846" indent="0">
              <a:buNone/>
              <a:defRPr sz="2519"/>
            </a:lvl3pPr>
            <a:lvl4pPr marL="1439769" indent="0">
              <a:buNone/>
              <a:defRPr sz="2099"/>
            </a:lvl4pPr>
            <a:lvl5pPr marL="1919691" indent="0">
              <a:buNone/>
              <a:defRPr sz="2099"/>
            </a:lvl5pPr>
            <a:lvl6pPr marL="2399614" indent="0">
              <a:buNone/>
              <a:defRPr sz="2099"/>
            </a:lvl6pPr>
            <a:lvl7pPr marL="2879537" indent="0">
              <a:buNone/>
              <a:defRPr sz="2099"/>
            </a:lvl7pPr>
            <a:lvl8pPr marL="3359460" indent="0">
              <a:buNone/>
              <a:defRPr sz="2099"/>
            </a:lvl8pPr>
            <a:lvl9pPr marL="3839383" indent="0">
              <a:buNone/>
              <a:defRPr sz="2099"/>
            </a:lvl9pPr>
          </a:lstStyle>
          <a:p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81559" y="2159794"/>
            <a:ext cx="412782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23" indent="0">
              <a:buNone/>
              <a:defRPr sz="1470"/>
            </a:lvl2pPr>
            <a:lvl3pPr marL="959846" indent="0">
              <a:buNone/>
              <a:defRPr sz="1260"/>
            </a:lvl3pPr>
            <a:lvl4pPr marL="1439769" indent="0">
              <a:buNone/>
              <a:defRPr sz="1050"/>
            </a:lvl4pPr>
            <a:lvl5pPr marL="1919691" indent="0">
              <a:buNone/>
              <a:defRPr sz="1050"/>
            </a:lvl5pPr>
            <a:lvl6pPr marL="2399614" indent="0">
              <a:buNone/>
              <a:defRPr sz="1050"/>
            </a:lvl6pPr>
            <a:lvl7pPr marL="2879537" indent="0">
              <a:buNone/>
              <a:defRPr sz="1050"/>
            </a:lvl7pPr>
            <a:lvl8pPr marL="3359460" indent="0">
              <a:buNone/>
              <a:defRPr sz="1050"/>
            </a:lvl8pPr>
            <a:lvl9pPr marL="3839383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1095958"/>
            <a:ext cx="1107307" cy="236198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047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1095958"/>
            <a:ext cx="1107307" cy="236198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2621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58873" y="383297"/>
            <a:ext cx="2759660" cy="61010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79892" y="383297"/>
            <a:ext cx="8119001" cy="61010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1095958"/>
            <a:ext cx="1107307" cy="236198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1993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제목, 내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7661" y="153319"/>
            <a:ext cx="11560799" cy="79992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57662" y="1181554"/>
            <a:ext cx="5681522" cy="5366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52491" y="1181554"/>
            <a:ext cx="5681523" cy="5366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042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7661" y="153319"/>
            <a:ext cx="11560799" cy="79992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957662" y="1181554"/>
            <a:ext cx="5681522" cy="5366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52491" y="1181554"/>
            <a:ext cx="5681523" cy="5366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0014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제목 및 텍스트/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7661" y="153319"/>
            <a:ext cx="11560799" cy="79992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957662" y="1181556"/>
            <a:ext cx="11576353" cy="26030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957662" y="3944626"/>
            <a:ext cx="11576353" cy="26030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18700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36272" y="246206"/>
            <a:ext cx="11925881" cy="801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36272" y="1208704"/>
            <a:ext cx="11925881" cy="4781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39881" lvl="0" indent="-47991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1279763" lvl="1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919643" lvl="2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559524" lvl="3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199406" lvl="4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839287" lvl="5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479168" lvl="6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5119049" lvl="7" indent="-444362">
              <a:spcBef>
                <a:spcPts val="2239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758930" lvl="8" indent="-444362">
              <a:spcBef>
                <a:spcPts val="2239"/>
              </a:spcBef>
              <a:spcAft>
                <a:spcPts val="2239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858500" y="6527065"/>
            <a:ext cx="767989" cy="550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75061A9-3947-7B48-BFF8-AD18966F39F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1488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52041" y="1"/>
            <a:ext cx="12094344" cy="10758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52041" y="1331904"/>
            <a:ext cx="12094344" cy="5291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2041" y="1086390"/>
            <a:ext cx="12094344" cy="245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2"/>
                </a:solidFill>
              </a:defRPr>
            </a:lvl1pPr>
          </a:lstStyle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690488" y="6622990"/>
            <a:ext cx="755896" cy="529478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4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75061A9-3947-7B48-BFF8-AD18966F39F1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2398474" y="6622990"/>
            <a:ext cx="399951" cy="576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791" rIns="0" rtlCol="0" anchor="ctr"/>
          <a:lstStyle/>
          <a:p>
            <a:pPr algn="l"/>
            <a:endParaRPr lang="ko-KR" altLang="en-US" sz="1470" baseline="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75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</p:sldLayoutIdLst>
  <p:hf hdr="0" dt="0"/>
  <p:txStyles>
    <p:titleStyle>
      <a:lvl1pPr algn="l" defTabSz="959846" rtl="0" eaLnBrk="1" latinLnBrk="1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61" indent="-239961" algn="l" defTabSz="959846" rtl="0" eaLnBrk="1" latinLnBrk="1" hangingPunct="1">
        <a:lnSpc>
          <a:spcPct val="99000"/>
        </a:lnSpc>
        <a:spcBef>
          <a:spcPts val="105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19884" indent="-239961" algn="l" defTabSz="959846" rtl="0" eaLnBrk="1" latinLnBrk="1" hangingPunct="1">
        <a:lnSpc>
          <a:spcPct val="99000"/>
        </a:lnSpc>
        <a:spcBef>
          <a:spcPts val="525"/>
        </a:spcBef>
        <a:buFont typeface="Arial" panose="020B0604020202020204" pitchFamily="34" charset="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99807" indent="-239961" algn="l" defTabSz="959846" rtl="0" eaLnBrk="1" latinLnBrk="1" hangingPunct="1">
        <a:lnSpc>
          <a:spcPct val="99000"/>
        </a:lnSpc>
        <a:spcBef>
          <a:spcPts val="525"/>
        </a:spcBef>
        <a:buFont typeface="Arial" panose="020B0604020202020204" pitchFamily="34" charset="0"/>
        <a:buChar char="=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79730" indent="-239961" algn="l" defTabSz="959846" rtl="0" eaLnBrk="1" latinLnBrk="1" hangingPunct="1">
        <a:lnSpc>
          <a:spcPct val="99000"/>
        </a:lnSpc>
        <a:spcBef>
          <a:spcPts val="525"/>
        </a:spcBef>
        <a:buFont typeface="Arial" panose="020B0604020202020204" pitchFamily="34" charset="0"/>
        <a:buChar char="+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159653" indent="-239961" algn="l" defTabSz="959846" rtl="0" eaLnBrk="1" latinLnBrk="1" hangingPunct="1">
        <a:lnSpc>
          <a:spcPct val="99000"/>
        </a:lnSpc>
        <a:spcBef>
          <a:spcPts val="525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639576" indent="-239961" algn="l" defTabSz="959846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3119498" indent="-239961" algn="l" defTabSz="959846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599421" indent="-239961" algn="l" defTabSz="959846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4079344" indent="-239961" algn="l" defTabSz="959846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1pPr>
      <a:lvl2pPr marL="479923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2pPr>
      <a:lvl3pPr marL="959846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3pPr>
      <a:lvl4pPr marL="1439769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4pPr>
      <a:lvl5pPr marL="1919691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5pPr>
      <a:lvl6pPr marL="2399614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6pPr>
      <a:lvl7pPr marL="2879537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7pPr>
      <a:lvl8pPr marL="3359460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8pPr>
      <a:lvl9pPr marL="3839383" algn="l" defTabSz="959846" rtl="0" eaLnBrk="1" latinLnBrk="1" hangingPunct="1">
        <a:defRPr sz="18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geniajh.github.io/" TargetMode="External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12" Type="http://schemas.openxmlformats.org/officeDocument/2006/relationships/hyperlink" Target="https://prof-oguzergin.github.io/CompArch-HallOfFame/" TargetMode="Externa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12" Type="http://schemas.openxmlformats.org/officeDocument/2006/relationships/hyperlink" Target="https://users.cs.utah.edu/~rajeev/pubs/usimm.pdf" TargetMode="Externa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4" Type="http://schemas.openxmlformats.org/officeDocument/2006/relationships/tags" Target="../tags/tag8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emf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4" Type="http://schemas.openxmlformats.org/officeDocument/2006/relationships/tags" Target="../tags/tag12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xiv.org/abs/2506.15918" TargetMode="External"/><Relationship Id="rId2" Type="http://schemas.openxmlformats.org/officeDocument/2006/relationships/hyperlink" Target="https://geniajh.github.io/post/202503-asplos-marionett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5E4D4-9071-DB42-AF8C-665714FEA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+mn-lt"/>
              </a:rPr>
              <a:t>From In-house Simulators to </a:t>
            </a:r>
            <a:r>
              <a:rPr lang="en-US" altLang="ko-KR" dirty="0" err="1">
                <a:solidFill>
                  <a:schemeClr val="bg2">
                    <a:lumMod val="90000"/>
                  </a:schemeClr>
                </a:solidFill>
                <a:latin typeface="+mn-lt"/>
              </a:rPr>
              <a:t>Ramulator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+mn-lt"/>
              </a:rPr>
              <a:t> and DRAM Bender: Lessons and Implications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F9A5E0-10CB-1945-8DA1-F76DF75E65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Jung Ho Ahn</a:t>
            </a:r>
            <a:endParaRPr lang="en-US" altLang="ko-Kore-KR" dirty="0"/>
          </a:p>
          <a:p>
            <a:r>
              <a:rPr lang="en-US" altLang="ko-Kore-KR" dirty="0" err="1"/>
              <a:t>gajh@snu.ac.kr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https://</a:t>
            </a:r>
            <a:r>
              <a:rPr lang="en-US" altLang="ko-KR" dirty="0" err="1"/>
              <a:t>geniajh.github.io</a:t>
            </a:r>
            <a:endParaRPr lang="en-US" altLang="ko-Kore-KR" dirty="0"/>
          </a:p>
          <a:p>
            <a:r>
              <a:rPr lang="en-US" altLang="ko-Kore-KR" dirty="0"/>
              <a:t>2026/06</a:t>
            </a:r>
          </a:p>
        </p:txBody>
      </p:sp>
    </p:spTree>
    <p:extLst>
      <p:ext uri="{BB962C8B-B14F-4D97-AF65-F5344CB8AC3E}">
        <p14:creationId xmlns:p14="http://schemas.microsoft.com/office/powerpoint/2010/main" val="174794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CF3F-4BFD-C45E-0DEA-8BB701FFD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8B9B2-DC09-6C09-2B7C-690378C3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Disclaimers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67534-F8A3-585D-45EE-5B2B6A830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I am not a native speaker.</a:t>
            </a:r>
          </a:p>
          <a:p>
            <a:r>
              <a:rPr kumimoji="1" lang="en-US" altLang="ko-Kore-KR" dirty="0"/>
              <a:t>I do not intend to offend anyone.</a:t>
            </a:r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76BE5A-F3E0-E3F9-8022-8BA3D7CC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D06E97-7C41-7C4F-3132-50F6581E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5786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8ABB5-4C4D-D945-A75A-12D1DBB1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FEB0-E4E7-7E4C-A5F5-636BF234666C}" type="slidenum">
              <a:rPr kumimoji="1" lang="ko-KR" altLang="en-US" smtClean="0"/>
              <a:t>3</a:t>
            </a:fld>
            <a:endParaRPr kumimoji="1"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2BCDF7D-4AA1-2A43-AC2B-B4A894B98AB1}"/>
              </a:ext>
            </a:extLst>
          </p:cNvPr>
          <p:cNvCxnSpPr/>
          <p:nvPr/>
        </p:nvCxnSpPr>
        <p:spPr>
          <a:xfrm>
            <a:off x="289022" y="2423475"/>
            <a:ext cx="12161193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93A06BB0-B36A-884F-B9D7-78E5CD9BEA84}"/>
              </a:ext>
            </a:extLst>
          </p:cNvPr>
          <p:cNvSpPr/>
          <p:nvPr/>
        </p:nvSpPr>
        <p:spPr>
          <a:xfrm>
            <a:off x="608983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16C171-447B-4843-B5A1-6D2CF944AEF9}"/>
              </a:ext>
            </a:extLst>
          </p:cNvPr>
          <p:cNvSpPr/>
          <p:nvPr/>
        </p:nvSpPr>
        <p:spPr>
          <a:xfrm>
            <a:off x="254497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EBB8762-D660-1841-A285-7AEA9C043038}"/>
              </a:ext>
            </a:extLst>
          </p:cNvPr>
          <p:cNvSpPr/>
          <p:nvPr/>
        </p:nvSpPr>
        <p:spPr>
          <a:xfrm>
            <a:off x="539400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09608F6-405E-474D-A097-04029B3B2C41}"/>
              </a:ext>
            </a:extLst>
          </p:cNvPr>
          <p:cNvSpPr/>
          <p:nvPr/>
        </p:nvSpPr>
        <p:spPr>
          <a:xfrm>
            <a:off x="7444498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7" name="Freeform 547">
            <a:extLst>
              <a:ext uri="{FF2B5EF4-FFF2-40B4-BE49-F238E27FC236}">
                <a16:creationId xmlns:a16="http://schemas.microsoft.com/office/drawing/2014/main" id="{44499049-35A8-4744-8CCC-B45B200549AF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8055396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233C36-D6DF-CB4A-A947-8445D99AD10D}"/>
              </a:ext>
            </a:extLst>
          </p:cNvPr>
          <p:cNvSpPr/>
          <p:nvPr/>
        </p:nvSpPr>
        <p:spPr>
          <a:xfrm>
            <a:off x="27853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1996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BDB49D-529F-FB48-A7B0-C64C08DCBC50}"/>
              </a:ext>
            </a:extLst>
          </p:cNvPr>
          <p:cNvSpPr/>
          <p:nvPr/>
        </p:nvSpPr>
        <p:spPr>
          <a:xfrm>
            <a:off x="2222748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2000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05811E-2E7C-8A44-97C4-E5B4A35AA962}"/>
              </a:ext>
            </a:extLst>
          </p:cNvPr>
          <p:cNvSpPr/>
          <p:nvPr/>
        </p:nvSpPr>
        <p:spPr>
          <a:xfrm>
            <a:off x="5068800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2007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159C5F-93EC-1345-97FE-9F60C8E79E97}"/>
              </a:ext>
            </a:extLst>
          </p:cNvPr>
          <p:cNvSpPr/>
          <p:nvPr/>
        </p:nvSpPr>
        <p:spPr>
          <a:xfrm>
            <a:off x="711929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2009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5" name="그림 17" descr="SU_BlockStree_2color.eps">
            <a:extLst>
              <a:ext uri="{FF2B5EF4-FFF2-40B4-BE49-F238E27FC236}">
                <a16:creationId xmlns:a16="http://schemas.microsoft.com/office/drawing/2014/main" id="{7A57937D-222F-8D44-8EA3-437B1CB15C4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243474" y="1786174"/>
            <a:ext cx="851482" cy="1277221"/>
          </a:xfrm>
          <a:prstGeom prst="rect">
            <a:avLst/>
          </a:prstGeom>
          <a:ln>
            <a:noFill/>
          </a:ln>
        </p:spPr>
      </p:pic>
      <p:pic>
        <p:nvPicPr>
          <p:cNvPr id="26" name="그림 3">
            <a:extLst>
              <a:ext uri="{FF2B5EF4-FFF2-40B4-BE49-F238E27FC236}">
                <a16:creationId xmlns:a16="http://schemas.microsoft.com/office/drawing/2014/main" id="{624A5809-7A1C-5D43-965D-463B31342AF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164" y="1786174"/>
            <a:ext cx="1277925" cy="1277925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AF131EA3-1D00-DB44-9E56-306F5487D623}"/>
              </a:ext>
            </a:extLst>
          </p:cNvPr>
          <p:cNvSpPr/>
          <p:nvPr/>
        </p:nvSpPr>
        <p:spPr>
          <a:xfrm>
            <a:off x="9621557" y="2271582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32D6B9AE-94D1-6C41-8FF8-C5EF3AAA1C0B}"/>
              </a:ext>
            </a:extLst>
          </p:cNvPr>
          <p:cNvCxnSpPr>
            <a:cxnSpLocks/>
          </p:cNvCxnSpPr>
          <p:nvPr/>
        </p:nvCxnSpPr>
        <p:spPr>
          <a:xfrm flipV="1">
            <a:off x="9781537" y="2583455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Image result for google logo">
            <a:extLst>
              <a:ext uri="{FF2B5EF4-FFF2-40B4-BE49-F238E27FC236}">
                <a16:creationId xmlns:a16="http://schemas.microsoft.com/office/drawing/2014/main" id="{E42F4DE4-9B75-0148-BB01-3B1DBC2E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3468" y="3582617"/>
            <a:ext cx="1876310" cy="6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76E7C4-4366-0240-98F8-7A2179112607}"/>
              </a:ext>
            </a:extLst>
          </p:cNvPr>
          <p:cNvSpPr/>
          <p:nvPr/>
        </p:nvSpPr>
        <p:spPr>
          <a:xfrm>
            <a:off x="9290881" y="1380981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2016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PI logo">
            <a:extLst>
              <a:ext uri="{FF2B5EF4-FFF2-40B4-BE49-F238E27FC236}">
                <a16:creationId xmlns:a16="http://schemas.microsoft.com/office/drawing/2014/main" id="{827B0B20-AB9C-C345-896F-F9DE6F551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956" y="359296"/>
            <a:ext cx="1073330" cy="9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98D7831F-1A14-2040-AEEE-27EB19715475}"/>
              </a:ext>
            </a:extLst>
          </p:cNvPr>
          <p:cNvSpPr/>
          <p:nvPr/>
        </p:nvSpPr>
        <p:spPr>
          <a:xfrm>
            <a:off x="4471641" y="2263494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A5A8ACCA-75B1-284D-B2AE-41B97D707614}"/>
              </a:ext>
            </a:extLst>
          </p:cNvPr>
          <p:cNvCxnSpPr>
            <a:cxnSpLocks/>
          </p:cNvCxnSpPr>
          <p:nvPr/>
        </p:nvCxnSpPr>
        <p:spPr>
          <a:xfrm flipV="1">
            <a:off x="4631621" y="1380981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253FA23-3BE9-BC4D-BE40-E55E94743489}"/>
              </a:ext>
            </a:extLst>
          </p:cNvPr>
          <p:cNvSpPr/>
          <p:nvPr/>
        </p:nvSpPr>
        <p:spPr>
          <a:xfrm>
            <a:off x="4141327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2004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Freeform 547">
            <a:extLst>
              <a:ext uri="{FF2B5EF4-FFF2-40B4-BE49-F238E27FC236}">
                <a16:creationId xmlns:a16="http://schemas.microsoft.com/office/drawing/2014/main" id="{BAA9623E-43EB-4C4E-9B6D-3DFD4172CAD6}"/>
              </a:ext>
            </a:extLst>
          </p:cNvPr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070620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17FE3739-C313-D749-9751-6B2EF514BD2E}"/>
              </a:ext>
            </a:extLst>
          </p:cNvPr>
          <p:cNvCxnSpPr>
            <a:cxnSpLocks/>
            <a:stCxn id="8" idx="4"/>
            <a:endCxn id="8" idx="0"/>
          </p:cNvCxnSpPr>
          <p:nvPr/>
        </p:nvCxnSpPr>
        <p:spPr>
          <a:xfrm flipV="1">
            <a:off x="2704957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C4858F81-B782-EA49-BC69-FF87CDFADFC3}"/>
              </a:ext>
            </a:extLst>
          </p:cNvPr>
          <p:cNvCxnSpPr>
            <a:cxnSpLocks/>
            <a:stCxn id="5" idx="4"/>
            <a:endCxn id="5" idx="0"/>
          </p:cNvCxnSpPr>
          <p:nvPr/>
        </p:nvCxnSpPr>
        <p:spPr>
          <a:xfrm flipV="1">
            <a:off x="768963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C6E16DDC-C1AA-6247-A043-03FA37B13BF5}"/>
              </a:ext>
            </a:extLst>
          </p:cNvPr>
          <p:cNvCxnSpPr>
            <a:cxnSpLocks/>
          </p:cNvCxnSpPr>
          <p:nvPr/>
        </p:nvCxnSpPr>
        <p:spPr>
          <a:xfrm flipV="1">
            <a:off x="5553985" y="229365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E03BAAD9-EEAA-E348-9C59-9BA777C23144}"/>
              </a:ext>
            </a:extLst>
          </p:cNvPr>
          <p:cNvCxnSpPr>
            <a:cxnSpLocks/>
          </p:cNvCxnSpPr>
          <p:nvPr/>
        </p:nvCxnSpPr>
        <p:spPr>
          <a:xfrm flipV="1">
            <a:off x="7611033" y="2275295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E1FC3E8-2BD6-2F48-A632-43056384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pic>
        <p:nvPicPr>
          <p:cNvPr id="6" name="Picture 6" descr="SK Telecom - Wikipedia">
            <a:extLst>
              <a:ext uri="{FF2B5EF4-FFF2-40B4-BE49-F238E27FC236}">
                <a16:creationId xmlns:a16="http://schemas.microsoft.com/office/drawing/2014/main" id="{29B4F7D8-2A9B-F56B-52AE-7CA665229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572" y="506570"/>
            <a:ext cx="2218219" cy="87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35">
            <a:extLst>
              <a:ext uri="{FF2B5EF4-FFF2-40B4-BE49-F238E27FC236}">
                <a16:creationId xmlns:a16="http://schemas.microsoft.com/office/drawing/2014/main" id="{320050A4-78B4-3824-3296-EAA584FEB677}"/>
              </a:ext>
            </a:extLst>
          </p:cNvPr>
          <p:cNvSpPr/>
          <p:nvPr/>
        </p:nvSpPr>
        <p:spPr>
          <a:xfrm>
            <a:off x="10575676" y="2271583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9" name="직선 연결선[R] 36">
            <a:extLst>
              <a:ext uri="{FF2B5EF4-FFF2-40B4-BE49-F238E27FC236}">
                <a16:creationId xmlns:a16="http://schemas.microsoft.com/office/drawing/2014/main" id="{23698C9C-C658-2CF1-48FD-68118EF50CE8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10735656" y="1755469"/>
            <a:ext cx="1" cy="516114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38">
            <a:extLst>
              <a:ext uri="{FF2B5EF4-FFF2-40B4-BE49-F238E27FC236}">
                <a16:creationId xmlns:a16="http://schemas.microsoft.com/office/drawing/2014/main" id="{39B2FF5B-2B39-DB9B-DF52-5FF3209BD45D}"/>
              </a:ext>
            </a:extLst>
          </p:cNvPr>
          <p:cNvSpPr/>
          <p:nvPr/>
        </p:nvSpPr>
        <p:spPr>
          <a:xfrm>
            <a:off x="10215636" y="2663552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2017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FDF32D6-2A72-9EE9-CA2D-EA0D58D70348}"/>
              </a:ext>
            </a:extLst>
          </p:cNvPr>
          <p:cNvSpPr/>
          <p:nvPr/>
        </p:nvSpPr>
        <p:spPr>
          <a:xfrm>
            <a:off x="11520156" y="2263875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862D9D75-9FBD-4C8A-5C67-6A73EB154EA1}"/>
              </a:ext>
            </a:extLst>
          </p:cNvPr>
          <p:cNvCxnSpPr>
            <a:cxnSpLocks/>
          </p:cNvCxnSpPr>
          <p:nvPr/>
        </p:nvCxnSpPr>
        <p:spPr>
          <a:xfrm flipV="1">
            <a:off x="11680136" y="2575748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83BAA4-2F26-A16C-383B-84985BDB9501}"/>
              </a:ext>
            </a:extLst>
          </p:cNvPr>
          <p:cNvSpPr/>
          <p:nvPr/>
        </p:nvSpPr>
        <p:spPr>
          <a:xfrm>
            <a:off x="11261488" y="1373274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2024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10560DBD-4A8B-10C8-A44D-D98A68FBA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487" y="3527648"/>
            <a:ext cx="1845421" cy="61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B04BC83-C255-79D3-8055-25CA7C4145E9}"/>
              </a:ext>
            </a:extLst>
          </p:cNvPr>
          <p:cNvSpPr txBox="1">
            <a:spLocks/>
          </p:cNvSpPr>
          <p:nvPr/>
        </p:nvSpPr>
        <p:spPr>
          <a:xfrm>
            <a:off x="352041" y="4336484"/>
            <a:ext cx="12094344" cy="2286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9961" indent="-239961" algn="l" defTabSz="959846" rtl="0" eaLnBrk="1" latinLnBrk="0" hangingPunct="1">
              <a:lnSpc>
                <a:spcPct val="99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=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+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Major: Computer Architecture</a:t>
            </a:r>
          </a:p>
          <a:p>
            <a:r>
              <a:rPr lang="en-US" altLang="ko-KR" dirty="0"/>
              <a:t>Google citation count: 15,700+</a:t>
            </a:r>
          </a:p>
          <a:p>
            <a:r>
              <a:rPr lang="en-US" altLang="ko-KR" dirty="0"/>
              <a:t>Hall of fame: ISCA/HPCA/MICRO		(</a:t>
            </a:r>
            <a:r>
              <a:rPr lang="en-US" altLang="ko-KR" dirty="0">
                <a:hlinkClick r:id="rId12"/>
              </a:rPr>
              <a:t>#31 in Comp. Arch. Aggregated HoF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Dean, GSCST @ SNU	 		(2022/09-2024/08)</a:t>
            </a:r>
          </a:p>
          <a:p>
            <a:r>
              <a:rPr lang="en-US" altLang="ko-KR" dirty="0"/>
              <a:t>The keywords of [DRAM, memory] appear [30+, 90+] times in my </a:t>
            </a:r>
            <a:r>
              <a:rPr lang="en-US" altLang="ko-KR" dirty="0">
                <a:hlinkClick r:id="rId13"/>
              </a:rPr>
              <a:t>homepage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15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DEA8-A372-4C5F-F709-467344CF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464A3-F7F9-5B6C-855E-9B2C9CA8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FEB0-E4E7-7E4C-A5F5-636BF234666C}" type="slidenum">
              <a:rPr kumimoji="1" lang="ko-KR" altLang="en-US" smtClean="0"/>
              <a:t>4</a:t>
            </a:fld>
            <a:endParaRPr kumimoji="1"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C80408E-823E-8374-345B-4F220C0807B1}"/>
              </a:ext>
            </a:extLst>
          </p:cNvPr>
          <p:cNvCxnSpPr/>
          <p:nvPr/>
        </p:nvCxnSpPr>
        <p:spPr>
          <a:xfrm>
            <a:off x="289022" y="2423475"/>
            <a:ext cx="12161193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0DE92259-DBAE-FC01-2DC8-2413A604D87E}"/>
              </a:ext>
            </a:extLst>
          </p:cNvPr>
          <p:cNvSpPr/>
          <p:nvPr/>
        </p:nvSpPr>
        <p:spPr>
          <a:xfrm>
            <a:off x="608983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3E1EF80-FFAB-35E0-9143-816217C1D427}"/>
              </a:ext>
            </a:extLst>
          </p:cNvPr>
          <p:cNvSpPr/>
          <p:nvPr/>
        </p:nvSpPr>
        <p:spPr>
          <a:xfrm>
            <a:off x="254497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0EC38A4-5521-75BD-905F-3A894C1A12FE}"/>
              </a:ext>
            </a:extLst>
          </p:cNvPr>
          <p:cNvSpPr/>
          <p:nvPr/>
        </p:nvSpPr>
        <p:spPr>
          <a:xfrm>
            <a:off x="539400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94249C0-F86A-501C-7D93-2BFF1835EF40}"/>
              </a:ext>
            </a:extLst>
          </p:cNvPr>
          <p:cNvSpPr/>
          <p:nvPr/>
        </p:nvSpPr>
        <p:spPr>
          <a:xfrm>
            <a:off x="7444498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7" name="Freeform 547">
            <a:extLst>
              <a:ext uri="{FF2B5EF4-FFF2-40B4-BE49-F238E27FC236}">
                <a16:creationId xmlns:a16="http://schemas.microsoft.com/office/drawing/2014/main" id="{525FC22D-DFE6-DF7B-938A-8D536CDA126F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8055396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0BBDC9-20CE-3862-6A32-4B85D96B031A}"/>
              </a:ext>
            </a:extLst>
          </p:cNvPr>
          <p:cNvSpPr/>
          <p:nvPr/>
        </p:nvSpPr>
        <p:spPr>
          <a:xfrm>
            <a:off x="27853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1996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791E2A-D45F-8789-C184-34AD8692B613}"/>
              </a:ext>
            </a:extLst>
          </p:cNvPr>
          <p:cNvSpPr/>
          <p:nvPr/>
        </p:nvSpPr>
        <p:spPr>
          <a:xfrm>
            <a:off x="2222748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2000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6BD683-84FF-E867-8811-2A7364502042}"/>
              </a:ext>
            </a:extLst>
          </p:cNvPr>
          <p:cNvSpPr/>
          <p:nvPr/>
        </p:nvSpPr>
        <p:spPr>
          <a:xfrm>
            <a:off x="5068800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2007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AC9688-E31A-3CFA-8D36-837B640A1B8F}"/>
              </a:ext>
            </a:extLst>
          </p:cNvPr>
          <p:cNvSpPr/>
          <p:nvPr/>
        </p:nvSpPr>
        <p:spPr>
          <a:xfrm>
            <a:off x="711929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2009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5" name="그림 17" descr="SU_BlockStree_2color.eps">
            <a:extLst>
              <a:ext uri="{FF2B5EF4-FFF2-40B4-BE49-F238E27FC236}">
                <a16:creationId xmlns:a16="http://schemas.microsoft.com/office/drawing/2014/main" id="{525BD9BB-9CAE-89C0-F70C-7655227214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243474" y="1786174"/>
            <a:ext cx="851482" cy="1277221"/>
          </a:xfrm>
          <a:prstGeom prst="rect">
            <a:avLst/>
          </a:prstGeom>
          <a:ln>
            <a:noFill/>
          </a:ln>
        </p:spPr>
      </p:pic>
      <p:pic>
        <p:nvPicPr>
          <p:cNvPr id="26" name="그림 3">
            <a:extLst>
              <a:ext uri="{FF2B5EF4-FFF2-40B4-BE49-F238E27FC236}">
                <a16:creationId xmlns:a16="http://schemas.microsoft.com/office/drawing/2014/main" id="{50A9F610-AA70-ABD2-7CEA-32793BB1FFB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164" y="1786174"/>
            <a:ext cx="1277925" cy="1277925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7C759C0A-C331-AF27-3B13-9008EAB8F8C3}"/>
              </a:ext>
            </a:extLst>
          </p:cNvPr>
          <p:cNvSpPr/>
          <p:nvPr/>
        </p:nvSpPr>
        <p:spPr>
          <a:xfrm>
            <a:off x="9621557" y="2271582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34BD1433-82F0-1E7D-10F6-9B8859A58E2B}"/>
              </a:ext>
            </a:extLst>
          </p:cNvPr>
          <p:cNvCxnSpPr>
            <a:cxnSpLocks/>
          </p:cNvCxnSpPr>
          <p:nvPr/>
        </p:nvCxnSpPr>
        <p:spPr>
          <a:xfrm flipV="1">
            <a:off x="9781537" y="2583455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Image result for google logo">
            <a:extLst>
              <a:ext uri="{FF2B5EF4-FFF2-40B4-BE49-F238E27FC236}">
                <a16:creationId xmlns:a16="http://schemas.microsoft.com/office/drawing/2014/main" id="{6BF177E5-1AD1-CF25-CE2F-CEFFC7350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3468" y="3582617"/>
            <a:ext cx="1876310" cy="6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A2D97A6D-328B-F3F9-903D-71C6E5CE5FCB}"/>
              </a:ext>
            </a:extLst>
          </p:cNvPr>
          <p:cNvSpPr/>
          <p:nvPr/>
        </p:nvSpPr>
        <p:spPr>
          <a:xfrm>
            <a:off x="9290881" y="1380981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2016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PI logo">
            <a:extLst>
              <a:ext uri="{FF2B5EF4-FFF2-40B4-BE49-F238E27FC236}">
                <a16:creationId xmlns:a16="http://schemas.microsoft.com/office/drawing/2014/main" id="{41B4717F-2A77-E04D-6C7F-52798F314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956" y="359296"/>
            <a:ext cx="1073330" cy="9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63818711-564D-992B-BB14-669F4AFA4BAA}"/>
              </a:ext>
            </a:extLst>
          </p:cNvPr>
          <p:cNvSpPr/>
          <p:nvPr/>
        </p:nvSpPr>
        <p:spPr>
          <a:xfrm>
            <a:off x="4471641" y="2263494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2CDED812-CC28-D649-EACE-27512B088400}"/>
              </a:ext>
            </a:extLst>
          </p:cNvPr>
          <p:cNvCxnSpPr>
            <a:cxnSpLocks/>
          </p:cNvCxnSpPr>
          <p:nvPr/>
        </p:nvCxnSpPr>
        <p:spPr>
          <a:xfrm flipV="1">
            <a:off x="4631621" y="1380981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4229349-4535-B147-73C2-522D6241873F}"/>
              </a:ext>
            </a:extLst>
          </p:cNvPr>
          <p:cNvSpPr/>
          <p:nvPr/>
        </p:nvSpPr>
        <p:spPr>
          <a:xfrm>
            <a:off x="4141327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2004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Freeform 547">
            <a:extLst>
              <a:ext uri="{FF2B5EF4-FFF2-40B4-BE49-F238E27FC236}">
                <a16:creationId xmlns:a16="http://schemas.microsoft.com/office/drawing/2014/main" id="{56053404-D158-54CC-0201-D1FA9FA3FAB0}"/>
              </a:ext>
            </a:extLst>
          </p:cNvPr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070620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DD53294F-7F31-76CD-D300-F896D8A01F75}"/>
              </a:ext>
            </a:extLst>
          </p:cNvPr>
          <p:cNvCxnSpPr>
            <a:cxnSpLocks/>
            <a:stCxn id="8" idx="4"/>
            <a:endCxn id="8" idx="0"/>
          </p:cNvCxnSpPr>
          <p:nvPr/>
        </p:nvCxnSpPr>
        <p:spPr>
          <a:xfrm flipV="1">
            <a:off x="2704957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1000840B-A689-2B9E-AF79-E5F337F25C2E}"/>
              </a:ext>
            </a:extLst>
          </p:cNvPr>
          <p:cNvCxnSpPr>
            <a:cxnSpLocks/>
            <a:stCxn id="5" idx="4"/>
            <a:endCxn id="5" idx="0"/>
          </p:cNvCxnSpPr>
          <p:nvPr/>
        </p:nvCxnSpPr>
        <p:spPr>
          <a:xfrm flipV="1">
            <a:off x="768963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C036D1F7-3849-F088-26A4-5F229DA0B7CF}"/>
              </a:ext>
            </a:extLst>
          </p:cNvPr>
          <p:cNvCxnSpPr>
            <a:cxnSpLocks/>
          </p:cNvCxnSpPr>
          <p:nvPr/>
        </p:nvCxnSpPr>
        <p:spPr>
          <a:xfrm flipV="1">
            <a:off x="5553985" y="229365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80975323-6CDD-F933-85A5-0D3B9072E7E3}"/>
              </a:ext>
            </a:extLst>
          </p:cNvPr>
          <p:cNvCxnSpPr>
            <a:cxnSpLocks/>
          </p:cNvCxnSpPr>
          <p:nvPr/>
        </p:nvCxnSpPr>
        <p:spPr>
          <a:xfrm flipV="1">
            <a:off x="7611033" y="2275295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FA2C79D-5D4C-EA2D-9692-9AF6C1F8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pic>
        <p:nvPicPr>
          <p:cNvPr id="6" name="Picture 6" descr="SK Telecom - Wikipedia">
            <a:extLst>
              <a:ext uri="{FF2B5EF4-FFF2-40B4-BE49-F238E27FC236}">
                <a16:creationId xmlns:a16="http://schemas.microsoft.com/office/drawing/2014/main" id="{D46D33CA-A2BC-9E09-8C18-57E71ADE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572" y="506570"/>
            <a:ext cx="2218219" cy="87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35">
            <a:extLst>
              <a:ext uri="{FF2B5EF4-FFF2-40B4-BE49-F238E27FC236}">
                <a16:creationId xmlns:a16="http://schemas.microsoft.com/office/drawing/2014/main" id="{B94FE569-A57F-7AFD-8E33-22CD9036FE3A}"/>
              </a:ext>
            </a:extLst>
          </p:cNvPr>
          <p:cNvSpPr/>
          <p:nvPr/>
        </p:nvSpPr>
        <p:spPr>
          <a:xfrm>
            <a:off x="10575676" y="2271583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9" name="직선 연결선[R] 36">
            <a:extLst>
              <a:ext uri="{FF2B5EF4-FFF2-40B4-BE49-F238E27FC236}">
                <a16:creationId xmlns:a16="http://schemas.microsoft.com/office/drawing/2014/main" id="{8547A69B-6C14-907B-11B9-B6B1CEA79A77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10735656" y="1755469"/>
            <a:ext cx="1" cy="516114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38">
            <a:extLst>
              <a:ext uri="{FF2B5EF4-FFF2-40B4-BE49-F238E27FC236}">
                <a16:creationId xmlns:a16="http://schemas.microsoft.com/office/drawing/2014/main" id="{0C90B31A-AF8B-56FB-5DB9-0991D3BC452B}"/>
              </a:ext>
            </a:extLst>
          </p:cNvPr>
          <p:cNvSpPr/>
          <p:nvPr/>
        </p:nvSpPr>
        <p:spPr>
          <a:xfrm>
            <a:off x="10215636" y="2663552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2017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A150D06-1785-6570-C271-6DED498F457E}"/>
              </a:ext>
            </a:extLst>
          </p:cNvPr>
          <p:cNvSpPr/>
          <p:nvPr/>
        </p:nvSpPr>
        <p:spPr>
          <a:xfrm>
            <a:off x="11520156" y="2263875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AB15DBE3-9539-E8BD-E6F3-37B323771659}"/>
              </a:ext>
            </a:extLst>
          </p:cNvPr>
          <p:cNvCxnSpPr>
            <a:cxnSpLocks/>
          </p:cNvCxnSpPr>
          <p:nvPr/>
        </p:nvCxnSpPr>
        <p:spPr>
          <a:xfrm flipV="1">
            <a:off x="11680136" y="2575748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FA9F60-14E5-7B9C-F421-DF329575AD44}"/>
              </a:ext>
            </a:extLst>
          </p:cNvPr>
          <p:cNvSpPr/>
          <p:nvPr/>
        </p:nvSpPr>
        <p:spPr>
          <a:xfrm>
            <a:off x="11261488" y="1373274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2024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00ECFDCC-1E9F-EDE8-ADBD-FA1822360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487" y="3527648"/>
            <a:ext cx="1845421" cy="61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A1D21643-E668-75D5-DDC9-BF7725C16DE9}"/>
              </a:ext>
            </a:extLst>
          </p:cNvPr>
          <p:cNvSpPr txBox="1">
            <a:spLocks/>
          </p:cNvSpPr>
          <p:nvPr/>
        </p:nvSpPr>
        <p:spPr>
          <a:xfrm>
            <a:off x="352041" y="4336484"/>
            <a:ext cx="12094344" cy="2286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9961" indent="-239961" algn="l" defTabSz="959846" rtl="0" eaLnBrk="1" latinLnBrk="0" hangingPunct="1">
              <a:lnSpc>
                <a:spcPct val="99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=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+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9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1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DRAMSim</a:t>
            </a:r>
            <a:r>
              <a:rPr lang="en-US" altLang="ko-KR" dirty="0"/>
              <a:t>: 1 (2005 @ SIGARCH CAN), 2 (2011 @ IEEE CAL), 3 (2020 @ IEEE CAL)</a:t>
            </a:r>
          </a:p>
          <a:p>
            <a:r>
              <a:rPr lang="en-US" altLang="ko-KR" dirty="0"/>
              <a:t>USIMM (2012, </a:t>
            </a:r>
            <a:r>
              <a:rPr lang="ko-Kore-KR" altLang="ko-Kore-KR" dirty="0">
                <a:hlinkClick r:id="rId12"/>
              </a:rPr>
              <a:t>https://users.cs.utah.edu/~rajeev/pubs/usimm.pdf</a:t>
            </a:r>
            <a:r>
              <a:rPr lang="en-US" altLang="ko-Kore-KR" dirty="0"/>
              <a:t>)</a:t>
            </a:r>
          </a:p>
          <a:p>
            <a:r>
              <a:rPr lang="en-US" altLang="ko-KR" dirty="0" err="1"/>
              <a:t>Ramulator</a:t>
            </a:r>
            <a:r>
              <a:rPr lang="en-US" altLang="ko-KR" dirty="0"/>
              <a:t>: 1 (2015 @ IEEE CAL), 2 (2024 @ IEEE CAL)</a:t>
            </a:r>
          </a:p>
          <a:p>
            <a:r>
              <a:rPr lang="en-US" altLang="ko-KR" b="1" dirty="0" err="1"/>
              <a:t>McSimA</a:t>
            </a:r>
            <a:r>
              <a:rPr lang="en-US" altLang="ko-KR" b="1" dirty="0"/>
              <a:t>+ (2013 @ ISPASS)</a:t>
            </a:r>
          </a:p>
          <a:p>
            <a:endParaRPr lang="en-US" altLang="ko-KR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FBA4DA73-DC68-2E6B-7965-E150C268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1" y="1"/>
            <a:ext cx="12094344" cy="1075803"/>
          </a:xfrm>
        </p:spPr>
        <p:txBody>
          <a:bodyPr/>
          <a:lstStyle/>
          <a:p>
            <a:r>
              <a:rPr kumimoji="1" lang="en-US" altLang="ko-Kore-KR" dirty="0"/>
              <a:t>DRAM simulators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33110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3EAAA-18BC-1F63-C317-1B4497AF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4">
            <a:extLst>
              <a:ext uri="{FF2B5EF4-FFF2-40B4-BE49-F238E27FC236}">
                <a16:creationId xmlns:a16="http://schemas.microsoft.com/office/drawing/2014/main" id="{5B0507BB-CD7F-55DE-5DB1-591CEC8E8623}"/>
              </a:ext>
            </a:extLst>
          </p:cNvPr>
          <p:cNvSpPr/>
          <p:nvPr/>
        </p:nvSpPr>
        <p:spPr>
          <a:xfrm>
            <a:off x="350540" y="6048032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SIGARCH CAN 2009</a:t>
            </a:r>
            <a:r>
              <a:rPr lang="en" altLang="ko-Kore-KR" sz="2000" b="1" dirty="0"/>
              <a:t>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88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-US" altLang="ko-Kore-KR" sz="2000" dirty="0"/>
              <a:t>“How to Simulate 1000 Cores,” </a:t>
            </a:r>
          </a:p>
          <a:p>
            <a:pPr algn="ctr" eaLnBrk="0" latinLnBrk="0"/>
            <a:r>
              <a:rPr kumimoji="1" lang="en-US" altLang="ko-Kore-KR" sz="2000" dirty="0"/>
              <a:t>M. </a:t>
            </a:r>
            <a:r>
              <a:rPr kumimoji="1" lang="en-US" altLang="ko-Kore-KR" sz="2000" dirty="0" err="1"/>
              <a:t>Monchiero</a:t>
            </a:r>
            <a:r>
              <a:rPr kumimoji="1" lang="en-US" altLang="ko-Kore-KR" sz="2000" dirty="0"/>
              <a:t>, </a:t>
            </a:r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A. Falcón, D. Ortega, P. </a:t>
            </a:r>
            <a:r>
              <a:rPr kumimoji="1" lang="en-US" altLang="ko-Kore-KR" sz="2000" dirty="0" err="1"/>
              <a:t>Faraboschi</a:t>
            </a:r>
            <a:endParaRPr kumimoji="1" lang="en-US" altLang="ko-Kore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A86517-6582-3AEF-13AA-91FA855A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FEB0-E4E7-7E4C-A5F5-636BF234666C}" type="slidenum">
              <a:rPr kumimoji="1" lang="ko-KR" altLang="en-US" smtClean="0"/>
              <a:t>5</a:t>
            </a:fld>
            <a:endParaRPr kumimoji="1"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2EF34AA-BA61-24B6-F69F-293D623A9CD9}"/>
              </a:ext>
            </a:extLst>
          </p:cNvPr>
          <p:cNvCxnSpPr/>
          <p:nvPr/>
        </p:nvCxnSpPr>
        <p:spPr>
          <a:xfrm>
            <a:off x="289022" y="2423475"/>
            <a:ext cx="12161193" cy="0"/>
          </a:xfrm>
          <a:prstGeom prst="straightConnector1">
            <a:avLst/>
          </a:prstGeom>
          <a:ln w="762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54CBC6E2-4933-DC70-72C1-49CE47C8A168}"/>
              </a:ext>
            </a:extLst>
          </p:cNvPr>
          <p:cNvSpPr/>
          <p:nvPr/>
        </p:nvSpPr>
        <p:spPr>
          <a:xfrm>
            <a:off x="608983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5EE2082-28F3-69AF-1909-9DCCAF0854E5}"/>
              </a:ext>
            </a:extLst>
          </p:cNvPr>
          <p:cNvSpPr/>
          <p:nvPr/>
        </p:nvSpPr>
        <p:spPr>
          <a:xfrm>
            <a:off x="254497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A450380-7FF4-B4A6-81A3-A81977E0F43E}"/>
              </a:ext>
            </a:extLst>
          </p:cNvPr>
          <p:cNvSpPr/>
          <p:nvPr/>
        </p:nvSpPr>
        <p:spPr>
          <a:xfrm>
            <a:off x="5394006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9A4553-D01C-130A-E21D-2F1945179A76}"/>
              </a:ext>
            </a:extLst>
          </p:cNvPr>
          <p:cNvSpPr/>
          <p:nvPr/>
        </p:nvSpPr>
        <p:spPr>
          <a:xfrm>
            <a:off x="7444498" y="2263494"/>
            <a:ext cx="319961" cy="31996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sp>
        <p:nvSpPr>
          <p:cNvPr id="17" name="Freeform 547">
            <a:extLst>
              <a:ext uri="{FF2B5EF4-FFF2-40B4-BE49-F238E27FC236}">
                <a16:creationId xmlns:a16="http://schemas.microsoft.com/office/drawing/2014/main" id="{457942B7-326F-7CCE-477A-5CF6D93589C3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8055396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0A5AF8-09C9-3B0D-EA56-B2A43E5C30DF}"/>
              </a:ext>
            </a:extLst>
          </p:cNvPr>
          <p:cNvSpPr/>
          <p:nvPr/>
        </p:nvSpPr>
        <p:spPr>
          <a:xfrm>
            <a:off x="27853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1996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300F94-66C3-1017-406A-5E4A638906C5}"/>
              </a:ext>
            </a:extLst>
          </p:cNvPr>
          <p:cNvSpPr/>
          <p:nvPr/>
        </p:nvSpPr>
        <p:spPr>
          <a:xfrm>
            <a:off x="2222748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2000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5D08E5-18B2-DC40-4CBC-936F587AFF78}"/>
              </a:ext>
            </a:extLst>
          </p:cNvPr>
          <p:cNvSpPr/>
          <p:nvPr/>
        </p:nvSpPr>
        <p:spPr>
          <a:xfrm>
            <a:off x="5068800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2007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6CF01F-0EFD-464F-0122-5848CD16F799}"/>
              </a:ext>
            </a:extLst>
          </p:cNvPr>
          <p:cNvSpPr/>
          <p:nvPr/>
        </p:nvSpPr>
        <p:spPr>
          <a:xfrm>
            <a:off x="7119292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2009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25" name="그림 17" descr="SU_BlockStree_2color.eps">
            <a:extLst>
              <a:ext uri="{FF2B5EF4-FFF2-40B4-BE49-F238E27FC236}">
                <a16:creationId xmlns:a16="http://schemas.microsoft.com/office/drawing/2014/main" id="{1E9D5417-9214-E637-3C24-F69E3634D3F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243474" y="1786174"/>
            <a:ext cx="851482" cy="1277221"/>
          </a:xfrm>
          <a:prstGeom prst="rect">
            <a:avLst/>
          </a:prstGeom>
          <a:ln>
            <a:noFill/>
          </a:ln>
        </p:spPr>
      </p:pic>
      <p:pic>
        <p:nvPicPr>
          <p:cNvPr id="26" name="그림 3">
            <a:extLst>
              <a:ext uri="{FF2B5EF4-FFF2-40B4-BE49-F238E27FC236}">
                <a16:creationId xmlns:a16="http://schemas.microsoft.com/office/drawing/2014/main" id="{92D7F15E-9264-8827-96D4-9F290D552D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164" y="1786174"/>
            <a:ext cx="1277925" cy="1277925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C1353B86-C1BD-F1D3-2117-07C04F4CA604}"/>
              </a:ext>
            </a:extLst>
          </p:cNvPr>
          <p:cNvSpPr/>
          <p:nvPr/>
        </p:nvSpPr>
        <p:spPr>
          <a:xfrm>
            <a:off x="9621557" y="2271582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52D9B631-C6BE-4BEC-12C8-F0518541C469}"/>
              </a:ext>
            </a:extLst>
          </p:cNvPr>
          <p:cNvCxnSpPr>
            <a:cxnSpLocks/>
          </p:cNvCxnSpPr>
          <p:nvPr/>
        </p:nvCxnSpPr>
        <p:spPr>
          <a:xfrm flipV="1">
            <a:off x="9781537" y="2583455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Image result for google logo">
            <a:extLst>
              <a:ext uri="{FF2B5EF4-FFF2-40B4-BE49-F238E27FC236}">
                <a16:creationId xmlns:a16="http://schemas.microsoft.com/office/drawing/2014/main" id="{C7821C49-0099-617F-3124-FDFCA477B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3468" y="3582617"/>
            <a:ext cx="1876310" cy="6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50F47B-14E5-DBC4-A49C-11E4B7C6FAB2}"/>
              </a:ext>
            </a:extLst>
          </p:cNvPr>
          <p:cNvSpPr/>
          <p:nvPr/>
        </p:nvSpPr>
        <p:spPr>
          <a:xfrm>
            <a:off x="9290881" y="1380981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2016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PI logo">
            <a:extLst>
              <a:ext uri="{FF2B5EF4-FFF2-40B4-BE49-F238E27FC236}">
                <a16:creationId xmlns:a16="http://schemas.microsoft.com/office/drawing/2014/main" id="{5C928E80-9309-77C3-668A-2AA8B2448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956" y="359296"/>
            <a:ext cx="1073330" cy="9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83636752-F0BE-6F8C-63B4-004B66AD8ADF}"/>
              </a:ext>
            </a:extLst>
          </p:cNvPr>
          <p:cNvSpPr/>
          <p:nvPr/>
        </p:nvSpPr>
        <p:spPr>
          <a:xfrm>
            <a:off x="4471641" y="2263494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F3E4023C-5B60-6EA4-D708-9F7B0CC22335}"/>
              </a:ext>
            </a:extLst>
          </p:cNvPr>
          <p:cNvCxnSpPr>
            <a:cxnSpLocks/>
          </p:cNvCxnSpPr>
          <p:nvPr/>
        </p:nvCxnSpPr>
        <p:spPr>
          <a:xfrm flipV="1">
            <a:off x="4631621" y="1380981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BBBB8F2-C5F7-0753-B2C0-ABF0CFA64321}"/>
              </a:ext>
            </a:extLst>
          </p:cNvPr>
          <p:cNvSpPr/>
          <p:nvPr/>
        </p:nvSpPr>
        <p:spPr>
          <a:xfrm>
            <a:off x="4141327" y="2666067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2004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Freeform 547">
            <a:extLst>
              <a:ext uri="{FF2B5EF4-FFF2-40B4-BE49-F238E27FC236}">
                <a16:creationId xmlns:a16="http://schemas.microsoft.com/office/drawing/2014/main" id="{DA34DEC0-83F1-EB92-ACA2-48F26BFCE449}"/>
              </a:ext>
            </a:extLst>
          </p:cNvPr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070620" y="1786176"/>
            <a:ext cx="1228738" cy="1277220"/>
          </a:xfrm>
          <a:custGeom>
            <a:avLst/>
            <a:gdLst/>
            <a:ahLst/>
            <a:cxnLst>
              <a:cxn ang="0">
                <a:pos x="612" y="1249"/>
              </a:cxn>
              <a:cxn ang="0">
                <a:pos x="535" y="1201"/>
              </a:cxn>
              <a:cxn ang="0">
                <a:pos x="780" y="1200"/>
              </a:cxn>
              <a:cxn ang="0">
                <a:pos x="513" y="1264"/>
              </a:cxn>
              <a:cxn ang="0">
                <a:pos x="797" y="1302"/>
              </a:cxn>
              <a:cxn ang="0">
                <a:pos x="78" y="1283"/>
              </a:cxn>
              <a:cxn ang="0">
                <a:pos x="1003" y="1150"/>
              </a:cxn>
              <a:cxn ang="0">
                <a:pos x="386" y="1179"/>
              </a:cxn>
              <a:cxn ang="0">
                <a:pos x="960" y="1132"/>
              </a:cxn>
              <a:cxn ang="0">
                <a:pos x="889" y="1234"/>
              </a:cxn>
              <a:cxn ang="0">
                <a:pos x="1183" y="1081"/>
              </a:cxn>
              <a:cxn ang="0">
                <a:pos x="179" y="1026"/>
              </a:cxn>
              <a:cxn ang="0">
                <a:pos x="148" y="1097"/>
              </a:cxn>
              <a:cxn ang="0">
                <a:pos x="1130" y="1012"/>
              </a:cxn>
              <a:cxn ang="0">
                <a:pos x="134" y="1070"/>
              </a:cxn>
              <a:cxn ang="0">
                <a:pos x="1156" y="1017"/>
              </a:cxn>
              <a:cxn ang="0">
                <a:pos x="886" y="900"/>
              </a:cxn>
              <a:cxn ang="0">
                <a:pos x="707" y="983"/>
              </a:cxn>
              <a:cxn ang="0">
                <a:pos x="470" y="871"/>
              </a:cxn>
              <a:cxn ang="0">
                <a:pos x="598" y="924"/>
              </a:cxn>
              <a:cxn ang="0">
                <a:pos x="32" y="919"/>
              </a:cxn>
              <a:cxn ang="0">
                <a:pos x="1274" y="881"/>
              </a:cxn>
              <a:cxn ang="0">
                <a:pos x="96" y="847"/>
              </a:cxn>
              <a:cxn ang="0">
                <a:pos x="93" y="908"/>
              </a:cxn>
              <a:cxn ang="0">
                <a:pos x="1200" y="882"/>
              </a:cxn>
              <a:cxn ang="0">
                <a:pos x="565" y="762"/>
              </a:cxn>
              <a:cxn ang="0">
                <a:pos x="751" y="819"/>
              </a:cxn>
              <a:cxn ang="0">
                <a:pos x="595" y="847"/>
              </a:cxn>
              <a:cxn ang="0">
                <a:pos x="500" y="780"/>
              </a:cxn>
              <a:cxn ang="0">
                <a:pos x="86" y="797"/>
              </a:cxn>
              <a:cxn ang="0">
                <a:pos x="1263" y="768"/>
              </a:cxn>
              <a:cxn ang="0">
                <a:pos x="96" y="632"/>
              </a:cxn>
              <a:cxn ang="0">
                <a:pos x="691" y="1139"/>
              </a:cxn>
              <a:cxn ang="0">
                <a:pos x="695" y="1078"/>
              </a:cxn>
              <a:cxn ang="0">
                <a:pos x="645" y="1097"/>
              </a:cxn>
              <a:cxn ang="0">
                <a:pos x="175" y="599"/>
              </a:cxn>
              <a:cxn ang="0">
                <a:pos x="1151" y="644"/>
              </a:cxn>
              <a:cxn ang="0">
                <a:pos x="70" y="466"/>
              </a:cxn>
              <a:cxn ang="0">
                <a:pos x="44" y="500"/>
              </a:cxn>
              <a:cxn ang="0">
                <a:pos x="1180" y="594"/>
              </a:cxn>
              <a:cxn ang="0">
                <a:pos x="1149" y="451"/>
              </a:cxn>
              <a:cxn ang="0">
                <a:pos x="108" y="354"/>
              </a:cxn>
              <a:cxn ang="0">
                <a:pos x="464" y="441"/>
              </a:cxn>
              <a:cxn ang="0">
                <a:pos x="1197" y="358"/>
              </a:cxn>
              <a:cxn ang="0">
                <a:pos x="1173" y="356"/>
              </a:cxn>
              <a:cxn ang="0">
                <a:pos x="128" y="354"/>
              </a:cxn>
              <a:cxn ang="0">
                <a:pos x="276" y="399"/>
              </a:cxn>
              <a:cxn ang="0">
                <a:pos x="563" y="294"/>
              </a:cxn>
              <a:cxn ang="0">
                <a:pos x="755" y="672"/>
              </a:cxn>
              <a:cxn ang="0">
                <a:pos x="437" y="184"/>
              </a:cxn>
              <a:cxn ang="0">
                <a:pos x="235" y="226"/>
              </a:cxn>
              <a:cxn ang="0">
                <a:pos x="534" y="172"/>
              </a:cxn>
              <a:cxn ang="0">
                <a:pos x="652" y="155"/>
              </a:cxn>
              <a:cxn ang="0">
                <a:pos x="385" y="294"/>
              </a:cxn>
              <a:cxn ang="0">
                <a:pos x="174" y="252"/>
              </a:cxn>
              <a:cxn ang="0">
                <a:pos x="462" y="134"/>
              </a:cxn>
              <a:cxn ang="0">
                <a:pos x="907" y="161"/>
              </a:cxn>
              <a:cxn ang="0">
                <a:pos x="819" y="146"/>
              </a:cxn>
              <a:cxn ang="0">
                <a:pos x="454" y="183"/>
              </a:cxn>
              <a:cxn ang="0">
                <a:pos x="1282" y="163"/>
              </a:cxn>
              <a:cxn ang="0">
                <a:pos x="1176" y="137"/>
              </a:cxn>
              <a:cxn ang="0">
                <a:pos x="1066" y="124"/>
              </a:cxn>
            </a:cxnLst>
            <a:rect l="0" t="0" r="r" b="b"/>
            <a:pathLst>
              <a:path w="1307" h="1356">
                <a:moveTo>
                  <a:pt x="478" y="1247"/>
                </a:moveTo>
                <a:lnTo>
                  <a:pt x="485" y="1250"/>
                </a:lnTo>
                <a:lnTo>
                  <a:pt x="487" y="1252"/>
                </a:lnTo>
                <a:lnTo>
                  <a:pt x="488" y="1256"/>
                </a:lnTo>
                <a:lnTo>
                  <a:pt x="485" y="1264"/>
                </a:lnTo>
                <a:lnTo>
                  <a:pt x="478" y="1267"/>
                </a:lnTo>
                <a:lnTo>
                  <a:pt x="474" y="1266"/>
                </a:lnTo>
                <a:lnTo>
                  <a:pt x="471" y="1264"/>
                </a:lnTo>
                <a:lnTo>
                  <a:pt x="468" y="1256"/>
                </a:lnTo>
                <a:lnTo>
                  <a:pt x="470" y="1252"/>
                </a:lnTo>
                <a:lnTo>
                  <a:pt x="471" y="1250"/>
                </a:lnTo>
                <a:lnTo>
                  <a:pt x="474" y="1249"/>
                </a:lnTo>
                <a:lnTo>
                  <a:pt x="478" y="1247"/>
                </a:lnTo>
                <a:close/>
                <a:moveTo>
                  <a:pt x="839" y="1243"/>
                </a:moveTo>
                <a:lnTo>
                  <a:pt x="847" y="1246"/>
                </a:lnTo>
                <a:lnTo>
                  <a:pt x="848" y="1249"/>
                </a:lnTo>
                <a:lnTo>
                  <a:pt x="850" y="1252"/>
                </a:lnTo>
                <a:lnTo>
                  <a:pt x="847" y="1260"/>
                </a:lnTo>
                <a:lnTo>
                  <a:pt x="839" y="1263"/>
                </a:lnTo>
                <a:lnTo>
                  <a:pt x="835" y="1262"/>
                </a:lnTo>
                <a:lnTo>
                  <a:pt x="832" y="1260"/>
                </a:lnTo>
                <a:lnTo>
                  <a:pt x="830" y="1252"/>
                </a:lnTo>
                <a:lnTo>
                  <a:pt x="831" y="1249"/>
                </a:lnTo>
                <a:lnTo>
                  <a:pt x="832" y="1246"/>
                </a:lnTo>
                <a:lnTo>
                  <a:pt x="835" y="1245"/>
                </a:lnTo>
                <a:lnTo>
                  <a:pt x="839" y="1243"/>
                </a:lnTo>
                <a:close/>
                <a:moveTo>
                  <a:pt x="535" y="1201"/>
                </a:moveTo>
                <a:lnTo>
                  <a:pt x="556" y="1207"/>
                </a:lnTo>
                <a:lnTo>
                  <a:pt x="577" y="1217"/>
                </a:lnTo>
                <a:lnTo>
                  <a:pt x="595" y="1233"/>
                </a:lnTo>
                <a:lnTo>
                  <a:pt x="612" y="1249"/>
                </a:lnTo>
                <a:lnTo>
                  <a:pt x="626" y="1266"/>
                </a:lnTo>
                <a:lnTo>
                  <a:pt x="637" y="1280"/>
                </a:lnTo>
                <a:lnTo>
                  <a:pt x="644" y="1290"/>
                </a:lnTo>
                <a:lnTo>
                  <a:pt x="644" y="1264"/>
                </a:lnTo>
                <a:lnTo>
                  <a:pt x="669" y="1264"/>
                </a:lnTo>
                <a:lnTo>
                  <a:pt x="669" y="1339"/>
                </a:lnTo>
                <a:lnTo>
                  <a:pt x="644" y="1339"/>
                </a:lnTo>
                <a:lnTo>
                  <a:pt x="644" y="1297"/>
                </a:lnTo>
                <a:lnTo>
                  <a:pt x="618" y="1318"/>
                </a:lnTo>
                <a:lnTo>
                  <a:pt x="593" y="1334"/>
                </a:lnTo>
                <a:lnTo>
                  <a:pt x="567" y="1344"/>
                </a:lnTo>
                <a:lnTo>
                  <a:pt x="543" y="1351"/>
                </a:lnTo>
                <a:lnTo>
                  <a:pt x="523" y="1355"/>
                </a:lnTo>
                <a:lnTo>
                  <a:pt x="508" y="1356"/>
                </a:lnTo>
                <a:lnTo>
                  <a:pt x="493" y="1356"/>
                </a:lnTo>
                <a:lnTo>
                  <a:pt x="510" y="1338"/>
                </a:lnTo>
                <a:lnTo>
                  <a:pt x="531" y="1324"/>
                </a:lnTo>
                <a:lnTo>
                  <a:pt x="554" y="1313"/>
                </a:lnTo>
                <a:lnTo>
                  <a:pt x="576" y="1306"/>
                </a:lnTo>
                <a:lnTo>
                  <a:pt x="597" y="1301"/>
                </a:lnTo>
                <a:lnTo>
                  <a:pt x="614" y="1297"/>
                </a:lnTo>
                <a:lnTo>
                  <a:pt x="626" y="1296"/>
                </a:lnTo>
                <a:lnTo>
                  <a:pt x="629" y="1296"/>
                </a:lnTo>
                <a:lnTo>
                  <a:pt x="603" y="1281"/>
                </a:lnTo>
                <a:lnTo>
                  <a:pt x="582" y="1267"/>
                </a:lnTo>
                <a:lnTo>
                  <a:pt x="565" y="1251"/>
                </a:lnTo>
                <a:lnTo>
                  <a:pt x="554" y="1235"/>
                </a:lnTo>
                <a:lnTo>
                  <a:pt x="544" y="1222"/>
                </a:lnTo>
                <a:lnTo>
                  <a:pt x="539" y="1212"/>
                </a:lnTo>
                <a:lnTo>
                  <a:pt x="537" y="1204"/>
                </a:lnTo>
                <a:lnTo>
                  <a:pt x="535" y="1201"/>
                </a:lnTo>
                <a:close/>
                <a:moveTo>
                  <a:pt x="780" y="1200"/>
                </a:moveTo>
                <a:lnTo>
                  <a:pt x="779" y="1204"/>
                </a:lnTo>
                <a:lnTo>
                  <a:pt x="775" y="1213"/>
                </a:lnTo>
                <a:lnTo>
                  <a:pt x="767" y="1226"/>
                </a:lnTo>
                <a:lnTo>
                  <a:pt x="755" y="1243"/>
                </a:lnTo>
                <a:lnTo>
                  <a:pt x="738" y="1262"/>
                </a:lnTo>
                <a:lnTo>
                  <a:pt x="716" y="1279"/>
                </a:lnTo>
                <a:lnTo>
                  <a:pt x="686" y="1296"/>
                </a:lnTo>
                <a:lnTo>
                  <a:pt x="690" y="1296"/>
                </a:lnTo>
                <a:lnTo>
                  <a:pt x="702" y="1297"/>
                </a:lnTo>
                <a:lnTo>
                  <a:pt x="719" y="1301"/>
                </a:lnTo>
                <a:lnTo>
                  <a:pt x="739" y="1306"/>
                </a:lnTo>
                <a:lnTo>
                  <a:pt x="762" y="1313"/>
                </a:lnTo>
                <a:lnTo>
                  <a:pt x="785" y="1323"/>
                </a:lnTo>
                <a:lnTo>
                  <a:pt x="806" y="1338"/>
                </a:lnTo>
                <a:lnTo>
                  <a:pt x="823" y="1355"/>
                </a:lnTo>
                <a:lnTo>
                  <a:pt x="809" y="1355"/>
                </a:lnTo>
                <a:lnTo>
                  <a:pt x="792" y="1353"/>
                </a:lnTo>
                <a:lnTo>
                  <a:pt x="771" y="1351"/>
                </a:lnTo>
                <a:lnTo>
                  <a:pt x="747" y="1343"/>
                </a:lnTo>
                <a:lnTo>
                  <a:pt x="721" y="1332"/>
                </a:lnTo>
                <a:lnTo>
                  <a:pt x="695" y="1317"/>
                </a:lnTo>
                <a:lnTo>
                  <a:pt x="669" y="1294"/>
                </a:lnTo>
                <a:lnTo>
                  <a:pt x="670" y="1292"/>
                </a:lnTo>
                <a:lnTo>
                  <a:pt x="675" y="1283"/>
                </a:lnTo>
                <a:lnTo>
                  <a:pt x="684" y="1271"/>
                </a:lnTo>
                <a:lnTo>
                  <a:pt x="695" y="1256"/>
                </a:lnTo>
                <a:lnTo>
                  <a:pt x="725" y="1226"/>
                </a:lnTo>
                <a:lnTo>
                  <a:pt x="742" y="1214"/>
                </a:lnTo>
                <a:lnTo>
                  <a:pt x="760" y="1205"/>
                </a:lnTo>
                <a:lnTo>
                  <a:pt x="780" y="1200"/>
                </a:lnTo>
                <a:close/>
                <a:moveTo>
                  <a:pt x="451" y="1169"/>
                </a:moveTo>
                <a:lnTo>
                  <a:pt x="454" y="1169"/>
                </a:lnTo>
                <a:lnTo>
                  <a:pt x="462" y="1171"/>
                </a:lnTo>
                <a:lnTo>
                  <a:pt x="472" y="1176"/>
                </a:lnTo>
                <a:lnTo>
                  <a:pt x="487" y="1187"/>
                </a:lnTo>
                <a:lnTo>
                  <a:pt x="504" y="1201"/>
                </a:lnTo>
                <a:lnTo>
                  <a:pt x="521" y="1221"/>
                </a:lnTo>
                <a:lnTo>
                  <a:pt x="539" y="1249"/>
                </a:lnTo>
                <a:lnTo>
                  <a:pt x="557" y="1284"/>
                </a:lnTo>
                <a:lnTo>
                  <a:pt x="555" y="1285"/>
                </a:lnTo>
                <a:lnTo>
                  <a:pt x="548" y="1290"/>
                </a:lnTo>
                <a:lnTo>
                  <a:pt x="537" y="1298"/>
                </a:lnTo>
                <a:lnTo>
                  <a:pt x="522" y="1306"/>
                </a:lnTo>
                <a:lnTo>
                  <a:pt x="502" y="1314"/>
                </a:lnTo>
                <a:lnTo>
                  <a:pt x="481" y="1321"/>
                </a:lnTo>
                <a:lnTo>
                  <a:pt x="458" y="1324"/>
                </a:lnTo>
                <a:lnTo>
                  <a:pt x="433" y="1326"/>
                </a:lnTo>
                <a:lnTo>
                  <a:pt x="406" y="1323"/>
                </a:lnTo>
                <a:lnTo>
                  <a:pt x="378" y="1314"/>
                </a:lnTo>
                <a:lnTo>
                  <a:pt x="381" y="1313"/>
                </a:lnTo>
                <a:lnTo>
                  <a:pt x="387" y="1307"/>
                </a:lnTo>
                <a:lnTo>
                  <a:pt x="399" y="1300"/>
                </a:lnTo>
                <a:lnTo>
                  <a:pt x="413" y="1292"/>
                </a:lnTo>
                <a:lnTo>
                  <a:pt x="432" y="1285"/>
                </a:lnTo>
                <a:lnTo>
                  <a:pt x="454" y="1279"/>
                </a:lnTo>
                <a:lnTo>
                  <a:pt x="478" y="1273"/>
                </a:lnTo>
                <a:lnTo>
                  <a:pt x="504" y="1273"/>
                </a:lnTo>
                <a:lnTo>
                  <a:pt x="533" y="1277"/>
                </a:lnTo>
                <a:lnTo>
                  <a:pt x="530" y="1276"/>
                </a:lnTo>
                <a:lnTo>
                  <a:pt x="523" y="1271"/>
                </a:lnTo>
                <a:lnTo>
                  <a:pt x="513" y="1264"/>
                </a:lnTo>
                <a:lnTo>
                  <a:pt x="500" y="1254"/>
                </a:lnTo>
                <a:lnTo>
                  <a:pt x="488" y="1242"/>
                </a:lnTo>
                <a:lnTo>
                  <a:pt x="475" y="1226"/>
                </a:lnTo>
                <a:lnTo>
                  <a:pt x="463" y="1209"/>
                </a:lnTo>
                <a:lnTo>
                  <a:pt x="455" y="1190"/>
                </a:lnTo>
                <a:lnTo>
                  <a:pt x="451" y="1169"/>
                </a:lnTo>
                <a:close/>
                <a:moveTo>
                  <a:pt x="864" y="1163"/>
                </a:moveTo>
                <a:lnTo>
                  <a:pt x="860" y="1186"/>
                </a:lnTo>
                <a:lnTo>
                  <a:pt x="852" y="1205"/>
                </a:lnTo>
                <a:lnTo>
                  <a:pt x="842" y="1222"/>
                </a:lnTo>
                <a:lnTo>
                  <a:pt x="830" y="1238"/>
                </a:lnTo>
                <a:lnTo>
                  <a:pt x="817" y="1251"/>
                </a:lnTo>
                <a:lnTo>
                  <a:pt x="805" y="1262"/>
                </a:lnTo>
                <a:lnTo>
                  <a:pt x="795" y="1268"/>
                </a:lnTo>
                <a:lnTo>
                  <a:pt x="788" y="1273"/>
                </a:lnTo>
                <a:lnTo>
                  <a:pt x="785" y="1275"/>
                </a:lnTo>
                <a:lnTo>
                  <a:pt x="814" y="1269"/>
                </a:lnTo>
                <a:lnTo>
                  <a:pt x="840" y="1269"/>
                </a:lnTo>
                <a:lnTo>
                  <a:pt x="864" y="1273"/>
                </a:lnTo>
                <a:lnTo>
                  <a:pt x="886" y="1279"/>
                </a:lnTo>
                <a:lnTo>
                  <a:pt x="905" y="1286"/>
                </a:lnTo>
                <a:lnTo>
                  <a:pt x="919" y="1294"/>
                </a:lnTo>
                <a:lnTo>
                  <a:pt x="931" y="1301"/>
                </a:lnTo>
                <a:lnTo>
                  <a:pt x="937" y="1306"/>
                </a:lnTo>
                <a:lnTo>
                  <a:pt x="940" y="1307"/>
                </a:lnTo>
                <a:lnTo>
                  <a:pt x="912" y="1317"/>
                </a:lnTo>
                <a:lnTo>
                  <a:pt x="885" y="1321"/>
                </a:lnTo>
                <a:lnTo>
                  <a:pt x="860" y="1321"/>
                </a:lnTo>
                <a:lnTo>
                  <a:pt x="836" y="1317"/>
                </a:lnTo>
                <a:lnTo>
                  <a:pt x="815" y="1310"/>
                </a:lnTo>
                <a:lnTo>
                  <a:pt x="797" y="1302"/>
                </a:lnTo>
                <a:lnTo>
                  <a:pt x="781" y="1294"/>
                </a:lnTo>
                <a:lnTo>
                  <a:pt x="770" y="1288"/>
                </a:lnTo>
                <a:lnTo>
                  <a:pt x="763" y="1283"/>
                </a:lnTo>
                <a:lnTo>
                  <a:pt x="760" y="1281"/>
                </a:lnTo>
                <a:lnTo>
                  <a:pt x="777" y="1246"/>
                </a:lnTo>
                <a:lnTo>
                  <a:pt x="796" y="1217"/>
                </a:lnTo>
                <a:lnTo>
                  <a:pt x="813" y="1196"/>
                </a:lnTo>
                <a:lnTo>
                  <a:pt x="829" y="1182"/>
                </a:lnTo>
                <a:lnTo>
                  <a:pt x="843" y="1173"/>
                </a:lnTo>
                <a:lnTo>
                  <a:pt x="853" y="1167"/>
                </a:lnTo>
                <a:lnTo>
                  <a:pt x="861" y="1165"/>
                </a:lnTo>
                <a:lnTo>
                  <a:pt x="864" y="1163"/>
                </a:lnTo>
                <a:close/>
                <a:moveTo>
                  <a:pt x="191" y="1163"/>
                </a:moveTo>
                <a:lnTo>
                  <a:pt x="189" y="1165"/>
                </a:lnTo>
                <a:lnTo>
                  <a:pt x="216" y="1170"/>
                </a:lnTo>
                <a:lnTo>
                  <a:pt x="200" y="1174"/>
                </a:lnTo>
                <a:lnTo>
                  <a:pt x="188" y="1178"/>
                </a:lnTo>
                <a:lnTo>
                  <a:pt x="178" y="1183"/>
                </a:lnTo>
                <a:lnTo>
                  <a:pt x="180" y="1188"/>
                </a:lnTo>
                <a:lnTo>
                  <a:pt x="188" y="1196"/>
                </a:lnTo>
                <a:lnTo>
                  <a:pt x="197" y="1204"/>
                </a:lnTo>
                <a:lnTo>
                  <a:pt x="206" y="1211"/>
                </a:lnTo>
                <a:lnTo>
                  <a:pt x="214" y="1216"/>
                </a:lnTo>
                <a:lnTo>
                  <a:pt x="104" y="1311"/>
                </a:lnTo>
                <a:lnTo>
                  <a:pt x="94" y="1317"/>
                </a:lnTo>
                <a:lnTo>
                  <a:pt x="85" y="1317"/>
                </a:lnTo>
                <a:lnTo>
                  <a:pt x="77" y="1313"/>
                </a:lnTo>
                <a:lnTo>
                  <a:pt x="73" y="1305"/>
                </a:lnTo>
                <a:lnTo>
                  <a:pt x="72" y="1297"/>
                </a:lnTo>
                <a:lnTo>
                  <a:pt x="74" y="1290"/>
                </a:lnTo>
                <a:lnTo>
                  <a:pt x="78" y="1283"/>
                </a:lnTo>
                <a:lnTo>
                  <a:pt x="189" y="1165"/>
                </a:lnTo>
                <a:lnTo>
                  <a:pt x="188" y="1167"/>
                </a:lnTo>
                <a:lnTo>
                  <a:pt x="191" y="1163"/>
                </a:lnTo>
                <a:close/>
                <a:moveTo>
                  <a:pt x="305" y="1156"/>
                </a:moveTo>
                <a:lnTo>
                  <a:pt x="309" y="1157"/>
                </a:lnTo>
                <a:lnTo>
                  <a:pt x="311" y="1158"/>
                </a:lnTo>
                <a:lnTo>
                  <a:pt x="313" y="1161"/>
                </a:lnTo>
                <a:lnTo>
                  <a:pt x="314" y="1165"/>
                </a:lnTo>
                <a:lnTo>
                  <a:pt x="311" y="1173"/>
                </a:lnTo>
                <a:lnTo>
                  <a:pt x="309" y="1174"/>
                </a:lnTo>
                <a:lnTo>
                  <a:pt x="305" y="1175"/>
                </a:lnTo>
                <a:lnTo>
                  <a:pt x="297" y="1173"/>
                </a:lnTo>
                <a:lnTo>
                  <a:pt x="294" y="1165"/>
                </a:lnTo>
                <a:lnTo>
                  <a:pt x="296" y="1161"/>
                </a:lnTo>
                <a:lnTo>
                  <a:pt x="297" y="1158"/>
                </a:lnTo>
                <a:lnTo>
                  <a:pt x="305" y="1156"/>
                </a:lnTo>
                <a:close/>
                <a:moveTo>
                  <a:pt x="1008" y="1146"/>
                </a:moveTo>
                <a:lnTo>
                  <a:pt x="1013" y="1146"/>
                </a:lnTo>
                <a:lnTo>
                  <a:pt x="1017" y="1148"/>
                </a:lnTo>
                <a:lnTo>
                  <a:pt x="1018" y="1150"/>
                </a:lnTo>
                <a:lnTo>
                  <a:pt x="1021" y="1153"/>
                </a:lnTo>
                <a:lnTo>
                  <a:pt x="1021" y="1157"/>
                </a:lnTo>
                <a:lnTo>
                  <a:pt x="1020" y="1161"/>
                </a:lnTo>
                <a:lnTo>
                  <a:pt x="1018" y="1163"/>
                </a:lnTo>
                <a:lnTo>
                  <a:pt x="1011" y="1166"/>
                </a:lnTo>
                <a:lnTo>
                  <a:pt x="1007" y="1165"/>
                </a:lnTo>
                <a:lnTo>
                  <a:pt x="1004" y="1163"/>
                </a:lnTo>
                <a:lnTo>
                  <a:pt x="1001" y="1161"/>
                </a:lnTo>
                <a:lnTo>
                  <a:pt x="1000" y="1157"/>
                </a:lnTo>
                <a:lnTo>
                  <a:pt x="1000" y="1153"/>
                </a:lnTo>
                <a:lnTo>
                  <a:pt x="1003" y="1150"/>
                </a:lnTo>
                <a:lnTo>
                  <a:pt x="1004" y="1148"/>
                </a:lnTo>
                <a:lnTo>
                  <a:pt x="1008" y="1146"/>
                </a:lnTo>
                <a:close/>
                <a:moveTo>
                  <a:pt x="377" y="1135"/>
                </a:moveTo>
                <a:lnTo>
                  <a:pt x="391" y="1135"/>
                </a:lnTo>
                <a:lnTo>
                  <a:pt x="402" y="1142"/>
                </a:lnTo>
                <a:lnTo>
                  <a:pt x="413" y="1156"/>
                </a:lnTo>
                <a:lnTo>
                  <a:pt x="425" y="1173"/>
                </a:lnTo>
                <a:lnTo>
                  <a:pt x="438" y="1195"/>
                </a:lnTo>
                <a:lnTo>
                  <a:pt x="450" y="1224"/>
                </a:lnTo>
                <a:lnTo>
                  <a:pt x="461" y="1259"/>
                </a:lnTo>
                <a:lnTo>
                  <a:pt x="450" y="1264"/>
                </a:lnTo>
                <a:lnTo>
                  <a:pt x="437" y="1269"/>
                </a:lnTo>
                <a:lnTo>
                  <a:pt x="421" y="1275"/>
                </a:lnTo>
                <a:lnTo>
                  <a:pt x="402" y="1279"/>
                </a:lnTo>
                <a:lnTo>
                  <a:pt x="379" y="1281"/>
                </a:lnTo>
                <a:lnTo>
                  <a:pt x="356" y="1283"/>
                </a:lnTo>
                <a:lnTo>
                  <a:pt x="331" y="1279"/>
                </a:lnTo>
                <a:lnTo>
                  <a:pt x="305" y="1271"/>
                </a:lnTo>
                <a:lnTo>
                  <a:pt x="279" y="1258"/>
                </a:lnTo>
                <a:lnTo>
                  <a:pt x="289" y="1252"/>
                </a:lnTo>
                <a:lnTo>
                  <a:pt x="301" y="1247"/>
                </a:lnTo>
                <a:lnTo>
                  <a:pt x="318" y="1242"/>
                </a:lnTo>
                <a:lnTo>
                  <a:pt x="337" y="1238"/>
                </a:lnTo>
                <a:lnTo>
                  <a:pt x="360" y="1235"/>
                </a:lnTo>
                <a:lnTo>
                  <a:pt x="383" y="1235"/>
                </a:lnTo>
                <a:lnTo>
                  <a:pt x="409" y="1239"/>
                </a:lnTo>
                <a:lnTo>
                  <a:pt x="437" y="1249"/>
                </a:lnTo>
                <a:lnTo>
                  <a:pt x="417" y="1229"/>
                </a:lnTo>
                <a:lnTo>
                  <a:pt x="407" y="1216"/>
                </a:lnTo>
                <a:lnTo>
                  <a:pt x="395" y="1199"/>
                </a:lnTo>
                <a:lnTo>
                  <a:pt x="386" y="1179"/>
                </a:lnTo>
                <a:lnTo>
                  <a:pt x="379" y="1158"/>
                </a:lnTo>
                <a:lnTo>
                  <a:pt x="377" y="1135"/>
                </a:lnTo>
                <a:close/>
                <a:moveTo>
                  <a:pt x="311" y="1135"/>
                </a:moveTo>
                <a:lnTo>
                  <a:pt x="353" y="1135"/>
                </a:lnTo>
                <a:lnTo>
                  <a:pt x="361" y="1157"/>
                </a:lnTo>
                <a:lnTo>
                  <a:pt x="366" y="1184"/>
                </a:lnTo>
                <a:lnTo>
                  <a:pt x="369" y="1217"/>
                </a:lnTo>
                <a:lnTo>
                  <a:pt x="365" y="1218"/>
                </a:lnTo>
                <a:lnTo>
                  <a:pt x="354" y="1221"/>
                </a:lnTo>
                <a:lnTo>
                  <a:pt x="339" y="1224"/>
                </a:lnTo>
                <a:lnTo>
                  <a:pt x="319" y="1226"/>
                </a:lnTo>
                <a:lnTo>
                  <a:pt x="296" y="1226"/>
                </a:lnTo>
                <a:lnTo>
                  <a:pt x="271" y="1224"/>
                </a:lnTo>
                <a:lnTo>
                  <a:pt x="243" y="1217"/>
                </a:lnTo>
                <a:lnTo>
                  <a:pt x="217" y="1204"/>
                </a:lnTo>
                <a:lnTo>
                  <a:pt x="191" y="1184"/>
                </a:lnTo>
                <a:lnTo>
                  <a:pt x="195" y="1183"/>
                </a:lnTo>
                <a:lnTo>
                  <a:pt x="205" y="1180"/>
                </a:lnTo>
                <a:lnTo>
                  <a:pt x="221" y="1178"/>
                </a:lnTo>
                <a:lnTo>
                  <a:pt x="241" y="1175"/>
                </a:lnTo>
                <a:lnTo>
                  <a:pt x="265" y="1175"/>
                </a:lnTo>
                <a:lnTo>
                  <a:pt x="292" y="1179"/>
                </a:lnTo>
                <a:lnTo>
                  <a:pt x="319" y="1188"/>
                </a:lnTo>
                <a:lnTo>
                  <a:pt x="348" y="1203"/>
                </a:lnTo>
                <a:lnTo>
                  <a:pt x="347" y="1200"/>
                </a:lnTo>
                <a:lnTo>
                  <a:pt x="341" y="1194"/>
                </a:lnTo>
                <a:lnTo>
                  <a:pt x="334" y="1183"/>
                </a:lnTo>
                <a:lnTo>
                  <a:pt x="326" y="1170"/>
                </a:lnTo>
                <a:lnTo>
                  <a:pt x="318" y="1153"/>
                </a:lnTo>
                <a:lnTo>
                  <a:pt x="311" y="1135"/>
                </a:lnTo>
                <a:close/>
                <a:moveTo>
                  <a:pt x="960" y="1132"/>
                </a:moveTo>
                <a:lnTo>
                  <a:pt x="1000" y="1132"/>
                </a:lnTo>
                <a:lnTo>
                  <a:pt x="994" y="1150"/>
                </a:lnTo>
                <a:lnTo>
                  <a:pt x="987" y="1166"/>
                </a:lnTo>
                <a:lnTo>
                  <a:pt x="980" y="1178"/>
                </a:lnTo>
                <a:lnTo>
                  <a:pt x="974" y="1188"/>
                </a:lnTo>
                <a:lnTo>
                  <a:pt x="969" y="1194"/>
                </a:lnTo>
                <a:lnTo>
                  <a:pt x="967" y="1196"/>
                </a:lnTo>
                <a:lnTo>
                  <a:pt x="998" y="1179"/>
                </a:lnTo>
                <a:lnTo>
                  <a:pt x="1026" y="1170"/>
                </a:lnTo>
                <a:lnTo>
                  <a:pt x="1055" y="1166"/>
                </a:lnTo>
                <a:lnTo>
                  <a:pt x="1080" y="1166"/>
                </a:lnTo>
                <a:lnTo>
                  <a:pt x="1108" y="1188"/>
                </a:lnTo>
                <a:lnTo>
                  <a:pt x="1083" y="1203"/>
                </a:lnTo>
                <a:lnTo>
                  <a:pt x="1058" y="1212"/>
                </a:lnTo>
                <a:lnTo>
                  <a:pt x="1034" y="1217"/>
                </a:lnTo>
                <a:lnTo>
                  <a:pt x="1011" y="1218"/>
                </a:lnTo>
                <a:lnTo>
                  <a:pt x="990" y="1218"/>
                </a:lnTo>
                <a:lnTo>
                  <a:pt x="973" y="1216"/>
                </a:lnTo>
                <a:lnTo>
                  <a:pt x="958" y="1213"/>
                </a:lnTo>
                <a:lnTo>
                  <a:pt x="949" y="1212"/>
                </a:lnTo>
                <a:lnTo>
                  <a:pt x="946" y="1211"/>
                </a:lnTo>
                <a:lnTo>
                  <a:pt x="949" y="1180"/>
                </a:lnTo>
                <a:lnTo>
                  <a:pt x="953" y="1154"/>
                </a:lnTo>
                <a:lnTo>
                  <a:pt x="960" y="1132"/>
                </a:lnTo>
                <a:close/>
                <a:moveTo>
                  <a:pt x="939" y="1132"/>
                </a:moveTo>
                <a:lnTo>
                  <a:pt x="936" y="1154"/>
                </a:lnTo>
                <a:lnTo>
                  <a:pt x="929" y="1175"/>
                </a:lnTo>
                <a:lnTo>
                  <a:pt x="919" y="1195"/>
                </a:lnTo>
                <a:lnTo>
                  <a:pt x="908" y="1211"/>
                </a:lnTo>
                <a:lnTo>
                  <a:pt x="898" y="1224"/>
                </a:lnTo>
                <a:lnTo>
                  <a:pt x="889" y="1234"/>
                </a:lnTo>
                <a:lnTo>
                  <a:pt x="880" y="1243"/>
                </a:lnTo>
                <a:lnTo>
                  <a:pt x="907" y="1234"/>
                </a:lnTo>
                <a:lnTo>
                  <a:pt x="933" y="1229"/>
                </a:lnTo>
                <a:lnTo>
                  <a:pt x="957" y="1229"/>
                </a:lnTo>
                <a:lnTo>
                  <a:pt x="979" y="1230"/>
                </a:lnTo>
                <a:lnTo>
                  <a:pt x="999" y="1234"/>
                </a:lnTo>
                <a:lnTo>
                  <a:pt x="1016" y="1239"/>
                </a:lnTo>
                <a:lnTo>
                  <a:pt x="1028" y="1243"/>
                </a:lnTo>
                <a:lnTo>
                  <a:pt x="1038" y="1249"/>
                </a:lnTo>
                <a:lnTo>
                  <a:pt x="1012" y="1263"/>
                </a:lnTo>
                <a:lnTo>
                  <a:pt x="987" y="1271"/>
                </a:lnTo>
                <a:lnTo>
                  <a:pt x="962" y="1275"/>
                </a:lnTo>
                <a:lnTo>
                  <a:pt x="937" y="1275"/>
                </a:lnTo>
                <a:lnTo>
                  <a:pt x="916" y="1273"/>
                </a:lnTo>
                <a:lnTo>
                  <a:pt x="897" y="1268"/>
                </a:lnTo>
                <a:lnTo>
                  <a:pt x="881" y="1263"/>
                </a:lnTo>
                <a:lnTo>
                  <a:pt x="868" y="1259"/>
                </a:lnTo>
                <a:lnTo>
                  <a:pt x="857" y="1254"/>
                </a:lnTo>
                <a:lnTo>
                  <a:pt x="865" y="1222"/>
                </a:lnTo>
                <a:lnTo>
                  <a:pt x="876" y="1195"/>
                </a:lnTo>
                <a:lnTo>
                  <a:pt x="886" y="1174"/>
                </a:lnTo>
                <a:lnTo>
                  <a:pt x="897" y="1156"/>
                </a:lnTo>
                <a:lnTo>
                  <a:pt x="907" y="1142"/>
                </a:lnTo>
                <a:lnTo>
                  <a:pt x="918" y="1133"/>
                </a:lnTo>
                <a:lnTo>
                  <a:pt x="939" y="1132"/>
                </a:lnTo>
                <a:close/>
                <a:moveTo>
                  <a:pt x="1029" y="1124"/>
                </a:moveTo>
                <a:lnTo>
                  <a:pt x="1064" y="1153"/>
                </a:lnTo>
                <a:lnTo>
                  <a:pt x="1033" y="1153"/>
                </a:lnTo>
                <a:lnTo>
                  <a:pt x="1030" y="1139"/>
                </a:lnTo>
                <a:lnTo>
                  <a:pt x="1029" y="1124"/>
                </a:lnTo>
                <a:close/>
                <a:moveTo>
                  <a:pt x="1183" y="1081"/>
                </a:moveTo>
                <a:lnTo>
                  <a:pt x="1195" y="1082"/>
                </a:lnTo>
                <a:lnTo>
                  <a:pt x="1199" y="1082"/>
                </a:lnTo>
                <a:lnTo>
                  <a:pt x="1185" y="1101"/>
                </a:lnTo>
                <a:lnTo>
                  <a:pt x="1169" y="1115"/>
                </a:lnTo>
                <a:lnTo>
                  <a:pt x="1152" y="1127"/>
                </a:lnTo>
                <a:lnTo>
                  <a:pt x="1119" y="1091"/>
                </a:lnTo>
                <a:lnTo>
                  <a:pt x="1144" y="1085"/>
                </a:lnTo>
                <a:lnTo>
                  <a:pt x="1166" y="1082"/>
                </a:lnTo>
                <a:lnTo>
                  <a:pt x="1183" y="1081"/>
                </a:lnTo>
                <a:close/>
                <a:moveTo>
                  <a:pt x="306" y="1035"/>
                </a:moveTo>
                <a:lnTo>
                  <a:pt x="306" y="1102"/>
                </a:lnTo>
                <a:lnTo>
                  <a:pt x="305" y="1103"/>
                </a:lnTo>
                <a:lnTo>
                  <a:pt x="305" y="1102"/>
                </a:lnTo>
                <a:lnTo>
                  <a:pt x="303" y="1085"/>
                </a:lnTo>
                <a:lnTo>
                  <a:pt x="301" y="1065"/>
                </a:lnTo>
                <a:lnTo>
                  <a:pt x="296" y="1047"/>
                </a:lnTo>
                <a:lnTo>
                  <a:pt x="306" y="1035"/>
                </a:lnTo>
                <a:close/>
                <a:moveTo>
                  <a:pt x="998" y="1031"/>
                </a:moveTo>
                <a:lnTo>
                  <a:pt x="1042" y="1031"/>
                </a:lnTo>
                <a:lnTo>
                  <a:pt x="1288" y="1286"/>
                </a:lnTo>
                <a:lnTo>
                  <a:pt x="1240" y="1286"/>
                </a:lnTo>
                <a:lnTo>
                  <a:pt x="998" y="1086"/>
                </a:lnTo>
                <a:lnTo>
                  <a:pt x="998" y="1031"/>
                </a:lnTo>
                <a:close/>
                <a:moveTo>
                  <a:pt x="170" y="1009"/>
                </a:moveTo>
                <a:lnTo>
                  <a:pt x="175" y="1009"/>
                </a:lnTo>
                <a:lnTo>
                  <a:pt x="179" y="1010"/>
                </a:lnTo>
                <a:lnTo>
                  <a:pt x="180" y="1013"/>
                </a:lnTo>
                <a:lnTo>
                  <a:pt x="183" y="1015"/>
                </a:lnTo>
                <a:lnTo>
                  <a:pt x="183" y="1019"/>
                </a:lnTo>
                <a:lnTo>
                  <a:pt x="182" y="1023"/>
                </a:lnTo>
                <a:lnTo>
                  <a:pt x="179" y="1026"/>
                </a:lnTo>
                <a:lnTo>
                  <a:pt x="176" y="1027"/>
                </a:lnTo>
                <a:lnTo>
                  <a:pt x="172" y="1029"/>
                </a:lnTo>
                <a:lnTo>
                  <a:pt x="165" y="1026"/>
                </a:lnTo>
                <a:lnTo>
                  <a:pt x="163" y="1023"/>
                </a:lnTo>
                <a:lnTo>
                  <a:pt x="162" y="1019"/>
                </a:lnTo>
                <a:lnTo>
                  <a:pt x="162" y="1015"/>
                </a:lnTo>
                <a:lnTo>
                  <a:pt x="165" y="1013"/>
                </a:lnTo>
                <a:lnTo>
                  <a:pt x="166" y="1010"/>
                </a:lnTo>
                <a:lnTo>
                  <a:pt x="170" y="1009"/>
                </a:lnTo>
                <a:close/>
                <a:moveTo>
                  <a:pt x="254" y="1008"/>
                </a:moveTo>
                <a:lnTo>
                  <a:pt x="255" y="1009"/>
                </a:lnTo>
                <a:lnTo>
                  <a:pt x="259" y="1014"/>
                </a:lnTo>
                <a:lnTo>
                  <a:pt x="265" y="1022"/>
                </a:lnTo>
                <a:lnTo>
                  <a:pt x="272" y="1034"/>
                </a:lnTo>
                <a:lnTo>
                  <a:pt x="279" y="1050"/>
                </a:lnTo>
                <a:lnTo>
                  <a:pt x="285" y="1070"/>
                </a:lnTo>
                <a:lnTo>
                  <a:pt x="289" y="1095"/>
                </a:lnTo>
                <a:lnTo>
                  <a:pt x="290" y="1125"/>
                </a:lnTo>
                <a:lnTo>
                  <a:pt x="288" y="1161"/>
                </a:lnTo>
                <a:lnTo>
                  <a:pt x="285" y="1161"/>
                </a:lnTo>
                <a:lnTo>
                  <a:pt x="276" y="1162"/>
                </a:lnTo>
                <a:lnTo>
                  <a:pt x="246" y="1162"/>
                </a:lnTo>
                <a:lnTo>
                  <a:pt x="226" y="1159"/>
                </a:lnTo>
                <a:lnTo>
                  <a:pt x="204" y="1156"/>
                </a:lnTo>
                <a:lnTo>
                  <a:pt x="182" y="1148"/>
                </a:lnTo>
                <a:lnTo>
                  <a:pt x="159" y="1136"/>
                </a:lnTo>
                <a:lnTo>
                  <a:pt x="137" y="1119"/>
                </a:lnTo>
                <a:lnTo>
                  <a:pt x="117" y="1098"/>
                </a:lnTo>
                <a:lnTo>
                  <a:pt x="121" y="1098"/>
                </a:lnTo>
                <a:lnTo>
                  <a:pt x="132" y="1097"/>
                </a:lnTo>
                <a:lnTo>
                  <a:pt x="148" y="1097"/>
                </a:lnTo>
                <a:lnTo>
                  <a:pt x="168" y="1098"/>
                </a:lnTo>
                <a:lnTo>
                  <a:pt x="192" y="1102"/>
                </a:lnTo>
                <a:lnTo>
                  <a:pt x="217" y="1110"/>
                </a:lnTo>
                <a:lnTo>
                  <a:pt x="243" y="1123"/>
                </a:lnTo>
                <a:lnTo>
                  <a:pt x="268" y="1142"/>
                </a:lnTo>
                <a:lnTo>
                  <a:pt x="258" y="1122"/>
                </a:lnTo>
                <a:lnTo>
                  <a:pt x="252" y="1107"/>
                </a:lnTo>
                <a:lnTo>
                  <a:pt x="244" y="1070"/>
                </a:lnTo>
                <a:lnTo>
                  <a:pt x="244" y="1050"/>
                </a:lnTo>
                <a:lnTo>
                  <a:pt x="247" y="1029"/>
                </a:lnTo>
                <a:lnTo>
                  <a:pt x="254" y="1008"/>
                </a:lnTo>
                <a:close/>
                <a:moveTo>
                  <a:pt x="1058" y="1000"/>
                </a:moveTo>
                <a:lnTo>
                  <a:pt x="1066" y="1021"/>
                </a:lnTo>
                <a:lnTo>
                  <a:pt x="1070" y="1040"/>
                </a:lnTo>
                <a:lnTo>
                  <a:pt x="1049" y="1018"/>
                </a:lnTo>
                <a:lnTo>
                  <a:pt x="1050" y="1013"/>
                </a:lnTo>
                <a:lnTo>
                  <a:pt x="1054" y="1005"/>
                </a:lnTo>
                <a:lnTo>
                  <a:pt x="1056" y="1002"/>
                </a:lnTo>
                <a:lnTo>
                  <a:pt x="1058" y="1000"/>
                </a:lnTo>
                <a:close/>
                <a:moveTo>
                  <a:pt x="1136" y="997"/>
                </a:moveTo>
                <a:lnTo>
                  <a:pt x="1142" y="997"/>
                </a:lnTo>
                <a:lnTo>
                  <a:pt x="1145" y="998"/>
                </a:lnTo>
                <a:lnTo>
                  <a:pt x="1147" y="1001"/>
                </a:lnTo>
                <a:lnTo>
                  <a:pt x="1149" y="1004"/>
                </a:lnTo>
                <a:lnTo>
                  <a:pt x="1149" y="1008"/>
                </a:lnTo>
                <a:lnTo>
                  <a:pt x="1148" y="1012"/>
                </a:lnTo>
                <a:lnTo>
                  <a:pt x="1147" y="1014"/>
                </a:lnTo>
                <a:lnTo>
                  <a:pt x="1139" y="1017"/>
                </a:lnTo>
                <a:lnTo>
                  <a:pt x="1135" y="1015"/>
                </a:lnTo>
                <a:lnTo>
                  <a:pt x="1132" y="1014"/>
                </a:lnTo>
                <a:lnTo>
                  <a:pt x="1130" y="1012"/>
                </a:lnTo>
                <a:lnTo>
                  <a:pt x="1128" y="1008"/>
                </a:lnTo>
                <a:lnTo>
                  <a:pt x="1128" y="1004"/>
                </a:lnTo>
                <a:lnTo>
                  <a:pt x="1131" y="1001"/>
                </a:lnTo>
                <a:lnTo>
                  <a:pt x="1132" y="998"/>
                </a:lnTo>
                <a:lnTo>
                  <a:pt x="1136" y="997"/>
                </a:lnTo>
                <a:close/>
                <a:moveTo>
                  <a:pt x="998" y="949"/>
                </a:moveTo>
                <a:lnTo>
                  <a:pt x="1041" y="949"/>
                </a:lnTo>
                <a:lnTo>
                  <a:pt x="1041" y="1004"/>
                </a:lnTo>
                <a:lnTo>
                  <a:pt x="998" y="1004"/>
                </a:lnTo>
                <a:lnTo>
                  <a:pt x="998" y="949"/>
                </a:lnTo>
                <a:close/>
                <a:moveTo>
                  <a:pt x="263" y="945"/>
                </a:moveTo>
                <a:lnTo>
                  <a:pt x="305" y="945"/>
                </a:lnTo>
                <a:lnTo>
                  <a:pt x="305" y="998"/>
                </a:lnTo>
                <a:lnTo>
                  <a:pt x="263" y="998"/>
                </a:lnTo>
                <a:lnTo>
                  <a:pt x="263" y="945"/>
                </a:lnTo>
                <a:close/>
                <a:moveTo>
                  <a:pt x="209" y="934"/>
                </a:moveTo>
                <a:lnTo>
                  <a:pt x="210" y="936"/>
                </a:lnTo>
                <a:lnTo>
                  <a:pt x="214" y="941"/>
                </a:lnTo>
                <a:lnTo>
                  <a:pt x="218" y="950"/>
                </a:lnTo>
                <a:lnTo>
                  <a:pt x="222" y="963"/>
                </a:lnTo>
                <a:lnTo>
                  <a:pt x="226" y="979"/>
                </a:lnTo>
                <a:lnTo>
                  <a:pt x="229" y="1000"/>
                </a:lnTo>
                <a:lnTo>
                  <a:pt x="227" y="1026"/>
                </a:lnTo>
                <a:lnTo>
                  <a:pt x="223" y="1056"/>
                </a:lnTo>
                <a:lnTo>
                  <a:pt x="216" y="1090"/>
                </a:lnTo>
                <a:lnTo>
                  <a:pt x="213" y="1090"/>
                </a:lnTo>
                <a:lnTo>
                  <a:pt x="204" y="1089"/>
                </a:lnTo>
                <a:lnTo>
                  <a:pt x="191" y="1087"/>
                </a:lnTo>
                <a:lnTo>
                  <a:pt x="174" y="1085"/>
                </a:lnTo>
                <a:lnTo>
                  <a:pt x="155" y="1078"/>
                </a:lnTo>
                <a:lnTo>
                  <a:pt x="134" y="1070"/>
                </a:lnTo>
                <a:lnTo>
                  <a:pt x="113" y="1059"/>
                </a:lnTo>
                <a:lnTo>
                  <a:pt x="94" y="1043"/>
                </a:lnTo>
                <a:lnTo>
                  <a:pt x="76" y="1023"/>
                </a:lnTo>
                <a:lnTo>
                  <a:pt x="60" y="998"/>
                </a:lnTo>
                <a:lnTo>
                  <a:pt x="64" y="998"/>
                </a:lnTo>
                <a:lnTo>
                  <a:pt x="74" y="1000"/>
                </a:lnTo>
                <a:lnTo>
                  <a:pt x="90" y="1002"/>
                </a:lnTo>
                <a:lnTo>
                  <a:pt x="110" y="1008"/>
                </a:lnTo>
                <a:lnTo>
                  <a:pt x="132" y="1015"/>
                </a:lnTo>
                <a:lnTo>
                  <a:pt x="155" y="1029"/>
                </a:lnTo>
                <a:lnTo>
                  <a:pt x="179" y="1046"/>
                </a:lnTo>
                <a:lnTo>
                  <a:pt x="201" y="1069"/>
                </a:lnTo>
                <a:lnTo>
                  <a:pt x="200" y="1065"/>
                </a:lnTo>
                <a:lnTo>
                  <a:pt x="197" y="1056"/>
                </a:lnTo>
                <a:lnTo>
                  <a:pt x="193" y="1040"/>
                </a:lnTo>
                <a:lnTo>
                  <a:pt x="191" y="1022"/>
                </a:lnTo>
                <a:lnTo>
                  <a:pt x="189" y="1001"/>
                </a:lnTo>
                <a:lnTo>
                  <a:pt x="191" y="979"/>
                </a:lnTo>
                <a:lnTo>
                  <a:pt x="197" y="955"/>
                </a:lnTo>
                <a:lnTo>
                  <a:pt x="209" y="934"/>
                </a:lnTo>
                <a:close/>
                <a:moveTo>
                  <a:pt x="1100" y="924"/>
                </a:moveTo>
                <a:lnTo>
                  <a:pt x="1111" y="945"/>
                </a:lnTo>
                <a:lnTo>
                  <a:pt x="1118" y="967"/>
                </a:lnTo>
                <a:lnTo>
                  <a:pt x="1121" y="991"/>
                </a:lnTo>
                <a:lnTo>
                  <a:pt x="1121" y="1012"/>
                </a:lnTo>
                <a:lnTo>
                  <a:pt x="1118" y="1030"/>
                </a:lnTo>
                <a:lnTo>
                  <a:pt x="1115" y="1046"/>
                </a:lnTo>
                <a:lnTo>
                  <a:pt x="1113" y="1055"/>
                </a:lnTo>
                <a:lnTo>
                  <a:pt x="1111" y="1059"/>
                </a:lnTo>
                <a:lnTo>
                  <a:pt x="1132" y="1035"/>
                </a:lnTo>
                <a:lnTo>
                  <a:pt x="1156" y="1017"/>
                </a:lnTo>
                <a:lnTo>
                  <a:pt x="1178" y="1004"/>
                </a:lnTo>
                <a:lnTo>
                  <a:pt x="1202" y="995"/>
                </a:lnTo>
                <a:lnTo>
                  <a:pt x="1221" y="989"/>
                </a:lnTo>
                <a:lnTo>
                  <a:pt x="1237" y="987"/>
                </a:lnTo>
                <a:lnTo>
                  <a:pt x="1248" y="985"/>
                </a:lnTo>
                <a:lnTo>
                  <a:pt x="1252" y="985"/>
                </a:lnTo>
                <a:lnTo>
                  <a:pt x="1236" y="1010"/>
                </a:lnTo>
                <a:lnTo>
                  <a:pt x="1219" y="1030"/>
                </a:lnTo>
                <a:lnTo>
                  <a:pt x="1199" y="1046"/>
                </a:lnTo>
                <a:lnTo>
                  <a:pt x="1178" y="1059"/>
                </a:lnTo>
                <a:lnTo>
                  <a:pt x="1157" y="1067"/>
                </a:lnTo>
                <a:lnTo>
                  <a:pt x="1139" y="1073"/>
                </a:lnTo>
                <a:lnTo>
                  <a:pt x="1122" y="1077"/>
                </a:lnTo>
                <a:lnTo>
                  <a:pt x="1109" y="1078"/>
                </a:lnTo>
                <a:lnTo>
                  <a:pt x="1100" y="1080"/>
                </a:lnTo>
                <a:lnTo>
                  <a:pt x="1097" y="1080"/>
                </a:lnTo>
                <a:lnTo>
                  <a:pt x="1088" y="1046"/>
                </a:lnTo>
                <a:lnTo>
                  <a:pt x="1083" y="1015"/>
                </a:lnTo>
                <a:lnTo>
                  <a:pt x="1083" y="991"/>
                </a:lnTo>
                <a:lnTo>
                  <a:pt x="1084" y="970"/>
                </a:lnTo>
                <a:lnTo>
                  <a:pt x="1087" y="953"/>
                </a:lnTo>
                <a:lnTo>
                  <a:pt x="1090" y="940"/>
                </a:lnTo>
                <a:lnTo>
                  <a:pt x="1096" y="930"/>
                </a:lnTo>
                <a:lnTo>
                  <a:pt x="1098" y="925"/>
                </a:lnTo>
                <a:lnTo>
                  <a:pt x="1100" y="924"/>
                </a:lnTo>
                <a:close/>
                <a:moveTo>
                  <a:pt x="886" y="900"/>
                </a:moveTo>
                <a:lnTo>
                  <a:pt x="889" y="917"/>
                </a:lnTo>
                <a:lnTo>
                  <a:pt x="894" y="947"/>
                </a:lnTo>
                <a:lnTo>
                  <a:pt x="878" y="947"/>
                </a:lnTo>
                <a:lnTo>
                  <a:pt x="884" y="917"/>
                </a:lnTo>
                <a:lnTo>
                  <a:pt x="886" y="900"/>
                </a:lnTo>
                <a:close/>
                <a:moveTo>
                  <a:pt x="510" y="900"/>
                </a:moveTo>
                <a:lnTo>
                  <a:pt x="513" y="916"/>
                </a:lnTo>
                <a:lnTo>
                  <a:pt x="518" y="946"/>
                </a:lnTo>
                <a:lnTo>
                  <a:pt x="502" y="946"/>
                </a:lnTo>
                <a:lnTo>
                  <a:pt x="508" y="916"/>
                </a:lnTo>
                <a:lnTo>
                  <a:pt x="510" y="900"/>
                </a:lnTo>
                <a:close/>
                <a:moveTo>
                  <a:pt x="876" y="871"/>
                </a:moveTo>
                <a:lnTo>
                  <a:pt x="850" y="983"/>
                </a:lnTo>
                <a:lnTo>
                  <a:pt x="870" y="983"/>
                </a:lnTo>
                <a:lnTo>
                  <a:pt x="876" y="964"/>
                </a:lnTo>
                <a:lnTo>
                  <a:pt x="898" y="964"/>
                </a:lnTo>
                <a:lnTo>
                  <a:pt x="902" y="983"/>
                </a:lnTo>
                <a:lnTo>
                  <a:pt x="925" y="983"/>
                </a:lnTo>
                <a:lnTo>
                  <a:pt x="898" y="871"/>
                </a:lnTo>
                <a:lnTo>
                  <a:pt x="876" y="871"/>
                </a:lnTo>
                <a:close/>
                <a:moveTo>
                  <a:pt x="796" y="871"/>
                </a:moveTo>
                <a:lnTo>
                  <a:pt x="796" y="983"/>
                </a:lnTo>
                <a:lnTo>
                  <a:pt x="840" y="983"/>
                </a:lnTo>
                <a:lnTo>
                  <a:pt x="840" y="963"/>
                </a:lnTo>
                <a:lnTo>
                  <a:pt x="818" y="963"/>
                </a:lnTo>
                <a:lnTo>
                  <a:pt x="818" y="937"/>
                </a:lnTo>
                <a:lnTo>
                  <a:pt x="838" y="937"/>
                </a:lnTo>
                <a:lnTo>
                  <a:pt x="838" y="917"/>
                </a:lnTo>
                <a:lnTo>
                  <a:pt x="818" y="917"/>
                </a:lnTo>
                <a:lnTo>
                  <a:pt x="818" y="892"/>
                </a:lnTo>
                <a:lnTo>
                  <a:pt x="840" y="892"/>
                </a:lnTo>
                <a:lnTo>
                  <a:pt x="840" y="871"/>
                </a:lnTo>
                <a:lnTo>
                  <a:pt x="796" y="871"/>
                </a:lnTo>
                <a:close/>
                <a:moveTo>
                  <a:pt x="692" y="871"/>
                </a:moveTo>
                <a:lnTo>
                  <a:pt x="683" y="983"/>
                </a:lnTo>
                <a:lnTo>
                  <a:pt x="707" y="983"/>
                </a:lnTo>
                <a:lnTo>
                  <a:pt x="711" y="903"/>
                </a:lnTo>
                <a:lnTo>
                  <a:pt x="711" y="906"/>
                </a:lnTo>
                <a:lnTo>
                  <a:pt x="715" y="930"/>
                </a:lnTo>
                <a:lnTo>
                  <a:pt x="725" y="983"/>
                </a:lnTo>
                <a:lnTo>
                  <a:pt x="742" y="983"/>
                </a:lnTo>
                <a:lnTo>
                  <a:pt x="751" y="930"/>
                </a:lnTo>
                <a:lnTo>
                  <a:pt x="755" y="903"/>
                </a:lnTo>
                <a:lnTo>
                  <a:pt x="760" y="983"/>
                </a:lnTo>
                <a:lnTo>
                  <a:pt x="783" y="983"/>
                </a:lnTo>
                <a:lnTo>
                  <a:pt x="771" y="871"/>
                </a:lnTo>
                <a:lnTo>
                  <a:pt x="742" y="871"/>
                </a:lnTo>
                <a:lnTo>
                  <a:pt x="733" y="937"/>
                </a:lnTo>
                <a:lnTo>
                  <a:pt x="722" y="871"/>
                </a:lnTo>
                <a:lnTo>
                  <a:pt x="692" y="871"/>
                </a:lnTo>
                <a:close/>
                <a:moveTo>
                  <a:pt x="500" y="871"/>
                </a:moveTo>
                <a:lnTo>
                  <a:pt x="474" y="983"/>
                </a:lnTo>
                <a:lnTo>
                  <a:pt x="496" y="983"/>
                </a:lnTo>
                <a:lnTo>
                  <a:pt x="500" y="963"/>
                </a:lnTo>
                <a:lnTo>
                  <a:pt x="522" y="963"/>
                </a:lnTo>
                <a:lnTo>
                  <a:pt x="526" y="983"/>
                </a:lnTo>
                <a:lnTo>
                  <a:pt x="550" y="983"/>
                </a:lnTo>
                <a:lnTo>
                  <a:pt x="522" y="871"/>
                </a:lnTo>
                <a:lnTo>
                  <a:pt x="500" y="871"/>
                </a:lnTo>
                <a:close/>
                <a:moveTo>
                  <a:pt x="412" y="871"/>
                </a:moveTo>
                <a:lnTo>
                  <a:pt x="412" y="892"/>
                </a:lnTo>
                <a:lnTo>
                  <a:pt x="430" y="892"/>
                </a:lnTo>
                <a:lnTo>
                  <a:pt x="430" y="983"/>
                </a:lnTo>
                <a:lnTo>
                  <a:pt x="451" y="983"/>
                </a:lnTo>
                <a:lnTo>
                  <a:pt x="451" y="892"/>
                </a:lnTo>
                <a:lnTo>
                  <a:pt x="470" y="892"/>
                </a:lnTo>
                <a:lnTo>
                  <a:pt x="470" y="871"/>
                </a:lnTo>
                <a:lnTo>
                  <a:pt x="412" y="871"/>
                </a:lnTo>
                <a:close/>
                <a:moveTo>
                  <a:pt x="585" y="869"/>
                </a:moveTo>
                <a:lnTo>
                  <a:pt x="573" y="871"/>
                </a:lnTo>
                <a:lnTo>
                  <a:pt x="564" y="879"/>
                </a:lnTo>
                <a:lnTo>
                  <a:pt x="557" y="890"/>
                </a:lnTo>
                <a:lnTo>
                  <a:pt x="556" y="902"/>
                </a:lnTo>
                <a:lnTo>
                  <a:pt x="557" y="913"/>
                </a:lnTo>
                <a:lnTo>
                  <a:pt x="561" y="921"/>
                </a:lnTo>
                <a:lnTo>
                  <a:pt x="568" y="929"/>
                </a:lnTo>
                <a:lnTo>
                  <a:pt x="577" y="936"/>
                </a:lnTo>
                <a:lnTo>
                  <a:pt x="580" y="938"/>
                </a:lnTo>
                <a:lnTo>
                  <a:pt x="584" y="941"/>
                </a:lnTo>
                <a:lnTo>
                  <a:pt x="586" y="943"/>
                </a:lnTo>
                <a:lnTo>
                  <a:pt x="589" y="951"/>
                </a:lnTo>
                <a:lnTo>
                  <a:pt x="589" y="955"/>
                </a:lnTo>
                <a:lnTo>
                  <a:pt x="586" y="959"/>
                </a:lnTo>
                <a:lnTo>
                  <a:pt x="584" y="962"/>
                </a:lnTo>
                <a:lnTo>
                  <a:pt x="581" y="963"/>
                </a:lnTo>
                <a:lnTo>
                  <a:pt x="571" y="963"/>
                </a:lnTo>
                <a:lnTo>
                  <a:pt x="560" y="958"/>
                </a:lnTo>
                <a:lnTo>
                  <a:pt x="560" y="979"/>
                </a:lnTo>
                <a:lnTo>
                  <a:pt x="564" y="981"/>
                </a:lnTo>
                <a:lnTo>
                  <a:pt x="574" y="984"/>
                </a:lnTo>
                <a:lnTo>
                  <a:pt x="578" y="984"/>
                </a:lnTo>
                <a:lnTo>
                  <a:pt x="593" y="981"/>
                </a:lnTo>
                <a:lnTo>
                  <a:pt x="602" y="975"/>
                </a:lnTo>
                <a:lnTo>
                  <a:pt x="609" y="963"/>
                </a:lnTo>
                <a:lnTo>
                  <a:pt x="611" y="950"/>
                </a:lnTo>
                <a:lnTo>
                  <a:pt x="610" y="938"/>
                </a:lnTo>
                <a:lnTo>
                  <a:pt x="605" y="930"/>
                </a:lnTo>
                <a:lnTo>
                  <a:pt x="598" y="924"/>
                </a:lnTo>
                <a:lnTo>
                  <a:pt x="590" y="919"/>
                </a:lnTo>
                <a:lnTo>
                  <a:pt x="584" y="913"/>
                </a:lnTo>
                <a:lnTo>
                  <a:pt x="578" y="907"/>
                </a:lnTo>
                <a:lnTo>
                  <a:pt x="577" y="900"/>
                </a:lnTo>
                <a:lnTo>
                  <a:pt x="578" y="895"/>
                </a:lnTo>
                <a:lnTo>
                  <a:pt x="584" y="890"/>
                </a:lnTo>
                <a:lnTo>
                  <a:pt x="589" y="888"/>
                </a:lnTo>
                <a:lnTo>
                  <a:pt x="597" y="891"/>
                </a:lnTo>
                <a:lnTo>
                  <a:pt x="605" y="896"/>
                </a:lnTo>
                <a:lnTo>
                  <a:pt x="605" y="875"/>
                </a:lnTo>
                <a:lnTo>
                  <a:pt x="598" y="871"/>
                </a:lnTo>
                <a:lnTo>
                  <a:pt x="585" y="869"/>
                </a:lnTo>
                <a:close/>
                <a:moveTo>
                  <a:pt x="179" y="854"/>
                </a:moveTo>
                <a:lnTo>
                  <a:pt x="180" y="856"/>
                </a:lnTo>
                <a:lnTo>
                  <a:pt x="183" y="862"/>
                </a:lnTo>
                <a:lnTo>
                  <a:pt x="186" y="871"/>
                </a:lnTo>
                <a:lnTo>
                  <a:pt x="187" y="885"/>
                </a:lnTo>
                <a:lnTo>
                  <a:pt x="188" y="902"/>
                </a:lnTo>
                <a:lnTo>
                  <a:pt x="187" y="923"/>
                </a:lnTo>
                <a:lnTo>
                  <a:pt x="182" y="947"/>
                </a:lnTo>
                <a:lnTo>
                  <a:pt x="172" y="976"/>
                </a:lnTo>
                <a:lnTo>
                  <a:pt x="158" y="1009"/>
                </a:lnTo>
                <a:lnTo>
                  <a:pt x="155" y="1009"/>
                </a:lnTo>
                <a:lnTo>
                  <a:pt x="146" y="1006"/>
                </a:lnTo>
                <a:lnTo>
                  <a:pt x="134" y="1002"/>
                </a:lnTo>
                <a:lnTo>
                  <a:pt x="119" y="996"/>
                </a:lnTo>
                <a:lnTo>
                  <a:pt x="100" y="987"/>
                </a:lnTo>
                <a:lnTo>
                  <a:pt x="82" y="975"/>
                </a:lnTo>
                <a:lnTo>
                  <a:pt x="64" y="960"/>
                </a:lnTo>
                <a:lnTo>
                  <a:pt x="47" y="942"/>
                </a:lnTo>
                <a:lnTo>
                  <a:pt x="32" y="919"/>
                </a:lnTo>
                <a:lnTo>
                  <a:pt x="21" y="892"/>
                </a:lnTo>
                <a:lnTo>
                  <a:pt x="24" y="894"/>
                </a:lnTo>
                <a:lnTo>
                  <a:pt x="35" y="896"/>
                </a:lnTo>
                <a:lnTo>
                  <a:pt x="49" y="902"/>
                </a:lnTo>
                <a:lnTo>
                  <a:pt x="68" y="909"/>
                </a:lnTo>
                <a:lnTo>
                  <a:pt x="89" y="921"/>
                </a:lnTo>
                <a:lnTo>
                  <a:pt x="110" y="938"/>
                </a:lnTo>
                <a:lnTo>
                  <a:pt x="129" y="959"/>
                </a:lnTo>
                <a:lnTo>
                  <a:pt x="146" y="987"/>
                </a:lnTo>
                <a:lnTo>
                  <a:pt x="146" y="983"/>
                </a:lnTo>
                <a:lnTo>
                  <a:pt x="145" y="972"/>
                </a:lnTo>
                <a:lnTo>
                  <a:pt x="144" y="958"/>
                </a:lnTo>
                <a:lnTo>
                  <a:pt x="145" y="938"/>
                </a:lnTo>
                <a:lnTo>
                  <a:pt x="148" y="917"/>
                </a:lnTo>
                <a:lnTo>
                  <a:pt x="153" y="895"/>
                </a:lnTo>
                <a:lnTo>
                  <a:pt x="163" y="874"/>
                </a:lnTo>
                <a:lnTo>
                  <a:pt x="179" y="854"/>
                </a:lnTo>
                <a:close/>
                <a:moveTo>
                  <a:pt x="1128" y="843"/>
                </a:moveTo>
                <a:lnTo>
                  <a:pt x="1144" y="862"/>
                </a:lnTo>
                <a:lnTo>
                  <a:pt x="1155" y="883"/>
                </a:lnTo>
                <a:lnTo>
                  <a:pt x="1161" y="904"/>
                </a:lnTo>
                <a:lnTo>
                  <a:pt x="1165" y="926"/>
                </a:lnTo>
                <a:lnTo>
                  <a:pt x="1165" y="959"/>
                </a:lnTo>
                <a:lnTo>
                  <a:pt x="1164" y="970"/>
                </a:lnTo>
                <a:lnTo>
                  <a:pt x="1164" y="974"/>
                </a:lnTo>
                <a:lnTo>
                  <a:pt x="1181" y="946"/>
                </a:lnTo>
                <a:lnTo>
                  <a:pt x="1200" y="925"/>
                </a:lnTo>
                <a:lnTo>
                  <a:pt x="1220" y="908"/>
                </a:lnTo>
                <a:lnTo>
                  <a:pt x="1241" y="895"/>
                </a:lnTo>
                <a:lnTo>
                  <a:pt x="1259" y="886"/>
                </a:lnTo>
                <a:lnTo>
                  <a:pt x="1274" y="881"/>
                </a:lnTo>
                <a:lnTo>
                  <a:pt x="1284" y="878"/>
                </a:lnTo>
                <a:lnTo>
                  <a:pt x="1288" y="877"/>
                </a:lnTo>
                <a:lnTo>
                  <a:pt x="1278" y="904"/>
                </a:lnTo>
                <a:lnTo>
                  <a:pt x="1263" y="926"/>
                </a:lnTo>
                <a:lnTo>
                  <a:pt x="1246" y="946"/>
                </a:lnTo>
                <a:lnTo>
                  <a:pt x="1229" y="962"/>
                </a:lnTo>
                <a:lnTo>
                  <a:pt x="1211" y="974"/>
                </a:lnTo>
                <a:lnTo>
                  <a:pt x="1193" y="983"/>
                </a:lnTo>
                <a:lnTo>
                  <a:pt x="1177" y="989"/>
                </a:lnTo>
                <a:lnTo>
                  <a:pt x="1165" y="995"/>
                </a:lnTo>
                <a:lnTo>
                  <a:pt x="1156" y="996"/>
                </a:lnTo>
                <a:lnTo>
                  <a:pt x="1153" y="997"/>
                </a:lnTo>
                <a:lnTo>
                  <a:pt x="1138" y="964"/>
                </a:lnTo>
                <a:lnTo>
                  <a:pt x="1128" y="937"/>
                </a:lnTo>
                <a:lnTo>
                  <a:pt x="1122" y="912"/>
                </a:lnTo>
                <a:lnTo>
                  <a:pt x="1121" y="891"/>
                </a:lnTo>
                <a:lnTo>
                  <a:pt x="1121" y="874"/>
                </a:lnTo>
                <a:lnTo>
                  <a:pt x="1123" y="860"/>
                </a:lnTo>
                <a:lnTo>
                  <a:pt x="1126" y="851"/>
                </a:lnTo>
                <a:lnTo>
                  <a:pt x="1127" y="844"/>
                </a:lnTo>
                <a:lnTo>
                  <a:pt x="1128" y="843"/>
                </a:lnTo>
                <a:close/>
                <a:moveTo>
                  <a:pt x="99" y="827"/>
                </a:moveTo>
                <a:lnTo>
                  <a:pt x="103" y="828"/>
                </a:lnTo>
                <a:lnTo>
                  <a:pt x="106" y="830"/>
                </a:lnTo>
                <a:lnTo>
                  <a:pt x="108" y="832"/>
                </a:lnTo>
                <a:lnTo>
                  <a:pt x="110" y="836"/>
                </a:lnTo>
                <a:lnTo>
                  <a:pt x="110" y="840"/>
                </a:lnTo>
                <a:lnTo>
                  <a:pt x="107" y="843"/>
                </a:lnTo>
                <a:lnTo>
                  <a:pt x="106" y="845"/>
                </a:lnTo>
                <a:lnTo>
                  <a:pt x="102" y="847"/>
                </a:lnTo>
                <a:lnTo>
                  <a:pt x="96" y="847"/>
                </a:lnTo>
                <a:lnTo>
                  <a:pt x="93" y="845"/>
                </a:lnTo>
                <a:lnTo>
                  <a:pt x="91" y="843"/>
                </a:lnTo>
                <a:lnTo>
                  <a:pt x="89" y="840"/>
                </a:lnTo>
                <a:lnTo>
                  <a:pt x="89" y="836"/>
                </a:lnTo>
                <a:lnTo>
                  <a:pt x="90" y="832"/>
                </a:lnTo>
                <a:lnTo>
                  <a:pt x="91" y="830"/>
                </a:lnTo>
                <a:lnTo>
                  <a:pt x="99" y="827"/>
                </a:lnTo>
                <a:close/>
                <a:moveTo>
                  <a:pt x="1208" y="814"/>
                </a:moveTo>
                <a:lnTo>
                  <a:pt x="1212" y="815"/>
                </a:lnTo>
                <a:lnTo>
                  <a:pt x="1215" y="816"/>
                </a:lnTo>
                <a:lnTo>
                  <a:pt x="1218" y="824"/>
                </a:lnTo>
                <a:lnTo>
                  <a:pt x="1216" y="828"/>
                </a:lnTo>
                <a:lnTo>
                  <a:pt x="1215" y="831"/>
                </a:lnTo>
                <a:lnTo>
                  <a:pt x="1212" y="832"/>
                </a:lnTo>
                <a:lnTo>
                  <a:pt x="1208" y="834"/>
                </a:lnTo>
                <a:lnTo>
                  <a:pt x="1200" y="831"/>
                </a:lnTo>
                <a:lnTo>
                  <a:pt x="1199" y="828"/>
                </a:lnTo>
                <a:lnTo>
                  <a:pt x="1198" y="824"/>
                </a:lnTo>
                <a:lnTo>
                  <a:pt x="1200" y="816"/>
                </a:lnTo>
                <a:lnTo>
                  <a:pt x="1208" y="814"/>
                </a:lnTo>
                <a:close/>
                <a:moveTo>
                  <a:pt x="162" y="771"/>
                </a:moveTo>
                <a:lnTo>
                  <a:pt x="163" y="773"/>
                </a:lnTo>
                <a:lnTo>
                  <a:pt x="165" y="779"/>
                </a:lnTo>
                <a:lnTo>
                  <a:pt x="165" y="802"/>
                </a:lnTo>
                <a:lnTo>
                  <a:pt x="163" y="819"/>
                </a:lnTo>
                <a:lnTo>
                  <a:pt x="158" y="839"/>
                </a:lnTo>
                <a:lnTo>
                  <a:pt x="149" y="862"/>
                </a:lnTo>
                <a:lnTo>
                  <a:pt x="134" y="888"/>
                </a:lnTo>
                <a:lnTo>
                  <a:pt x="115" y="919"/>
                </a:lnTo>
                <a:lnTo>
                  <a:pt x="104" y="913"/>
                </a:lnTo>
                <a:lnTo>
                  <a:pt x="93" y="908"/>
                </a:lnTo>
                <a:lnTo>
                  <a:pt x="78" y="899"/>
                </a:lnTo>
                <a:lnTo>
                  <a:pt x="62" y="887"/>
                </a:lnTo>
                <a:lnTo>
                  <a:pt x="45" y="873"/>
                </a:lnTo>
                <a:lnTo>
                  <a:pt x="30" y="854"/>
                </a:lnTo>
                <a:lnTo>
                  <a:pt x="17" y="834"/>
                </a:lnTo>
                <a:lnTo>
                  <a:pt x="6" y="809"/>
                </a:lnTo>
                <a:lnTo>
                  <a:pt x="0" y="780"/>
                </a:lnTo>
                <a:lnTo>
                  <a:pt x="3" y="781"/>
                </a:lnTo>
                <a:lnTo>
                  <a:pt x="13" y="785"/>
                </a:lnTo>
                <a:lnTo>
                  <a:pt x="27" y="793"/>
                </a:lnTo>
                <a:lnTo>
                  <a:pt x="44" y="805"/>
                </a:lnTo>
                <a:lnTo>
                  <a:pt x="62" y="820"/>
                </a:lnTo>
                <a:lnTo>
                  <a:pt x="79" y="840"/>
                </a:lnTo>
                <a:lnTo>
                  <a:pt x="95" y="865"/>
                </a:lnTo>
                <a:lnTo>
                  <a:pt x="108" y="894"/>
                </a:lnTo>
                <a:lnTo>
                  <a:pt x="108" y="879"/>
                </a:lnTo>
                <a:lnTo>
                  <a:pt x="111" y="865"/>
                </a:lnTo>
                <a:lnTo>
                  <a:pt x="115" y="847"/>
                </a:lnTo>
                <a:lnTo>
                  <a:pt x="121" y="826"/>
                </a:lnTo>
                <a:lnTo>
                  <a:pt x="131" y="806"/>
                </a:lnTo>
                <a:lnTo>
                  <a:pt x="144" y="786"/>
                </a:lnTo>
                <a:lnTo>
                  <a:pt x="162" y="771"/>
                </a:lnTo>
                <a:close/>
                <a:moveTo>
                  <a:pt x="1143" y="759"/>
                </a:moveTo>
                <a:lnTo>
                  <a:pt x="1161" y="775"/>
                </a:lnTo>
                <a:lnTo>
                  <a:pt x="1176" y="794"/>
                </a:lnTo>
                <a:lnTo>
                  <a:pt x="1186" y="814"/>
                </a:lnTo>
                <a:lnTo>
                  <a:pt x="1193" y="835"/>
                </a:lnTo>
                <a:lnTo>
                  <a:pt x="1197" y="853"/>
                </a:lnTo>
                <a:lnTo>
                  <a:pt x="1199" y="868"/>
                </a:lnTo>
                <a:lnTo>
                  <a:pt x="1200" y="878"/>
                </a:lnTo>
                <a:lnTo>
                  <a:pt x="1200" y="882"/>
                </a:lnTo>
                <a:lnTo>
                  <a:pt x="1211" y="856"/>
                </a:lnTo>
                <a:lnTo>
                  <a:pt x="1224" y="832"/>
                </a:lnTo>
                <a:lnTo>
                  <a:pt x="1238" y="813"/>
                </a:lnTo>
                <a:lnTo>
                  <a:pt x="1256" y="797"/>
                </a:lnTo>
                <a:lnTo>
                  <a:pt x="1270" y="785"/>
                </a:lnTo>
                <a:lnTo>
                  <a:pt x="1284" y="776"/>
                </a:lnTo>
                <a:lnTo>
                  <a:pt x="1296" y="769"/>
                </a:lnTo>
                <a:lnTo>
                  <a:pt x="1307" y="764"/>
                </a:lnTo>
                <a:lnTo>
                  <a:pt x="1301" y="793"/>
                </a:lnTo>
                <a:lnTo>
                  <a:pt x="1291" y="818"/>
                </a:lnTo>
                <a:lnTo>
                  <a:pt x="1278" y="840"/>
                </a:lnTo>
                <a:lnTo>
                  <a:pt x="1262" y="858"/>
                </a:lnTo>
                <a:lnTo>
                  <a:pt x="1246" y="873"/>
                </a:lnTo>
                <a:lnTo>
                  <a:pt x="1231" y="885"/>
                </a:lnTo>
                <a:lnTo>
                  <a:pt x="1216" y="894"/>
                </a:lnTo>
                <a:lnTo>
                  <a:pt x="1204" y="900"/>
                </a:lnTo>
                <a:lnTo>
                  <a:pt x="1194" y="906"/>
                </a:lnTo>
                <a:lnTo>
                  <a:pt x="1173" y="877"/>
                </a:lnTo>
                <a:lnTo>
                  <a:pt x="1159" y="851"/>
                </a:lnTo>
                <a:lnTo>
                  <a:pt x="1148" y="827"/>
                </a:lnTo>
                <a:lnTo>
                  <a:pt x="1143" y="807"/>
                </a:lnTo>
                <a:lnTo>
                  <a:pt x="1140" y="790"/>
                </a:lnTo>
                <a:lnTo>
                  <a:pt x="1140" y="777"/>
                </a:lnTo>
                <a:lnTo>
                  <a:pt x="1142" y="767"/>
                </a:lnTo>
                <a:lnTo>
                  <a:pt x="1143" y="762"/>
                </a:lnTo>
                <a:lnTo>
                  <a:pt x="1143" y="759"/>
                </a:lnTo>
                <a:close/>
                <a:moveTo>
                  <a:pt x="548" y="754"/>
                </a:moveTo>
                <a:lnTo>
                  <a:pt x="555" y="754"/>
                </a:lnTo>
                <a:lnTo>
                  <a:pt x="563" y="756"/>
                </a:lnTo>
                <a:lnTo>
                  <a:pt x="564" y="758"/>
                </a:lnTo>
                <a:lnTo>
                  <a:pt x="565" y="762"/>
                </a:lnTo>
                <a:lnTo>
                  <a:pt x="567" y="764"/>
                </a:lnTo>
                <a:lnTo>
                  <a:pt x="567" y="773"/>
                </a:lnTo>
                <a:lnTo>
                  <a:pt x="561" y="781"/>
                </a:lnTo>
                <a:lnTo>
                  <a:pt x="557" y="782"/>
                </a:lnTo>
                <a:lnTo>
                  <a:pt x="552" y="784"/>
                </a:lnTo>
                <a:lnTo>
                  <a:pt x="548" y="784"/>
                </a:lnTo>
                <a:lnTo>
                  <a:pt x="548" y="754"/>
                </a:lnTo>
                <a:close/>
                <a:moveTo>
                  <a:pt x="835" y="737"/>
                </a:moveTo>
                <a:lnTo>
                  <a:pt x="859" y="790"/>
                </a:lnTo>
                <a:lnTo>
                  <a:pt x="835" y="848"/>
                </a:lnTo>
                <a:lnTo>
                  <a:pt x="859" y="848"/>
                </a:lnTo>
                <a:lnTo>
                  <a:pt x="865" y="830"/>
                </a:lnTo>
                <a:lnTo>
                  <a:pt x="868" y="822"/>
                </a:lnTo>
                <a:lnTo>
                  <a:pt x="870" y="813"/>
                </a:lnTo>
                <a:lnTo>
                  <a:pt x="873" y="819"/>
                </a:lnTo>
                <a:lnTo>
                  <a:pt x="876" y="830"/>
                </a:lnTo>
                <a:lnTo>
                  <a:pt x="884" y="848"/>
                </a:lnTo>
                <a:lnTo>
                  <a:pt x="908" y="848"/>
                </a:lnTo>
                <a:lnTo>
                  <a:pt x="884" y="790"/>
                </a:lnTo>
                <a:lnTo>
                  <a:pt x="907" y="737"/>
                </a:lnTo>
                <a:lnTo>
                  <a:pt x="884" y="737"/>
                </a:lnTo>
                <a:lnTo>
                  <a:pt x="876" y="751"/>
                </a:lnTo>
                <a:lnTo>
                  <a:pt x="874" y="760"/>
                </a:lnTo>
                <a:lnTo>
                  <a:pt x="872" y="768"/>
                </a:lnTo>
                <a:lnTo>
                  <a:pt x="870" y="768"/>
                </a:lnTo>
                <a:lnTo>
                  <a:pt x="868" y="758"/>
                </a:lnTo>
                <a:lnTo>
                  <a:pt x="865" y="751"/>
                </a:lnTo>
                <a:lnTo>
                  <a:pt x="859" y="737"/>
                </a:lnTo>
                <a:lnTo>
                  <a:pt x="835" y="737"/>
                </a:lnTo>
                <a:close/>
                <a:moveTo>
                  <a:pt x="751" y="737"/>
                </a:moveTo>
                <a:lnTo>
                  <a:pt x="751" y="819"/>
                </a:lnTo>
                <a:lnTo>
                  <a:pt x="754" y="832"/>
                </a:lnTo>
                <a:lnTo>
                  <a:pt x="760" y="843"/>
                </a:lnTo>
                <a:lnTo>
                  <a:pt x="770" y="848"/>
                </a:lnTo>
                <a:lnTo>
                  <a:pt x="784" y="849"/>
                </a:lnTo>
                <a:lnTo>
                  <a:pt x="797" y="848"/>
                </a:lnTo>
                <a:lnTo>
                  <a:pt x="806" y="844"/>
                </a:lnTo>
                <a:lnTo>
                  <a:pt x="813" y="837"/>
                </a:lnTo>
                <a:lnTo>
                  <a:pt x="815" y="831"/>
                </a:lnTo>
                <a:lnTo>
                  <a:pt x="817" y="824"/>
                </a:lnTo>
                <a:lnTo>
                  <a:pt x="817" y="737"/>
                </a:lnTo>
                <a:lnTo>
                  <a:pt x="795" y="737"/>
                </a:lnTo>
                <a:lnTo>
                  <a:pt x="795" y="820"/>
                </a:lnTo>
                <a:lnTo>
                  <a:pt x="793" y="823"/>
                </a:lnTo>
                <a:lnTo>
                  <a:pt x="793" y="826"/>
                </a:lnTo>
                <a:lnTo>
                  <a:pt x="791" y="828"/>
                </a:lnTo>
                <a:lnTo>
                  <a:pt x="788" y="830"/>
                </a:lnTo>
                <a:lnTo>
                  <a:pt x="784" y="830"/>
                </a:lnTo>
                <a:lnTo>
                  <a:pt x="777" y="827"/>
                </a:lnTo>
                <a:lnTo>
                  <a:pt x="774" y="822"/>
                </a:lnTo>
                <a:lnTo>
                  <a:pt x="772" y="815"/>
                </a:lnTo>
                <a:lnTo>
                  <a:pt x="772" y="737"/>
                </a:lnTo>
                <a:lnTo>
                  <a:pt x="751" y="737"/>
                </a:lnTo>
                <a:close/>
                <a:moveTo>
                  <a:pt x="688" y="737"/>
                </a:moveTo>
                <a:lnTo>
                  <a:pt x="688" y="848"/>
                </a:lnTo>
                <a:lnTo>
                  <a:pt x="734" y="848"/>
                </a:lnTo>
                <a:lnTo>
                  <a:pt x="734" y="827"/>
                </a:lnTo>
                <a:lnTo>
                  <a:pt x="711" y="827"/>
                </a:lnTo>
                <a:lnTo>
                  <a:pt x="711" y="737"/>
                </a:lnTo>
                <a:lnTo>
                  <a:pt x="688" y="737"/>
                </a:lnTo>
                <a:close/>
                <a:moveTo>
                  <a:pt x="595" y="735"/>
                </a:moveTo>
                <a:lnTo>
                  <a:pt x="595" y="847"/>
                </a:lnTo>
                <a:lnTo>
                  <a:pt x="618" y="847"/>
                </a:lnTo>
                <a:lnTo>
                  <a:pt x="618" y="735"/>
                </a:lnTo>
                <a:lnTo>
                  <a:pt x="595" y="735"/>
                </a:lnTo>
                <a:close/>
                <a:moveTo>
                  <a:pt x="526" y="735"/>
                </a:moveTo>
                <a:lnTo>
                  <a:pt x="526" y="847"/>
                </a:lnTo>
                <a:lnTo>
                  <a:pt x="548" y="847"/>
                </a:lnTo>
                <a:lnTo>
                  <a:pt x="548" y="796"/>
                </a:lnTo>
                <a:lnTo>
                  <a:pt x="568" y="847"/>
                </a:lnTo>
                <a:lnTo>
                  <a:pt x="592" y="847"/>
                </a:lnTo>
                <a:lnTo>
                  <a:pt x="572" y="796"/>
                </a:lnTo>
                <a:lnTo>
                  <a:pt x="581" y="789"/>
                </a:lnTo>
                <a:lnTo>
                  <a:pt x="586" y="779"/>
                </a:lnTo>
                <a:lnTo>
                  <a:pt x="588" y="767"/>
                </a:lnTo>
                <a:lnTo>
                  <a:pt x="586" y="754"/>
                </a:lnTo>
                <a:lnTo>
                  <a:pt x="581" y="746"/>
                </a:lnTo>
                <a:lnTo>
                  <a:pt x="573" y="739"/>
                </a:lnTo>
                <a:lnTo>
                  <a:pt x="565" y="737"/>
                </a:lnTo>
                <a:lnTo>
                  <a:pt x="556" y="735"/>
                </a:lnTo>
                <a:lnTo>
                  <a:pt x="526" y="735"/>
                </a:lnTo>
                <a:close/>
                <a:moveTo>
                  <a:pt x="396" y="735"/>
                </a:moveTo>
                <a:lnTo>
                  <a:pt x="428" y="847"/>
                </a:lnTo>
                <a:lnTo>
                  <a:pt x="446" y="847"/>
                </a:lnTo>
                <a:lnTo>
                  <a:pt x="478" y="735"/>
                </a:lnTo>
                <a:lnTo>
                  <a:pt x="478" y="847"/>
                </a:lnTo>
                <a:lnTo>
                  <a:pt x="522" y="847"/>
                </a:lnTo>
                <a:lnTo>
                  <a:pt x="522" y="826"/>
                </a:lnTo>
                <a:lnTo>
                  <a:pt x="500" y="826"/>
                </a:lnTo>
                <a:lnTo>
                  <a:pt x="500" y="801"/>
                </a:lnTo>
                <a:lnTo>
                  <a:pt x="519" y="801"/>
                </a:lnTo>
                <a:lnTo>
                  <a:pt x="519" y="780"/>
                </a:lnTo>
                <a:lnTo>
                  <a:pt x="500" y="780"/>
                </a:lnTo>
                <a:lnTo>
                  <a:pt x="500" y="756"/>
                </a:lnTo>
                <a:lnTo>
                  <a:pt x="522" y="756"/>
                </a:lnTo>
                <a:lnTo>
                  <a:pt x="522" y="735"/>
                </a:lnTo>
                <a:lnTo>
                  <a:pt x="454" y="735"/>
                </a:lnTo>
                <a:lnTo>
                  <a:pt x="441" y="789"/>
                </a:lnTo>
                <a:lnTo>
                  <a:pt x="438" y="798"/>
                </a:lnTo>
                <a:lnTo>
                  <a:pt x="437" y="807"/>
                </a:lnTo>
                <a:lnTo>
                  <a:pt x="434" y="798"/>
                </a:lnTo>
                <a:lnTo>
                  <a:pt x="433" y="789"/>
                </a:lnTo>
                <a:lnTo>
                  <a:pt x="420" y="735"/>
                </a:lnTo>
                <a:lnTo>
                  <a:pt x="396" y="735"/>
                </a:lnTo>
                <a:close/>
                <a:moveTo>
                  <a:pt x="261" y="690"/>
                </a:moveTo>
                <a:lnTo>
                  <a:pt x="303" y="690"/>
                </a:lnTo>
                <a:lnTo>
                  <a:pt x="303" y="743"/>
                </a:lnTo>
                <a:lnTo>
                  <a:pt x="261" y="743"/>
                </a:lnTo>
                <a:lnTo>
                  <a:pt x="261" y="690"/>
                </a:lnTo>
                <a:close/>
                <a:moveTo>
                  <a:pt x="996" y="684"/>
                </a:moveTo>
                <a:lnTo>
                  <a:pt x="1038" y="684"/>
                </a:lnTo>
                <a:lnTo>
                  <a:pt x="1038" y="739"/>
                </a:lnTo>
                <a:lnTo>
                  <a:pt x="996" y="739"/>
                </a:lnTo>
                <a:lnTo>
                  <a:pt x="996" y="684"/>
                </a:lnTo>
                <a:close/>
                <a:moveTo>
                  <a:pt x="0" y="665"/>
                </a:moveTo>
                <a:lnTo>
                  <a:pt x="2" y="666"/>
                </a:lnTo>
                <a:lnTo>
                  <a:pt x="9" y="671"/>
                </a:lnTo>
                <a:lnTo>
                  <a:pt x="19" y="679"/>
                </a:lnTo>
                <a:lnTo>
                  <a:pt x="32" y="691"/>
                </a:lnTo>
                <a:lnTo>
                  <a:pt x="45" y="705"/>
                </a:lnTo>
                <a:lnTo>
                  <a:pt x="58" y="724"/>
                </a:lnTo>
                <a:lnTo>
                  <a:pt x="70" y="744"/>
                </a:lnTo>
                <a:lnTo>
                  <a:pt x="79" y="769"/>
                </a:lnTo>
                <a:lnTo>
                  <a:pt x="86" y="797"/>
                </a:lnTo>
                <a:lnTo>
                  <a:pt x="87" y="793"/>
                </a:lnTo>
                <a:lnTo>
                  <a:pt x="89" y="784"/>
                </a:lnTo>
                <a:lnTo>
                  <a:pt x="94" y="768"/>
                </a:lnTo>
                <a:lnTo>
                  <a:pt x="100" y="751"/>
                </a:lnTo>
                <a:lnTo>
                  <a:pt x="110" y="731"/>
                </a:lnTo>
                <a:lnTo>
                  <a:pt x="123" y="713"/>
                </a:lnTo>
                <a:lnTo>
                  <a:pt x="140" y="697"/>
                </a:lnTo>
                <a:lnTo>
                  <a:pt x="161" y="684"/>
                </a:lnTo>
                <a:lnTo>
                  <a:pt x="161" y="703"/>
                </a:lnTo>
                <a:lnTo>
                  <a:pt x="158" y="716"/>
                </a:lnTo>
                <a:lnTo>
                  <a:pt x="153" y="733"/>
                </a:lnTo>
                <a:lnTo>
                  <a:pt x="145" y="751"/>
                </a:lnTo>
                <a:lnTo>
                  <a:pt x="132" y="773"/>
                </a:lnTo>
                <a:lnTo>
                  <a:pt x="113" y="797"/>
                </a:lnTo>
                <a:lnTo>
                  <a:pt x="89" y="823"/>
                </a:lnTo>
                <a:lnTo>
                  <a:pt x="86" y="822"/>
                </a:lnTo>
                <a:lnTo>
                  <a:pt x="79" y="816"/>
                </a:lnTo>
                <a:lnTo>
                  <a:pt x="69" y="809"/>
                </a:lnTo>
                <a:lnTo>
                  <a:pt x="56" y="797"/>
                </a:lnTo>
                <a:lnTo>
                  <a:pt x="41" y="782"/>
                </a:lnTo>
                <a:lnTo>
                  <a:pt x="28" y="764"/>
                </a:lnTo>
                <a:lnTo>
                  <a:pt x="17" y="744"/>
                </a:lnTo>
                <a:lnTo>
                  <a:pt x="7" y="721"/>
                </a:lnTo>
                <a:lnTo>
                  <a:pt x="1" y="693"/>
                </a:lnTo>
                <a:lnTo>
                  <a:pt x="0" y="665"/>
                </a:lnTo>
                <a:close/>
                <a:moveTo>
                  <a:pt x="1304" y="650"/>
                </a:moveTo>
                <a:lnTo>
                  <a:pt x="1304" y="679"/>
                </a:lnTo>
                <a:lnTo>
                  <a:pt x="1297" y="707"/>
                </a:lnTo>
                <a:lnTo>
                  <a:pt x="1288" y="730"/>
                </a:lnTo>
                <a:lnTo>
                  <a:pt x="1276" y="751"/>
                </a:lnTo>
                <a:lnTo>
                  <a:pt x="1263" y="768"/>
                </a:lnTo>
                <a:lnTo>
                  <a:pt x="1250" y="784"/>
                </a:lnTo>
                <a:lnTo>
                  <a:pt x="1237" y="794"/>
                </a:lnTo>
                <a:lnTo>
                  <a:pt x="1227" y="803"/>
                </a:lnTo>
                <a:lnTo>
                  <a:pt x="1220" y="809"/>
                </a:lnTo>
                <a:lnTo>
                  <a:pt x="1218" y="810"/>
                </a:lnTo>
                <a:lnTo>
                  <a:pt x="1193" y="785"/>
                </a:lnTo>
                <a:lnTo>
                  <a:pt x="1174" y="762"/>
                </a:lnTo>
                <a:lnTo>
                  <a:pt x="1160" y="739"/>
                </a:lnTo>
                <a:lnTo>
                  <a:pt x="1151" y="721"/>
                </a:lnTo>
                <a:lnTo>
                  <a:pt x="1145" y="704"/>
                </a:lnTo>
                <a:lnTo>
                  <a:pt x="1143" y="691"/>
                </a:lnTo>
                <a:lnTo>
                  <a:pt x="1143" y="672"/>
                </a:lnTo>
                <a:lnTo>
                  <a:pt x="1164" y="686"/>
                </a:lnTo>
                <a:lnTo>
                  <a:pt x="1181" y="701"/>
                </a:lnTo>
                <a:lnTo>
                  <a:pt x="1194" y="720"/>
                </a:lnTo>
                <a:lnTo>
                  <a:pt x="1204" y="738"/>
                </a:lnTo>
                <a:lnTo>
                  <a:pt x="1212" y="756"/>
                </a:lnTo>
                <a:lnTo>
                  <a:pt x="1216" y="771"/>
                </a:lnTo>
                <a:lnTo>
                  <a:pt x="1219" y="780"/>
                </a:lnTo>
                <a:lnTo>
                  <a:pt x="1220" y="784"/>
                </a:lnTo>
                <a:lnTo>
                  <a:pt x="1225" y="756"/>
                </a:lnTo>
                <a:lnTo>
                  <a:pt x="1235" y="731"/>
                </a:lnTo>
                <a:lnTo>
                  <a:pt x="1246" y="709"/>
                </a:lnTo>
                <a:lnTo>
                  <a:pt x="1259" y="691"/>
                </a:lnTo>
                <a:lnTo>
                  <a:pt x="1273" y="676"/>
                </a:lnTo>
                <a:lnTo>
                  <a:pt x="1284" y="665"/>
                </a:lnTo>
                <a:lnTo>
                  <a:pt x="1295" y="657"/>
                </a:lnTo>
                <a:lnTo>
                  <a:pt x="1301" y="652"/>
                </a:lnTo>
                <a:lnTo>
                  <a:pt x="1304" y="650"/>
                </a:lnTo>
                <a:close/>
                <a:moveTo>
                  <a:pt x="93" y="631"/>
                </a:moveTo>
                <a:lnTo>
                  <a:pt x="96" y="632"/>
                </a:lnTo>
                <a:lnTo>
                  <a:pt x="99" y="633"/>
                </a:lnTo>
                <a:lnTo>
                  <a:pt x="102" y="641"/>
                </a:lnTo>
                <a:lnTo>
                  <a:pt x="100" y="645"/>
                </a:lnTo>
                <a:lnTo>
                  <a:pt x="99" y="648"/>
                </a:lnTo>
                <a:lnTo>
                  <a:pt x="96" y="649"/>
                </a:lnTo>
                <a:lnTo>
                  <a:pt x="93" y="650"/>
                </a:lnTo>
                <a:lnTo>
                  <a:pt x="85" y="648"/>
                </a:lnTo>
                <a:lnTo>
                  <a:pt x="83" y="645"/>
                </a:lnTo>
                <a:lnTo>
                  <a:pt x="82" y="641"/>
                </a:lnTo>
                <a:lnTo>
                  <a:pt x="85" y="633"/>
                </a:lnTo>
                <a:lnTo>
                  <a:pt x="93" y="631"/>
                </a:lnTo>
                <a:close/>
                <a:moveTo>
                  <a:pt x="1211" y="618"/>
                </a:moveTo>
                <a:lnTo>
                  <a:pt x="1215" y="619"/>
                </a:lnTo>
                <a:lnTo>
                  <a:pt x="1218" y="620"/>
                </a:lnTo>
                <a:lnTo>
                  <a:pt x="1219" y="623"/>
                </a:lnTo>
                <a:lnTo>
                  <a:pt x="1220" y="627"/>
                </a:lnTo>
                <a:lnTo>
                  <a:pt x="1218" y="635"/>
                </a:lnTo>
                <a:lnTo>
                  <a:pt x="1215" y="636"/>
                </a:lnTo>
                <a:lnTo>
                  <a:pt x="1211" y="637"/>
                </a:lnTo>
                <a:lnTo>
                  <a:pt x="1203" y="635"/>
                </a:lnTo>
                <a:lnTo>
                  <a:pt x="1200" y="627"/>
                </a:lnTo>
                <a:lnTo>
                  <a:pt x="1202" y="623"/>
                </a:lnTo>
                <a:lnTo>
                  <a:pt x="1203" y="620"/>
                </a:lnTo>
                <a:lnTo>
                  <a:pt x="1211" y="618"/>
                </a:lnTo>
                <a:close/>
                <a:moveTo>
                  <a:pt x="960" y="608"/>
                </a:moveTo>
                <a:lnTo>
                  <a:pt x="987" y="637"/>
                </a:lnTo>
                <a:lnTo>
                  <a:pt x="987" y="1124"/>
                </a:lnTo>
                <a:lnTo>
                  <a:pt x="711" y="1124"/>
                </a:lnTo>
                <a:lnTo>
                  <a:pt x="702" y="1127"/>
                </a:lnTo>
                <a:lnTo>
                  <a:pt x="696" y="1132"/>
                </a:lnTo>
                <a:lnTo>
                  <a:pt x="691" y="1139"/>
                </a:lnTo>
                <a:lnTo>
                  <a:pt x="688" y="1145"/>
                </a:lnTo>
                <a:lnTo>
                  <a:pt x="687" y="1150"/>
                </a:lnTo>
                <a:lnTo>
                  <a:pt x="687" y="1153"/>
                </a:lnTo>
                <a:lnTo>
                  <a:pt x="620" y="1153"/>
                </a:lnTo>
                <a:lnTo>
                  <a:pt x="618" y="1141"/>
                </a:lnTo>
                <a:lnTo>
                  <a:pt x="612" y="1133"/>
                </a:lnTo>
                <a:lnTo>
                  <a:pt x="603" y="1128"/>
                </a:lnTo>
                <a:lnTo>
                  <a:pt x="595" y="1125"/>
                </a:lnTo>
                <a:lnTo>
                  <a:pt x="590" y="1124"/>
                </a:lnTo>
                <a:lnTo>
                  <a:pt x="316" y="1124"/>
                </a:lnTo>
                <a:lnTo>
                  <a:pt x="316" y="642"/>
                </a:lnTo>
                <a:lnTo>
                  <a:pt x="347" y="612"/>
                </a:lnTo>
                <a:lnTo>
                  <a:pt x="347" y="1093"/>
                </a:lnTo>
                <a:lnTo>
                  <a:pt x="589" y="1093"/>
                </a:lnTo>
                <a:lnTo>
                  <a:pt x="609" y="1097"/>
                </a:lnTo>
                <a:lnTo>
                  <a:pt x="624" y="1102"/>
                </a:lnTo>
                <a:lnTo>
                  <a:pt x="636" y="1110"/>
                </a:lnTo>
                <a:lnTo>
                  <a:pt x="645" y="1118"/>
                </a:lnTo>
                <a:lnTo>
                  <a:pt x="650" y="1123"/>
                </a:lnTo>
                <a:lnTo>
                  <a:pt x="652" y="1125"/>
                </a:lnTo>
                <a:lnTo>
                  <a:pt x="667" y="1110"/>
                </a:lnTo>
                <a:lnTo>
                  <a:pt x="684" y="1099"/>
                </a:lnTo>
                <a:lnTo>
                  <a:pt x="699" y="1094"/>
                </a:lnTo>
                <a:lnTo>
                  <a:pt x="708" y="1091"/>
                </a:lnTo>
                <a:lnTo>
                  <a:pt x="960" y="1091"/>
                </a:lnTo>
                <a:lnTo>
                  <a:pt x="960" y="608"/>
                </a:lnTo>
                <a:close/>
                <a:moveTo>
                  <a:pt x="819" y="607"/>
                </a:moveTo>
                <a:lnTo>
                  <a:pt x="946" y="607"/>
                </a:lnTo>
                <a:lnTo>
                  <a:pt x="946" y="1076"/>
                </a:lnTo>
                <a:lnTo>
                  <a:pt x="712" y="1076"/>
                </a:lnTo>
                <a:lnTo>
                  <a:pt x="695" y="1078"/>
                </a:lnTo>
                <a:lnTo>
                  <a:pt x="681" y="1084"/>
                </a:lnTo>
                <a:lnTo>
                  <a:pt x="670" y="1089"/>
                </a:lnTo>
                <a:lnTo>
                  <a:pt x="664" y="1094"/>
                </a:lnTo>
                <a:lnTo>
                  <a:pt x="661" y="1097"/>
                </a:lnTo>
                <a:lnTo>
                  <a:pt x="661" y="718"/>
                </a:lnTo>
                <a:lnTo>
                  <a:pt x="692" y="716"/>
                </a:lnTo>
                <a:lnTo>
                  <a:pt x="720" y="708"/>
                </a:lnTo>
                <a:lnTo>
                  <a:pt x="743" y="697"/>
                </a:lnTo>
                <a:lnTo>
                  <a:pt x="763" y="684"/>
                </a:lnTo>
                <a:lnTo>
                  <a:pt x="779" y="670"/>
                </a:lnTo>
                <a:lnTo>
                  <a:pt x="793" y="654"/>
                </a:lnTo>
                <a:lnTo>
                  <a:pt x="802" y="640"/>
                </a:lnTo>
                <a:lnTo>
                  <a:pt x="810" y="627"/>
                </a:lnTo>
                <a:lnTo>
                  <a:pt x="815" y="616"/>
                </a:lnTo>
                <a:lnTo>
                  <a:pt x="818" y="610"/>
                </a:lnTo>
                <a:lnTo>
                  <a:pt x="819" y="607"/>
                </a:lnTo>
                <a:close/>
                <a:moveTo>
                  <a:pt x="360" y="607"/>
                </a:moveTo>
                <a:lnTo>
                  <a:pt x="476" y="607"/>
                </a:lnTo>
                <a:lnTo>
                  <a:pt x="476" y="610"/>
                </a:lnTo>
                <a:lnTo>
                  <a:pt x="479" y="615"/>
                </a:lnTo>
                <a:lnTo>
                  <a:pt x="483" y="624"/>
                </a:lnTo>
                <a:lnTo>
                  <a:pt x="488" y="636"/>
                </a:lnTo>
                <a:lnTo>
                  <a:pt x="497" y="649"/>
                </a:lnTo>
                <a:lnTo>
                  <a:pt x="508" y="663"/>
                </a:lnTo>
                <a:lnTo>
                  <a:pt x="522" y="678"/>
                </a:lnTo>
                <a:lnTo>
                  <a:pt x="539" y="691"/>
                </a:lnTo>
                <a:lnTo>
                  <a:pt x="559" y="703"/>
                </a:lnTo>
                <a:lnTo>
                  <a:pt x="584" y="712"/>
                </a:lnTo>
                <a:lnTo>
                  <a:pt x="612" y="720"/>
                </a:lnTo>
                <a:lnTo>
                  <a:pt x="645" y="722"/>
                </a:lnTo>
                <a:lnTo>
                  <a:pt x="645" y="1097"/>
                </a:lnTo>
                <a:lnTo>
                  <a:pt x="643" y="1095"/>
                </a:lnTo>
                <a:lnTo>
                  <a:pt x="637" y="1091"/>
                </a:lnTo>
                <a:lnTo>
                  <a:pt x="628" y="1086"/>
                </a:lnTo>
                <a:lnTo>
                  <a:pt x="618" y="1081"/>
                </a:lnTo>
                <a:lnTo>
                  <a:pt x="605" y="1077"/>
                </a:lnTo>
                <a:lnTo>
                  <a:pt x="592" y="1076"/>
                </a:lnTo>
                <a:lnTo>
                  <a:pt x="360" y="1076"/>
                </a:lnTo>
                <a:lnTo>
                  <a:pt x="360" y="607"/>
                </a:lnTo>
                <a:close/>
                <a:moveTo>
                  <a:pt x="341" y="555"/>
                </a:moveTo>
                <a:lnTo>
                  <a:pt x="467" y="556"/>
                </a:lnTo>
                <a:lnTo>
                  <a:pt x="467" y="581"/>
                </a:lnTo>
                <a:lnTo>
                  <a:pt x="470" y="590"/>
                </a:lnTo>
                <a:lnTo>
                  <a:pt x="381" y="590"/>
                </a:lnTo>
                <a:lnTo>
                  <a:pt x="341" y="555"/>
                </a:lnTo>
                <a:close/>
                <a:moveTo>
                  <a:pt x="18" y="552"/>
                </a:moveTo>
                <a:lnTo>
                  <a:pt x="26" y="560"/>
                </a:lnTo>
                <a:lnTo>
                  <a:pt x="35" y="570"/>
                </a:lnTo>
                <a:lnTo>
                  <a:pt x="45" y="583"/>
                </a:lnTo>
                <a:lnTo>
                  <a:pt x="56" y="600"/>
                </a:lnTo>
                <a:lnTo>
                  <a:pt x="66" y="620"/>
                </a:lnTo>
                <a:lnTo>
                  <a:pt x="74" y="644"/>
                </a:lnTo>
                <a:lnTo>
                  <a:pt x="79" y="669"/>
                </a:lnTo>
                <a:lnTo>
                  <a:pt x="81" y="697"/>
                </a:lnTo>
                <a:lnTo>
                  <a:pt x="82" y="693"/>
                </a:lnTo>
                <a:lnTo>
                  <a:pt x="86" y="684"/>
                </a:lnTo>
                <a:lnTo>
                  <a:pt x="94" y="671"/>
                </a:lnTo>
                <a:lnTo>
                  <a:pt x="103" y="654"/>
                </a:lnTo>
                <a:lnTo>
                  <a:pt x="116" y="637"/>
                </a:lnTo>
                <a:lnTo>
                  <a:pt x="133" y="621"/>
                </a:lnTo>
                <a:lnTo>
                  <a:pt x="153" y="608"/>
                </a:lnTo>
                <a:lnTo>
                  <a:pt x="175" y="599"/>
                </a:lnTo>
                <a:lnTo>
                  <a:pt x="175" y="602"/>
                </a:lnTo>
                <a:lnTo>
                  <a:pt x="174" y="610"/>
                </a:lnTo>
                <a:lnTo>
                  <a:pt x="170" y="621"/>
                </a:lnTo>
                <a:lnTo>
                  <a:pt x="163" y="637"/>
                </a:lnTo>
                <a:lnTo>
                  <a:pt x="153" y="655"/>
                </a:lnTo>
                <a:lnTo>
                  <a:pt x="136" y="676"/>
                </a:lnTo>
                <a:lnTo>
                  <a:pt x="111" y="700"/>
                </a:lnTo>
                <a:lnTo>
                  <a:pt x="79" y="724"/>
                </a:lnTo>
                <a:lnTo>
                  <a:pt x="77" y="721"/>
                </a:lnTo>
                <a:lnTo>
                  <a:pt x="70" y="716"/>
                </a:lnTo>
                <a:lnTo>
                  <a:pt x="62" y="705"/>
                </a:lnTo>
                <a:lnTo>
                  <a:pt x="52" y="692"/>
                </a:lnTo>
                <a:lnTo>
                  <a:pt x="40" y="675"/>
                </a:lnTo>
                <a:lnTo>
                  <a:pt x="30" y="655"/>
                </a:lnTo>
                <a:lnTo>
                  <a:pt x="22" y="633"/>
                </a:lnTo>
                <a:lnTo>
                  <a:pt x="15" y="608"/>
                </a:lnTo>
                <a:lnTo>
                  <a:pt x="14" y="581"/>
                </a:lnTo>
                <a:lnTo>
                  <a:pt x="18" y="552"/>
                </a:lnTo>
                <a:close/>
                <a:moveTo>
                  <a:pt x="1282" y="538"/>
                </a:moveTo>
                <a:lnTo>
                  <a:pt x="1287" y="566"/>
                </a:lnTo>
                <a:lnTo>
                  <a:pt x="1286" y="594"/>
                </a:lnTo>
                <a:lnTo>
                  <a:pt x="1282" y="619"/>
                </a:lnTo>
                <a:lnTo>
                  <a:pt x="1274" y="641"/>
                </a:lnTo>
                <a:lnTo>
                  <a:pt x="1263" y="661"/>
                </a:lnTo>
                <a:lnTo>
                  <a:pt x="1253" y="678"/>
                </a:lnTo>
                <a:lnTo>
                  <a:pt x="1242" y="691"/>
                </a:lnTo>
                <a:lnTo>
                  <a:pt x="1233" y="701"/>
                </a:lnTo>
                <a:lnTo>
                  <a:pt x="1225" y="709"/>
                </a:lnTo>
                <a:lnTo>
                  <a:pt x="1193" y="687"/>
                </a:lnTo>
                <a:lnTo>
                  <a:pt x="1169" y="665"/>
                </a:lnTo>
                <a:lnTo>
                  <a:pt x="1151" y="644"/>
                </a:lnTo>
                <a:lnTo>
                  <a:pt x="1139" y="625"/>
                </a:lnTo>
                <a:lnTo>
                  <a:pt x="1132" y="611"/>
                </a:lnTo>
                <a:lnTo>
                  <a:pt x="1128" y="599"/>
                </a:lnTo>
                <a:lnTo>
                  <a:pt x="1127" y="591"/>
                </a:lnTo>
                <a:lnTo>
                  <a:pt x="1127" y="589"/>
                </a:lnTo>
                <a:lnTo>
                  <a:pt x="1149" y="598"/>
                </a:lnTo>
                <a:lnTo>
                  <a:pt x="1170" y="610"/>
                </a:lnTo>
                <a:lnTo>
                  <a:pt x="1186" y="625"/>
                </a:lnTo>
                <a:lnTo>
                  <a:pt x="1199" y="642"/>
                </a:lnTo>
                <a:lnTo>
                  <a:pt x="1210" y="658"/>
                </a:lnTo>
                <a:lnTo>
                  <a:pt x="1218" y="671"/>
                </a:lnTo>
                <a:lnTo>
                  <a:pt x="1221" y="680"/>
                </a:lnTo>
                <a:lnTo>
                  <a:pt x="1223" y="684"/>
                </a:lnTo>
                <a:lnTo>
                  <a:pt x="1223" y="655"/>
                </a:lnTo>
                <a:lnTo>
                  <a:pt x="1228" y="629"/>
                </a:lnTo>
                <a:lnTo>
                  <a:pt x="1235" y="607"/>
                </a:lnTo>
                <a:lnTo>
                  <a:pt x="1245" y="586"/>
                </a:lnTo>
                <a:lnTo>
                  <a:pt x="1256" y="569"/>
                </a:lnTo>
                <a:lnTo>
                  <a:pt x="1265" y="556"/>
                </a:lnTo>
                <a:lnTo>
                  <a:pt x="1274" y="545"/>
                </a:lnTo>
                <a:lnTo>
                  <a:pt x="1282" y="538"/>
                </a:lnTo>
                <a:close/>
                <a:moveTo>
                  <a:pt x="243" y="463"/>
                </a:moveTo>
                <a:lnTo>
                  <a:pt x="399" y="463"/>
                </a:lnTo>
                <a:lnTo>
                  <a:pt x="464" y="528"/>
                </a:lnTo>
                <a:lnTo>
                  <a:pt x="464" y="543"/>
                </a:lnTo>
                <a:lnTo>
                  <a:pt x="331" y="543"/>
                </a:lnTo>
                <a:lnTo>
                  <a:pt x="243" y="463"/>
                </a:lnTo>
                <a:close/>
                <a:moveTo>
                  <a:pt x="57" y="445"/>
                </a:moveTo>
                <a:lnTo>
                  <a:pt x="58" y="447"/>
                </a:lnTo>
                <a:lnTo>
                  <a:pt x="64" y="454"/>
                </a:lnTo>
                <a:lnTo>
                  <a:pt x="70" y="466"/>
                </a:lnTo>
                <a:lnTo>
                  <a:pt x="78" y="480"/>
                </a:lnTo>
                <a:lnTo>
                  <a:pt x="86" y="498"/>
                </a:lnTo>
                <a:lnTo>
                  <a:pt x="93" y="521"/>
                </a:lnTo>
                <a:lnTo>
                  <a:pt x="96" y="544"/>
                </a:lnTo>
                <a:lnTo>
                  <a:pt x="96" y="570"/>
                </a:lnTo>
                <a:lnTo>
                  <a:pt x="93" y="599"/>
                </a:lnTo>
                <a:lnTo>
                  <a:pt x="94" y="597"/>
                </a:lnTo>
                <a:lnTo>
                  <a:pt x="99" y="590"/>
                </a:lnTo>
                <a:lnTo>
                  <a:pt x="106" y="580"/>
                </a:lnTo>
                <a:lnTo>
                  <a:pt x="116" y="566"/>
                </a:lnTo>
                <a:lnTo>
                  <a:pt x="129" y="555"/>
                </a:lnTo>
                <a:lnTo>
                  <a:pt x="145" y="542"/>
                </a:lnTo>
                <a:lnTo>
                  <a:pt x="162" y="530"/>
                </a:lnTo>
                <a:lnTo>
                  <a:pt x="182" y="522"/>
                </a:lnTo>
                <a:lnTo>
                  <a:pt x="203" y="518"/>
                </a:lnTo>
                <a:lnTo>
                  <a:pt x="203" y="521"/>
                </a:lnTo>
                <a:lnTo>
                  <a:pt x="200" y="528"/>
                </a:lnTo>
                <a:lnTo>
                  <a:pt x="195" y="539"/>
                </a:lnTo>
                <a:lnTo>
                  <a:pt x="184" y="553"/>
                </a:lnTo>
                <a:lnTo>
                  <a:pt x="170" y="570"/>
                </a:lnTo>
                <a:lnTo>
                  <a:pt x="150" y="587"/>
                </a:lnTo>
                <a:lnTo>
                  <a:pt x="123" y="606"/>
                </a:lnTo>
                <a:lnTo>
                  <a:pt x="87" y="624"/>
                </a:lnTo>
                <a:lnTo>
                  <a:pt x="86" y="621"/>
                </a:lnTo>
                <a:lnTo>
                  <a:pt x="81" y="615"/>
                </a:lnTo>
                <a:lnTo>
                  <a:pt x="73" y="603"/>
                </a:lnTo>
                <a:lnTo>
                  <a:pt x="65" y="589"/>
                </a:lnTo>
                <a:lnTo>
                  <a:pt x="57" y="570"/>
                </a:lnTo>
                <a:lnTo>
                  <a:pt x="51" y="548"/>
                </a:lnTo>
                <a:lnTo>
                  <a:pt x="45" y="525"/>
                </a:lnTo>
                <a:lnTo>
                  <a:pt x="44" y="500"/>
                </a:lnTo>
                <a:lnTo>
                  <a:pt x="48" y="472"/>
                </a:lnTo>
                <a:lnTo>
                  <a:pt x="57" y="445"/>
                </a:lnTo>
                <a:close/>
                <a:moveTo>
                  <a:pt x="149" y="443"/>
                </a:moveTo>
                <a:lnTo>
                  <a:pt x="153" y="443"/>
                </a:lnTo>
                <a:lnTo>
                  <a:pt x="157" y="445"/>
                </a:lnTo>
                <a:lnTo>
                  <a:pt x="159" y="446"/>
                </a:lnTo>
                <a:lnTo>
                  <a:pt x="162" y="454"/>
                </a:lnTo>
                <a:lnTo>
                  <a:pt x="161" y="458"/>
                </a:lnTo>
                <a:lnTo>
                  <a:pt x="159" y="460"/>
                </a:lnTo>
                <a:lnTo>
                  <a:pt x="157" y="463"/>
                </a:lnTo>
                <a:lnTo>
                  <a:pt x="153" y="464"/>
                </a:lnTo>
                <a:lnTo>
                  <a:pt x="149" y="464"/>
                </a:lnTo>
                <a:lnTo>
                  <a:pt x="146" y="462"/>
                </a:lnTo>
                <a:lnTo>
                  <a:pt x="144" y="460"/>
                </a:lnTo>
                <a:lnTo>
                  <a:pt x="142" y="456"/>
                </a:lnTo>
                <a:lnTo>
                  <a:pt x="142" y="451"/>
                </a:lnTo>
                <a:lnTo>
                  <a:pt x="144" y="447"/>
                </a:lnTo>
                <a:lnTo>
                  <a:pt x="146" y="446"/>
                </a:lnTo>
                <a:lnTo>
                  <a:pt x="149" y="443"/>
                </a:lnTo>
                <a:close/>
                <a:moveTo>
                  <a:pt x="1241" y="432"/>
                </a:moveTo>
                <a:lnTo>
                  <a:pt x="1250" y="459"/>
                </a:lnTo>
                <a:lnTo>
                  <a:pt x="1254" y="487"/>
                </a:lnTo>
                <a:lnTo>
                  <a:pt x="1254" y="511"/>
                </a:lnTo>
                <a:lnTo>
                  <a:pt x="1250" y="535"/>
                </a:lnTo>
                <a:lnTo>
                  <a:pt x="1244" y="556"/>
                </a:lnTo>
                <a:lnTo>
                  <a:pt x="1236" y="574"/>
                </a:lnTo>
                <a:lnTo>
                  <a:pt x="1228" y="590"/>
                </a:lnTo>
                <a:lnTo>
                  <a:pt x="1221" y="602"/>
                </a:lnTo>
                <a:lnTo>
                  <a:pt x="1216" y="608"/>
                </a:lnTo>
                <a:lnTo>
                  <a:pt x="1215" y="611"/>
                </a:lnTo>
                <a:lnTo>
                  <a:pt x="1180" y="594"/>
                </a:lnTo>
                <a:lnTo>
                  <a:pt x="1151" y="576"/>
                </a:lnTo>
                <a:lnTo>
                  <a:pt x="1130" y="559"/>
                </a:lnTo>
                <a:lnTo>
                  <a:pt x="1115" y="543"/>
                </a:lnTo>
                <a:lnTo>
                  <a:pt x="1106" y="528"/>
                </a:lnTo>
                <a:lnTo>
                  <a:pt x="1101" y="518"/>
                </a:lnTo>
                <a:lnTo>
                  <a:pt x="1098" y="510"/>
                </a:lnTo>
                <a:lnTo>
                  <a:pt x="1097" y="508"/>
                </a:lnTo>
                <a:lnTo>
                  <a:pt x="1119" y="511"/>
                </a:lnTo>
                <a:lnTo>
                  <a:pt x="1139" y="519"/>
                </a:lnTo>
                <a:lnTo>
                  <a:pt x="1156" y="530"/>
                </a:lnTo>
                <a:lnTo>
                  <a:pt x="1172" y="542"/>
                </a:lnTo>
                <a:lnTo>
                  <a:pt x="1185" y="555"/>
                </a:lnTo>
                <a:lnTo>
                  <a:pt x="1195" y="566"/>
                </a:lnTo>
                <a:lnTo>
                  <a:pt x="1202" y="577"/>
                </a:lnTo>
                <a:lnTo>
                  <a:pt x="1207" y="583"/>
                </a:lnTo>
                <a:lnTo>
                  <a:pt x="1208" y="586"/>
                </a:lnTo>
                <a:lnTo>
                  <a:pt x="1203" y="557"/>
                </a:lnTo>
                <a:lnTo>
                  <a:pt x="1203" y="531"/>
                </a:lnTo>
                <a:lnTo>
                  <a:pt x="1207" y="508"/>
                </a:lnTo>
                <a:lnTo>
                  <a:pt x="1212" y="485"/>
                </a:lnTo>
                <a:lnTo>
                  <a:pt x="1220" y="467"/>
                </a:lnTo>
                <a:lnTo>
                  <a:pt x="1228" y="453"/>
                </a:lnTo>
                <a:lnTo>
                  <a:pt x="1235" y="441"/>
                </a:lnTo>
                <a:lnTo>
                  <a:pt x="1240" y="434"/>
                </a:lnTo>
                <a:lnTo>
                  <a:pt x="1241" y="432"/>
                </a:lnTo>
                <a:close/>
                <a:moveTo>
                  <a:pt x="1145" y="432"/>
                </a:moveTo>
                <a:lnTo>
                  <a:pt x="1153" y="434"/>
                </a:lnTo>
                <a:lnTo>
                  <a:pt x="1156" y="442"/>
                </a:lnTo>
                <a:lnTo>
                  <a:pt x="1155" y="446"/>
                </a:lnTo>
                <a:lnTo>
                  <a:pt x="1153" y="449"/>
                </a:lnTo>
                <a:lnTo>
                  <a:pt x="1149" y="451"/>
                </a:lnTo>
                <a:lnTo>
                  <a:pt x="1145" y="453"/>
                </a:lnTo>
                <a:lnTo>
                  <a:pt x="1142" y="451"/>
                </a:lnTo>
                <a:lnTo>
                  <a:pt x="1136" y="446"/>
                </a:lnTo>
                <a:lnTo>
                  <a:pt x="1135" y="442"/>
                </a:lnTo>
                <a:lnTo>
                  <a:pt x="1136" y="438"/>
                </a:lnTo>
                <a:lnTo>
                  <a:pt x="1139" y="434"/>
                </a:lnTo>
                <a:lnTo>
                  <a:pt x="1142" y="433"/>
                </a:lnTo>
                <a:lnTo>
                  <a:pt x="1145" y="432"/>
                </a:lnTo>
                <a:close/>
                <a:moveTo>
                  <a:pt x="314" y="379"/>
                </a:moveTo>
                <a:lnTo>
                  <a:pt x="386" y="451"/>
                </a:lnTo>
                <a:lnTo>
                  <a:pt x="233" y="451"/>
                </a:lnTo>
                <a:lnTo>
                  <a:pt x="217" y="438"/>
                </a:lnTo>
                <a:lnTo>
                  <a:pt x="238" y="434"/>
                </a:lnTo>
                <a:lnTo>
                  <a:pt x="255" y="428"/>
                </a:lnTo>
                <a:lnTo>
                  <a:pt x="269" y="420"/>
                </a:lnTo>
                <a:lnTo>
                  <a:pt x="281" y="413"/>
                </a:lnTo>
                <a:lnTo>
                  <a:pt x="289" y="407"/>
                </a:lnTo>
                <a:lnTo>
                  <a:pt x="293" y="404"/>
                </a:lnTo>
                <a:lnTo>
                  <a:pt x="297" y="400"/>
                </a:lnTo>
                <a:lnTo>
                  <a:pt x="307" y="387"/>
                </a:lnTo>
                <a:lnTo>
                  <a:pt x="313" y="382"/>
                </a:lnTo>
                <a:lnTo>
                  <a:pt x="314" y="379"/>
                </a:lnTo>
                <a:close/>
                <a:moveTo>
                  <a:pt x="899" y="365"/>
                </a:moveTo>
                <a:lnTo>
                  <a:pt x="996" y="463"/>
                </a:lnTo>
                <a:lnTo>
                  <a:pt x="868" y="591"/>
                </a:lnTo>
                <a:lnTo>
                  <a:pt x="823" y="591"/>
                </a:lnTo>
                <a:lnTo>
                  <a:pt x="829" y="573"/>
                </a:lnTo>
                <a:lnTo>
                  <a:pt x="830" y="564"/>
                </a:lnTo>
                <a:lnTo>
                  <a:pt x="830" y="439"/>
                </a:lnTo>
                <a:lnTo>
                  <a:pt x="899" y="365"/>
                </a:lnTo>
                <a:close/>
                <a:moveTo>
                  <a:pt x="108" y="354"/>
                </a:moveTo>
                <a:lnTo>
                  <a:pt x="123" y="366"/>
                </a:lnTo>
                <a:lnTo>
                  <a:pt x="129" y="386"/>
                </a:lnTo>
                <a:lnTo>
                  <a:pt x="134" y="411"/>
                </a:lnTo>
                <a:lnTo>
                  <a:pt x="136" y="439"/>
                </a:lnTo>
                <a:lnTo>
                  <a:pt x="133" y="471"/>
                </a:lnTo>
                <a:lnTo>
                  <a:pt x="123" y="504"/>
                </a:lnTo>
                <a:lnTo>
                  <a:pt x="125" y="501"/>
                </a:lnTo>
                <a:lnTo>
                  <a:pt x="131" y="494"/>
                </a:lnTo>
                <a:lnTo>
                  <a:pt x="141" y="485"/>
                </a:lnTo>
                <a:lnTo>
                  <a:pt x="154" y="475"/>
                </a:lnTo>
                <a:lnTo>
                  <a:pt x="170" y="463"/>
                </a:lnTo>
                <a:lnTo>
                  <a:pt x="188" y="454"/>
                </a:lnTo>
                <a:lnTo>
                  <a:pt x="209" y="446"/>
                </a:lnTo>
                <a:lnTo>
                  <a:pt x="230" y="466"/>
                </a:lnTo>
                <a:lnTo>
                  <a:pt x="220" y="476"/>
                </a:lnTo>
                <a:lnTo>
                  <a:pt x="206" y="487"/>
                </a:lnTo>
                <a:lnTo>
                  <a:pt x="189" y="497"/>
                </a:lnTo>
                <a:lnTo>
                  <a:pt x="168" y="509"/>
                </a:lnTo>
                <a:lnTo>
                  <a:pt x="142" y="518"/>
                </a:lnTo>
                <a:lnTo>
                  <a:pt x="112" y="527"/>
                </a:lnTo>
                <a:lnTo>
                  <a:pt x="111" y="525"/>
                </a:lnTo>
                <a:lnTo>
                  <a:pt x="107" y="515"/>
                </a:lnTo>
                <a:lnTo>
                  <a:pt x="102" y="501"/>
                </a:lnTo>
                <a:lnTo>
                  <a:pt x="96" y="483"/>
                </a:lnTo>
                <a:lnTo>
                  <a:pt x="91" y="460"/>
                </a:lnTo>
                <a:lnTo>
                  <a:pt x="90" y="436"/>
                </a:lnTo>
                <a:lnTo>
                  <a:pt x="91" y="409"/>
                </a:lnTo>
                <a:lnTo>
                  <a:pt x="96" y="382"/>
                </a:lnTo>
                <a:lnTo>
                  <a:pt x="108" y="354"/>
                </a:lnTo>
                <a:close/>
                <a:moveTo>
                  <a:pt x="375" y="350"/>
                </a:moveTo>
                <a:lnTo>
                  <a:pt x="464" y="441"/>
                </a:lnTo>
                <a:lnTo>
                  <a:pt x="464" y="509"/>
                </a:lnTo>
                <a:lnTo>
                  <a:pt x="375" y="421"/>
                </a:lnTo>
                <a:lnTo>
                  <a:pt x="375" y="350"/>
                </a:lnTo>
                <a:close/>
                <a:moveTo>
                  <a:pt x="1151" y="340"/>
                </a:moveTo>
                <a:lnTo>
                  <a:pt x="1152" y="362"/>
                </a:lnTo>
                <a:lnTo>
                  <a:pt x="1151" y="382"/>
                </a:lnTo>
                <a:lnTo>
                  <a:pt x="1149" y="400"/>
                </a:lnTo>
                <a:lnTo>
                  <a:pt x="1147" y="413"/>
                </a:lnTo>
                <a:lnTo>
                  <a:pt x="1145" y="422"/>
                </a:lnTo>
                <a:lnTo>
                  <a:pt x="1144" y="425"/>
                </a:lnTo>
                <a:lnTo>
                  <a:pt x="1117" y="422"/>
                </a:lnTo>
                <a:lnTo>
                  <a:pt x="1093" y="420"/>
                </a:lnTo>
                <a:lnTo>
                  <a:pt x="1073" y="415"/>
                </a:lnTo>
                <a:lnTo>
                  <a:pt x="1102" y="386"/>
                </a:lnTo>
                <a:lnTo>
                  <a:pt x="1114" y="392"/>
                </a:lnTo>
                <a:lnTo>
                  <a:pt x="1122" y="399"/>
                </a:lnTo>
                <a:lnTo>
                  <a:pt x="1128" y="403"/>
                </a:lnTo>
                <a:lnTo>
                  <a:pt x="1130" y="404"/>
                </a:lnTo>
                <a:lnTo>
                  <a:pt x="1121" y="390"/>
                </a:lnTo>
                <a:lnTo>
                  <a:pt x="1114" y="375"/>
                </a:lnTo>
                <a:lnTo>
                  <a:pt x="1151" y="340"/>
                </a:lnTo>
                <a:close/>
                <a:moveTo>
                  <a:pt x="361" y="339"/>
                </a:moveTo>
                <a:lnTo>
                  <a:pt x="361" y="405"/>
                </a:lnTo>
                <a:lnTo>
                  <a:pt x="313" y="361"/>
                </a:lnTo>
                <a:lnTo>
                  <a:pt x="332" y="356"/>
                </a:lnTo>
                <a:lnTo>
                  <a:pt x="347" y="349"/>
                </a:lnTo>
                <a:lnTo>
                  <a:pt x="354" y="344"/>
                </a:lnTo>
                <a:lnTo>
                  <a:pt x="360" y="340"/>
                </a:lnTo>
                <a:lnTo>
                  <a:pt x="361" y="339"/>
                </a:lnTo>
                <a:close/>
                <a:moveTo>
                  <a:pt x="1182" y="333"/>
                </a:moveTo>
                <a:lnTo>
                  <a:pt x="1197" y="358"/>
                </a:lnTo>
                <a:lnTo>
                  <a:pt x="1204" y="384"/>
                </a:lnTo>
                <a:lnTo>
                  <a:pt x="1208" y="409"/>
                </a:lnTo>
                <a:lnTo>
                  <a:pt x="1208" y="433"/>
                </a:lnTo>
                <a:lnTo>
                  <a:pt x="1207" y="455"/>
                </a:lnTo>
                <a:lnTo>
                  <a:pt x="1202" y="475"/>
                </a:lnTo>
                <a:lnTo>
                  <a:pt x="1197" y="491"/>
                </a:lnTo>
                <a:lnTo>
                  <a:pt x="1193" y="504"/>
                </a:lnTo>
                <a:lnTo>
                  <a:pt x="1187" y="514"/>
                </a:lnTo>
                <a:lnTo>
                  <a:pt x="1153" y="505"/>
                </a:lnTo>
                <a:lnTo>
                  <a:pt x="1125" y="494"/>
                </a:lnTo>
                <a:lnTo>
                  <a:pt x="1102" y="483"/>
                </a:lnTo>
                <a:lnTo>
                  <a:pt x="1085" y="471"/>
                </a:lnTo>
                <a:lnTo>
                  <a:pt x="1072" y="460"/>
                </a:lnTo>
                <a:lnTo>
                  <a:pt x="1063" y="450"/>
                </a:lnTo>
                <a:lnTo>
                  <a:pt x="1058" y="442"/>
                </a:lnTo>
                <a:lnTo>
                  <a:pt x="1055" y="436"/>
                </a:lnTo>
                <a:lnTo>
                  <a:pt x="1054" y="434"/>
                </a:lnTo>
                <a:lnTo>
                  <a:pt x="1076" y="434"/>
                </a:lnTo>
                <a:lnTo>
                  <a:pt x="1096" y="438"/>
                </a:lnTo>
                <a:lnTo>
                  <a:pt x="1115" y="445"/>
                </a:lnTo>
                <a:lnTo>
                  <a:pt x="1132" y="454"/>
                </a:lnTo>
                <a:lnTo>
                  <a:pt x="1148" y="464"/>
                </a:lnTo>
                <a:lnTo>
                  <a:pt x="1160" y="475"/>
                </a:lnTo>
                <a:lnTo>
                  <a:pt x="1169" y="483"/>
                </a:lnTo>
                <a:lnTo>
                  <a:pt x="1177" y="491"/>
                </a:lnTo>
                <a:lnTo>
                  <a:pt x="1168" y="464"/>
                </a:lnTo>
                <a:lnTo>
                  <a:pt x="1163" y="438"/>
                </a:lnTo>
                <a:lnTo>
                  <a:pt x="1163" y="413"/>
                </a:lnTo>
                <a:lnTo>
                  <a:pt x="1164" y="391"/>
                </a:lnTo>
                <a:lnTo>
                  <a:pt x="1168" y="373"/>
                </a:lnTo>
                <a:lnTo>
                  <a:pt x="1173" y="356"/>
                </a:lnTo>
                <a:lnTo>
                  <a:pt x="1177" y="344"/>
                </a:lnTo>
                <a:lnTo>
                  <a:pt x="1182" y="333"/>
                </a:lnTo>
                <a:close/>
                <a:moveTo>
                  <a:pt x="923" y="315"/>
                </a:moveTo>
                <a:lnTo>
                  <a:pt x="1045" y="436"/>
                </a:lnTo>
                <a:lnTo>
                  <a:pt x="1021" y="460"/>
                </a:lnTo>
                <a:lnTo>
                  <a:pt x="901" y="341"/>
                </a:lnTo>
                <a:lnTo>
                  <a:pt x="923" y="315"/>
                </a:lnTo>
                <a:close/>
                <a:moveTo>
                  <a:pt x="271" y="289"/>
                </a:moveTo>
                <a:lnTo>
                  <a:pt x="276" y="289"/>
                </a:lnTo>
                <a:lnTo>
                  <a:pt x="280" y="290"/>
                </a:lnTo>
                <a:lnTo>
                  <a:pt x="281" y="293"/>
                </a:lnTo>
                <a:lnTo>
                  <a:pt x="284" y="295"/>
                </a:lnTo>
                <a:lnTo>
                  <a:pt x="284" y="299"/>
                </a:lnTo>
                <a:lnTo>
                  <a:pt x="282" y="303"/>
                </a:lnTo>
                <a:lnTo>
                  <a:pt x="280" y="306"/>
                </a:lnTo>
                <a:lnTo>
                  <a:pt x="277" y="307"/>
                </a:lnTo>
                <a:lnTo>
                  <a:pt x="273" y="309"/>
                </a:lnTo>
                <a:lnTo>
                  <a:pt x="265" y="306"/>
                </a:lnTo>
                <a:lnTo>
                  <a:pt x="264" y="303"/>
                </a:lnTo>
                <a:lnTo>
                  <a:pt x="263" y="299"/>
                </a:lnTo>
                <a:lnTo>
                  <a:pt x="263" y="295"/>
                </a:lnTo>
                <a:lnTo>
                  <a:pt x="265" y="293"/>
                </a:lnTo>
                <a:lnTo>
                  <a:pt x="267" y="290"/>
                </a:lnTo>
                <a:lnTo>
                  <a:pt x="271" y="289"/>
                </a:lnTo>
                <a:close/>
                <a:moveTo>
                  <a:pt x="34" y="264"/>
                </a:moveTo>
                <a:lnTo>
                  <a:pt x="161" y="264"/>
                </a:lnTo>
                <a:lnTo>
                  <a:pt x="145" y="289"/>
                </a:lnTo>
                <a:lnTo>
                  <a:pt x="136" y="311"/>
                </a:lnTo>
                <a:lnTo>
                  <a:pt x="131" y="329"/>
                </a:lnTo>
                <a:lnTo>
                  <a:pt x="128" y="343"/>
                </a:lnTo>
                <a:lnTo>
                  <a:pt x="128" y="354"/>
                </a:lnTo>
                <a:lnTo>
                  <a:pt x="103" y="333"/>
                </a:lnTo>
                <a:lnTo>
                  <a:pt x="83" y="316"/>
                </a:lnTo>
                <a:lnTo>
                  <a:pt x="68" y="302"/>
                </a:lnTo>
                <a:lnTo>
                  <a:pt x="47" y="281"/>
                </a:lnTo>
                <a:lnTo>
                  <a:pt x="41" y="275"/>
                </a:lnTo>
                <a:lnTo>
                  <a:pt x="38" y="269"/>
                </a:lnTo>
                <a:lnTo>
                  <a:pt x="35" y="267"/>
                </a:lnTo>
                <a:lnTo>
                  <a:pt x="34" y="264"/>
                </a:lnTo>
                <a:close/>
                <a:moveTo>
                  <a:pt x="187" y="257"/>
                </a:moveTo>
                <a:lnTo>
                  <a:pt x="188" y="260"/>
                </a:lnTo>
                <a:lnTo>
                  <a:pt x="189" y="269"/>
                </a:lnTo>
                <a:lnTo>
                  <a:pt x="193" y="281"/>
                </a:lnTo>
                <a:lnTo>
                  <a:pt x="195" y="298"/>
                </a:lnTo>
                <a:lnTo>
                  <a:pt x="196" y="319"/>
                </a:lnTo>
                <a:lnTo>
                  <a:pt x="195" y="341"/>
                </a:lnTo>
                <a:lnTo>
                  <a:pt x="191" y="365"/>
                </a:lnTo>
                <a:lnTo>
                  <a:pt x="182" y="390"/>
                </a:lnTo>
                <a:lnTo>
                  <a:pt x="168" y="415"/>
                </a:lnTo>
                <a:lnTo>
                  <a:pt x="171" y="413"/>
                </a:lnTo>
                <a:lnTo>
                  <a:pt x="178" y="408"/>
                </a:lnTo>
                <a:lnTo>
                  <a:pt x="188" y="400"/>
                </a:lnTo>
                <a:lnTo>
                  <a:pt x="201" y="392"/>
                </a:lnTo>
                <a:lnTo>
                  <a:pt x="217" y="384"/>
                </a:lnTo>
                <a:lnTo>
                  <a:pt x="235" y="378"/>
                </a:lnTo>
                <a:lnTo>
                  <a:pt x="255" y="374"/>
                </a:lnTo>
                <a:lnTo>
                  <a:pt x="276" y="373"/>
                </a:lnTo>
                <a:lnTo>
                  <a:pt x="298" y="377"/>
                </a:lnTo>
                <a:lnTo>
                  <a:pt x="297" y="378"/>
                </a:lnTo>
                <a:lnTo>
                  <a:pt x="293" y="383"/>
                </a:lnTo>
                <a:lnTo>
                  <a:pt x="286" y="391"/>
                </a:lnTo>
                <a:lnTo>
                  <a:pt x="276" y="399"/>
                </a:lnTo>
                <a:lnTo>
                  <a:pt x="261" y="408"/>
                </a:lnTo>
                <a:lnTo>
                  <a:pt x="243" y="417"/>
                </a:lnTo>
                <a:lnTo>
                  <a:pt x="218" y="426"/>
                </a:lnTo>
                <a:lnTo>
                  <a:pt x="189" y="433"/>
                </a:lnTo>
                <a:lnTo>
                  <a:pt x="154" y="437"/>
                </a:lnTo>
                <a:lnTo>
                  <a:pt x="153" y="433"/>
                </a:lnTo>
                <a:lnTo>
                  <a:pt x="150" y="422"/>
                </a:lnTo>
                <a:lnTo>
                  <a:pt x="148" y="407"/>
                </a:lnTo>
                <a:lnTo>
                  <a:pt x="145" y="387"/>
                </a:lnTo>
                <a:lnTo>
                  <a:pt x="145" y="364"/>
                </a:lnTo>
                <a:lnTo>
                  <a:pt x="148" y="337"/>
                </a:lnTo>
                <a:lnTo>
                  <a:pt x="154" y="311"/>
                </a:lnTo>
                <a:lnTo>
                  <a:pt x="167" y="284"/>
                </a:lnTo>
                <a:lnTo>
                  <a:pt x="187" y="257"/>
                </a:lnTo>
                <a:close/>
                <a:moveTo>
                  <a:pt x="920" y="251"/>
                </a:moveTo>
                <a:lnTo>
                  <a:pt x="940" y="251"/>
                </a:lnTo>
                <a:lnTo>
                  <a:pt x="958" y="254"/>
                </a:lnTo>
                <a:lnTo>
                  <a:pt x="973" y="256"/>
                </a:lnTo>
                <a:lnTo>
                  <a:pt x="941" y="289"/>
                </a:lnTo>
                <a:lnTo>
                  <a:pt x="916" y="290"/>
                </a:lnTo>
                <a:lnTo>
                  <a:pt x="897" y="288"/>
                </a:lnTo>
                <a:lnTo>
                  <a:pt x="882" y="285"/>
                </a:lnTo>
                <a:lnTo>
                  <a:pt x="870" y="280"/>
                </a:lnTo>
                <a:lnTo>
                  <a:pt x="863" y="276"/>
                </a:lnTo>
                <a:lnTo>
                  <a:pt x="859" y="273"/>
                </a:lnTo>
                <a:lnTo>
                  <a:pt x="857" y="272"/>
                </a:lnTo>
                <a:lnTo>
                  <a:pt x="878" y="260"/>
                </a:lnTo>
                <a:lnTo>
                  <a:pt x="899" y="254"/>
                </a:lnTo>
                <a:lnTo>
                  <a:pt x="920" y="251"/>
                </a:lnTo>
                <a:close/>
                <a:moveTo>
                  <a:pt x="563" y="244"/>
                </a:moveTo>
                <a:lnTo>
                  <a:pt x="563" y="294"/>
                </a:lnTo>
                <a:lnTo>
                  <a:pt x="660" y="294"/>
                </a:lnTo>
                <a:lnTo>
                  <a:pt x="660" y="523"/>
                </a:lnTo>
                <a:lnTo>
                  <a:pt x="614" y="477"/>
                </a:lnTo>
                <a:lnTo>
                  <a:pt x="525" y="566"/>
                </a:lnTo>
                <a:lnTo>
                  <a:pt x="564" y="606"/>
                </a:lnTo>
                <a:lnTo>
                  <a:pt x="618" y="552"/>
                </a:lnTo>
                <a:lnTo>
                  <a:pt x="677" y="611"/>
                </a:lnTo>
                <a:lnTo>
                  <a:pt x="719" y="611"/>
                </a:lnTo>
                <a:lnTo>
                  <a:pt x="719" y="445"/>
                </a:lnTo>
                <a:lnTo>
                  <a:pt x="768" y="445"/>
                </a:lnTo>
                <a:lnTo>
                  <a:pt x="768" y="390"/>
                </a:lnTo>
                <a:lnTo>
                  <a:pt x="719" y="390"/>
                </a:lnTo>
                <a:lnTo>
                  <a:pt x="719" y="366"/>
                </a:lnTo>
                <a:lnTo>
                  <a:pt x="768" y="366"/>
                </a:lnTo>
                <a:lnTo>
                  <a:pt x="768" y="315"/>
                </a:lnTo>
                <a:lnTo>
                  <a:pt x="717" y="315"/>
                </a:lnTo>
                <a:lnTo>
                  <a:pt x="717" y="244"/>
                </a:lnTo>
                <a:lnTo>
                  <a:pt x="563" y="244"/>
                </a:lnTo>
                <a:close/>
                <a:moveTo>
                  <a:pt x="1046" y="201"/>
                </a:moveTo>
                <a:lnTo>
                  <a:pt x="1156" y="311"/>
                </a:lnTo>
                <a:lnTo>
                  <a:pt x="1053" y="412"/>
                </a:lnTo>
                <a:lnTo>
                  <a:pt x="948" y="309"/>
                </a:lnTo>
                <a:lnTo>
                  <a:pt x="1046" y="201"/>
                </a:lnTo>
                <a:close/>
                <a:moveTo>
                  <a:pt x="483" y="196"/>
                </a:moveTo>
                <a:lnTo>
                  <a:pt x="814" y="196"/>
                </a:lnTo>
                <a:lnTo>
                  <a:pt x="814" y="532"/>
                </a:lnTo>
                <a:lnTo>
                  <a:pt x="812" y="569"/>
                </a:lnTo>
                <a:lnTo>
                  <a:pt x="804" y="602"/>
                </a:lnTo>
                <a:lnTo>
                  <a:pt x="792" y="629"/>
                </a:lnTo>
                <a:lnTo>
                  <a:pt x="775" y="653"/>
                </a:lnTo>
                <a:lnTo>
                  <a:pt x="755" y="672"/>
                </a:lnTo>
                <a:lnTo>
                  <a:pt x="732" y="687"/>
                </a:lnTo>
                <a:lnTo>
                  <a:pt x="705" y="697"/>
                </a:lnTo>
                <a:lnTo>
                  <a:pt x="678" y="703"/>
                </a:lnTo>
                <a:lnTo>
                  <a:pt x="648" y="705"/>
                </a:lnTo>
                <a:lnTo>
                  <a:pt x="619" y="703"/>
                </a:lnTo>
                <a:lnTo>
                  <a:pt x="590" y="697"/>
                </a:lnTo>
                <a:lnTo>
                  <a:pt x="565" y="687"/>
                </a:lnTo>
                <a:lnTo>
                  <a:pt x="542" y="672"/>
                </a:lnTo>
                <a:lnTo>
                  <a:pt x="522" y="653"/>
                </a:lnTo>
                <a:lnTo>
                  <a:pt x="505" y="629"/>
                </a:lnTo>
                <a:lnTo>
                  <a:pt x="493" y="602"/>
                </a:lnTo>
                <a:lnTo>
                  <a:pt x="485" y="569"/>
                </a:lnTo>
                <a:lnTo>
                  <a:pt x="483" y="532"/>
                </a:lnTo>
                <a:lnTo>
                  <a:pt x="483" y="196"/>
                </a:lnTo>
                <a:close/>
                <a:moveTo>
                  <a:pt x="437" y="184"/>
                </a:moveTo>
                <a:lnTo>
                  <a:pt x="441" y="184"/>
                </a:lnTo>
                <a:lnTo>
                  <a:pt x="445" y="185"/>
                </a:lnTo>
                <a:lnTo>
                  <a:pt x="447" y="187"/>
                </a:lnTo>
                <a:lnTo>
                  <a:pt x="450" y="195"/>
                </a:lnTo>
                <a:lnTo>
                  <a:pt x="449" y="199"/>
                </a:lnTo>
                <a:lnTo>
                  <a:pt x="447" y="201"/>
                </a:lnTo>
                <a:lnTo>
                  <a:pt x="445" y="204"/>
                </a:lnTo>
                <a:lnTo>
                  <a:pt x="441" y="205"/>
                </a:lnTo>
                <a:lnTo>
                  <a:pt x="437" y="205"/>
                </a:lnTo>
                <a:lnTo>
                  <a:pt x="434" y="203"/>
                </a:lnTo>
                <a:lnTo>
                  <a:pt x="432" y="201"/>
                </a:lnTo>
                <a:lnTo>
                  <a:pt x="430" y="197"/>
                </a:lnTo>
                <a:lnTo>
                  <a:pt x="430" y="192"/>
                </a:lnTo>
                <a:lnTo>
                  <a:pt x="432" y="188"/>
                </a:lnTo>
                <a:lnTo>
                  <a:pt x="434" y="187"/>
                </a:lnTo>
                <a:lnTo>
                  <a:pt x="437" y="184"/>
                </a:lnTo>
                <a:close/>
                <a:moveTo>
                  <a:pt x="273" y="184"/>
                </a:moveTo>
                <a:lnTo>
                  <a:pt x="273" y="188"/>
                </a:lnTo>
                <a:lnTo>
                  <a:pt x="275" y="199"/>
                </a:lnTo>
                <a:lnTo>
                  <a:pt x="275" y="214"/>
                </a:lnTo>
                <a:lnTo>
                  <a:pt x="273" y="235"/>
                </a:lnTo>
                <a:lnTo>
                  <a:pt x="269" y="259"/>
                </a:lnTo>
                <a:lnTo>
                  <a:pt x="261" y="284"/>
                </a:lnTo>
                <a:lnTo>
                  <a:pt x="248" y="310"/>
                </a:lnTo>
                <a:lnTo>
                  <a:pt x="229" y="335"/>
                </a:lnTo>
                <a:lnTo>
                  <a:pt x="250" y="324"/>
                </a:lnTo>
                <a:lnTo>
                  <a:pt x="264" y="319"/>
                </a:lnTo>
                <a:lnTo>
                  <a:pt x="301" y="311"/>
                </a:lnTo>
                <a:lnTo>
                  <a:pt x="322" y="311"/>
                </a:lnTo>
                <a:lnTo>
                  <a:pt x="343" y="314"/>
                </a:lnTo>
                <a:lnTo>
                  <a:pt x="364" y="320"/>
                </a:lnTo>
                <a:lnTo>
                  <a:pt x="362" y="322"/>
                </a:lnTo>
                <a:lnTo>
                  <a:pt x="357" y="326"/>
                </a:lnTo>
                <a:lnTo>
                  <a:pt x="349" y="332"/>
                </a:lnTo>
                <a:lnTo>
                  <a:pt x="337" y="339"/>
                </a:lnTo>
                <a:lnTo>
                  <a:pt x="322" y="345"/>
                </a:lnTo>
                <a:lnTo>
                  <a:pt x="301" y="352"/>
                </a:lnTo>
                <a:lnTo>
                  <a:pt x="276" y="356"/>
                </a:lnTo>
                <a:lnTo>
                  <a:pt x="246" y="357"/>
                </a:lnTo>
                <a:lnTo>
                  <a:pt x="210" y="354"/>
                </a:lnTo>
                <a:lnTo>
                  <a:pt x="210" y="352"/>
                </a:lnTo>
                <a:lnTo>
                  <a:pt x="209" y="343"/>
                </a:lnTo>
                <a:lnTo>
                  <a:pt x="209" y="312"/>
                </a:lnTo>
                <a:lnTo>
                  <a:pt x="212" y="293"/>
                </a:lnTo>
                <a:lnTo>
                  <a:pt x="216" y="271"/>
                </a:lnTo>
                <a:lnTo>
                  <a:pt x="223" y="248"/>
                </a:lnTo>
                <a:lnTo>
                  <a:pt x="235" y="226"/>
                </a:lnTo>
                <a:lnTo>
                  <a:pt x="252" y="204"/>
                </a:lnTo>
                <a:lnTo>
                  <a:pt x="273" y="184"/>
                </a:lnTo>
                <a:close/>
                <a:moveTo>
                  <a:pt x="850" y="179"/>
                </a:moveTo>
                <a:lnTo>
                  <a:pt x="853" y="179"/>
                </a:lnTo>
                <a:lnTo>
                  <a:pt x="857" y="180"/>
                </a:lnTo>
                <a:lnTo>
                  <a:pt x="860" y="182"/>
                </a:lnTo>
                <a:lnTo>
                  <a:pt x="863" y="189"/>
                </a:lnTo>
                <a:lnTo>
                  <a:pt x="861" y="193"/>
                </a:lnTo>
                <a:lnTo>
                  <a:pt x="860" y="196"/>
                </a:lnTo>
                <a:lnTo>
                  <a:pt x="857" y="199"/>
                </a:lnTo>
                <a:lnTo>
                  <a:pt x="853" y="200"/>
                </a:lnTo>
                <a:lnTo>
                  <a:pt x="850" y="200"/>
                </a:lnTo>
                <a:lnTo>
                  <a:pt x="847" y="197"/>
                </a:lnTo>
                <a:lnTo>
                  <a:pt x="844" y="196"/>
                </a:lnTo>
                <a:lnTo>
                  <a:pt x="843" y="192"/>
                </a:lnTo>
                <a:lnTo>
                  <a:pt x="843" y="187"/>
                </a:lnTo>
                <a:lnTo>
                  <a:pt x="844" y="183"/>
                </a:lnTo>
                <a:lnTo>
                  <a:pt x="847" y="182"/>
                </a:lnTo>
                <a:lnTo>
                  <a:pt x="850" y="179"/>
                </a:lnTo>
                <a:close/>
                <a:moveTo>
                  <a:pt x="574" y="142"/>
                </a:moveTo>
                <a:lnTo>
                  <a:pt x="588" y="142"/>
                </a:lnTo>
                <a:lnTo>
                  <a:pt x="601" y="145"/>
                </a:lnTo>
                <a:lnTo>
                  <a:pt x="611" y="148"/>
                </a:lnTo>
                <a:lnTo>
                  <a:pt x="618" y="149"/>
                </a:lnTo>
                <a:lnTo>
                  <a:pt x="620" y="150"/>
                </a:lnTo>
                <a:lnTo>
                  <a:pt x="599" y="163"/>
                </a:lnTo>
                <a:lnTo>
                  <a:pt x="581" y="170"/>
                </a:lnTo>
                <a:lnTo>
                  <a:pt x="565" y="174"/>
                </a:lnTo>
                <a:lnTo>
                  <a:pt x="552" y="175"/>
                </a:lnTo>
                <a:lnTo>
                  <a:pt x="542" y="174"/>
                </a:lnTo>
                <a:lnTo>
                  <a:pt x="534" y="172"/>
                </a:lnTo>
                <a:lnTo>
                  <a:pt x="529" y="171"/>
                </a:lnTo>
                <a:lnTo>
                  <a:pt x="527" y="170"/>
                </a:lnTo>
                <a:lnTo>
                  <a:pt x="535" y="157"/>
                </a:lnTo>
                <a:lnTo>
                  <a:pt x="547" y="148"/>
                </a:lnTo>
                <a:lnTo>
                  <a:pt x="560" y="144"/>
                </a:lnTo>
                <a:lnTo>
                  <a:pt x="574" y="142"/>
                </a:lnTo>
                <a:close/>
                <a:moveTo>
                  <a:pt x="716" y="140"/>
                </a:moveTo>
                <a:lnTo>
                  <a:pt x="730" y="140"/>
                </a:lnTo>
                <a:lnTo>
                  <a:pt x="743" y="144"/>
                </a:lnTo>
                <a:lnTo>
                  <a:pt x="755" y="151"/>
                </a:lnTo>
                <a:lnTo>
                  <a:pt x="764" y="165"/>
                </a:lnTo>
                <a:lnTo>
                  <a:pt x="763" y="166"/>
                </a:lnTo>
                <a:lnTo>
                  <a:pt x="758" y="167"/>
                </a:lnTo>
                <a:lnTo>
                  <a:pt x="751" y="170"/>
                </a:lnTo>
                <a:lnTo>
                  <a:pt x="741" y="171"/>
                </a:lnTo>
                <a:lnTo>
                  <a:pt x="726" y="171"/>
                </a:lnTo>
                <a:lnTo>
                  <a:pt x="711" y="168"/>
                </a:lnTo>
                <a:lnTo>
                  <a:pt x="692" y="162"/>
                </a:lnTo>
                <a:lnTo>
                  <a:pt x="670" y="150"/>
                </a:lnTo>
                <a:lnTo>
                  <a:pt x="673" y="149"/>
                </a:lnTo>
                <a:lnTo>
                  <a:pt x="679" y="146"/>
                </a:lnTo>
                <a:lnTo>
                  <a:pt x="690" y="144"/>
                </a:lnTo>
                <a:lnTo>
                  <a:pt x="702" y="141"/>
                </a:lnTo>
                <a:lnTo>
                  <a:pt x="716" y="140"/>
                </a:lnTo>
                <a:close/>
                <a:moveTo>
                  <a:pt x="645" y="131"/>
                </a:moveTo>
                <a:lnTo>
                  <a:pt x="650" y="132"/>
                </a:lnTo>
                <a:lnTo>
                  <a:pt x="654" y="134"/>
                </a:lnTo>
                <a:lnTo>
                  <a:pt x="657" y="138"/>
                </a:lnTo>
                <a:lnTo>
                  <a:pt x="658" y="144"/>
                </a:lnTo>
                <a:lnTo>
                  <a:pt x="656" y="151"/>
                </a:lnTo>
                <a:lnTo>
                  <a:pt x="652" y="155"/>
                </a:lnTo>
                <a:lnTo>
                  <a:pt x="649" y="157"/>
                </a:lnTo>
                <a:lnTo>
                  <a:pt x="645" y="158"/>
                </a:lnTo>
                <a:lnTo>
                  <a:pt x="637" y="155"/>
                </a:lnTo>
                <a:lnTo>
                  <a:pt x="632" y="148"/>
                </a:lnTo>
                <a:lnTo>
                  <a:pt x="632" y="140"/>
                </a:lnTo>
                <a:lnTo>
                  <a:pt x="635" y="136"/>
                </a:lnTo>
                <a:lnTo>
                  <a:pt x="637" y="133"/>
                </a:lnTo>
                <a:lnTo>
                  <a:pt x="645" y="131"/>
                </a:lnTo>
                <a:close/>
                <a:moveTo>
                  <a:pt x="371" y="127"/>
                </a:moveTo>
                <a:lnTo>
                  <a:pt x="371" y="131"/>
                </a:lnTo>
                <a:lnTo>
                  <a:pt x="370" y="141"/>
                </a:lnTo>
                <a:lnTo>
                  <a:pt x="368" y="157"/>
                </a:lnTo>
                <a:lnTo>
                  <a:pt x="364" y="176"/>
                </a:lnTo>
                <a:lnTo>
                  <a:pt x="354" y="199"/>
                </a:lnTo>
                <a:lnTo>
                  <a:pt x="343" y="222"/>
                </a:lnTo>
                <a:lnTo>
                  <a:pt x="324" y="246"/>
                </a:lnTo>
                <a:lnTo>
                  <a:pt x="301" y="268"/>
                </a:lnTo>
                <a:lnTo>
                  <a:pt x="305" y="267"/>
                </a:lnTo>
                <a:lnTo>
                  <a:pt x="314" y="264"/>
                </a:lnTo>
                <a:lnTo>
                  <a:pt x="330" y="260"/>
                </a:lnTo>
                <a:lnTo>
                  <a:pt x="348" y="257"/>
                </a:lnTo>
                <a:lnTo>
                  <a:pt x="370" y="256"/>
                </a:lnTo>
                <a:lnTo>
                  <a:pt x="392" y="259"/>
                </a:lnTo>
                <a:lnTo>
                  <a:pt x="415" y="264"/>
                </a:lnTo>
                <a:lnTo>
                  <a:pt x="437" y="276"/>
                </a:lnTo>
                <a:lnTo>
                  <a:pt x="436" y="277"/>
                </a:lnTo>
                <a:lnTo>
                  <a:pt x="432" y="280"/>
                </a:lnTo>
                <a:lnTo>
                  <a:pt x="424" y="284"/>
                </a:lnTo>
                <a:lnTo>
                  <a:pt x="415" y="288"/>
                </a:lnTo>
                <a:lnTo>
                  <a:pt x="400" y="292"/>
                </a:lnTo>
                <a:lnTo>
                  <a:pt x="385" y="294"/>
                </a:lnTo>
                <a:lnTo>
                  <a:pt x="364" y="295"/>
                </a:lnTo>
                <a:lnTo>
                  <a:pt x="340" y="294"/>
                </a:lnTo>
                <a:lnTo>
                  <a:pt x="313" y="290"/>
                </a:lnTo>
                <a:lnTo>
                  <a:pt x="281" y="282"/>
                </a:lnTo>
                <a:lnTo>
                  <a:pt x="281" y="280"/>
                </a:lnTo>
                <a:lnTo>
                  <a:pt x="282" y="271"/>
                </a:lnTo>
                <a:lnTo>
                  <a:pt x="284" y="257"/>
                </a:lnTo>
                <a:lnTo>
                  <a:pt x="286" y="240"/>
                </a:lnTo>
                <a:lnTo>
                  <a:pt x="293" y="222"/>
                </a:lnTo>
                <a:lnTo>
                  <a:pt x="301" y="201"/>
                </a:lnTo>
                <a:lnTo>
                  <a:pt x="313" y="180"/>
                </a:lnTo>
                <a:lnTo>
                  <a:pt x="327" y="161"/>
                </a:lnTo>
                <a:lnTo>
                  <a:pt x="347" y="142"/>
                </a:lnTo>
                <a:lnTo>
                  <a:pt x="371" y="127"/>
                </a:lnTo>
                <a:close/>
                <a:moveTo>
                  <a:pt x="919" y="120"/>
                </a:moveTo>
                <a:lnTo>
                  <a:pt x="942" y="134"/>
                </a:lnTo>
                <a:lnTo>
                  <a:pt x="962" y="150"/>
                </a:lnTo>
                <a:lnTo>
                  <a:pt x="977" y="168"/>
                </a:lnTo>
                <a:lnTo>
                  <a:pt x="988" y="187"/>
                </a:lnTo>
                <a:lnTo>
                  <a:pt x="996" y="205"/>
                </a:lnTo>
                <a:lnTo>
                  <a:pt x="1003" y="223"/>
                </a:lnTo>
                <a:lnTo>
                  <a:pt x="978" y="248"/>
                </a:lnTo>
                <a:lnTo>
                  <a:pt x="958" y="227"/>
                </a:lnTo>
                <a:lnTo>
                  <a:pt x="942" y="206"/>
                </a:lnTo>
                <a:lnTo>
                  <a:pt x="932" y="184"/>
                </a:lnTo>
                <a:lnTo>
                  <a:pt x="925" y="165"/>
                </a:lnTo>
                <a:lnTo>
                  <a:pt x="922" y="146"/>
                </a:lnTo>
                <a:lnTo>
                  <a:pt x="919" y="133"/>
                </a:lnTo>
                <a:lnTo>
                  <a:pt x="919" y="120"/>
                </a:lnTo>
                <a:close/>
                <a:moveTo>
                  <a:pt x="40" y="119"/>
                </a:moveTo>
                <a:lnTo>
                  <a:pt x="174" y="252"/>
                </a:lnTo>
                <a:lnTo>
                  <a:pt x="27" y="252"/>
                </a:lnTo>
                <a:lnTo>
                  <a:pt x="17" y="226"/>
                </a:lnTo>
                <a:lnTo>
                  <a:pt x="11" y="203"/>
                </a:lnTo>
                <a:lnTo>
                  <a:pt x="11" y="183"/>
                </a:lnTo>
                <a:lnTo>
                  <a:pt x="13" y="165"/>
                </a:lnTo>
                <a:lnTo>
                  <a:pt x="18" y="150"/>
                </a:lnTo>
                <a:lnTo>
                  <a:pt x="23" y="138"/>
                </a:lnTo>
                <a:lnTo>
                  <a:pt x="30" y="131"/>
                </a:lnTo>
                <a:lnTo>
                  <a:pt x="35" y="124"/>
                </a:lnTo>
                <a:lnTo>
                  <a:pt x="40" y="119"/>
                </a:lnTo>
                <a:close/>
                <a:moveTo>
                  <a:pt x="85" y="98"/>
                </a:moveTo>
                <a:lnTo>
                  <a:pt x="100" y="98"/>
                </a:lnTo>
                <a:lnTo>
                  <a:pt x="119" y="102"/>
                </a:lnTo>
                <a:lnTo>
                  <a:pt x="137" y="110"/>
                </a:lnTo>
                <a:lnTo>
                  <a:pt x="155" y="124"/>
                </a:lnTo>
                <a:lnTo>
                  <a:pt x="234" y="204"/>
                </a:lnTo>
                <a:lnTo>
                  <a:pt x="231" y="206"/>
                </a:lnTo>
                <a:lnTo>
                  <a:pt x="226" y="213"/>
                </a:lnTo>
                <a:lnTo>
                  <a:pt x="218" y="225"/>
                </a:lnTo>
                <a:lnTo>
                  <a:pt x="210" y="240"/>
                </a:lnTo>
                <a:lnTo>
                  <a:pt x="204" y="261"/>
                </a:lnTo>
                <a:lnTo>
                  <a:pt x="49" y="108"/>
                </a:lnTo>
                <a:lnTo>
                  <a:pt x="52" y="107"/>
                </a:lnTo>
                <a:lnTo>
                  <a:pt x="58" y="104"/>
                </a:lnTo>
                <a:lnTo>
                  <a:pt x="70" y="100"/>
                </a:lnTo>
                <a:lnTo>
                  <a:pt x="85" y="98"/>
                </a:lnTo>
                <a:close/>
                <a:moveTo>
                  <a:pt x="479" y="87"/>
                </a:moveTo>
                <a:lnTo>
                  <a:pt x="478" y="91"/>
                </a:lnTo>
                <a:lnTo>
                  <a:pt x="475" y="102"/>
                </a:lnTo>
                <a:lnTo>
                  <a:pt x="470" y="116"/>
                </a:lnTo>
                <a:lnTo>
                  <a:pt x="462" y="134"/>
                </a:lnTo>
                <a:lnTo>
                  <a:pt x="450" y="155"/>
                </a:lnTo>
                <a:lnTo>
                  <a:pt x="433" y="176"/>
                </a:lnTo>
                <a:lnTo>
                  <a:pt x="412" y="196"/>
                </a:lnTo>
                <a:lnTo>
                  <a:pt x="385" y="213"/>
                </a:lnTo>
                <a:lnTo>
                  <a:pt x="389" y="213"/>
                </a:lnTo>
                <a:lnTo>
                  <a:pt x="396" y="212"/>
                </a:lnTo>
                <a:lnTo>
                  <a:pt x="411" y="210"/>
                </a:lnTo>
                <a:lnTo>
                  <a:pt x="428" y="212"/>
                </a:lnTo>
                <a:lnTo>
                  <a:pt x="447" y="213"/>
                </a:lnTo>
                <a:lnTo>
                  <a:pt x="468" y="218"/>
                </a:lnTo>
                <a:lnTo>
                  <a:pt x="467" y="255"/>
                </a:lnTo>
                <a:lnTo>
                  <a:pt x="446" y="254"/>
                </a:lnTo>
                <a:lnTo>
                  <a:pt x="423" y="248"/>
                </a:lnTo>
                <a:lnTo>
                  <a:pt x="394" y="239"/>
                </a:lnTo>
                <a:lnTo>
                  <a:pt x="362" y="225"/>
                </a:lnTo>
                <a:lnTo>
                  <a:pt x="362" y="222"/>
                </a:lnTo>
                <a:lnTo>
                  <a:pt x="365" y="213"/>
                </a:lnTo>
                <a:lnTo>
                  <a:pt x="369" y="201"/>
                </a:lnTo>
                <a:lnTo>
                  <a:pt x="375" y="185"/>
                </a:lnTo>
                <a:lnTo>
                  <a:pt x="385" y="167"/>
                </a:lnTo>
                <a:lnTo>
                  <a:pt x="396" y="149"/>
                </a:lnTo>
                <a:lnTo>
                  <a:pt x="411" y="131"/>
                </a:lnTo>
                <a:lnTo>
                  <a:pt x="429" y="113"/>
                </a:lnTo>
                <a:lnTo>
                  <a:pt x="453" y="99"/>
                </a:lnTo>
                <a:lnTo>
                  <a:pt x="479" y="87"/>
                </a:lnTo>
                <a:close/>
                <a:moveTo>
                  <a:pt x="810" y="83"/>
                </a:moveTo>
                <a:lnTo>
                  <a:pt x="838" y="94"/>
                </a:lnTo>
                <a:lnTo>
                  <a:pt x="860" y="108"/>
                </a:lnTo>
                <a:lnTo>
                  <a:pt x="880" y="125"/>
                </a:lnTo>
                <a:lnTo>
                  <a:pt x="895" y="142"/>
                </a:lnTo>
                <a:lnTo>
                  <a:pt x="907" y="161"/>
                </a:lnTo>
                <a:lnTo>
                  <a:pt x="916" y="179"/>
                </a:lnTo>
                <a:lnTo>
                  <a:pt x="923" y="195"/>
                </a:lnTo>
                <a:lnTo>
                  <a:pt x="928" y="206"/>
                </a:lnTo>
                <a:lnTo>
                  <a:pt x="929" y="216"/>
                </a:lnTo>
                <a:lnTo>
                  <a:pt x="931" y="218"/>
                </a:lnTo>
                <a:lnTo>
                  <a:pt x="905" y="231"/>
                </a:lnTo>
                <a:lnTo>
                  <a:pt x="884" y="240"/>
                </a:lnTo>
                <a:lnTo>
                  <a:pt x="864" y="246"/>
                </a:lnTo>
                <a:lnTo>
                  <a:pt x="848" y="248"/>
                </a:lnTo>
                <a:lnTo>
                  <a:pt x="832" y="250"/>
                </a:lnTo>
                <a:lnTo>
                  <a:pt x="832" y="212"/>
                </a:lnTo>
                <a:lnTo>
                  <a:pt x="856" y="205"/>
                </a:lnTo>
                <a:lnTo>
                  <a:pt x="877" y="204"/>
                </a:lnTo>
                <a:lnTo>
                  <a:pt x="893" y="205"/>
                </a:lnTo>
                <a:lnTo>
                  <a:pt x="903" y="206"/>
                </a:lnTo>
                <a:lnTo>
                  <a:pt x="907" y="208"/>
                </a:lnTo>
                <a:lnTo>
                  <a:pt x="880" y="191"/>
                </a:lnTo>
                <a:lnTo>
                  <a:pt x="859" y="171"/>
                </a:lnTo>
                <a:lnTo>
                  <a:pt x="842" y="151"/>
                </a:lnTo>
                <a:lnTo>
                  <a:pt x="829" y="131"/>
                </a:lnTo>
                <a:lnTo>
                  <a:pt x="819" y="112"/>
                </a:lnTo>
                <a:lnTo>
                  <a:pt x="814" y="98"/>
                </a:lnTo>
                <a:lnTo>
                  <a:pt x="812" y="87"/>
                </a:lnTo>
                <a:lnTo>
                  <a:pt x="810" y="83"/>
                </a:lnTo>
                <a:close/>
                <a:moveTo>
                  <a:pt x="699" y="66"/>
                </a:moveTo>
                <a:lnTo>
                  <a:pt x="728" y="73"/>
                </a:lnTo>
                <a:lnTo>
                  <a:pt x="753" y="83"/>
                </a:lnTo>
                <a:lnTo>
                  <a:pt x="775" y="98"/>
                </a:lnTo>
                <a:lnTo>
                  <a:pt x="792" y="113"/>
                </a:lnTo>
                <a:lnTo>
                  <a:pt x="808" y="129"/>
                </a:lnTo>
                <a:lnTo>
                  <a:pt x="819" y="146"/>
                </a:lnTo>
                <a:lnTo>
                  <a:pt x="829" y="161"/>
                </a:lnTo>
                <a:lnTo>
                  <a:pt x="834" y="172"/>
                </a:lnTo>
                <a:lnTo>
                  <a:pt x="839" y="183"/>
                </a:lnTo>
                <a:lnTo>
                  <a:pt x="838" y="183"/>
                </a:lnTo>
                <a:lnTo>
                  <a:pt x="836" y="184"/>
                </a:lnTo>
                <a:lnTo>
                  <a:pt x="759" y="183"/>
                </a:lnTo>
                <a:lnTo>
                  <a:pt x="777" y="175"/>
                </a:lnTo>
                <a:lnTo>
                  <a:pt x="793" y="171"/>
                </a:lnTo>
                <a:lnTo>
                  <a:pt x="805" y="170"/>
                </a:lnTo>
                <a:lnTo>
                  <a:pt x="809" y="170"/>
                </a:lnTo>
                <a:lnTo>
                  <a:pt x="780" y="158"/>
                </a:lnTo>
                <a:lnTo>
                  <a:pt x="755" y="142"/>
                </a:lnTo>
                <a:lnTo>
                  <a:pt x="737" y="125"/>
                </a:lnTo>
                <a:lnTo>
                  <a:pt x="722" y="108"/>
                </a:lnTo>
                <a:lnTo>
                  <a:pt x="711" y="91"/>
                </a:lnTo>
                <a:lnTo>
                  <a:pt x="700" y="70"/>
                </a:lnTo>
                <a:lnTo>
                  <a:pt x="699" y="66"/>
                </a:lnTo>
                <a:close/>
                <a:moveTo>
                  <a:pt x="592" y="66"/>
                </a:moveTo>
                <a:lnTo>
                  <a:pt x="590" y="70"/>
                </a:lnTo>
                <a:lnTo>
                  <a:pt x="580" y="91"/>
                </a:lnTo>
                <a:lnTo>
                  <a:pt x="568" y="108"/>
                </a:lnTo>
                <a:lnTo>
                  <a:pt x="554" y="125"/>
                </a:lnTo>
                <a:lnTo>
                  <a:pt x="535" y="142"/>
                </a:lnTo>
                <a:lnTo>
                  <a:pt x="510" y="158"/>
                </a:lnTo>
                <a:lnTo>
                  <a:pt x="481" y="170"/>
                </a:lnTo>
                <a:lnTo>
                  <a:pt x="485" y="170"/>
                </a:lnTo>
                <a:lnTo>
                  <a:pt x="497" y="171"/>
                </a:lnTo>
                <a:lnTo>
                  <a:pt x="513" y="175"/>
                </a:lnTo>
                <a:lnTo>
                  <a:pt x="531" y="183"/>
                </a:lnTo>
                <a:lnTo>
                  <a:pt x="455" y="184"/>
                </a:lnTo>
                <a:lnTo>
                  <a:pt x="454" y="183"/>
                </a:lnTo>
                <a:lnTo>
                  <a:pt x="453" y="183"/>
                </a:lnTo>
                <a:lnTo>
                  <a:pt x="458" y="172"/>
                </a:lnTo>
                <a:lnTo>
                  <a:pt x="463" y="161"/>
                </a:lnTo>
                <a:lnTo>
                  <a:pt x="472" y="146"/>
                </a:lnTo>
                <a:lnTo>
                  <a:pt x="484" y="129"/>
                </a:lnTo>
                <a:lnTo>
                  <a:pt x="499" y="113"/>
                </a:lnTo>
                <a:lnTo>
                  <a:pt x="517" y="98"/>
                </a:lnTo>
                <a:lnTo>
                  <a:pt x="538" y="83"/>
                </a:lnTo>
                <a:lnTo>
                  <a:pt x="563" y="73"/>
                </a:lnTo>
                <a:lnTo>
                  <a:pt x="592" y="66"/>
                </a:lnTo>
                <a:close/>
                <a:moveTo>
                  <a:pt x="1034" y="0"/>
                </a:moveTo>
                <a:lnTo>
                  <a:pt x="1035" y="2"/>
                </a:lnTo>
                <a:lnTo>
                  <a:pt x="1039" y="7"/>
                </a:lnTo>
                <a:lnTo>
                  <a:pt x="1047" y="17"/>
                </a:lnTo>
                <a:lnTo>
                  <a:pt x="1059" y="27"/>
                </a:lnTo>
                <a:lnTo>
                  <a:pt x="1073" y="38"/>
                </a:lnTo>
                <a:lnTo>
                  <a:pt x="1093" y="48"/>
                </a:lnTo>
                <a:lnTo>
                  <a:pt x="1117" y="56"/>
                </a:lnTo>
                <a:lnTo>
                  <a:pt x="1145" y="61"/>
                </a:lnTo>
                <a:lnTo>
                  <a:pt x="1149" y="61"/>
                </a:lnTo>
                <a:lnTo>
                  <a:pt x="1161" y="62"/>
                </a:lnTo>
                <a:lnTo>
                  <a:pt x="1178" y="66"/>
                </a:lnTo>
                <a:lnTo>
                  <a:pt x="1198" y="73"/>
                </a:lnTo>
                <a:lnTo>
                  <a:pt x="1220" y="82"/>
                </a:lnTo>
                <a:lnTo>
                  <a:pt x="1240" y="96"/>
                </a:lnTo>
                <a:lnTo>
                  <a:pt x="1242" y="99"/>
                </a:lnTo>
                <a:lnTo>
                  <a:pt x="1249" y="104"/>
                </a:lnTo>
                <a:lnTo>
                  <a:pt x="1257" y="115"/>
                </a:lnTo>
                <a:lnTo>
                  <a:pt x="1266" y="128"/>
                </a:lnTo>
                <a:lnTo>
                  <a:pt x="1275" y="145"/>
                </a:lnTo>
                <a:lnTo>
                  <a:pt x="1282" y="163"/>
                </a:lnTo>
                <a:lnTo>
                  <a:pt x="1283" y="183"/>
                </a:lnTo>
                <a:lnTo>
                  <a:pt x="1280" y="205"/>
                </a:lnTo>
                <a:lnTo>
                  <a:pt x="1280" y="208"/>
                </a:lnTo>
                <a:lnTo>
                  <a:pt x="1279" y="214"/>
                </a:lnTo>
                <a:lnTo>
                  <a:pt x="1275" y="223"/>
                </a:lnTo>
                <a:lnTo>
                  <a:pt x="1270" y="234"/>
                </a:lnTo>
                <a:lnTo>
                  <a:pt x="1262" y="244"/>
                </a:lnTo>
                <a:lnTo>
                  <a:pt x="1250" y="255"/>
                </a:lnTo>
                <a:lnTo>
                  <a:pt x="1235" y="261"/>
                </a:lnTo>
                <a:lnTo>
                  <a:pt x="1215" y="265"/>
                </a:lnTo>
                <a:lnTo>
                  <a:pt x="1211" y="265"/>
                </a:lnTo>
                <a:lnTo>
                  <a:pt x="1202" y="264"/>
                </a:lnTo>
                <a:lnTo>
                  <a:pt x="1189" y="261"/>
                </a:lnTo>
                <a:lnTo>
                  <a:pt x="1173" y="257"/>
                </a:lnTo>
                <a:lnTo>
                  <a:pt x="1215" y="301"/>
                </a:lnTo>
                <a:lnTo>
                  <a:pt x="1173" y="301"/>
                </a:lnTo>
                <a:lnTo>
                  <a:pt x="1056" y="183"/>
                </a:lnTo>
                <a:lnTo>
                  <a:pt x="1054" y="138"/>
                </a:lnTo>
                <a:lnTo>
                  <a:pt x="1106" y="191"/>
                </a:lnTo>
                <a:lnTo>
                  <a:pt x="1105" y="178"/>
                </a:lnTo>
                <a:lnTo>
                  <a:pt x="1108" y="163"/>
                </a:lnTo>
                <a:lnTo>
                  <a:pt x="1109" y="161"/>
                </a:lnTo>
                <a:lnTo>
                  <a:pt x="1110" y="155"/>
                </a:lnTo>
                <a:lnTo>
                  <a:pt x="1115" y="149"/>
                </a:lnTo>
                <a:lnTo>
                  <a:pt x="1122" y="141"/>
                </a:lnTo>
                <a:lnTo>
                  <a:pt x="1131" y="134"/>
                </a:lnTo>
                <a:lnTo>
                  <a:pt x="1144" y="131"/>
                </a:lnTo>
                <a:lnTo>
                  <a:pt x="1160" y="132"/>
                </a:lnTo>
                <a:lnTo>
                  <a:pt x="1163" y="132"/>
                </a:lnTo>
                <a:lnTo>
                  <a:pt x="1168" y="134"/>
                </a:lnTo>
                <a:lnTo>
                  <a:pt x="1176" y="137"/>
                </a:lnTo>
                <a:lnTo>
                  <a:pt x="1183" y="144"/>
                </a:lnTo>
                <a:lnTo>
                  <a:pt x="1190" y="153"/>
                </a:lnTo>
                <a:lnTo>
                  <a:pt x="1194" y="165"/>
                </a:lnTo>
                <a:lnTo>
                  <a:pt x="1195" y="182"/>
                </a:lnTo>
                <a:lnTo>
                  <a:pt x="1195" y="183"/>
                </a:lnTo>
                <a:lnTo>
                  <a:pt x="1194" y="184"/>
                </a:lnTo>
                <a:lnTo>
                  <a:pt x="1194" y="188"/>
                </a:lnTo>
                <a:lnTo>
                  <a:pt x="1193" y="189"/>
                </a:lnTo>
                <a:lnTo>
                  <a:pt x="1193" y="197"/>
                </a:lnTo>
                <a:lnTo>
                  <a:pt x="1195" y="200"/>
                </a:lnTo>
                <a:lnTo>
                  <a:pt x="1197" y="200"/>
                </a:lnTo>
                <a:lnTo>
                  <a:pt x="1202" y="197"/>
                </a:lnTo>
                <a:lnTo>
                  <a:pt x="1203" y="197"/>
                </a:lnTo>
                <a:lnTo>
                  <a:pt x="1204" y="195"/>
                </a:lnTo>
                <a:lnTo>
                  <a:pt x="1206" y="188"/>
                </a:lnTo>
                <a:lnTo>
                  <a:pt x="1207" y="176"/>
                </a:lnTo>
                <a:lnTo>
                  <a:pt x="1207" y="166"/>
                </a:lnTo>
                <a:lnTo>
                  <a:pt x="1204" y="155"/>
                </a:lnTo>
                <a:lnTo>
                  <a:pt x="1198" y="144"/>
                </a:lnTo>
                <a:lnTo>
                  <a:pt x="1186" y="132"/>
                </a:lnTo>
                <a:lnTo>
                  <a:pt x="1183" y="131"/>
                </a:lnTo>
                <a:lnTo>
                  <a:pt x="1178" y="127"/>
                </a:lnTo>
                <a:lnTo>
                  <a:pt x="1169" y="121"/>
                </a:lnTo>
                <a:lnTo>
                  <a:pt x="1156" y="119"/>
                </a:lnTo>
                <a:lnTo>
                  <a:pt x="1142" y="119"/>
                </a:lnTo>
                <a:lnTo>
                  <a:pt x="1125" y="124"/>
                </a:lnTo>
                <a:lnTo>
                  <a:pt x="1114" y="129"/>
                </a:lnTo>
                <a:lnTo>
                  <a:pt x="1101" y="132"/>
                </a:lnTo>
                <a:lnTo>
                  <a:pt x="1085" y="132"/>
                </a:lnTo>
                <a:lnTo>
                  <a:pt x="1067" y="125"/>
                </a:lnTo>
                <a:lnTo>
                  <a:pt x="1066" y="124"/>
                </a:lnTo>
                <a:lnTo>
                  <a:pt x="1060" y="121"/>
                </a:lnTo>
                <a:lnTo>
                  <a:pt x="1053" y="116"/>
                </a:lnTo>
                <a:lnTo>
                  <a:pt x="1045" y="107"/>
                </a:lnTo>
                <a:lnTo>
                  <a:pt x="1038" y="95"/>
                </a:lnTo>
                <a:lnTo>
                  <a:pt x="1032" y="79"/>
                </a:lnTo>
                <a:lnTo>
                  <a:pt x="1028" y="59"/>
                </a:lnTo>
                <a:lnTo>
                  <a:pt x="1028" y="31"/>
                </a:lnTo>
                <a:lnTo>
                  <a:pt x="1030" y="15"/>
                </a:lnTo>
                <a:lnTo>
                  <a:pt x="103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5988" tIns="47994" rIns="95988" bIns="47994" numCol="1" anchor="t" anchorCtr="0" compatLnSpc="1">
            <a:prstTxWarp prst="textNoShape">
              <a:avLst/>
            </a:prstTxWarp>
          </a:bodyPr>
          <a:lstStyle/>
          <a:p>
            <a:endParaRPr lang="ko-KR" altLang="en-US" sz="1889"/>
          </a:p>
        </p:txBody>
      </p: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D1A23DA6-C665-8168-CC32-AEF6736C5A05}"/>
              </a:ext>
            </a:extLst>
          </p:cNvPr>
          <p:cNvCxnSpPr>
            <a:cxnSpLocks/>
            <a:stCxn id="8" idx="4"/>
            <a:endCxn id="8" idx="0"/>
          </p:cNvCxnSpPr>
          <p:nvPr/>
        </p:nvCxnSpPr>
        <p:spPr>
          <a:xfrm flipV="1">
            <a:off x="2704957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5E44673C-9845-A02C-3BA6-2033EC3DA9C6}"/>
              </a:ext>
            </a:extLst>
          </p:cNvPr>
          <p:cNvCxnSpPr>
            <a:cxnSpLocks/>
            <a:stCxn id="5" idx="4"/>
            <a:endCxn id="5" idx="0"/>
          </p:cNvCxnSpPr>
          <p:nvPr/>
        </p:nvCxnSpPr>
        <p:spPr>
          <a:xfrm flipV="1">
            <a:off x="768963" y="226349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EE2ACEA0-4278-7BD2-D315-7EC5A9D0B053}"/>
              </a:ext>
            </a:extLst>
          </p:cNvPr>
          <p:cNvCxnSpPr>
            <a:cxnSpLocks/>
          </p:cNvCxnSpPr>
          <p:nvPr/>
        </p:nvCxnSpPr>
        <p:spPr>
          <a:xfrm flipV="1">
            <a:off x="5553985" y="2293654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E10A6CA5-B2E5-16D5-6F09-1471176F5D57}"/>
              </a:ext>
            </a:extLst>
          </p:cNvPr>
          <p:cNvCxnSpPr>
            <a:cxnSpLocks/>
          </p:cNvCxnSpPr>
          <p:nvPr/>
        </p:nvCxnSpPr>
        <p:spPr>
          <a:xfrm flipV="1">
            <a:off x="7611033" y="2275295"/>
            <a:ext cx="0" cy="319961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726A0AA-6EE9-BAC8-3649-023C3FE8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pic>
        <p:nvPicPr>
          <p:cNvPr id="6" name="Picture 6" descr="SK Telecom - Wikipedia">
            <a:extLst>
              <a:ext uri="{FF2B5EF4-FFF2-40B4-BE49-F238E27FC236}">
                <a16:creationId xmlns:a16="http://schemas.microsoft.com/office/drawing/2014/main" id="{9A8E3EAD-66EA-B462-7495-60A46001D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572" y="506570"/>
            <a:ext cx="2218219" cy="87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35">
            <a:extLst>
              <a:ext uri="{FF2B5EF4-FFF2-40B4-BE49-F238E27FC236}">
                <a16:creationId xmlns:a16="http://schemas.microsoft.com/office/drawing/2014/main" id="{5B9A4FFD-78E4-B6D4-2A03-D54D8E64BE77}"/>
              </a:ext>
            </a:extLst>
          </p:cNvPr>
          <p:cNvSpPr/>
          <p:nvPr/>
        </p:nvSpPr>
        <p:spPr>
          <a:xfrm>
            <a:off x="10575676" y="2271583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9" name="직선 연결선[R] 36">
            <a:extLst>
              <a:ext uri="{FF2B5EF4-FFF2-40B4-BE49-F238E27FC236}">
                <a16:creationId xmlns:a16="http://schemas.microsoft.com/office/drawing/2014/main" id="{56AE5CEF-9178-AABA-BAF1-03A0D51BCD6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10735656" y="1755469"/>
            <a:ext cx="1" cy="516114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38">
            <a:extLst>
              <a:ext uri="{FF2B5EF4-FFF2-40B4-BE49-F238E27FC236}">
                <a16:creationId xmlns:a16="http://schemas.microsoft.com/office/drawing/2014/main" id="{4F292866-F144-31E6-06D0-896FF3900735}"/>
              </a:ext>
            </a:extLst>
          </p:cNvPr>
          <p:cNvSpPr/>
          <p:nvPr/>
        </p:nvSpPr>
        <p:spPr>
          <a:xfrm>
            <a:off x="10215636" y="2663552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2017</a:t>
            </a:r>
            <a:endParaRPr kumimoji="1"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11B64D3-D324-09AD-E885-5AADF29F4BE9}"/>
              </a:ext>
            </a:extLst>
          </p:cNvPr>
          <p:cNvSpPr/>
          <p:nvPr/>
        </p:nvSpPr>
        <p:spPr>
          <a:xfrm>
            <a:off x="11520156" y="2263875"/>
            <a:ext cx="319961" cy="31996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89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D22672F4-910B-74C3-4C41-5B5795242979}"/>
              </a:ext>
            </a:extLst>
          </p:cNvPr>
          <p:cNvCxnSpPr>
            <a:cxnSpLocks/>
          </p:cNvCxnSpPr>
          <p:nvPr/>
        </p:nvCxnSpPr>
        <p:spPr>
          <a:xfrm flipV="1">
            <a:off x="11680136" y="2575748"/>
            <a:ext cx="0" cy="879892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B46803-56C5-3897-0F83-E5FEDA526B81}"/>
              </a:ext>
            </a:extLst>
          </p:cNvPr>
          <p:cNvSpPr/>
          <p:nvPr/>
        </p:nvSpPr>
        <p:spPr>
          <a:xfrm>
            <a:off x="11261488" y="1373274"/>
            <a:ext cx="970372" cy="6399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400" b="1" dirty="0">
                <a:solidFill>
                  <a:schemeClr val="tx1"/>
                </a:solidFill>
              </a:rPr>
              <a:t>2024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CF3DB5DC-49D3-96D2-C818-5BB91A262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487" y="3527648"/>
            <a:ext cx="1845421" cy="61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4">
            <a:extLst>
              <a:ext uri="{FF2B5EF4-FFF2-40B4-BE49-F238E27FC236}">
                <a16:creationId xmlns:a16="http://schemas.microsoft.com/office/drawing/2014/main" id="{59616F7B-FDDC-EB85-93D1-DAAD50462EAC}"/>
              </a:ext>
            </a:extLst>
          </p:cNvPr>
          <p:cNvSpPr/>
          <p:nvPr/>
        </p:nvSpPr>
        <p:spPr>
          <a:xfrm>
            <a:off x="350540" y="489590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ISCA 2004</a:t>
            </a:r>
            <a:r>
              <a:rPr lang="en" altLang="ko-Kore-KR" sz="2000" b="1" dirty="0"/>
              <a:t>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185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-US" altLang="ko-Kore-KR" sz="2000" dirty="0"/>
              <a:t>“Evaluating the Imagine Stream Architecture,”</a:t>
            </a:r>
          </a:p>
          <a:p>
            <a:pPr algn="ctr" eaLnBrk="0" latinLnBrk="0"/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W. J. Dally, B. </a:t>
            </a:r>
            <a:r>
              <a:rPr kumimoji="1" lang="en-US" altLang="ko-Kore-KR" sz="2000" dirty="0" err="1"/>
              <a:t>Khailany</a:t>
            </a:r>
            <a:r>
              <a:rPr kumimoji="1" lang="en-US" altLang="ko-Kore-KR" sz="2000" dirty="0"/>
              <a:t>, U. J. Kapasi, A. Das</a:t>
            </a:r>
            <a:endParaRPr lang="en" altLang="ko-Kore-KR" sz="20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08D8821B-FC1D-0426-D28B-395458D798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871" y="143272"/>
            <a:ext cx="4866842" cy="44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3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5">
            <a:extLst>
              <a:ext uri="{FF2B5EF4-FFF2-40B4-BE49-F238E27FC236}">
                <a16:creationId xmlns:a16="http://schemas.microsoft.com/office/drawing/2014/main" id="{5A45FADC-B6E6-8B1B-5A6C-8F700D67A3C6}"/>
              </a:ext>
            </a:extLst>
          </p:cNvPr>
          <p:cNvSpPr/>
          <p:nvPr/>
        </p:nvSpPr>
        <p:spPr>
          <a:xfrm>
            <a:off x="-1" y="6622906"/>
            <a:ext cx="12798425" cy="576307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/>
              <a:t>Not an exhaustive list </a:t>
            </a:r>
            <a:endParaRPr kumimoji="1" lang="ko-KR" altLang="en-US" sz="2000" dirty="0"/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05C9F67B-2424-753F-7A51-DCA58519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I have co-authored tool papers</a:t>
            </a:r>
            <a:endParaRPr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CB53F2-4E87-12DE-1115-DCA0132C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 dirty="0"/>
              <a:t>Confidential (</a:t>
            </a:r>
            <a:r>
              <a:rPr kumimoji="1" lang="en" altLang="ko-Kore-KR" dirty="0" err="1"/>
              <a:t>geniajh@gmail.com</a:t>
            </a:r>
            <a:r>
              <a:rPr kumimoji="1" lang="en" altLang="ko-Kore-KR" dirty="0"/>
              <a:t>)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1C6E3-42E2-3E0E-8D0A-FA7EE8F5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6" name="직사각형 4">
            <a:extLst>
              <a:ext uri="{FF2B5EF4-FFF2-40B4-BE49-F238E27FC236}">
                <a16:creationId xmlns:a16="http://schemas.microsoft.com/office/drawing/2014/main" id="{687EF3E4-FDD2-A0D4-918B-E1D969C55FD7}"/>
              </a:ext>
            </a:extLst>
          </p:cNvPr>
          <p:cNvSpPr/>
          <p:nvPr/>
        </p:nvSpPr>
        <p:spPr>
          <a:xfrm>
            <a:off x="322096" y="259154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MICRO</a:t>
            </a:r>
            <a:r>
              <a:rPr lang="en" altLang="ko-Kore-KR" sz="2000" b="1" dirty="0"/>
              <a:t> 2009]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3,388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“</a:t>
            </a:r>
            <a:r>
              <a:rPr lang="en-US" altLang="ko-Kore-KR" sz="2000" dirty="0" err="1"/>
              <a:t>McPAT</a:t>
            </a:r>
            <a:r>
              <a:rPr lang="en-US" altLang="ko-Kore-KR" sz="2000" dirty="0"/>
              <a:t>: an Integrated Power, Area, and Timing Modeling Framework for Multicore and Manycore Architectures,”</a:t>
            </a:r>
            <a:r>
              <a:rPr kumimoji="1" lang="en-US" altLang="ko-Kore-KR" sz="2000" dirty="0"/>
              <a:t> S Li, </a:t>
            </a:r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R. D. Strong, J. B. Brockman, D. M. </a:t>
            </a:r>
            <a:r>
              <a:rPr kumimoji="1" lang="en-US" altLang="ko-Kore-KR" sz="2000" dirty="0" err="1"/>
              <a:t>Tullsen</a:t>
            </a:r>
            <a:r>
              <a:rPr kumimoji="1" lang="en-US" altLang="ko-Kore-KR" sz="2000" dirty="0"/>
              <a:t>, N. P. Jouppi</a:t>
            </a:r>
            <a:endParaRPr lang="en" altLang="ko-Kore-KR" sz="2000" dirty="0"/>
          </a:p>
        </p:txBody>
      </p:sp>
      <p:sp>
        <p:nvSpPr>
          <p:cNvPr id="7" name="직사각형 4">
            <a:extLst>
              <a:ext uri="{FF2B5EF4-FFF2-40B4-BE49-F238E27FC236}">
                <a16:creationId xmlns:a16="http://schemas.microsoft.com/office/drawing/2014/main" id="{EFF47DC9-6836-4281-5005-8DF973811C7F}"/>
              </a:ext>
            </a:extLst>
          </p:cNvPr>
          <p:cNvSpPr/>
          <p:nvPr/>
        </p:nvSpPr>
        <p:spPr>
          <a:xfrm>
            <a:off x="350540" y="1439416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ISCA</a:t>
            </a:r>
            <a:r>
              <a:rPr lang="en" altLang="ko-Kore-KR" sz="2000" b="1" dirty="0"/>
              <a:t> 2008]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327 </a:t>
            </a:r>
            <a:r>
              <a:rPr lang="en" altLang="ko-Kore-KR" sz="2000" dirty="0"/>
              <a:t>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 “A Comprehensive Memory Modeling Tool and Its Application to the Design and Analysis of Future Memory Hierarchies,”</a:t>
            </a:r>
            <a:r>
              <a:rPr kumimoji="1" lang="en-US" altLang="ko-Kore-KR" sz="2000" dirty="0"/>
              <a:t> S </a:t>
            </a:r>
            <a:r>
              <a:rPr kumimoji="1" lang="en-US" altLang="ko-Kore-KR" sz="2000" dirty="0" err="1"/>
              <a:t>Thoziyoor</a:t>
            </a:r>
            <a:r>
              <a:rPr kumimoji="1" lang="en-US" altLang="ko-Kore-KR" sz="2000" dirty="0"/>
              <a:t>, </a:t>
            </a:r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M. </a:t>
            </a:r>
            <a:r>
              <a:rPr kumimoji="1" lang="en-US" altLang="ko-Kore-KR" sz="2000" dirty="0" err="1"/>
              <a:t>Monchiero</a:t>
            </a:r>
            <a:r>
              <a:rPr kumimoji="1" lang="en-US" altLang="ko-Kore-KR" sz="2000" dirty="0"/>
              <a:t>, J. B. Brockman, N. P. Jouppi</a:t>
            </a:r>
            <a:endParaRPr lang="en" altLang="ko-Kore-KR" sz="2000" dirty="0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4B412BEE-56D7-CA51-F081-23EF709EA07F}"/>
              </a:ext>
            </a:extLst>
          </p:cNvPr>
          <p:cNvSpPr/>
          <p:nvPr/>
        </p:nvSpPr>
        <p:spPr>
          <a:xfrm>
            <a:off x="350540" y="3743776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ICCAD</a:t>
            </a:r>
            <a:r>
              <a:rPr lang="en" altLang="ko-Kore-KR" sz="2000" b="1" dirty="0"/>
              <a:t> 2011]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402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 “CACTI-P: Architecture-level modeling for SRAM-based structures with advanced leakage reduction techniques,” </a:t>
            </a:r>
            <a:r>
              <a:rPr kumimoji="1" lang="en-US" altLang="ko-Kore-KR" sz="2000" dirty="0"/>
              <a:t>S Li, K. Chen, </a:t>
            </a:r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J. B. Brockman, N. P. Jouppi</a:t>
            </a:r>
            <a:endParaRPr lang="en" altLang="ko-Kore-KR" sz="2000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97CEA42C-258E-5FAA-BAA1-A8FF82F39DA0}"/>
              </a:ext>
            </a:extLst>
          </p:cNvPr>
          <p:cNvSpPr/>
          <p:nvPr/>
        </p:nvSpPr>
        <p:spPr>
          <a:xfrm>
            <a:off x="350540" y="489590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ISPASS</a:t>
            </a:r>
            <a:r>
              <a:rPr lang="en" altLang="ko-Kore-KR" sz="2000" b="1" dirty="0"/>
              <a:t> 2013]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178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-US" altLang="ko-Kore-KR" sz="2000" dirty="0"/>
              <a:t>“</a:t>
            </a:r>
            <a:r>
              <a:rPr lang="en-US" altLang="ko-Kore-KR" sz="2000" dirty="0" err="1"/>
              <a:t>McSimA</a:t>
            </a:r>
            <a:r>
              <a:rPr lang="en-US" altLang="ko-Kore-KR" sz="2000" dirty="0"/>
              <a:t>+: A manycore simulator with application-level+ simulation and detailed microarchitecture modeling,” </a:t>
            </a:r>
            <a:r>
              <a:rPr kumimoji="1" lang="en-US" altLang="ko-Kore-KR" sz="2000" b="1" dirty="0"/>
              <a:t>J. Ahn</a:t>
            </a:r>
            <a:r>
              <a:rPr kumimoji="1" lang="en-US" altLang="ko-Kore-KR" sz="2000" dirty="0"/>
              <a:t>, S. Li, S. O, N. P. Jouppi</a:t>
            </a:r>
            <a:endParaRPr lang="en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5741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736A-DB79-0030-025D-457CA8CA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DRAM tools I have been using</a:t>
            </a:r>
            <a:r>
              <a:rPr kumimoji="1" lang="ko-KR" altLang="en-US" dirty="0"/>
              <a:t> </a:t>
            </a:r>
            <a:r>
              <a:rPr kumimoji="1" lang="en-US" altLang="ko-KR" dirty="0"/>
              <a:t>while writing papers</a:t>
            </a:r>
            <a:endParaRPr kumimoji="1" lang="ko-Kore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748BA4-3014-E9CE-C1D7-450A7E81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E773F-5194-7CA5-38B6-70D48190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5" name="직사각형 84">
            <a:extLst>
              <a:ext uri="{FF2B5EF4-FFF2-40B4-BE49-F238E27FC236}">
                <a16:creationId xmlns:a16="http://schemas.microsoft.com/office/drawing/2014/main" id="{D0B1D853-C0C0-BDD9-DB11-CB3F311F6454}"/>
              </a:ext>
            </a:extLst>
          </p:cNvPr>
          <p:cNvSpPr/>
          <p:nvPr/>
        </p:nvSpPr>
        <p:spPr>
          <a:xfrm>
            <a:off x="3374916" y="55439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" name="직사각형 84">
            <a:extLst>
              <a:ext uri="{FF2B5EF4-FFF2-40B4-BE49-F238E27FC236}">
                <a16:creationId xmlns:a16="http://schemas.microsoft.com/office/drawing/2014/main" id="{6CA19761-E0C2-6146-A868-68523F2E8462}"/>
              </a:ext>
            </a:extLst>
          </p:cNvPr>
          <p:cNvSpPr/>
          <p:nvPr/>
        </p:nvSpPr>
        <p:spPr>
          <a:xfrm>
            <a:off x="3374876" y="6047960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" name="직사각형 84">
            <a:extLst>
              <a:ext uri="{FF2B5EF4-FFF2-40B4-BE49-F238E27FC236}">
                <a16:creationId xmlns:a16="http://schemas.microsoft.com/office/drawing/2014/main" id="{D23A7108-45E3-0D51-7CC7-134115779048}"/>
              </a:ext>
            </a:extLst>
          </p:cNvPr>
          <p:cNvSpPr/>
          <p:nvPr/>
        </p:nvSpPr>
        <p:spPr>
          <a:xfrm>
            <a:off x="3374876" y="6552016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" name="직사각형 84">
            <a:extLst>
              <a:ext uri="{FF2B5EF4-FFF2-40B4-BE49-F238E27FC236}">
                <a16:creationId xmlns:a16="http://schemas.microsoft.com/office/drawing/2014/main" id="{575A2AD4-CDE0-57BE-3EDB-88F13DEC6390}"/>
              </a:ext>
            </a:extLst>
          </p:cNvPr>
          <p:cNvSpPr/>
          <p:nvPr/>
        </p:nvSpPr>
        <p:spPr>
          <a:xfrm>
            <a:off x="3843292" y="5543872"/>
            <a:ext cx="3276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 err="1">
                <a:solidFill>
                  <a:schemeClr val="tx1"/>
                </a:solidFill>
              </a:rPr>
              <a:t>McSimA</a:t>
            </a:r>
            <a:r>
              <a:rPr lang="en-US" altLang="ko-KR" sz="2000" dirty="0">
                <a:solidFill>
                  <a:schemeClr val="tx1"/>
                </a:solidFill>
              </a:rPr>
              <a:t>+ 			(since 2013, internally since 2009)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직사각형 84">
            <a:extLst>
              <a:ext uri="{FF2B5EF4-FFF2-40B4-BE49-F238E27FC236}">
                <a16:creationId xmlns:a16="http://schemas.microsoft.com/office/drawing/2014/main" id="{4E0419AD-4D0D-E193-F9EC-8381E3BA1D80}"/>
              </a:ext>
            </a:extLst>
          </p:cNvPr>
          <p:cNvSpPr/>
          <p:nvPr/>
        </p:nvSpPr>
        <p:spPr>
          <a:xfrm>
            <a:off x="3843292" y="6047968"/>
            <a:ext cx="3276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 err="1">
                <a:solidFill>
                  <a:schemeClr val="tx1"/>
                </a:solidFill>
              </a:rPr>
              <a:t>Ramulator</a:t>
            </a:r>
            <a:r>
              <a:rPr lang="en-US" altLang="ko-KR" sz="2000" dirty="0">
                <a:solidFill>
                  <a:schemeClr val="tx1"/>
                </a:solidFill>
              </a:rPr>
              <a:t> 			(since 2015)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직사각형 84">
            <a:extLst>
              <a:ext uri="{FF2B5EF4-FFF2-40B4-BE49-F238E27FC236}">
                <a16:creationId xmlns:a16="http://schemas.microsoft.com/office/drawing/2014/main" id="{45BE955A-D174-C9BA-5553-A673B2EBD754}"/>
              </a:ext>
            </a:extLst>
          </p:cNvPr>
          <p:cNvSpPr/>
          <p:nvPr/>
        </p:nvSpPr>
        <p:spPr>
          <a:xfrm>
            <a:off x="3843292" y="6552024"/>
            <a:ext cx="3276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DRAM Bender &amp; </a:t>
            </a:r>
            <a:r>
              <a:rPr lang="en-US" altLang="ko-KR" sz="2000" dirty="0" err="1">
                <a:solidFill>
                  <a:schemeClr val="tx1"/>
                </a:solidFill>
              </a:rPr>
              <a:t>SoftMC</a:t>
            </a:r>
            <a:r>
              <a:rPr lang="en-US" altLang="ko-KR" sz="2000" dirty="0">
                <a:solidFill>
                  <a:schemeClr val="tx1"/>
                </a:solidFill>
              </a:rPr>
              <a:t> 	(since 2023)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직사각형 84">
            <a:extLst>
              <a:ext uri="{FF2B5EF4-FFF2-40B4-BE49-F238E27FC236}">
                <a16:creationId xmlns:a16="http://schemas.microsoft.com/office/drawing/2014/main" id="{D164138D-EE9E-9884-DDE0-2165D195A1E5}"/>
              </a:ext>
            </a:extLst>
          </p:cNvPr>
          <p:cNvSpPr/>
          <p:nvPr/>
        </p:nvSpPr>
        <p:spPr>
          <a:xfrm rot="16200000">
            <a:off x="3194917" y="4571745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2009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직사각형 84">
            <a:extLst>
              <a:ext uri="{FF2B5EF4-FFF2-40B4-BE49-F238E27FC236}">
                <a16:creationId xmlns:a16="http://schemas.microsoft.com/office/drawing/2014/main" id="{B0A420EF-F42C-CFC9-278C-629C4416347D}"/>
              </a:ext>
            </a:extLst>
          </p:cNvPr>
          <p:cNvSpPr/>
          <p:nvPr/>
        </p:nvSpPr>
        <p:spPr>
          <a:xfrm rot="16200000">
            <a:off x="3554956" y="457174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2010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직사각형 84">
            <a:extLst>
              <a:ext uri="{FF2B5EF4-FFF2-40B4-BE49-F238E27FC236}">
                <a16:creationId xmlns:a16="http://schemas.microsoft.com/office/drawing/2014/main" id="{E1977159-AD98-8A90-8B99-2BF95DE2410F}"/>
              </a:ext>
            </a:extLst>
          </p:cNvPr>
          <p:cNvSpPr/>
          <p:nvPr/>
        </p:nvSpPr>
        <p:spPr>
          <a:xfrm rot="16200000">
            <a:off x="3914998" y="4571745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2011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직사각형 84">
            <a:extLst>
              <a:ext uri="{FF2B5EF4-FFF2-40B4-BE49-F238E27FC236}">
                <a16:creationId xmlns:a16="http://schemas.microsoft.com/office/drawing/2014/main" id="{F4E4CFC9-7733-FA34-73FF-4B42F0409618}"/>
              </a:ext>
            </a:extLst>
          </p:cNvPr>
          <p:cNvSpPr/>
          <p:nvPr/>
        </p:nvSpPr>
        <p:spPr>
          <a:xfrm rot="16200000">
            <a:off x="4275037" y="457174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2012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직사각형 84">
            <a:extLst>
              <a:ext uri="{FF2B5EF4-FFF2-40B4-BE49-F238E27FC236}">
                <a16:creationId xmlns:a16="http://schemas.microsoft.com/office/drawing/2014/main" id="{0B6C8FA7-5D86-67FD-E539-859595814109}"/>
              </a:ext>
            </a:extLst>
          </p:cNvPr>
          <p:cNvSpPr/>
          <p:nvPr/>
        </p:nvSpPr>
        <p:spPr>
          <a:xfrm rot="16200000">
            <a:off x="4635077" y="4571745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2013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직사각형 84">
            <a:extLst>
              <a:ext uri="{FF2B5EF4-FFF2-40B4-BE49-F238E27FC236}">
                <a16:creationId xmlns:a16="http://schemas.microsoft.com/office/drawing/2014/main" id="{190286B8-8064-F611-665B-AE5BB0186663}"/>
              </a:ext>
            </a:extLst>
          </p:cNvPr>
          <p:cNvSpPr/>
          <p:nvPr/>
        </p:nvSpPr>
        <p:spPr>
          <a:xfrm rot="16200000">
            <a:off x="4995116" y="457174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2014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직사각형 84">
            <a:extLst>
              <a:ext uri="{FF2B5EF4-FFF2-40B4-BE49-F238E27FC236}">
                <a16:creationId xmlns:a16="http://schemas.microsoft.com/office/drawing/2014/main" id="{AFC33227-6C80-BA34-5792-3CCEF8103C7C}"/>
              </a:ext>
            </a:extLst>
          </p:cNvPr>
          <p:cNvSpPr/>
          <p:nvPr/>
        </p:nvSpPr>
        <p:spPr>
          <a:xfrm rot="16200000">
            <a:off x="5355158" y="4571745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2015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직사각형 84">
            <a:extLst>
              <a:ext uri="{FF2B5EF4-FFF2-40B4-BE49-F238E27FC236}">
                <a16:creationId xmlns:a16="http://schemas.microsoft.com/office/drawing/2014/main" id="{FBC1607A-0B2F-A337-B2ED-370BAAB8E769}"/>
              </a:ext>
            </a:extLst>
          </p:cNvPr>
          <p:cNvSpPr/>
          <p:nvPr/>
        </p:nvSpPr>
        <p:spPr>
          <a:xfrm rot="16200000">
            <a:off x="5715197" y="457174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2016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직사각형 84">
            <a:extLst>
              <a:ext uri="{FF2B5EF4-FFF2-40B4-BE49-F238E27FC236}">
                <a16:creationId xmlns:a16="http://schemas.microsoft.com/office/drawing/2014/main" id="{CE3D78B6-F884-7534-2C77-CD17BE028CE4}"/>
              </a:ext>
            </a:extLst>
          </p:cNvPr>
          <p:cNvSpPr/>
          <p:nvPr/>
        </p:nvSpPr>
        <p:spPr>
          <a:xfrm rot="16200000">
            <a:off x="6075236" y="457182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2017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직사각형 84">
            <a:extLst>
              <a:ext uri="{FF2B5EF4-FFF2-40B4-BE49-F238E27FC236}">
                <a16:creationId xmlns:a16="http://schemas.microsoft.com/office/drawing/2014/main" id="{05FA7A6F-AE27-9E9A-3585-A0499A783A40}"/>
              </a:ext>
            </a:extLst>
          </p:cNvPr>
          <p:cNvSpPr/>
          <p:nvPr/>
        </p:nvSpPr>
        <p:spPr>
          <a:xfrm rot="16200000">
            <a:off x="6435275" y="4571823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2018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직사각형 84">
            <a:extLst>
              <a:ext uri="{FF2B5EF4-FFF2-40B4-BE49-F238E27FC236}">
                <a16:creationId xmlns:a16="http://schemas.microsoft.com/office/drawing/2014/main" id="{4ADCC419-AF2F-C36B-EE96-3F3D272EDA54}"/>
              </a:ext>
            </a:extLst>
          </p:cNvPr>
          <p:cNvSpPr/>
          <p:nvPr/>
        </p:nvSpPr>
        <p:spPr>
          <a:xfrm rot="16200000">
            <a:off x="6795317" y="457182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2019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직사각형 84">
            <a:extLst>
              <a:ext uri="{FF2B5EF4-FFF2-40B4-BE49-F238E27FC236}">
                <a16:creationId xmlns:a16="http://schemas.microsoft.com/office/drawing/2014/main" id="{EA068236-E2F6-9954-46A0-06F73032C191}"/>
              </a:ext>
            </a:extLst>
          </p:cNvPr>
          <p:cNvSpPr/>
          <p:nvPr/>
        </p:nvSpPr>
        <p:spPr>
          <a:xfrm rot="16200000">
            <a:off x="7155356" y="4571823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2020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직사각형 84">
            <a:extLst>
              <a:ext uri="{FF2B5EF4-FFF2-40B4-BE49-F238E27FC236}">
                <a16:creationId xmlns:a16="http://schemas.microsoft.com/office/drawing/2014/main" id="{77CE82AD-A6C0-6CDA-E8C1-79B98C446911}"/>
              </a:ext>
            </a:extLst>
          </p:cNvPr>
          <p:cNvSpPr/>
          <p:nvPr/>
        </p:nvSpPr>
        <p:spPr>
          <a:xfrm rot="16200000">
            <a:off x="7515396" y="457182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2021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4" name="직사각형 84">
            <a:extLst>
              <a:ext uri="{FF2B5EF4-FFF2-40B4-BE49-F238E27FC236}">
                <a16:creationId xmlns:a16="http://schemas.microsoft.com/office/drawing/2014/main" id="{9E2FA5C6-0532-C98F-2707-04E6CE470521}"/>
              </a:ext>
            </a:extLst>
          </p:cNvPr>
          <p:cNvSpPr/>
          <p:nvPr/>
        </p:nvSpPr>
        <p:spPr>
          <a:xfrm rot="16200000">
            <a:off x="7875435" y="4571823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2022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직사각형 84">
            <a:extLst>
              <a:ext uri="{FF2B5EF4-FFF2-40B4-BE49-F238E27FC236}">
                <a16:creationId xmlns:a16="http://schemas.microsoft.com/office/drawing/2014/main" id="{AD3C8944-1AD6-B691-B6C2-2852C3E0DB7C}"/>
              </a:ext>
            </a:extLst>
          </p:cNvPr>
          <p:cNvSpPr/>
          <p:nvPr/>
        </p:nvSpPr>
        <p:spPr>
          <a:xfrm rot="16200000">
            <a:off x="8235477" y="457182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2023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6" name="직사각형 84">
            <a:extLst>
              <a:ext uri="{FF2B5EF4-FFF2-40B4-BE49-F238E27FC236}">
                <a16:creationId xmlns:a16="http://schemas.microsoft.com/office/drawing/2014/main" id="{5CA063B0-6055-04F8-2FD0-D610A7DDCBE4}"/>
              </a:ext>
            </a:extLst>
          </p:cNvPr>
          <p:cNvSpPr/>
          <p:nvPr/>
        </p:nvSpPr>
        <p:spPr>
          <a:xfrm rot="16200000">
            <a:off x="8595516" y="4571823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2024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직사각형 84">
            <a:extLst>
              <a:ext uri="{FF2B5EF4-FFF2-40B4-BE49-F238E27FC236}">
                <a16:creationId xmlns:a16="http://schemas.microsoft.com/office/drawing/2014/main" id="{CE0BC55F-B4D8-9916-DD23-5012FC063B87}"/>
              </a:ext>
            </a:extLst>
          </p:cNvPr>
          <p:cNvSpPr/>
          <p:nvPr/>
        </p:nvSpPr>
        <p:spPr>
          <a:xfrm rot="16200000">
            <a:off x="8955558" y="4571824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2025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28" name="직사각형 84">
            <a:extLst>
              <a:ext uri="{FF2B5EF4-FFF2-40B4-BE49-F238E27FC236}">
                <a16:creationId xmlns:a16="http://schemas.microsoft.com/office/drawing/2014/main" id="{177218E0-0C80-7EC8-5B6F-3C25974C938D}"/>
              </a:ext>
            </a:extLst>
          </p:cNvPr>
          <p:cNvSpPr/>
          <p:nvPr/>
        </p:nvSpPr>
        <p:spPr>
          <a:xfrm rot="16200000">
            <a:off x="9315597" y="4571823"/>
            <a:ext cx="720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2026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32" name="직사각형 84">
            <a:extLst>
              <a:ext uri="{FF2B5EF4-FFF2-40B4-BE49-F238E27FC236}">
                <a16:creationId xmlns:a16="http://schemas.microsoft.com/office/drawing/2014/main" id="{86D604A2-0F86-26C9-85A3-E2FD682356EF}"/>
              </a:ext>
            </a:extLst>
          </p:cNvPr>
          <p:cNvSpPr/>
          <p:nvPr/>
        </p:nvSpPr>
        <p:spPr>
          <a:xfrm rot="16200000">
            <a:off x="1682821" y="2699409"/>
            <a:ext cx="2736000" cy="36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z="2000" dirty="0">
                <a:solidFill>
                  <a:schemeClr val="tx1"/>
                </a:solidFill>
              </a:rPr>
              <a:t># of papers I published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88656F40-F6A5-14D8-4260-8D35D85FF70D}"/>
              </a:ext>
            </a:extLst>
          </p:cNvPr>
          <p:cNvCxnSpPr>
            <a:cxnSpLocks/>
          </p:cNvCxnSpPr>
          <p:nvPr/>
        </p:nvCxnSpPr>
        <p:spPr>
          <a:xfrm flipV="1">
            <a:off x="3302869" y="1655759"/>
            <a:ext cx="0" cy="2880001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4">
            <a:extLst>
              <a:ext uri="{FF2B5EF4-FFF2-40B4-BE49-F238E27FC236}">
                <a16:creationId xmlns:a16="http://schemas.microsoft.com/office/drawing/2014/main" id="{53676F17-DFA8-E88F-F3BC-66EE0897D74E}"/>
              </a:ext>
            </a:extLst>
          </p:cNvPr>
          <p:cNvSpPr/>
          <p:nvPr/>
        </p:nvSpPr>
        <p:spPr>
          <a:xfrm>
            <a:off x="337487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37" name="직사각형 84">
            <a:extLst>
              <a:ext uri="{FF2B5EF4-FFF2-40B4-BE49-F238E27FC236}">
                <a16:creationId xmlns:a16="http://schemas.microsoft.com/office/drawing/2014/main" id="{7844DC99-D7B9-6A48-5565-E42F10A77865}"/>
              </a:ext>
            </a:extLst>
          </p:cNvPr>
          <p:cNvSpPr/>
          <p:nvPr/>
        </p:nvSpPr>
        <p:spPr>
          <a:xfrm>
            <a:off x="337487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38" name="직사각형 84">
            <a:extLst>
              <a:ext uri="{FF2B5EF4-FFF2-40B4-BE49-F238E27FC236}">
                <a16:creationId xmlns:a16="http://schemas.microsoft.com/office/drawing/2014/main" id="{AA3802A7-C76E-8BF2-73A7-0AF804111900}"/>
              </a:ext>
            </a:extLst>
          </p:cNvPr>
          <p:cNvSpPr/>
          <p:nvPr/>
        </p:nvSpPr>
        <p:spPr>
          <a:xfrm>
            <a:off x="409499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39" name="직사각형 84">
            <a:extLst>
              <a:ext uri="{FF2B5EF4-FFF2-40B4-BE49-F238E27FC236}">
                <a16:creationId xmlns:a16="http://schemas.microsoft.com/office/drawing/2014/main" id="{6BF074E0-1616-6307-AA8B-6EF41532B790}"/>
              </a:ext>
            </a:extLst>
          </p:cNvPr>
          <p:cNvSpPr/>
          <p:nvPr/>
        </p:nvSpPr>
        <p:spPr>
          <a:xfrm>
            <a:off x="409499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0" name="직사각형 84">
            <a:extLst>
              <a:ext uri="{FF2B5EF4-FFF2-40B4-BE49-F238E27FC236}">
                <a16:creationId xmlns:a16="http://schemas.microsoft.com/office/drawing/2014/main" id="{D4FAAB77-0796-7CA8-2282-8787295E004B}"/>
              </a:ext>
            </a:extLst>
          </p:cNvPr>
          <p:cNvSpPr/>
          <p:nvPr/>
        </p:nvSpPr>
        <p:spPr>
          <a:xfrm>
            <a:off x="445499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1" name="직사각형 84">
            <a:extLst>
              <a:ext uri="{FF2B5EF4-FFF2-40B4-BE49-F238E27FC236}">
                <a16:creationId xmlns:a16="http://schemas.microsoft.com/office/drawing/2014/main" id="{A1BF486D-B9B3-6D07-C1DB-92690890C6EB}"/>
              </a:ext>
            </a:extLst>
          </p:cNvPr>
          <p:cNvSpPr/>
          <p:nvPr/>
        </p:nvSpPr>
        <p:spPr>
          <a:xfrm>
            <a:off x="445499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2" name="직사각형 84">
            <a:extLst>
              <a:ext uri="{FF2B5EF4-FFF2-40B4-BE49-F238E27FC236}">
                <a16:creationId xmlns:a16="http://schemas.microsoft.com/office/drawing/2014/main" id="{8AE5F210-656B-B9F8-6D66-06177AAB09C5}"/>
              </a:ext>
            </a:extLst>
          </p:cNvPr>
          <p:cNvSpPr/>
          <p:nvPr/>
        </p:nvSpPr>
        <p:spPr>
          <a:xfrm>
            <a:off x="481503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3" name="직사각형 84">
            <a:extLst>
              <a:ext uri="{FF2B5EF4-FFF2-40B4-BE49-F238E27FC236}">
                <a16:creationId xmlns:a16="http://schemas.microsoft.com/office/drawing/2014/main" id="{CCEE6F1C-C027-169E-86F0-E9910BBDAB00}"/>
              </a:ext>
            </a:extLst>
          </p:cNvPr>
          <p:cNvSpPr/>
          <p:nvPr/>
        </p:nvSpPr>
        <p:spPr>
          <a:xfrm>
            <a:off x="481503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4" name="직사각형 84">
            <a:extLst>
              <a:ext uri="{FF2B5EF4-FFF2-40B4-BE49-F238E27FC236}">
                <a16:creationId xmlns:a16="http://schemas.microsoft.com/office/drawing/2014/main" id="{9CA48185-1E2C-43C0-8089-6B95A3F64113}"/>
              </a:ext>
            </a:extLst>
          </p:cNvPr>
          <p:cNvSpPr/>
          <p:nvPr/>
        </p:nvSpPr>
        <p:spPr>
          <a:xfrm>
            <a:off x="4815037" y="331162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5" name="직사각형 84">
            <a:extLst>
              <a:ext uri="{FF2B5EF4-FFF2-40B4-BE49-F238E27FC236}">
                <a16:creationId xmlns:a16="http://schemas.microsoft.com/office/drawing/2014/main" id="{973910C2-A61B-7417-2DF1-773F7EC645D1}"/>
              </a:ext>
            </a:extLst>
          </p:cNvPr>
          <p:cNvSpPr/>
          <p:nvPr/>
        </p:nvSpPr>
        <p:spPr>
          <a:xfrm>
            <a:off x="517511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6" name="직사각형 84">
            <a:extLst>
              <a:ext uri="{FF2B5EF4-FFF2-40B4-BE49-F238E27FC236}">
                <a16:creationId xmlns:a16="http://schemas.microsoft.com/office/drawing/2014/main" id="{4969514D-7C1A-7BC6-7F03-1209827E0ACF}"/>
              </a:ext>
            </a:extLst>
          </p:cNvPr>
          <p:cNvSpPr/>
          <p:nvPr/>
        </p:nvSpPr>
        <p:spPr>
          <a:xfrm>
            <a:off x="5175077" y="40317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7" name="직사각형 84">
            <a:extLst>
              <a:ext uri="{FF2B5EF4-FFF2-40B4-BE49-F238E27FC236}">
                <a16:creationId xmlns:a16="http://schemas.microsoft.com/office/drawing/2014/main" id="{4B452FC8-8B92-D1C7-EB7C-7ECDD6752058}"/>
              </a:ext>
            </a:extLst>
          </p:cNvPr>
          <p:cNvSpPr/>
          <p:nvPr/>
        </p:nvSpPr>
        <p:spPr>
          <a:xfrm>
            <a:off x="553515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8" name="직사각형 84">
            <a:extLst>
              <a:ext uri="{FF2B5EF4-FFF2-40B4-BE49-F238E27FC236}">
                <a16:creationId xmlns:a16="http://schemas.microsoft.com/office/drawing/2014/main" id="{A252A466-4B1C-A2C4-526D-D5BAEF391134}"/>
              </a:ext>
            </a:extLst>
          </p:cNvPr>
          <p:cNvSpPr/>
          <p:nvPr/>
        </p:nvSpPr>
        <p:spPr>
          <a:xfrm>
            <a:off x="553511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49" name="직사각형 84">
            <a:extLst>
              <a:ext uri="{FF2B5EF4-FFF2-40B4-BE49-F238E27FC236}">
                <a16:creationId xmlns:a16="http://schemas.microsoft.com/office/drawing/2014/main" id="{79AA0E23-08AD-4A1F-9AC3-7C2E119F5260}"/>
              </a:ext>
            </a:extLst>
          </p:cNvPr>
          <p:cNvSpPr/>
          <p:nvPr/>
        </p:nvSpPr>
        <p:spPr>
          <a:xfrm>
            <a:off x="5535117" y="331162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0" name="직사각형 84">
            <a:extLst>
              <a:ext uri="{FF2B5EF4-FFF2-40B4-BE49-F238E27FC236}">
                <a16:creationId xmlns:a16="http://schemas.microsoft.com/office/drawing/2014/main" id="{D7536355-1BF2-2BC1-838D-C07A0BACBBA9}"/>
              </a:ext>
            </a:extLst>
          </p:cNvPr>
          <p:cNvSpPr/>
          <p:nvPr/>
        </p:nvSpPr>
        <p:spPr>
          <a:xfrm>
            <a:off x="5895197" y="40317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1" name="직사각형 84">
            <a:extLst>
              <a:ext uri="{FF2B5EF4-FFF2-40B4-BE49-F238E27FC236}">
                <a16:creationId xmlns:a16="http://schemas.microsoft.com/office/drawing/2014/main" id="{52B16363-EF83-4FA2-A98B-4DCFEFA770E3}"/>
              </a:ext>
            </a:extLst>
          </p:cNvPr>
          <p:cNvSpPr/>
          <p:nvPr/>
        </p:nvSpPr>
        <p:spPr>
          <a:xfrm>
            <a:off x="5895197" y="367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2" name="직사각형 84">
            <a:extLst>
              <a:ext uri="{FF2B5EF4-FFF2-40B4-BE49-F238E27FC236}">
                <a16:creationId xmlns:a16="http://schemas.microsoft.com/office/drawing/2014/main" id="{D80156AF-ADEB-D55F-2908-52C029F0C672}"/>
              </a:ext>
            </a:extLst>
          </p:cNvPr>
          <p:cNvSpPr/>
          <p:nvPr/>
        </p:nvSpPr>
        <p:spPr>
          <a:xfrm>
            <a:off x="5895197" y="331162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3" name="직사각형 84">
            <a:extLst>
              <a:ext uri="{FF2B5EF4-FFF2-40B4-BE49-F238E27FC236}">
                <a16:creationId xmlns:a16="http://schemas.microsoft.com/office/drawing/2014/main" id="{92144B1F-1363-E653-4FCD-957A6558D79A}"/>
              </a:ext>
            </a:extLst>
          </p:cNvPr>
          <p:cNvSpPr/>
          <p:nvPr/>
        </p:nvSpPr>
        <p:spPr>
          <a:xfrm>
            <a:off x="5895197" y="295158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4" name="직사각형 84">
            <a:extLst>
              <a:ext uri="{FF2B5EF4-FFF2-40B4-BE49-F238E27FC236}">
                <a16:creationId xmlns:a16="http://schemas.microsoft.com/office/drawing/2014/main" id="{35B7DBEB-F2B9-FA5E-DD84-5486BFF7A96F}"/>
              </a:ext>
            </a:extLst>
          </p:cNvPr>
          <p:cNvSpPr/>
          <p:nvPr/>
        </p:nvSpPr>
        <p:spPr>
          <a:xfrm>
            <a:off x="5895197" y="25915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5" name="직사각형 84">
            <a:extLst>
              <a:ext uri="{FF2B5EF4-FFF2-40B4-BE49-F238E27FC236}">
                <a16:creationId xmlns:a16="http://schemas.microsoft.com/office/drawing/2014/main" id="{17927A55-4126-2F63-8B28-800A8DDE57DC}"/>
              </a:ext>
            </a:extLst>
          </p:cNvPr>
          <p:cNvSpPr/>
          <p:nvPr/>
        </p:nvSpPr>
        <p:spPr>
          <a:xfrm>
            <a:off x="6255237" y="40317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6" name="직사각형 84">
            <a:extLst>
              <a:ext uri="{FF2B5EF4-FFF2-40B4-BE49-F238E27FC236}">
                <a16:creationId xmlns:a16="http://schemas.microsoft.com/office/drawing/2014/main" id="{0EBCC7DF-817D-6782-EFCF-301705877500}"/>
              </a:ext>
            </a:extLst>
          </p:cNvPr>
          <p:cNvSpPr/>
          <p:nvPr/>
        </p:nvSpPr>
        <p:spPr>
          <a:xfrm>
            <a:off x="6255237" y="367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7" name="직사각형 84">
            <a:extLst>
              <a:ext uri="{FF2B5EF4-FFF2-40B4-BE49-F238E27FC236}">
                <a16:creationId xmlns:a16="http://schemas.microsoft.com/office/drawing/2014/main" id="{B18E2190-535B-8B05-626D-AB26907875D7}"/>
              </a:ext>
            </a:extLst>
          </p:cNvPr>
          <p:cNvSpPr/>
          <p:nvPr/>
        </p:nvSpPr>
        <p:spPr>
          <a:xfrm>
            <a:off x="6255237" y="331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8" name="직사각형 84">
            <a:extLst>
              <a:ext uri="{FF2B5EF4-FFF2-40B4-BE49-F238E27FC236}">
                <a16:creationId xmlns:a16="http://schemas.microsoft.com/office/drawing/2014/main" id="{557D316D-DE9D-9F8B-7735-24F74AEB0CB4}"/>
              </a:ext>
            </a:extLst>
          </p:cNvPr>
          <p:cNvSpPr/>
          <p:nvPr/>
        </p:nvSpPr>
        <p:spPr>
          <a:xfrm>
            <a:off x="6255237" y="295158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59" name="직사각형 84">
            <a:extLst>
              <a:ext uri="{FF2B5EF4-FFF2-40B4-BE49-F238E27FC236}">
                <a16:creationId xmlns:a16="http://schemas.microsoft.com/office/drawing/2014/main" id="{AB2A77DE-2C5E-AFC2-1A33-020FFC5F2834}"/>
              </a:ext>
            </a:extLst>
          </p:cNvPr>
          <p:cNvSpPr/>
          <p:nvPr/>
        </p:nvSpPr>
        <p:spPr>
          <a:xfrm>
            <a:off x="6255237" y="25915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0" name="직사각형 84">
            <a:extLst>
              <a:ext uri="{FF2B5EF4-FFF2-40B4-BE49-F238E27FC236}">
                <a16:creationId xmlns:a16="http://schemas.microsoft.com/office/drawing/2014/main" id="{71BC0578-B61B-2612-BCEC-55506B01BEB2}"/>
              </a:ext>
            </a:extLst>
          </p:cNvPr>
          <p:cNvSpPr/>
          <p:nvPr/>
        </p:nvSpPr>
        <p:spPr>
          <a:xfrm>
            <a:off x="6255237" y="22315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1" name="직사각형 84">
            <a:extLst>
              <a:ext uri="{FF2B5EF4-FFF2-40B4-BE49-F238E27FC236}">
                <a16:creationId xmlns:a16="http://schemas.microsoft.com/office/drawing/2014/main" id="{C53E3C4B-D721-F30B-7E10-0A00DDEAA789}"/>
              </a:ext>
            </a:extLst>
          </p:cNvPr>
          <p:cNvSpPr/>
          <p:nvPr/>
        </p:nvSpPr>
        <p:spPr>
          <a:xfrm>
            <a:off x="661527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2" name="직사각형 84">
            <a:extLst>
              <a:ext uri="{FF2B5EF4-FFF2-40B4-BE49-F238E27FC236}">
                <a16:creationId xmlns:a16="http://schemas.microsoft.com/office/drawing/2014/main" id="{41D11738-1A18-FDDC-F6BF-5BDFF5D8F36E}"/>
              </a:ext>
            </a:extLst>
          </p:cNvPr>
          <p:cNvSpPr/>
          <p:nvPr/>
        </p:nvSpPr>
        <p:spPr>
          <a:xfrm>
            <a:off x="661527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3" name="직사각형 84">
            <a:extLst>
              <a:ext uri="{FF2B5EF4-FFF2-40B4-BE49-F238E27FC236}">
                <a16:creationId xmlns:a16="http://schemas.microsoft.com/office/drawing/2014/main" id="{30B54080-BECD-6EA3-B992-77206B641E54}"/>
              </a:ext>
            </a:extLst>
          </p:cNvPr>
          <p:cNvSpPr/>
          <p:nvPr/>
        </p:nvSpPr>
        <p:spPr>
          <a:xfrm>
            <a:off x="697531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4" name="직사각형 84">
            <a:extLst>
              <a:ext uri="{FF2B5EF4-FFF2-40B4-BE49-F238E27FC236}">
                <a16:creationId xmlns:a16="http://schemas.microsoft.com/office/drawing/2014/main" id="{84CF12D1-51FE-4788-488E-13EB811CB97D}"/>
              </a:ext>
            </a:extLst>
          </p:cNvPr>
          <p:cNvSpPr/>
          <p:nvPr/>
        </p:nvSpPr>
        <p:spPr>
          <a:xfrm>
            <a:off x="697531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5" name="직사각형 84">
            <a:extLst>
              <a:ext uri="{FF2B5EF4-FFF2-40B4-BE49-F238E27FC236}">
                <a16:creationId xmlns:a16="http://schemas.microsoft.com/office/drawing/2014/main" id="{2AE7356A-EF02-746D-3FCA-30FC39865C8B}"/>
              </a:ext>
            </a:extLst>
          </p:cNvPr>
          <p:cNvSpPr/>
          <p:nvPr/>
        </p:nvSpPr>
        <p:spPr>
          <a:xfrm>
            <a:off x="733531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6" name="직사각형 84">
            <a:extLst>
              <a:ext uri="{FF2B5EF4-FFF2-40B4-BE49-F238E27FC236}">
                <a16:creationId xmlns:a16="http://schemas.microsoft.com/office/drawing/2014/main" id="{A87E2A3E-A3C1-5382-F6BE-C95047667317}"/>
              </a:ext>
            </a:extLst>
          </p:cNvPr>
          <p:cNvSpPr/>
          <p:nvPr/>
        </p:nvSpPr>
        <p:spPr>
          <a:xfrm>
            <a:off x="733531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7" name="직사각형 84">
            <a:extLst>
              <a:ext uri="{FF2B5EF4-FFF2-40B4-BE49-F238E27FC236}">
                <a16:creationId xmlns:a16="http://schemas.microsoft.com/office/drawing/2014/main" id="{A315F442-12EA-C3F3-A4E2-4B230AE49A0B}"/>
              </a:ext>
            </a:extLst>
          </p:cNvPr>
          <p:cNvSpPr/>
          <p:nvPr/>
        </p:nvSpPr>
        <p:spPr>
          <a:xfrm>
            <a:off x="7335317" y="331162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8" name="직사각형 84">
            <a:extLst>
              <a:ext uri="{FF2B5EF4-FFF2-40B4-BE49-F238E27FC236}">
                <a16:creationId xmlns:a16="http://schemas.microsoft.com/office/drawing/2014/main" id="{F8FF0685-7067-C3B8-9B7E-64615E171676}"/>
              </a:ext>
            </a:extLst>
          </p:cNvPr>
          <p:cNvSpPr/>
          <p:nvPr/>
        </p:nvSpPr>
        <p:spPr>
          <a:xfrm>
            <a:off x="8055437" y="40317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69" name="직사각형 84">
            <a:extLst>
              <a:ext uri="{FF2B5EF4-FFF2-40B4-BE49-F238E27FC236}">
                <a16:creationId xmlns:a16="http://schemas.microsoft.com/office/drawing/2014/main" id="{5842285F-51C5-4587-4CEF-F47402159C52}"/>
              </a:ext>
            </a:extLst>
          </p:cNvPr>
          <p:cNvSpPr/>
          <p:nvPr/>
        </p:nvSpPr>
        <p:spPr>
          <a:xfrm>
            <a:off x="8415477" y="403170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0" name="직사각형 84">
            <a:extLst>
              <a:ext uri="{FF2B5EF4-FFF2-40B4-BE49-F238E27FC236}">
                <a16:creationId xmlns:a16="http://schemas.microsoft.com/office/drawing/2014/main" id="{30F18199-9009-5208-38A3-A6EB5F5BDEC9}"/>
              </a:ext>
            </a:extLst>
          </p:cNvPr>
          <p:cNvSpPr/>
          <p:nvPr/>
        </p:nvSpPr>
        <p:spPr>
          <a:xfrm>
            <a:off x="8415437" y="367166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1" name="직사각형 84">
            <a:extLst>
              <a:ext uri="{FF2B5EF4-FFF2-40B4-BE49-F238E27FC236}">
                <a16:creationId xmlns:a16="http://schemas.microsoft.com/office/drawing/2014/main" id="{049C6DC0-2F7C-4795-7D39-7F81C337DC1C}"/>
              </a:ext>
            </a:extLst>
          </p:cNvPr>
          <p:cNvSpPr/>
          <p:nvPr/>
        </p:nvSpPr>
        <p:spPr>
          <a:xfrm>
            <a:off x="9495597" y="4031744"/>
            <a:ext cx="360000" cy="36000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2" name="직사각형 84">
            <a:extLst>
              <a:ext uri="{FF2B5EF4-FFF2-40B4-BE49-F238E27FC236}">
                <a16:creationId xmlns:a16="http://schemas.microsoft.com/office/drawing/2014/main" id="{8766C954-49D4-EFDF-861C-BBAEBE7F77AC}"/>
              </a:ext>
            </a:extLst>
          </p:cNvPr>
          <p:cNvSpPr/>
          <p:nvPr/>
        </p:nvSpPr>
        <p:spPr>
          <a:xfrm>
            <a:off x="7695357" y="403170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3" name="직사각형 84">
            <a:extLst>
              <a:ext uri="{FF2B5EF4-FFF2-40B4-BE49-F238E27FC236}">
                <a16:creationId xmlns:a16="http://schemas.microsoft.com/office/drawing/2014/main" id="{72F76A41-7A8B-BE84-0211-523F2A31B207}"/>
              </a:ext>
            </a:extLst>
          </p:cNvPr>
          <p:cNvSpPr/>
          <p:nvPr/>
        </p:nvSpPr>
        <p:spPr>
          <a:xfrm>
            <a:off x="8055437" y="367166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4" name="직사각형 84">
            <a:extLst>
              <a:ext uri="{FF2B5EF4-FFF2-40B4-BE49-F238E27FC236}">
                <a16:creationId xmlns:a16="http://schemas.microsoft.com/office/drawing/2014/main" id="{B9A2A1E6-AB98-6B6F-0882-152292CCACA4}"/>
              </a:ext>
            </a:extLst>
          </p:cNvPr>
          <p:cNvSpPr/>
          <p:nvPr/>
        </p:nvSpPr>
        <p:spPr>
          <a:xfrm>
            <a:off x="8415477" y="331162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5" name="직사각형 84">
            <a:extLst>
              <a:ext uri="{FF2B5EF4-FFF2-40B4-BE49-F238E27FC236}">
                <a16:creationId xmlns:a16="http://schemas.microsoft.com/office/drawing/2014/main" id="{7511549A-29AE-CEA3-9DF0-ABBA9AC63D09}"/>
              </a:ext>
            </a:extLst>
          </p:cNvPr>
          <p:cNvSpPr/>
          <p:nvPr/>
        </p:nvSpPr>
        <p:spPr>
          <a:xfrm>
            <a:off x="8775517" y="403174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6" name="직사각형 84">
            <a:extLst>
              <a:ext uri="{FF2B5EF4-FFF2-40B4-BE49-F238E27FC236}">
                <a16:creationId xmlns:a16="http://schemas.microsoft.com/office/drawing/2014/main" id="{6B0695C0-66B3-0698-0B4B-38EB014F66D0}"/>
              </a:ext>
            </a:extLst>
          </p:cNvPr>
          <p:cNvSpPr/>
          <p:nvPr/>
        </p:nvSpPr>
        <p:spPr>
          <a:xfrm>
            <a:off x="8775477" y="367166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7" name="직사각형 84">
            <a:extLst>
              <a:ext uri="{FF2B5EF4-FFF2-40B4-BE49-F238E27FC236}">
                <a16:creationId xmlns:a16="http://schemas.microsoft.com/office/drawing/2014/main" id="{7F0350DE-B438-6C3E-20B3-B2DE6C17B904}"/>
              </a:ext>
            </a:extLst>
          </p:cNvPr>
          <p:cNvSpPr/>
          <p:nvPr/>
        </p:nvSpPr>
        <p:spPr>
          <a:xfrm>
            <a:off x="8775477" y="331162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8" name="직사각형 84">
            <a:extLst>
              <a:ext uri="{FF2B5EF4-FFF2-40B4-BE49-F238E27FC236}">
                <a16:creationId xmlns:a16="http://schemas.microsoft.com/office/drawing/2014/main" id="{B1C4D9DB-0337-7CC6-3ED4-96AFA08FCEB9}"/>
              </a:ext>
            </a:extLst>
          </p:cNvPr>
          <p:cNvSpPr/>
          <p:nvPr/>
        </p:nvSpPr>
        <p:spPr>
          <a:xfrm>
            <a:off x="9135557" y="403174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79" name="직사각형 84">
            <a:extLst>
              <a:ext uri="{FF2B5EF4-FFF2-40B4-BE49-F238E27FC236}">
                <a16:creationId xmlns:a16="http://schemas.microsoft.com/office/drawing/2014/main" id="{B1491585-93EC-DF33-FC64-B26D17240DA3}"/>
              </a:ext>
            </a:extLst>
          </p:cNvPr>
          <p:cNvSpPr/>
          <p:nvPr/>
        </p:nvSpPr>
        <p:spPr>
          <a:xfrm>
            <a:off x="9495597" y="367166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0" name="직사각형 84">
            <a:extLst>
              <a:ext uri="{FF2B5EF4-FFF2-40B4-BE49-F238E27FC236}">
                <a16:creationId xmlns:a16="http://schemas.microsoft.com/office/drawing/2014/main" id="{0E84045F-7372-FE2D-399F-9FDBA4B264ED}"/>
              </a:ext>
            </a:extLst>
          </p:cNvPr>
          <p:cNvSpPr/>
          <p:nvPr/>
        </p:nvSpPr>
        <p:spPr>
          <a:xfrm>
            <a:off x="9495557" y="331162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1" name="직사각형 84">
            <a:extLst>
              <a:ext uri="{FF2B5EF4-FFF2-40B4-BE49-F238E27FC236}">
                <a16:creationId xmlns:a16="http://schemas.microsoft.com/office/drawing/2014/main" id="{E7A52C94-DE0C-E5BD-B4D4-C38B9CF9E82C}"/>
              </a:ext>
            </a:extLst>
          </p:cNvPr>
          <p:cNvSpPr/>
          <p:nvPr/>
        </p:nvSpPr>
        <p:spPr>
          <a:xfrm>
            <a:off x="9135517" y="3671664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2" name="직사각형 84">
            <a:extLst>
              <a:ext uri="{FF2B5EF4-FFF2-40B4-BE49-F238E27FC236}">
                <a16:creationId xmlns:a16="http://schemas.microsoft.com/office/drawing/2014/main" id="{3E084AA6-9C1D-5D0D-F3EC-49A79777856B}"/>
              </a:ext>
            </a:extLst>
          </p:cNvPr>
          <p:cNvSpPr/>
          <p:nvPr/>
        </p:nvSpPr>
        <p:spPr>
          <a:xfrm>
            <a:off x="8775477" y="2951584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3" name="직사각형 84">
            <a:extLst>
              <a:ext uri="{FF2B5EF4-FFF2-40B4-BE49-F238E27FC236}">
                <a16:creationId xmlns:a16="http://schemas.microsoft.com/office/drawing/2014/main" id="{91FA5A38-F02E-1CD2-C82B-3D9B9C5335C0}"/>
              </a:ext>
            </a:extLst>
          </p:cNvPr>
          <p:cNvSpPr/>
          <p:nvPr/>
        </p:nvSpPr>
        <p:spPr>
          <a:xfrm>
            <a:off x="8775477" y="2591544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4" name="직사각형 84">
            <a:extLst>
              <a:ext uri="{FF2B5EF4-FFF2-40B4-BE49-F238E27FC236}">
                <a16:creationId xmlns:a16="http://schemas.microsoft.com/office/drawing/2014/main" id="{BC5D083E-83FF-7763-4199-1ADFA004392E}"/>
              </a:ext>
            </a:extLst>
          </p:cNvPr>
          <p:cNvSpPr/>
          <p:nvPr/>
        </p:nvSpPr>
        <p:spPr>
          <a:xfrm>
            <a:off x="8415477" y="2951584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E53A315-A4FD-CC6F-7FF8-FEC99D66DDCC}"/>
              </a:ext>
            </a:extLst>
          </p:cNvPr>
          <p:cNvSpPr/>
          <p:nvPr/>
        </p:nvSpPr>
        <p:spPr>
          <a:xfrm>
            <a:off x="8415477" y="2591544"/>
            <a:ext cx="360000" cy="3600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sp>
        <p:nvSpPr>
          <p:cNvPr id="86" name="직사각형 84">
            <a:extLst>
              <a:ext uri="{FF2B5EF4-FFF2-40B4-BE49-F238E27FC236}">
                <a16:creationId xmlns:a16="http://schemas.microsoft.com/office/drawing/2014/main" id="{2DA0243D-6759-C1B9-32D8-AFB91F3315A4}"/>
              </a:ext>
            </a:extLst>
          </p:cNvPr>
          <p:cNvSpPr/>
          <p:nvPr/>
        </p:nvSpPr>
        <p:spPr>
          <a:xfrm>
            <a:off x="9495557" y="2951584"/>
            <a:ext cx="360000" cy="360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600" baseline="-25000" dirty="0">
              <a:solidFill>
                <a:schemeClr val="bg1"/>
              </a:solidFill>
            </a:endParaRPr>
          </a:p>
        </p:txBody>
      </p: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FC4AA437-BFE4-A615-9CB5-F6802F209738}"/>
              </a:ext>
            </a:extLst>
          </p:cNvPr>
          <p:cNvCxnSpPr>
            <a:cxnSpLocks/>
          </p:cNvCxnSpPr>
          <p:nvPr/>
        </p:nvCxnSpPr>
        <p:spPr>
          <a:xfrm>
            <a:off x="3158853" y="4391744"/>
            <a:ext cx="6768000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95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2F4F3-3122-ABD1-A1A7-F6E3BB1E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Why have I been developing my own simulator?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C2485-7919-A376-8E29-86E368E22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ore-KR" altLang="ko-Kore-KR" dirty="0"/>
              <a:t>Training/education (DRAM and memory scheduling basics, role of main memory)</a:t>
            </a:r>
          </a:p>
          <a:p>
            <a:pPr fontAlgn="base"/>
            <a:r>
              <a:rPr lang="ko-Kore-KR" altLang="ko-Kore-KR" dirty="0"/>
              <a:t>Black</a:t>
            </a:r>
            <a:r>
              <a:rPr lang="en-US" altLang="ko-Kore-KR" dirty="0"/>
              <a:t>-</a:t>
            </a:r>
            <a:r>
              <a:rPr lang="ko-Kore-KR" altLang="ko-Kore-KR" dirty="0"/>
              <a:t>box vs. white</a:t>
            </a:r>
            <a:r>
              <a:rPr lang="en-US" altLang="ko-Kore-KR" dirty="0"/>
              <a:t>-</a:t>
            </a:r>
            <a:r>
              <a:rPr lang="ko-Kore-KR" altLang="ko-Kore-KR" dirty="0"/>
              <a:t>box approaches</a:t>
            </a:r>
          </a:p>
          <a:p>
            <a:pPr fontAlgn="base"/>
            <a:r>
              <a:rPr lang="ko-Kore-KR" altLang="ko-Kore-KR" dirty="0"/>
              <a:t>Customization (hands</a:t>
            </a:r>
            <a:r>
              <a:rPr lang="en-US" altLang="ko-Kore-KR" dirty="0"/>
              <a:t>-</a:t>
            </a:r>
            <a:r>
              <a:rPr lang="ko-Kore-KR" altLang="ko-Kore-KR" dirty="0"/>
              <a:t>on experiences)</a:t>
            </a:r>
          </a:p>
          <a:p>
            <a:pPr fontAlgn="base"/>
            <a:r>
              <a:rPr lang="ko-Kore-KR" altLang="ko-Kore-KR" dirty="0"/>
              <a:t>Time to market (how fast we can extend the features, new standards)</a:t>
            </a:r>
          </a:p>
          <a:p>
            <a:pPr fontAlgn="base"/>
            <a:r>
              <a:rPr lang="ko-Kore-KR" altLang="ko-Kore-KR" dirty="0"/>
              <a:t>Debugging</a:t>
            </a:r>
          </a:p>
          <a:p>
            <a:pPr fontAlgn="base"/>
            <a:r>
              <a:rPr lang="ko-Kore-KR" altLang="ko-Kore-KR" dirty="0"/>
              <a:t>Fun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DD5058-7E89-6D94-928B-B56EA420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22F06-6E41-B20C-A792-C543442C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81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8F297-765F-A45C-9D9A-FFEEB0E6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Why do I embrace </a:t>
            </a:r>
            <a:r>
              <a:rPr kumimoji="1" lang="en-US" altLang="ko-Kore-KR" dirty="0" err="1"/>
              <a:t>Ramulator</a:t>
            </a:r>
            <a:r>
              <a:rPr kumimoji="1" lang="en-US" altLang="ko-Kore-KR" dirty="0"/>
              <a:t>?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6F04E-E699-169B-B9CB-1DD3622A0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Training/education (tutorial, unit test, documentation, ease of use)</a:t>
            </a:r>
          </a:p>
          <a:p>
            <a:r>
              <a:rPr kumimoji="1" lang="en-US" altLang="ko-Kore-KR" dirty="0"/>
              <a:t>Code maintenance, community</a:t>
            </a:r>
          </a:p>
          <a:p>
            <a:r>
              <a:rPr kumimoji="1" lang="en-US" altLang="ko-Kore-KR" dirty="0"/>
              <a:t>Brand power (e.g., # of citations)</a:t>
            </a:r>
          </a:p>
          <a:p>
            <a:r>
              <a:rPr kumimoji="1" lang="en-US" altLang="ko-Kore-KR" dirty="0"/>
              <a:t>Hard to motivate students (user vs. developer)</a:t>
            </a:r>
          </a:p>
          <a:p>
            <a:r>
              <a:rPr kumimoji="1" lang="en-US" altLang="ko-Kore-KR" dirty="0"/>
              <a:t>I am getting older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3E0FC6-56CE-4C3D-370C-FC32B6F1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2F56C-76EA-59D1-9CDF-7B0C54AF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8" name="직사각형 4">
            <a:extLst>
              <a:ext uri="{FF2B5EF4-FFF2-40B4-BE49-F238E27FC236}">
                <a16:creationId xmlns:a16="http://schemas.microsoft.com/office/drawing/2014/main" id="{0A4B3A68-4001-EFD2-A590-160BD6606E8E}"/>
              </a:ext>
            </a:extLst>
          </p:cNvPr>
          <p:cNvSpPr/>
          <p:nvPr/>
        </p:nvSpPr>
        <p:spPr>
          <a:xfrm>
            <a:off x="350540" y="453586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IEEE CAL</a:t>
            </a:r>
            <a:r>
              <a:rPr lang="en" altLang="ko-Kore-KR" sz="2000" b="1" dirty="0"/>
              <a:t> 2015]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1050 </a:t>
            </a:r>
            <a:r>
              <a:rPr lang="en" altLang="ko-Kore-KR" sz="2000" dirty="0"/>
              <a:t>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 “</a:t>
            </a:r>
            <a:r>
              <a:rPr lang="en-US" altLang="ko-Kore-KR" sz="2000" dirty="0" err="1"/>
              <a:t>Ramulator</a:t>
            </a:r>
            <a:r>
              <a:rPr lang="en-US" altLang="ko-Kore-KR" sz="2000" dirty="0"/>
              <a:t>: A Fast and Extensible DRAM Simulator,”</a:t>
            </a:r>
          </a:p>
          <a:p>
            <a:pPr algn="ctr" eaLnBrk="0" latinLnBrk="0"/>
            <a:r>
              <a:rPr kumimoji="1" lang="en-US" altLang="ko-Kore-KR" sz="2000" dirty="0"/>
              <a:t>Y. Kim, W. Yang, O. Mutlu</a:t>
            </a:r>
            <a:endParaRPr lang="en" altLang="ko-Kore-KR" sz="2000" dirty="0"/>
          </a:p>
        </p:txBody>
      </p:sp>
      <p:sp>
        <p:nvSpPr>
          <p:cNvPr id="9" name="직사각형 4">
            <a:extLst>
              <a:ext uri="{FF2B5EF4-FFF2-40B4-BE49-F238E27FC236}">
                <a16:creationId xmlns:a16="http://schemas.microsoft.com/office/drawing/2014/main" id="{56950B9E-9AF5-2C2A-5C60-4D400D7E78AA}"/>
              </a:ext>
            </a:extLst>
          </p:cNvPr>
          <p:cNvSpPr/>
          <p:nvPr/>
        </p:nvSpPr>
        <p:spPr>
          <a:xfrm>
            <a:off x="350540" y="5687992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IEEE CAL</a:t>
            </a:r>
            <a:r>
              <a:rPr lang="en" altLang="ko-Kore-KR" sz="2000" b="1" dirty="0"/>
              <a:t> 2024]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180 </a:t>
            </a:r>
            <a:r>
              <a:rPr lang="en" altLang="ko-Kore-KR" sz="2000" dirty="0"/>
              <a:t>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 “</a:t>
            </a:r>
            <a:r>
              <a:rPr lang="en-US" altLang="ko-Kore-KR" sz="2000" dirty="0" err="1"/>
              <a:t>Ramulator</a:t>
            </a:r>
            <a:r>
              <a:rPr lang="en-US" altLang="ko-Kore-KR" sz="2000" dirty="0"/>
              <a:t> 2.0: A Modern, Modular, and Extensible DRAM Simulator,”</a:t>
            </a:r>
          </a:p>
          <a:p>
            <a:pPr algn="ctr" eaLnBrk="0" latinLnBrk="0"/>
            <a:r>
              <a:rPr kumimoji="1" lang="en-US" altLang="ko-Kore-KR" sz="2000" dirty="0"/>
              <a:t>H. Luo, Y. C. Tuğrul,</a:t>
            </a:r>
            <a:r>
              <a:rPr kumimoji="1" lang="en" altLang="ko-Kore-KR" sz="2000" dirty="0"/>
              <a:t> </a:t>
            </a:r>
            <a:r>
              <a:rPr kumimoji="1" lang="en-US" altLang="ko-Kore-KR" sz="2000" dirty="0"/>
              <a:t>F. N. </a:t>
            </a:r>
            <a:r>
              <a:rPr kumimoji="1" lang="en-US" altLang="ko-Kore-KR" sz="2000" dirty="0" err="1"/>
              <a:t>Bostancı</a:t>
            </a:r>
            <a:r>
              <a:rPr kumimoji="1" lang="en-US" altLang="ko-Kore-KR" sz="2000" dirty="0"/>
              <a:t>, A. Olgun, A. G. </a:t>
            </a:r>
            <a:r>
              <a:rPr kumimoji="1" lang="en-US" altLang="ko-Kore-KR" sz="2000" dirty="0" err="1"/>
              <a:t>Yağlıkçı</a:t>
            </a:r>
            <a:r>
              <a:rPr kumimoji="1" lang="en-US" altLang="ko-Kore-KR" sz="2000" dirty="0"/>
              <a:t>, O. Mutlu</a:t>
            </a:r>
          </a:p>
        </p:txBody>
      </p:sp>
    </p:spTree>
    <p:extLst>
      <p:ext uri="{BB962C8B-B14F-4D97-AF65-F5344CB8AC3E}">
        <p14:creationId xmlns:p14="http://schemas.microsoft.com/office/powerpoint/2010/main" val="369486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430C6-E520-DD16-49DB-FE81EDFB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How about DRAM Bender and </a:t>
            </a:r>
            <a:r>
              <a:rPr kumimoji="1" lang="en-US" altLang="ko-Kore-KR" dirty="0" err="1"/>
              <a:t>SoftMC</a:t>
            </a:r>
            <a:r>
              <a:rPr kumimoji="1" lang="en-US" altLang="ko-Kore-KR" dirty="0"/>
              <a:t>?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CDAF1-241C-D8CA-6A98-F089A09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041" y="1331904"/>
            <a:ext cx="7485830" cy="5291086"/>
          </a:xfrm>
        </p:spPr>
        <p:txBody>
          <a:bodyPr/>
          <a:lstStyle/>
          <a:p>
            <a:r>
              <a:rPr kumimoji="1" lang="en-US" altLang="ko-Kore-KR" dirty="0"/>
              <a:t>Before graduation, I played with FPGAs.</a:t>
            </a:r>
          </a:p>
          <a:p>
            <a:pPr lvl="1"/>
            <a:r>
              <a:rPr kumimoji="1" lang="en-US" altLang="ko-Kore-KR" dirty="0"/>
              <a:t>Thus, I know the values of it.</a:t>
            </a:r>
          </a:p>
          <a:p>
            <a:r>
              <a:rPr kumimoji="1" lang="en-US" altLang="ko-Kore-KR" dirty="0"/>
              <a:t>Brave guinea pigs in my group (I appreciate them.)</a:t>
            </a:r>
          </a:p>
          <a:p>
            <a:pPr lvl="1"/>
            <a:r>
              <a:rPr kumimoji="1" lang="en-US" altLang="ko-Kore-KR" dirty="0"/>
              <a:t>Dr. </a:t>
            </a:r>
            <a:r>
              <a:rPr kumimoji="1" lang="en-US" altLang="ko-Kore-KR" dirty="0" err="1"/>
              <a:t>Jaehyun</a:t>
            </a:r>
            <a:r>
              <a:rPr kumimoji="1" lang="en-US" altLang="ko-Kore-KR" dirty="0"/>
              <a:t> Park, </a:t>
            </a:r>
            <a:r>
              <a:rPr kumimoji="1" lang="en-US" altLang="ko-Kore-KR" dirty="0" err="1"/>
              <a:t>Hwayong</a:t>
            </a:r>
            <a:r>
              <a:rPr kumimoji="1" lang="en-US" altLang="ko-Kore-KR" dirty="0"/>
              <a:t> Nam, </a:t>
            </a:r>
            <a:r>
              <a:rPr kumimoji="1" lang="en-US" altLang="ko-Kore-KR" dirty="0" err="1"/>
              <a:t>Seungmin</a:t>
            </a:r>
            <a:r>
              <a:rPr kumimoji="1" lang="en-US" altLang="ko-Kore-KR" dirty="0"/>
              <a:t> Baek, and </a:t>
            </a:r>
            <a:r>
              <a:rPr kumimoji="1" lang="en-US" altLang="ko-Kore-KR" dirty="0" err="1"/>
              <a:t>Jumin</a:t>
            </a:r>
            <a:r>
              <a:rPr kumimoji="1" lang="en-US" altLang="ko-Kore-KR" dirty="0"/>
              <a:t> Kim</a:t>
            </a:r>
          </a:p>
          <a:p>
            <a:pPr lvl="1"/>
            <a:r>
              <a:rPr kumimoji="1" lang="en-US" altLang="ko-Kore-KR" dirty="0"/>
              <a:t>Three years of sharpening the blade.</a:t>
            </a:r>
          </a:p>
          <a:p>
            <a:r>
              <a:rPr kumimoji="1" lang="en-US" altLang="ko-Kore-KR" dirty="0"/>
              <a:t>The power of sanity checks and hands-on experience.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7462E0-18BF-0D9B-D473-59C86DAA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D1A77B-0552-7463-E6D9-CC5E403A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4E9CFE-7315-2B61-82FC-6F7406AA735A}"/>
              </a:ext>
            </a:extLst>
          </p:cNvPr>
          <p:cNvSpPr/>
          <p:nvPr/>
        </p:nvSpPr>
        <p:spPr>
          <a:xfrm>
            <a:off x="352041" y="4679776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altLang="ko-Kore-KR" sz="2000" b="1" dirty="0"/>
              <a:t>[ISCA 202</a:t>
            </a:r>
            <a:r>
              <a:rPr lang="en-US" altLang="ko-Kore-KR" sz="2000" b="1" dirty="0"/>
              <a:t>4</a:t>
            </a:r>
            <a:r>
              <a:rPr lang="en" altLang="ko-Kore-KR" sz="2000" b="1" dirty="0"/>
              <a:t>]</a:t>
            </a:r>
          </a:p>
          <a:p>
            <a:pPr algn="ctr"/>
            <a:r>
              <a:rPr lang="en" altLang="ko-Kore-KR" sz="2000" dirty="0"/>
              <a:t> “</a:t>
            </a:r>
            <a:r>
              <a:rPr lang="en-US" altLang="ko-Kore-KR" sz="2000" dirty="0" err="1"/>
              <a:t>DRAMScope</a:t>
            </a:r>
            <a:r>
              <a:rPr lang="en-US" altLang="ko-Kore-KR" sz="2000" dirty="0"/>
              <a:t>: Uncovering DRAM Microarchitecture and Characteristics by Issuing Memory Commands</a:t>
            </a:r>
            <a:r>
              <a:rPr lang="en" altLang="ko-Kore-KR" sz="2000" dirty="0"/>
              <a:t>,”</a:t>
            </a:r>
            <a:endParaRPr kumimoji="1" lang="en-US" altLang="ko-Kore-KR" sz="2000" dirty="0"/>
          </a:p>
          <a:p>
            <a:pPr algn="ctr"/>
            <a:r>
              <a:rPr kumimoji="1" lang="en-US" altLang="ko-KR" sz="2000" dirty="0"/>
              <a:t>H. Nam, S. Baek, M. Wi, M. J. Kim, J. Park, C. Song, N. S. Kim, </a:t>
            </a:r>
            <a:r>
              <a:rPr kumimoji="1" lang="en-US" altLang="ko-KR" sz="2000" b="1" dirty="0"/>
              <a:t>J. Ahn</a:t>
            </a:r>
            <a:endParaRPr lang="en" altLang="ko-Kore-KR" sz="2000" b="1" dirty="0"/>
          </a:p>
        </p:txBody>
      </p:sp>
      <p:sp>
        <p:nvSpPr>
          <p:cNvPr id="9" name="직사각형 13">
            <a:extLst>
              <a:ext uri="{FF2B5EF4-FFF2-40B4-BE49-F238E27FC236}">
                <a16:creationId xmlns:a16="http://schemas.microsoft.com/office/drawing/2014/main" id="{1A5B0E46-C0F5-F5AA-8F7F-A6377C56B4AC}"/>
              </a:ext>
            </a:extLst>
          </p:cNvPr>
          <p:cNvSpPr/>
          <p:nvPr/>
        </p:nvSpPr>
        <p:spPr>
          <a:xfrm>
            <a:off x="353540" y="5759896"/>
            <a:ext cx="12094344" cy="10080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ASPLOS 2025</a:t>
            </a:r>
            <a:r>
              <a:rPr lang="en" altLang="ko-Kore-KR" sz="2000" b="1" dirty="0"/>
              <a:t>]</a:t>
            </a:r>
          </a:p>
          <a:p>
            <a:pPr algn="ctr" latinLnBrk="0"/>
            <a:r>
              <a:rPr lang="en" altLang="ko-Kore-KR" sz="2000" dirty="0"/>
              <a:t> “</a:t>
            </a:r>
            <a:r>
              <a:rPr lang="en-US" altLang="ko-Kore-KR" sz="2000" dirty="0"/>
              <a:t>Marionette: A </a:t>
            </a:r>
            <a:r>
              <a:rPr lang="en-US" altLang="ko-Kore-KR" sz="2000" dirty="0" err="1"/>
              <a:t>RowHammer</a:t>
            </a:r>
            <a:r>
              <a:rPr lang="en-US" altLang="ko-Kore-KR" sz="2000" dirty="0"/>
              <a:t> Attack via Row Coupling</a:t>
            </a:r>
            <a:r>
              <a:rPr lang="en" altLang="ko-Kore-KR" sz="2000" dirty="0"/>
              <a:t>,”</a:t>
            </a:r>
          </a:p>
          <a:p>
            <a:pPr algn="ctr" latinLnBrk="0"/>
            <a:r>
              <a:rPr kumimoji="1" lang="en-US" altLang="ko-KR" sz="2000" dirty="0"/>
              <a:t>S. Baek, M. Wi, S. Park, H. Nam, M. J. Kim, N. S. Kim, </a:t>
            </a:r>
            <a:r>
              <a:rPr kumimoji="1" lang="en-US" altLang="ko-KR" sz="2000" b="1" dirty="0"/>
              <a:t>J. Ahn</a:t>
            </a:r>
            <a:endParaRPr lang="en" altLang="ko-Kore-KR" sz="2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1FF363C-2A50-42E8-9535-B1EAFBF0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871" y="143272"/>
            <a:ext cx="4866842" cy="44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2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75D6-F3B9-0253-F8E1-9C9B761F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5E067D8-A59D-0661-3EB8-F8FB723F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Thoughts and lessons</a:t>
            </a:r>
            <a:endParaRPr lang="ko-Kore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C5F46CB-EA30-0B4B-9C02-BE738A128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C9FD55-6F8B-AE68-A6A8-56B1ECE0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A9420D-A366-214F-923E-1C82F588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9683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1302C-9169-E7AB-F6D9-65FB40CB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What I learnt regarding architectural simulation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98023F-E9AE-6C49-129E-B32070F2C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 simulator is a modeling tool.</a:t>
            </a:r>
          </a:p>
          <a:p>
            <a:r>
              <a:rPr kumimoji="1" lang="en-US" altLang="ko-Kore-KR" dirty="0"/>
              <a:t>Modeling is abstraction.</a:t>
            </a:r>
          </a:p>
          <a:p>
            <a:r>
              <a:rPr kumimoji="1" lang="en-US" altLang="ko-Kore-KR" dirty="0"/>
              <a:t>All the modeling tools have intended usage scopes and limitations.</a:t>
            </a:r>
          </a:p>
          <a:p>
            <a:r>
              <a:rPr kumimoji="1" lang="en-US" altLang="ko-Kore-KR" dirty="0"/>
              <a:t>Verification is a must, but rigorous verification is tough.</a:t>
            </a:r>
          </a:p>
          <a:p>
            <a:r>
              <a:rPr kumimoji="1" lang="en-US" altLang="ko-Kore-KR" dirty="0"/>
              <a:t>Simulation is not for generating absolute numbers, but for relative numbers (trends).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7AE2B9-EEA3-F603-415F-C3FD019D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141E4E-E011-3FC2-EB10-F207E540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028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5EE658C-9E6F-3D72-09C7-1C88C9EBB1D2}"/>
              </a:ext>
            </a:extLst>
          </p:cNvPr>
          <p:cNvSpPr/>
          <p:nvPr/>
        </p:nvSpPr>
        <p:spPr>
          <a:xfrm>
            <a:off x="-1" y="6622906"/>
            <a:ext cx="12798425" cy="576307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/>
              <a:t>The devil is in the details</a:t>
            </a:r>
            <a:endParaRPr kumimoji="1" lang="ko-KR" alt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70644F-5D0E-993C-5E11-70DF5862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kumimoji="1" lang="en-US" altLang="ko-Kore-KR" dirty="0"/>
              <a:t>Verifying a (memory) simulator or a combination of multiple simulators against real hardware is very important, but complicated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821D2C-8061-F435-1996-812D2435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041" y="1331904"/>
            <a:ext cx="6706788" cy="5291086"/>
          </a:xfrm>
        </p:spPr>
        <p:txBody>
          <a:bodyPr/>
          <a:lstStyle/>
          <a:p>
            <a:r>
              <a:rPr kumimoji="1" lang="en-US" altLang="ko-Kore-KR" dirty="0"/>
              <a:t>(Hardware) prefetch</a:t>
            </a:r>
          </a:p>
          <a:p>
            <a:r>
              <a:rPr kumimoji="1" lang="en-US" altLang="ko-Kore-KR" dirty="0"/>
              <a:t>Address interleaving</a:t>
            </a:r>
          </a:p>
          <a:p>
            <a:pPr lvl="1"/>
            <a:r>
              <a:rPr kumimoji="1" lang="en-US" altLang="ko-Kore-KR" dirty="0">
                <a:hlinkClick r:id="rId2"/>
              </a:rPr>
              <a:t>Physical address to DRAM address</a:t>
            </a:r>
            <a:endParaRPr kumimoji="1" lang="en-US" altLang="ko-Kore-KR" dirty="0"/>
          </a:p>
          <a:p>
            <a:pPr lvl="1"/>
            <a:r>
              <a:rPr kumimoji="1" lang="en-US" altLang="ko-Kore-KR" dirty="0">
                <a:hlinkClick r:id="rId3"/>
              </a:rPr>
              <a:t>Channel/rank/bank-group/bank/row/column</a:t>
            </a:r>
            <a:endParaRPr kumimoji="1" lang="en-US" altLang="ko-Kore-KR" dirty="0"/>
          </a:p>
          <a:p>
            <a:r>
              <a:rPr kumimoji="1" lang="en-US" altLang="ko-Kore-KR" dirty="0"/>
              <a:t>Queue/buffer size, structure (reordering)</a:t>
            </a:r>
          </a:p>
          <a:p>
            <a:r>
              <a:rPr kumimoji="1" lang="en-US" altLang="ko-Kore-KR" dirty="0"/>
              <a:t>Row-buffer management policy</a:t>
            </a:r>
          </a:p>
          <a:p>
            <a:pPr lvl="1"/>
            <a:r>
              <a:rPr kumimoji="1" lang="en-US" altLang="ko-Kore-KR" dirty="0"/>
              <a:t>Open, close, adaptive-open, minimalist-open</a:t>
            </a:r>
          </a:p>
          <a:p>
            <a:pPr lvl="1"/>
            <a:r>
              <a:rPr kumimoji="1" lang="en-US" altLang="ko-Kore-KR" dirty="0"/>
              <a:t>Row-buffer (bank) conflicts</a:t>
            </a:r>
          </a:p>
          <a:p>
            <a:r>
              <a:rPr kumimoji="1" lang="en-US" altLang="ko-Kore-KR" dirty="0" err="1"/>
              <a:t>Uncore</a:t>
            </a:r>
            <a:r>
              <a:rPr kumimoji="1" lang="en-US" altLang="ko-Kore-KR" dirty="0"/>
              <a:t> latency, including wiring (e.g., clock-domain crossing, asynchronous FIFO) and </a:t>
            </a:r>
            <a:r>
              <a:rPr kumimoji="1" lang="en-US" altLang="ko-Kore-KR" dirty="0" err="1"/>
              <a:t>NoCs</a:t>
            </a:r>
            <a:endParaRPr kumimoji="1" lang="en-US" altLang="ko-Kore-KR" dirty="0"/>
          </a:p>
          <a:p>
            <a:r>
              <a:rPr kumimoji="1" lang="en-US" altLang="ko-Kore-KR" dirty="0"/>
              <a:t>Fairness (flow control)</a:t>
            </a:r>
          </a:p>
          <a:p>
            <a:pPr lvl="1"/>
            <a:endParaRPr kumimoji="1" lang="en-US" altLang="ko-Kore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6D4DD2-621F-643A-B992-9625AA1B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BD0D23-ACF4-0B58-A114-C817DA81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162ABD-5D7E-4AFE-CA53-BDF7E27F1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372" y="1588005"/>
            <a:ext cx="4094011" cy="409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4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2026A-41E7-CB7B-06F8-6B23609A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A few thoughts to throw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7B6FC-24F5-E615-4E27-01CDA76E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Reporting timing discrepancy is one thing, but performance debugging is another.</a:t>
            </a:r>
          </a:p>
          <a:p>
            <a:pPr lvl="1"/>
            <a:r>
              <a:rPr kumimoji="1" lang="en-US" altLang="ko-Kore-KR" dirty="0"/>
              <a:t>ex) adjusting unloaded latency through minor modification on the code or machine description file</a:t>
            </a:r>
          </a:p>
          <a:p>
            <a:pPr lvl="1"/>
            <a:r>
              <a:rPr kumimoji="1" lang="en-US" altLang="ko-Kore-KR" dirty="0"/>
              <a:t>Why not directly reporting the issues to the simulator developers and letting them fix?</a:t>
            </a:r>
          </a:p>
          <a:p>
            <a:r>
              <a:rPr kumimoji="1" lang="en-US" altLang="ko-Kore-KR" dirty="0"/>
              <a:t>How can we do curve fitting when we do not know the internal microarchitecture</a:t>
            </a:r>
            <a:r>
              <a:rPr kumimoji="1" lang="ko-KR" altLang="en-US" dirty="0"/>
              <a:t> </a:t>
            </a:r>
            <a:r>
              <a:rPr kumimoji="1" lang="en-US" altLang="ko-KR" dirty="0"/>
              <a:t>(i.e., black-box)</a:t>
            </a:r>
            <a:r>
              <a:rPr kumimoji="1" lang="en-US" altLang="ko-Kore-KR" dirty="0"/>
              <a:t> of memory controllers and the parts around those?</a:t>
            </a:r>
          </a:p>
          <a:p>
            <a:pPr lvl="1"/>
            <a:r>
              <a:rPr kumimoji="1" lang="en-US" altLang="ko-Kore-KR" dirty="0"/>
              <a:t>Bank conflict, in general, fairness</a:t>
            </a:r>
          </a:p>
          <a:p>
            <a:r>
              <a:rPr kumimoji="1" lang="en-US" altLang="ko-Kore-KR" dirty="0"/>
              <a:t>Lessons from ML (machine learning)</a:t>
            </a:r>
          </a:p>
          <a:p>
            <a:pPr lvl="1"/>
            <a:r>
              <a:rPr kumimoji="1" lang="en-US" altLang="ko-Kore-KR" dirty="0"/>
              <a:t>Dataset separation between training, validation, and test data sets</a:t>
            </a:r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2196DB-A781-165B-45DC-A2512969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BC89F8-9358-96E1-676B-616A65C1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4879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F8CCA-72B4-1152-E0B2-7CDA16D6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E31A5-3CDC-4903-1F95-CCC161BD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A few thoughts to throw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9E1B9-FD04-89DB-CE14-48D9594CF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Aforementioned open-source main-memory simulators are voluntary efforts.</a:t>
            </a:r>
          </a:p>
          <a:p>
            <a:r>
              <a:rPr kumimoji="1" lang="en-US" altLang="ko-Kore-KR" dirty="0"/>
              <a:t>We must appreciate </a:t>
            </a:r>
            <a:r>
              <a:rPr lang="ko-Kore-KR" altLang="ko-Kore-KR" dirty="0"/>
              <a:t>the hard labors of developing/maintaining </a:t>
            </a:r>
            <a:r>
              <a:rPr lang="en-US" altLang="ko-Kore-KR" dirty="0"/>
              <a:t>those </a:t>
            </a:r>
            <a:r>
              <a:rPr lang="ko-Kore-KR" altLang="ko-Kore-KR" dirty="0"/>
              <a:t>simulators</a:t>
            </a:r>
            <a:r>
              <a:rPr lang="en-US" altLang="ko-Kore-KR" dirty="0"/>
              <a:t>.</a:t>
            </a:r>
          </a:p>
          <a:p>
            <a:pPr lvl="1"/>
            <a:r>
              <a:rPr lang="en-US" altLang="ko-Kore-KR" dirty="0"/>
              <a:t>What would be the implications of LLMs on this laboring?</a:t>
            </a:r>
            <a:endParaRPr lang="ko-Kore-KR" altLang="ko-Kore-KR" dirty="0"/>
          </a:p>
          <a:p>
            <a:r>
              <a:rPr lang="en-US" altLang="ko-Kore-KR" dirty="0"/>
              <a:t>Debugging is a norm for simulators, not a compensation or a sole topic of a research paper.</a:t>
            </a:r>
          </a:p>
          <a:p>
            <a:r>
              <a:rPr lang="en-US" altLang="ko-Kore-KR" dirty="0"/>
              <a:t>You dedication should be rewarded.</a:t>
            </a:r>
          </a:p>
          <a:p>
            <a:pPr lvl="1"/>
            <a:r>
              <a:rPr lang="en-US" altLang="ko-Kore-KR" dirty="0"/>
              <a:t>However, not necessarily through ISCA/HPCA/MICRO/ASPLOS papers.</a:t>
            </a:r>
          </a:p>
          <a:p>
            <a:pPr lvl="1"/>
            <a:r>
              <a:rPr lang="en-US" altLang="ko-Kore-KR" dirty="0"/>
              <a:t>Venues like IEEE CAL and ISPASS should be equally esteemed/recognized as venues for tool papers.</a:t>
            </a:r>
            <a:endParaRPr kumimoji="1" lang="en-US" altLang="ko-Kore-KR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759646-75A0-7B15-A57B-D33BB9A9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AF7DCA-2AB6-1F29-60B3-624DDF1F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900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62BA61-2365-FB41-7A21-8318B7E1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B07B30-1008-2F29-0D32-074E62AD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EC6335-87ED-C063-E885-99C80B97E049}"/>
              </a:ext>
            </a:extLst>
          </p:cNvPr>
          <p:cNvSpPr/>
          <p:nvPr/>
        </p:nvSpPr>
        <p:spPr>
          <a:xfrm>
            <a:off x="1731000" y="1439416"/>
            <a:ext cx="432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Processor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8B9746-43FC-4C8A-F40B-06EAB3C4C389}"/>
              </a:ext>
            </a:extLst>
          </p:cNvPr>
          <p:cNvSpPr/>
          <p:nvPr/>
        </p:nvSpPr>
        <p:spPr>
          <a:xfrm>
            <a:off x="173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683BFA-DF59-CC7A-07E3-6FEF358348D1}"/>
              </a:ext>
            </a:extLst>
          </p:cNvPr>
          <p:cNvSpPr/>
          <p:nvPr/>
        </p:nvSpPr>
        <p:spPr>
          <a:xfrm>
            <a:off x="218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Tag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05238A-CEB1-5AA2-53CD-AEED00AE2EB2}"/>
              </a:ext>
            </a:extLst>
          </p:cNvPr>
          <p:cNvSpPr/>
          <p:nvPr/>
        </p:nvSpPr>
        <p:spPr>
          <a:xfrm>
            <a:off x="263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814BA3-A700-58A7-D9DF-9B59BD20D776}"/>
              </a:ext>
            </a:extLst>
          </p:cNvPr>
          <p:cNvSpPr/>
          <p:nvPr/>
        </p:nvSpPr>
        <p:spPr>
          <a:xfrm>
            <a:off x="308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6F3567-75D0-2401-C470-70763A5CC86D}"/>
              </a:ext>
            </a:extLst>
          </p:cNvPr>
          <p:cNvSpPr/>
          <p:nvPr/>
        </p:nvSpPr>
        <p:spPr>
          <a:xfrm>
            <a:off x="470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CA5691-CD0C-9337-FD91-7BB81F2E9D4C}"/>
              </a:ext>
            </a:extLst>
          </p:cNvPr>
          <p:cNvSpPr/>
          <p:nvPr/>
        </p:nvSpPr>
        <p:spPr>
          <a:xfrm>
            <a:off x="515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Tag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6909B1-33A4-5C4A-D7BB-1A6A2CC2BEDA}"/>
              </a:ext>
            </a:extLst>
          </p:cNvPr>
          <p:cNvSpPr/>
          <p:nvPr/>
        </p:nvSpPr>
        <p:spPr>
          <a:xfrm>
            <a:off x="5601000" y="24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DB49C3-78D9-850D-B6D2-00277DD32491}"/>
              </a:ext>
            </a:extLst>
          </p:cNvPr>
          <p:cNvSpPr/>
          <p:nvPr/>
        </p:nvSpPr>
        <p:spPr>
          <a:xfrm>
            <a:off x="3171000" y="2924416"/>
            <a:ext cx="1440000" cy="49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$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1E0386-DBC9-96A4-1FC4-1E1A7D6DACE2}"/>
              </a:ext>
            </a:extLst>
          </p:cNvPr>
          <p:cNvSpPr/>
          <p:nvPr/>
        </p:nvSpPr>
        <p:spPr>
          <a:xfrm>
            <a:off x="3171000" y="3644416"/>
            <a:ext cx="144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Protocol FSM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6031D6-A823-E731-F82E-6EF1D824060F}"/>
              </a:ext>
            </a:extLst>
          </p:cNvPr>
          <p:cNvSpPr/>
          <p:nvPr/>
        </p:nvSpPr>
        <p:spPr>
          <a:xfrm>
            <a:off x="3486000" y="413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Tag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D62A30-8B89-8DAB-D21A-3F0161E10C61}"/>
              </a:ext>
            </a:extLst>
          </p:cNvPr>
          <p:cNvSpPr/>
          <p:nvPr/>
        </p:nvSpPr>
        <p:spPr>
          <a:xfrm>
            <a:off x="3936000" y="413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F2DB5B-2E24-C787-E132-21889E519A41}"/>
              </a:ext>
            </a:extLst>
          </p:cNvPr>
          <p:cNvSpPr/>
          <p:nvPr/>
        </p:nvSpPr>
        <p:spPr>
          <a:xfrm>
            <a:off x="4386000" y="413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9B2EC2-F985-251C-1312-F3A117E6A58E}"/>
              </a:ext>
            </a:extLst>
          </p:cNvPr>
          <p:cNvSpPr/>
          <p:nvPr/>
        </p:nvSpPr>
        <p:spPr>
          <a:xfrm>
            <a:off x="2946000" y="4139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61FB7A-9723-6CF2-122D-B2932CA5543F}"/>
              </a:ext>
            </a:extLst>
          </p:cNvPr>
          <p:cNvSpPr/>
          <p:nvPr/>
        </p:nvSpPr>
        <p:spPr>
          <a:xfrm>
            <a:off x="1731000" y="5129416"/>
            <a:ext cx="1440000" cy="456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Message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Receive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9A9716-F52B-5F7F-C468-47DE18FA797B}"/>
              </a:ext>
            </a:extLst>
          </p:cNvPr>
          <p:cNvSpPr/>
          <p:nvPr/>
        </p:nvSpPr>
        <p:spPr>
          <a:xfrm>
            <a:off x="4611000" y="5129416"/>
            <a:ext cx="1440000" cy="456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Message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format &amp; transmit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B791E4-B001-8971-D778-9F04E91B7E5A}"/>
              </a:ext>
            </a:extLst>
          </p:cNvPr>
          <p:cNvSpPr/>
          <p:nvPr/>
        </p:nvSpPr>
        <p:spPr>
          <a:xfrm>
            <a:off x="3486000" y="436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D15949-82C7-8329-D7E7-8059CAD26083}"/>
              </a:ext>
            </a:extLst>
          </p:cNvPr>
          <p:cNvSpPr/>
          <p:nvPr/>
        </p:nvSpPr>
        <p:spPr>
          <a:xfrm>
            <a:off x="3936000" y="436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F046DF-8C80-53FB-BDA8-EBCB7ED1D82C}"/>
              </a:ext>
            </a:extLst>
          </p:cNvPr>
          <p:cNvSpPr/>
          <p:nvPr/>
        </p:nvSpPr>
        <p:spPr>
          <a:xfrm>
            <a:off x="4386000" y="436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45FFD1-169A-08BA-D90A-E046DC6431C6}"/>
              </a:ext>
            </a:extLst>
          </p:cNvPr>
          <p:cNvSpPr/>
          <p:nvPr/>
        </p:nvSpPr>
        <p:spPr>
          <a:xfrm>
            <a:off x="2946000" y="4364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225506-FD94-B44D-C3EE-C295DDB076DE}"/>
              </a:ext>
            </a:extLst>
          </p:cNvPr>
          <p:cNvSpPr/>
          <p:nvPr/>
        </p:nvSpPr>
        <p:spPr>
          <a:xfrm>
            <a:off x="3486000" y="45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3C3FA8-476B-6343-45F7-9D34AB9E5D9B}"/>
              </a:ext>
            </a:extLst>
          </p:cNvPr>
          <p:cNvSpPr/>
          <p:nvPr/>
        </p:nvSpPr>
        <p:spPr>
          <a:xfrm>
            <a:off x="3936000" y="45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EBBC1EC-3B6A-848E-7E41-3FAF79232C60}"/>
              </a:ext>
            </a:extLst>
          </p:cNvPr>
          <p:cNvSpPr/>
          <p:nvPr/>
        </p:nvSpPr>
        <p:spPr>
          <a:xfrm>
            <a:off x="4386000" y="45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2A3BCD-842C-DDC6-1360-908B81915330}"/>
              </a:ext>
            </a:extLst>
          </p:cNvPr>
          <p:cNvSpPr/>
          <p:nvPr/>
        </p:nvSpPr>
        <p:spPr>
          <a:xfrm>
            <a:off x="2946000" y="4589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60ECC28-40CA-A127-04B2-F58492C84C5E}"/>
              </a:ext>
            </a:extLst>
          </p:cNvPr>
          <p:cNvSpPr/>
          <p:nvPr/>
        </p:nvSpPr>
        <p:spPr>
          <a:xfrm>
            <a:off x="1686000" y="589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Dest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676AA2-67A9-8439-42F1-BA2F5A508310}"/>
              </a:ext>
            </a:extLst>
          </p:cNvPr>
          <p:cNvSpPr/>
          <p:nvPr/>
        </p:nvSpPr>
        <p:spPr>
          <a:xfrm>
            <a:off x="2136000" y="5894416"/>
            <a:ext cx="63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RdReq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67D8EBC-9938-8E8E-BEF4-12D1BABBEAAF}"/>
              </a:ext>
            </a:extLst>
          </p:cNvPr>
          <p:cNvSpPr/>
          <p:nvPr/>
        </p:nvSpPr>
        <p:spPr>
          <a:xfrm>
            <a:off x="2766000" y="589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629DBB-0373-DEC2-20CB-C97B8CD45ADC}"/>
              </a:ext>
            </a:extLst>
          </p:cNvPr>
          <p:cNvSpPr/>
          <p:nvPr/>
        </p:nvSpPr>
        <p:spPr>
          <a:xfrm>
            <a:off x="1686000" y="62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Dest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5D04DE6-84F2-8382-733A-C644B2A13DA0}"/>
              </a:ext>
            </a:extLst>
          </p:cNvPr>
          <p:cNvSpPr/>
          <p:nvPr/>
        </p:nvSpPr>
        <p:spPr>
          <a:xfrm>
            <a:off x="2136000" y="6299416"/>
            <a:ext cx="63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WrReq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EC39F9-9A4A-74F9-E3BA-1FAC9C17D46D}"/>
              </a:ext>
            </a:extLst>
          </p:cNvPr>
          <p:cNvSpPr/>
          <p:nvPr/>
        </p:nvSpPr>
        <p:spPr>
          <a:xfrm>
            <a:off x="2766000" y="62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CC699A7-36A1-2867-0481-2B7C4029F89D}"/>
              </a:ext>
            </a:extLst>
          </p:cNvPr>
          <p:cNvSpPr/>
          <p:nvPr/>
        </p:nvSpPr>
        <p:spPr>
          <a:xfrm>
            <a:off x="3216000" y="62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41C84B2-8047-25F4-5E77-432C438718B9}"/>
              </a:ext>
            </a:extLst>
          </p:cNvPr>
          <p:cNvSpPr/>
          <p:nvPr/>
        </p:nvSpPr>
        <p:spPr>
          <a:xfrm>
            <a:off x="4611000" y="5894416"/>
            <a:ext cx="585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RdRep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9ADF1B-4763-2F33-0FB6-789559FB24CE}"/>
              </a:ext>
            </a:extLst>
          </p:cNvPr>
          <p:cNvSpPr/>
          <p:nvPr/>
        </p:nvSpPr>
        <p:spPr>
          <a:xfrm>
            <a:off x="5196000" y="589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FE9B9C1-995E-2EF9-B1FF-1350440F21FB}"/>
              </a:ext>
            </a:extLst>
          </p:cNvPr>
          <p:cNvSpPr/>
          <p:nvPr/>
        </p:nvSpPr>
        <p:spPr>
          <a:xfrm>
            <a:off x="4611000" y="6299416"/>
            <a:ext cx="585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WrRep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5BFD493-6291-577C-A246-D037568D7813}"/>
              </a:ext>
            </a:extLst>
          </p:cNvPr>
          <p:cNvSpPr/>
          <p:nvPr/>
        </p:nvSpPr>
        <p:spPr>
          <a:xfrm>
            <a:off x="5196000" y="62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AB45F7F-FAF4-7938-9F8A-DA607250D115}"/>
              </a:ext>
            </a:extLst>
          </p:cNvPr>
          <p:cNvSpPr/>
          <p:nvPr/>
        </p:nvSpPr>
        <p:spPr>
          <a:xfrm>
            <a:off x="5646000" y="589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2" name="직사각형 272">
            <a:extLst>
              <a:ext uri="{FF2B5EF4-FFF2-40B4-BE49-F238E27FC236}">
                <a16:creationId xmlns:a16="http://schemas.microsoft.com/office/drawing/2014/main" id="{69900CC4-9435-93BF-1BD0-18AAC89C75BF}"/>
              </a:ext>
            </a:extLst>
          </p:cNvPr>
          <p:cNvSpPr/>
          <p:nvPr/>
        </p:nvSpPr>
        <p:spPr>
          <a:xfrm>
            <a:off x="1101000" y="2069416"/>
            <a:ext cx="1440000" cy="36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 err="1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Req</a:t>
            </a: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 register</a:t>
            </a:r>
          </a:p>
        </p:txBody>
      </p:sp>
      <p:sp>
        <p:nvSpPr>
          <p:cNvPr id="43" name="직사각형 272">
            <a:extLst>
              <a:ext uri="{FF2B5EF4-FFF2-40B4-BE49-F238E27FC236}">
                <a16:creationId xmlns:a16="http://schemas.microsoft.com/office/drawing/2014/main" id="{C0B3DB8A-7D46-0481-89F4-757714555A9E}"/>
              </a:ext>
            </a:extLst>
          </p:cNvPr>
          <p:cNvSpPr/>
          <p:nvPr/>
        </p:nvSpPr>
        <p:spPr>
          <a:xfrm>
            <a:off x="3801000" y="2069416"/>
            <a:ext cx="1440000" cy="36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Rep register</a:t>
            </a:r>
          </a:p>
        </p:txBody>
      </p:sp>
      <p:sp>
        <p:nvSpPr>
          <p:cNvPr id="44" name="직사각형 272">
            <a:extLst>
              <a:ext uri="{FF2B5EF4-FFF2-40B4-BE49-F238E27FC236}">
                <a16:creationId xmlns:a16="http://schemas.microsoft.com/office/drawing/2014/main" id="{CC4C731B-3CA2-EE0D-F063-3112E0223775}"/>
              </a:ext>
            </a:extLst>
          </p:cNvPr>
          <p:cNvSpPr/>
          <p:nvPr/>
        </p:nvSpPr>
        <p:spPr>
          <a:xfrm>
            <a:off x="1956000" y="283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 err="1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req</a:t>
            </a:r>
            <a:endParaRPr lang="en-US" altLang="ko-KR" sz="1600" dirty="0">
              <a:solidFill>
                <a:schemeClr val="tx1"/>
              </a:solidFill>
              <a:ea typeface="Arial Unicode MS" pitchFamily="50" charset="-127"/>
              <a:cs typeface="Arial" pitchFamily="34" charset="0"/>
            </a:endParaRPr>
          </a:p>
        </p:txBody>
      </p:sp>
      <p:sp>
        <p:nvSpPr>
          <p:cNvPr id="45" name="직사각형 272">
            <a:extLst>
              <a:ext uri="{FF2B5EF4-FFF2-40B4-BE49-F238E27FC236}">
                <a16:creationId xmlns:a16="http://schemas.microsoft.com/office/drawing/2014/main" id="{F9558395-EC5E-D1BE-6E4C-5400EB473B0F}"/>
              </a:ext>
            </a:extLst>
          </p:cNvPr>
          <p:cNvSpPr/>
          <p:nvPr/>
        </p:nvSpPr>
        <p:spPr>
          <a:xfrm>
            <a:off x="1956000" y="3059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evict</a:t>
            </a:r>
          </a:p>
        </p:txBody>
      </p:sp>
      <p:sp>
        <p:nvSpPr>
          <p:cNvPr id="46" name="직사각형 272">
            <a:extLst>
              <a:ext uri="{FF2B5EF4-FFF2-40B4-BE49-F238E27FC236}">
                <a16:creationId xmlns:a16="http://schemas.microsoft.com/office/drawing/2014/main" id="{D423724E-CB33-855D-D597-926C08F779E4}"/>
              </a:ext>
            </a:extLst>
          </p:cNvPr>
          <p:cNvSpPr/>
          <p:nvPr/>
        </p:nvSpPr>
        <p:spPr>
          <a:xfrm>
            <a:off x="4341000" y="283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data</a:t>
            </a:r>
          </a:p>
        </p:txBody>
      </p:sp>
      <p:sp>
        <p:nvSpPr>
          <p:cNvPr id="47" name="직사각형 272">
            <a:extLst>
              <a:ext uri="{FF2B5EF4-FFF2-40B4-BE49-F238E27FC236}">
                <a16:creationId xmlns:a16="http://schemas.microsoft.com/office/drawing/2014/main" id="{7025FE1D-0B33-CBA8-B3F8-770678256450}"/>
              </a:ext>
            </a:extLst>
          </p:cNvPr>
          <p:cNvSpPr/>
          <p:nvPr/>
        </p:nvSpPr>
        <p:spPr>
          <a:xfrm>
            <a:off x="4341000" y="3059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replace</a:t>
            </a:r>
          </a:p>
        </p:txBody>
      </p:sp>
      <p:sp>
        <p:nvSpPr>
          <p:cNvPr id="48" name="직사각형 272">
            <a:extLst>
              <a:ext uri="{FF2B5EF4-FFF2-40B4-BE49-F238E27FC236}">
                <a16:creationId xmlns:a16="http://schemas.microsoft.com/office/drawing/2014/main" id="{E2949F21-AC3F-F791-D16F-DD7574BCC1D2}"/>
              </a:ext>
            </a:extLst>
          </p:cNvPr>
          <p:cNvSpPr/>
          <p:nvPr/>
        </p:nvSpPr>
        <p:spPr>
          <a:xfrm>
            <a:off x="2946000" y="3419416"/>
            <a:ext cx="5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hit</a:t>
            </a:r>
          </a:p>
        </p:txBody>
      </p:sp>
      <p:sp>
        <p:nvSpPr>
          <p:cNvPr id="49" name="직사각형 272">
            <a:extLst>
              <a:ext uri="{FF2B5EF4-FFF2-40B4-BE49-F238E27FC236}">
                <a16:creationId xmlns:a16="http://schemas.microsoft.com/office/drawing/2014/main" id="{7C32A279-4251-44F3-36F0-6B0EA92D7DC3}"/>
              </a:ext>
            </a:extLst>
          </p:cNvPr>
          <p:cNvSpPr/>
          <p:nvPr/>
        </p:nvSpPr>
        <p:spPr>
          <a:xfrm>
            <a:off x="1731000" y="4229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MSHRs</a:t>
            </a:r>
          </a:p>
        </p:txBody>
      </p:sp>
      <p:sp>
        <p:nvSpPr>
          <p:cNvPr id="50" name="직사각형 272">
            <a:extLst>
              <a:ext uri="{FF2B5EF4-FFF2-40B4-BE49-F238E27FC236}">
                <a16:creationId xmlns:a16="http://schemas.microsoft.com/office/drawing/2014/main" id="{7F6351C2-C79E-94AB-6A27-A9260ECA2A2E}"/>
              </a:ext>
            </a:extLst>
          </p:cNvPr>
          <p:cNvSpPr/>
          <p:nvPr/>
        </p:nvSpPr>
        <p:spPr>
          <a:xfrm>
            <a:off x="2496000" y="562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To network</a:t>
            </a:r>
          </a:p>
        </p:txBody>
      </p:sp>
      <p:sp>
        <p:nvSpPr>
          <p:cNvPr id="51" name="직사각형 272">
            <a:extLst>
              <a:ext uri="{FF2B5EF4-FFF2-40B4-BE49-F238E27FC236}">
                <a16:creationId xmlns:a16="http://schemas.microsoft.com/office/drawing/2014/main" id="{CECA3945-6118-298F-F6D1-FD85A8FF88F7}"/>
              </a:ext>
            </a:extLst>
          </p:cNvPr>
          <p:cNvSpPr/>
          <p:nvPr/>
        </p:nvSpPr>
        <p:spPr>
          <a:xfrm>
            <a:off x="3891000" y="562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From network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1226199-FC69-3F1C-DC8D-DD48FC613F8C}"/>
              </a:ext>
            </a:extLst>
          </p:cNvPr>
          <p:cNvCxnSpPr>
            <a:stCxn id="20" idx="2"/>
            <a:endCxn id="31" idx="0"/>
          </p:cNvCxnSpPr>
          <p:nvPr/>
        </p:nvCxnSpPr>
        <p:spPr>
          <a:xfrm>
            <a:off x="2451000" y="5585645"/>
            <a:ext cx="0" cy="30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2B2B19E-BBCD-6468-1A91-9AD4AA066469}"/>
              </a:ext>
            </a:extLst>
          </p:cNvPr>
          <p:cNvCxnSpPr/>
          <p:nvPr/>
        </p:nvCxnSpPr>
        <p:spPr>
          <a:xfrm flipV="1">
            <a:off x="5331000" y="5585645"/>
            <a:ext cx="0" cy="30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68">
            <a:extLst>
              <a:ext uri="{FF2B5EF4-FFF2-40B4-BE49-F238E27FC236}">
                <a16:creationId xmlns:a16="http://schemas.microsoft.com/office/drawing/2014/main" id="{8E51933B-828F-19AC-21B9-3D3BD0DE1272}"/>
              </a:ext>
            </a:extLst>
          </p:cNvPr>
          <p:cNvCxnSpPr>
            <a:stCxn id="20" idx="0"/>
            <a:endCxn id="26" idx="2"/>
          </p:cNvCxnSpPr>
          <p:nvPr/>
        </p:nvCxnSpPr>
        <p:spPr>
          <a:xfrm rot="5400000" flipH="1" flipV="1">
            <a:off x="2923500" y="4341916"/>
            <a:ext cx="315000" cy="1260000"/>
          </a:xfrm>
          <a:prstGeom prst="bentConnector3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70">
            <a:extLst>
              <a:ext uri="{FF2B5EF4-FFF2-40B4-BE49-F238E27FC236}">
                <a16:creationId xmlns:a16="http://schemas.microsoft.com/office/drawing/2014/main" id="{3EC7863E-A9A0-38C7-9A9E-2082279D3F03}"/>
              </a:ext>
            </a:extLst>
          </p:cNvPr>
          <p:cNvCxnSpPr>
            <a:stCxn id="21" idx="0"/>
            <a:endCxn id="27" idx="2"/>
          </p:cNvCxnSpPr>
          <p:nvPr/>
        </p:nvCxnSpPr>
        <p:spPr>
          <a:xfrm rot="16200000" flipV="1">
            <a:off x="4588500" y="4386916"/>
            <a:ext cx="315000" cy="117000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8662269-DAD9-0DAD-7C71-ADAA3C9ADE67}"/>
              </a:ext>
            </a:extLst>
          </p:cNvPr>
          <p:cNvCxnSpPr/>
          <p:nvPr/>
        </p:nvCxnSpPr>
        <p:spPr>
          <a:xfrm flipV="1">
            <a:off x="3711000" y="3914416"/>
            <a:ext cx="0" cy="2187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49991BC-AF0A-724F-2DBB-CE184AAD3AA8}"/>
              </a:ext>
            </a:extLst>
          </p:cNvPr>
          <p:cNvCxnSpPr/>
          <p:nvPr/>
        </p:nvCxnSpPr>
        <p:spPr>
          <a:xfrm>
            <a:off x="4161000" y="3914416"/>
            <a:ext cx="0" cy="2312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C093D2C-40A2-F752-852E-5AF674562015}"/>
              </a:ext>
            </a:extLst>
          </p:cNvPr>
          <p:cNvCxnSpPr/>
          <p:nvPr/>
        </p:nvCxnSpPr>
        <p:spPr>
          <a:xfrm>
            <a:off x="3531000" y="3419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B0D9F80-7F34-9C80-2A63-9C896A6A8DCB}"/>
              </a:ext>
            </a:extLst>
          </p:cNvPr>
          <p:cNvCxnSpPr/>
          <p:nvPr/>
        </p:nvCxnSpPr>
        <p:spPr>
          <a:xfrm>
            <a:off x="2631000" y="1979416"/>
            <a:ext cx="0" cy="48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4E9EA12-4AAC-757B-5CAB-653CCBF62E28}"/>
              </a:ext>
            </a:extLst>
          </p:cNvPr>
          <p:cNvCxnSpPr/>
          <p:nvPr/>
        </p:nvCxnSpPr>
        <p:spPr>
          <a:xfrm flipV="1">
            <a:off x="5601000" y="1979416"/>
            <a:ext cx="0" cy="4950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88">
            <a:extLst>
              <a:ext uri="{FF2B5EF4-FFF2-40B4-BE49-F238E27FC236}">
                <a16:creationId xmlns:a16="http://schemas.microsoft.com/office/drawing/2014/main" id="{3D3A7892-6F93-F854-B79B-69B2F9B00E55}"/>
              </a:ext>
            </a:extLst>
          </p:cNvPr>
          <p:cNvCxnSpPr>
            <a:stCxn id="18" idx="0"/>
            <a:endCxn id="13" idx="2"/>
          </p:cNvCxnSpPr>
          <p:nvPr/>
        </p:nvCxnSpPr>
        <p:spPr>
          <a:xfrm rot="5400000" flipH="1" flipV="1">
            <a:off x="4498500" y="2811916"/>
            <a:ext cx="1440000" cy="1215000"/>
          </a:xfrm>
          <a:prstGeom prst="bentConnector3">
            <a:avLst>
              <a:gd name="adj1" fmla="val 766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811C9D7-6C79-2848-93FC-E9D165DD67C4}"/>
              </a:ext>
            </a:extLst>
          </p:cNvPr>
          <p:cNvCxnSpPr/>
          <p:nvPr/>
        </p:nvCxnSpPr>
        <p:spPr>
          <a:xfrm flipH="1">
            <a:off x="4611000" y="3284416"/>
            <a:ext cx="1215000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4EC69A75-A615-8DA7-DD7F-47B165A14339}"/>
              </a:ext>
            </a:extLst>
          </p:cNvPr>
          <p:cNvCxnSpPr/>
          <p:nvPr/>
        </p:nvCxnSpPr>
        <p:spPr>
          <a:xfrm>
            <a:off x="4611000" y="3059416"/>
            <a:ext cx="1215000" cy="0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99">
            <a:extLst>
              <a:ext uri="{FF2B5EF4-FFF2-40B4-BE49-F238E27FC236}">
                <a16:creationId xmlns:a16="http://schemas.microsoft.com/office/drawing/2014/main" id="{7E541259-2440-AB00-81ED-C07F1C985EDA}"/>
              </a:ext>
            </a:extLst>
          </p:cNvPr>
          <p:cNvCxnSpPr>
            <a:stCxn id="19" idx="0"/>
            <a:endCxn id="7" idx="2"/>
          </p:cNvCxnSpPr>
          <p:nvPr/>
        </p:nvCxnSpPr>
        <p:spPr>
          <a:xfrm rot="16200000" flipV="1">
            <a:off x="1866000" y="2789416"/>
            <a:ext cx="1440000" cy="1260000"/>
          </a:xfrm>
          <a:prstGeom prst="bentConnector3">
            <a:avLst>
              <a:gd name="adj1" fmla="val 8271"/>
            </a:avLst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7F5595F-7A07-2AF0-CA13-70805BAE9548}"/>
              </a:ext>
            </a:extLst>
          </p:cNvPr>
          <p:cNvCxnSpPr>
            <a:endCxn id="15" idx="1"/>
          </p:cNvCxnSpPr>
          <p:nvPr/>
        </p:nvCxnSpPr>
        <p:spPr>
          <a:xfrm>
            <a:off x="1956000" y="3779416"/>
            <a:ext cx="1215000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006A11F-0C1B-43B0-54D2-5A9DE9FC6FC7}"/>
              </a:ext>
            </a:extLst>
          </p:cNvPr>
          <p:cNvCxnSpPr/>
          <p:nvPr/>
        </p:nvCxnSpPr>
        <p:spPr>
          <a:xfrm>
            <a:off x="1956000" y="3059416"/>
            <a:ext cx="1215000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440516E-4B70-3F89-FE17-E0C764A21D7D}"/>
              </a:ext>
            </a:extLst>
          </p:cNvPr>
          <p:cNvCxnSpPr/>
          <p:nvPr/>
        </p:nvCxnSpPr>
        <p:spPr>
          <a:xfrm flipH="1">
            <a:off x="1956000" y="3284416"/>
            <a:ext cx="1215000" cy="0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1B2F514-BE80-E9E0-A5B3-0B59E4D61773}"/>
              </a:ext>
            </a:extLst>
          </p:cNvPr>
          <p:cNvSpPr/>
          <p:nvPr/>
        </p:nvSpPr>
        <p:spPr>
          <a:xfrm>
            <a:off x="7086000" y="5174416"/>
            <a:ext cx="432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Bank control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9B9F68A-8761-F5A7-7C2C-8E2BEBCAF9DF}"/>
              </a:ext>
            </a:extLst>
          </p:cNvPr>
          <p:cNvSpPr/>
          <p:nvPr/>
        </p:nvSpPr>
        <p:spPr>
          <a:xfrm>
            <a:off x="7086000" y="5939416"/>
            <a:ext cx="810000" cy="49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Memory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Bank 0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852D439-2DC8-90EB-D176-A2E8948507FE}"/>
              </a:ext>
            </a:extLst>
          </p:cNvPr>
          <p:cNvSpPr/>
          <p:nvPr/>
        </p:nvSpPr>
        <p:spPr>
          <a:xfrm>
            <a:off x="7086000" y="3194416"/>
            <a:ext cx="144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Request Queue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E9C2306-1731-C442-BBE9-927A570098F6}"/>
              </a:ext>
            </a:extLst>
          </p:cNvPr>
          <p:cNvSpPr/>
          <p:nvPr/>
        </p:nvSpPr>
        <p:spPr>
          <a:xfrm>
            <a:off x="8796000" y="42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Src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0F0F61D-DE66-307B-C87A-14312F9B9E1C}"/>
              </a:ext>
            </a:extLst>
          </p:cNvPr>
          <p:cNvSpPr/>
          <p:nvPr/>
        </p:nvSpPr>
        <p:spPr>
          <a:xfrm>
            <a:off x="9246000" y="42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87F1C6B-6750-003C-42B3-CBE79250BDE2}"/>
              </a:ext>
            </a:extLst>
          </p:cNvPr>
          <p:cNvSpPr/>
          <p:nvPr/>
        </p:nvSpPr>
        <p:spPr>
          <a:xfrm>
            <a:off x="9696000" y="427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438AE92-3C49-9829-C8DA-93560C7BAAF0}"/>
              </a:ext>
            </a:extLst>
          </p:cNvPr>
          <p:cNvSpPr/>
          <p:nvPr/>
        </p:nvSpPr>
        <p:spPr>
          <a:xfrm>
            <a:off x="8256000" y="4274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4E04BE5-503A-9C73-301A-498D75B5D80F}"/>
              </a:ext>
            </a:extLst>
          </p:cNvPr>
          <p:cNvSpPr/>
          <p:nvPr/>
        </p:nvSpPr>
        <p:spPr>
          <a:xfrm>
            <a:off x="7086000" y="2519416"/>
            <a:ext cx="1440000" cy="456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Message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Receive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2C6AA3E-8163-A4DC-D548-3790245BB1CC}"/>
              </a:ext>
            </a:extLst>
          </p:cNvPr>
          <p:cNvSpPr/>
          <p:nvPr/>
        </p:nvSpPr>
        <p:spPr>
          <a:xfrm>
            <a:off x="9741000" y="2519416"/>
            <a:ext cx="1440000" cy="456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Message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format &amp; transmit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65DEC58-D18D-7EB7-0123-4CEAF8EDF9CC}"/>
              </a:ext>
            </a:extLst>
          </p:cNvPr>
          <p:cNvSpPr/>
          <p:nvPr/>
        </p:nvSpPr>
        <p:spPr>
          <a:xfrm>
            <a:off x="8796000" y="44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60FF4FC-303D-09B6-A44A-7E9E7282C1E5}"/>
              </a:ext>
            </a:extLst>
          </p:cNvPr>
          <p:cNvSpPr/>
          <p:nvPr/>
        </p:nvSpPr>
        <p:spPr>
          <a:xfrm>
            <a:off x="9246000" y="44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6B42EAE-634B-4FDA-9C85-0B6A8944F1A8}"/>
              </a:ext>
            </a:extLst>
          </p:cNvPr>
          <p:cNvSpPr/>
          <p:nvPr/>
        </p:nvSpPr>
        <p:spPr>
          <a:xfrm>
            <a:off x="9696000" y="449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7B36703-5D33-4845-6778-15B7C1787143}"/>
              </a:ext>
            </a:extLst>
          </p:cNvPr>
          <p:cNvSpPr/>
          <p:nvPr/>
        </p:nvSpPr>
        <p:spPr>
          <a:xfrm>
            <a:off x="8256000" y="4499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815A37C-7660-7E81-2FDB-5501A341BE4E}"/>
              </a:ext>
            </a:extLst>
          </p:cNvPr>
          <p:cNvSpPr/>
          <p:nvPr/>
        </p:nvSpPr>
        <p:spPr>
          <a:xfrm>
            <a:off x="8796000" y="472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67D6C88-CACF-4BD4-FCD1-16C1A2F83658}"/>
              </a:ext>
            </a:extLst>
          </p:cNvPr>
          <p:cNvSpPr/>
          <p:nvPr/>
        </p:nvSpPr>
        <p:spPr>
          <a:xfrm>
            <a:off x="9246000" y="472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923BFAB-0298-59D4-68E8-2DDB34F1D9C8}"/>
              </a:ext>
            </a:extLst>
          </p:cNvPr>
          <p:cNvSpPr/>
          <p:nvPr/>
        </p:nvSpPr>
        <p:spPr>
          <a:xfrm>
            <a:off x="9696000" y="472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0C5BADA-244F-F404-17E2-A2AEAD1FE7D9}"/>
              </a:ext>
            </a:extLst>
          </p:cNvPr>
          <p:cNvSpPr/>
          <p:nvPr/>
        </p:nvSpPr>
        <p:spPr>
          <a:xfrm>
            <a:off x="8256000" y="4724416"/>
            <a:ext cx="54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171B989-835A-F8DB-9D58-CC0D40B729E0}"/>
              </a:ext>
            </a:extLst>
          </p:cNvPr>
          <p:cNvSpPr/>
          <p:nvPr/>
        </p:nvSpPr>
        <p:spPr>
          <a:xfrm>
            <a:off x="6816000" y="148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Src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222128-9125-D9C0-A787-80799002A317}"/>
              </a:ext>
            </a:extLst>
          </p:cNvPr>
          <p:cNvSpPr/>
          <p:nvPr/>
        </p:nvSpPr>
        <p:spPr>
          <a:xfrm>
            <a:off x="7266000" y="1484416"/>
            <a:ext cx="63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RdReq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E6DF945-A16A-73EE-AA85-B4154BE2747A}"/>
              </a:ext>
            </a:extLst>
          </p:cNvPr>
          <p:cNvSpPr/>
          <p:nvPr/>
        </p:nvSpPr>
        <p:spPr>
          <a:xfrm>
            <a:off x="7896000" y="148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A7DB2BD-72EB-EDA6-E8CC-B9C8AF8A3196}"/>
              </a:ext>
            </a:extLst>
          </p:cNvPr>
          <p:cNvSpPr/>
          <p:nvPr/>
        </p:nvSpPr>
        <p:spPr>
          <a:xfrm>
            <a:off x="6816000" y="18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Src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9DCC2EB-E57E-854B-AA7C-C0D8F8A21AD2}"/>
              </a:ext>
            </a:extLst>
          </p:cNvPr>
          <p:cNvSpPr/>
          <p:nvPr/>
        </p:nvSpPr>
        <p:spPr>
          <a:xfrm>
            <a:off x="7266000" y="1889416"/>
            <a:ext cx="63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WrReq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C446440-92CB-F9EC-08A7-5C3B0587FA54}"/>
              </a:ext>
            </a:extLst>
          </p:cNvPr>
          <p:cNvSpPr/>
          <p:nvPr/>
        </p:nvSpPr>
        <p:spPr>
          <a:xfrm>
            <a:off x="7896000" y="18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B4BFA26-5057-6484-FE43-ABBA5826F9D9}"/>
              </a:ext>
            </a:extLst>
          </p:cNvPr>
          <p:cNvSpPr/>
          <p:nvPr/>
        </p:nvSpPr>
        <p:spPr>
          <a:xfrm>
            <a:off x="8346000" y="18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0A7658-D2ED-0A44-8644-2EC7F6DD48C5}"/>
              </a:ext>
            </a:extLst>
          </p:cNvPr>
          <p:cNvSpPr/>
          <p:nvPr/>
        </p:nvSpPr>
        <p:spPr>
          <a:xfrm>
            <a:off x="9831000" y="1484416"/>
            <a:ext cx="585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RdRep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637C916-78D0-A015-3685-40A87453DC33}"/>
              </a:ext>
            </a:extLst>
          </p:cNvPr>
          <p:cNvSpPr/>
          <p:nvPr/>
        </p:nvSpPr>
        <p:spPr>
          <a:xfrm>
            <a:off x="10416000" y="148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FD38D98-9ED3-3011-9E3B-E19C8D261E59}"/>
              </a:ext>
            </a:extLst>
          </p:cNvPr>
          <p:cNvSpPr/>
          <p:nvPr/>
        </p:nvSpPr>
        <p:spPr>
          <a:xfrm>
            <a:off x="9831000" y="1889416"/>
            <a:ext cx="585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WrRep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8E5C2A9-7C91-8A4B-1801-CFD2A0454742}"/>
              </a:ext>
            </a:extLst>
          </p:cNvPr>
          <p:cNvSpPr/>
          <p:nvPr/>
        </p:nvSpPr>
        <p:spPr>
          <a:xfrm>
            <a:off x="10416000" y="18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Addr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683FD61-7201-92A9-BE62-232DBD66AEAC}"/>
              </a:ext>
            </a:extLst>
          </p:cNvPr>
          <p:cNvSpPr/>
          <p:nvPr/>
        </p:nvSpPr>
        <p:spPr>
          <a:xfrm>
            <a:off x="10866000" y="148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97" name="직사각형 272">
            <a:extLst>
              <a:ext uri="{FF2B5EF4-FFF2-40B4-BE49-F238E27FC236}">
                <a16:creationId xmlns:a16="http://schemas.microsoft.com/office/drawing/2014/main" id="{CC62D03A-1D67-E1F3-D0DE-37AB9B4D98B4}"/>
              </a:ext>
            </a:extLst>
          </p:cNvPr>
          <p:cNvSpPr/>
          <p:nvPr/>
        </p:nvSpPr>
        <p:spPr>
          <a:xfrm>
            <a:off x="10686000" y="3689416"/>
            <a:ext cx="720000" cy="225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bypass</a:t>
            </a:r>
          </a:p>
        </p:txBody>
      </p:sp>
      <p:sp>
        <p:nvSpPr>
          <p:cNvPr id="98" name="직사각형 272">
            <a:extLst>
              <a:ext uri="{FF2B5EF4-FFF2-40B4-BE49-F238E27FC236}">
                <a16:creationId xmlns:a16="http://schemas.microsoft.com/office/drawing/2014/main" id="{3DDAD9C5-8089-C8B7-542C-1EF2BAF6844E}"/>
              </a:ext>
            </a:extLst>
          </p:cNvPr>
          <p:cNvSpPr/>
          <p:nvPr/>
        </p:nvSpPr>
        <p:spPr>
          <a:xfrm>
            <a:off x="8571000" y="400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TSHRs</a:t>
            </a:r>
          </a:p>
        </p:txBody>
      </p:sp>
      <p:sp>
        <p:nvSpPr>
          <p:cNvPr id="99" name="직사각형 272">
            <a:extLst>
              <a:ext uri="{FF2B5EF4-FFF2-40B4-BE49-F238E27FC236}">
                <a16:creationId xmlns:a16="http://schemas.microsoft.com/office/drawing/2014/main" id="{7B43896D-7995-768C-2A38-FA221C8E50B7}"/>
              </a:ext>
            </a:extLst>
          </p:cNvPr>
          <p:cNvSpPr/>
          <p:nvPr/>
        </p:nvSpPr>
        <p:spPr>
          <a:xfrm>
            <a:off x="10551000" y="220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To network</a:t>
            </a:r>
          </a:p>
        </p:txBody>
      </p:sp>
      <p:sp>
        <p:nvSpPr>
          <p:cNvPr id="100" name="직사각형 272">
            <a:extLst>
              <a:ext uri="{FF2B5EF4-FFF2-40B4-BE49-F238E27FC236}">
                <a16:creationId xmlns:a16="http://schemas.microsoft.com/office/drawing/2014/main" id="{69CEE7FC-4D2B-AA6B-2B86-AB44DAC412B9}"/>
              </a:ext>
            </a:extLst>
          </p:cNvPr>
          <p:cNvSpPr/>
          <p:nvPr/>
        </p:nvSpPr>
        <p:spPr>
          <a:xfrm>
            <a:off x="6411000" y="2204416"/>
            <a:ext cx="1440000" cy="22437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ts val="1900"/>
              </a:lnSpc>
            </a:pPr>
            <a:r>
              <a:rPr lang="en-US" altLang="ko-KR" sz="1600" dirty="0">
                <a:solidFill>
                  <a:schemeClr val="tx1"/>
                </a:solidFill>
                <a:ea typeface="Arial Unicode MS" pitchFamily="50" charset="-127"/>
                <a:cs typeface="Arial" pitchFamily="34" charset="0"/>
              </a:rPr>
              <a:t>From network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EAD4581E-A4C5-8432-B9E9-58939A5C7B42}"/>
              </a:ext>
            </a:extLst>
          </p:cNvPr>
          <p:cNvCxnSpPr/>
          <p:nvPr/>
        </p:nvCxnSpPr>
        <p:spPr>
          <a:xfrm>
            <a:off x="7806000" y="2204416"/>
            <a:ext cx="0" cy="30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546A0AA-B487-3837-5059-ACF641F70FE0}"/>
              </a:ext>
            </a:extLst>
          </p:cNvPr>
          <p:cNvCxnSpPr/>
          <p:nvPr/>
        </p:nvCxnSpPr>
        <p:spPr>
          <a:xfrm flipV="1">
            <a:off x="10461000" y="2204416"/>
            <a:ext cx="0" cy="30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51">
            <a:extLst>
              <a:ext uri="{FF2B5EF4-FFF2-40B4-BE49-F238E27FC236}">
                <a16:creationId xmlns:a16="http://schemas.microsoft.com/office/drawing/2014/main" id="{A617E85A-CB60-59ED-064B-79CFD1A1E222}"/>
              </a:ext>
            </a:extLst>
          </p:cNvPr>
          <p:cNvCxnSpPr>
            <a:stCxn id="76" idx="2"/>
            <a:endCxn id="73" idx="3"/>
          </p:cNvCxnSpPr>
          <p:nvPr/>
        </p:nvCxnSpPr>
        <p:spPr>
          <a:xfrm rot="5400000">
            <a:off x="9597865" y="3523780"/>
            <a:ext cx="1411271" cy="315000"/>
          </a:xfrm>
          <a:prstGeom prst="bentConnector2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52">
            <a:extLst>
              <a:ext uri="{FF2B5EF4-FFF2-40B4-BE49-F238E27FC236}">
                <a16:creationId xmlns:a16="http://schemas.microsoft.com/office/drawing/2014/main" id="{81BFED63-C39A-F535-DE3D-2A0DA0249C12}"/>
              </a:ext>
            </a:extLst>
          </p:cNvPr>
          <p:cNvCxnSpPr>
            <a:stCxn id="70" idx="2"/>
            <a:endCxn id="74" idx="1"/>
          </p:cNvCxnSpPr>
          <p:nvPr/>
        </p:nvCxnSpPr>
        <p:spPr>
          <a:xfrm rot="16200000" flipH="1">
            <a:off x="7569750" y="3700666"/>
            <a:ext cx="922500" cy="45000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1CC13A7D-B8F4-4CEC-4079-3F34C14CCE27}"/>
              </a:ext>
            </a:extLst>
          </p:cNvPr>
          <p:cNvCxnSpPr/>
          <p:nvPr/>
        </p:nvCxnSpPr>
        <p:spPr>
          <a:xfrm>
            <a:off x="7806000" y="2969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58E35F2-D0D0-4DB8-23B8-829E55D6BE72}"/>
              </a:ext>
            </a:extLst>
          </p:cNvPr>
          <p:cNvSpPr/>
          <p:nvPr/>
        </p:nvSpPr>
        <p:spPr>
          <a:xfrm>
            <a:off x="10596000" y="5939416"/>
            <a:ext cx="810000" cy="49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Memory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Bank N-1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FC48483-5205-22FB-CB21-1BBAE7B132C8}"/>
              </a:ext>
            </a:extLst>
          </p:cNvPr>
          <p:cNvSpPr/>
          <p:nvPr/>
        </p:nvSpPr>
        <p:spPr>
          <a:xfrm>
            <a:off x="8076000" y="5939416"/>
            <a:ext cx="810000" cy="49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Memory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Bank 1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9863817-92AA-F045-E9C6-AD4D2ACAD649}"/>
              </a:ext>
            </a:extLst>
          </p:cNvPr>
          <p:cNvSpPr/>
          <p:nvPr/>
        </p:nvSpPr>
        <p:spPr>
          <a:xfrm>
            <a:off x="9381000" y="1484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BD2FDC6-0C9B-DA9B-B560-8C2C0C1ABE34}"/>
              </a:ext>
            </a:extLst>
          </p:cNvPr>
          <p:cNvSpPr/>
          <p:nvPr/>
        </p:nvSpPr>
        <p:spPr>
          <a:xfrm>
            <a:off x="9381000" y="1889416"/>
            <a:ext cx="45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2AAB1C3-CD84-D055-B7E4-99D4BAA2EE49}"/>
              </a:ext>
            </a:extLst>
          </p:cNvPr>
          <p:cNvSpPr/>
          <p:nvPr/>
        </p:nvSpPr>
        <p:spPr>
          <a:xfrm>
            <a:off x="7086000" y="4724416"/>
            <a:ext cx="810000" cy="22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Directory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FAAB999-BE5E-5275-156C-B5D703F7317D}"/>
              </a:ext>
            </a:extLst>
          </p:cNvPr>
          <p:cNvCxnSpPr/>
          <p:nvPr/>
        </p:nvCxnSpPr>
        <p:spPr>
          <a:xfrm flipV="1">
            <a:off x="10686000" y="2969417"/>
            <a:ext cx="0" cy="22049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D53B5CF-B387-39F7-25AD-C12C639087E7}"/>
              </a:ext>
            </a:extLst>
          </p:cNvPr>
          <p:cNvCxnSpPr>
            <a:stCxn id="110" idx="3"/>
            <a:endCxn id="84" idx="1"/>
          </p:cNvCxnSpPr>
          <p:nvPr/>
        </p:nvCxnSpPr>
        <p:spPr>
          <a:xfrm>
            <a:off x="7896000" y="4836916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5D03079D-6459-8DBC-53DD-0FDADFD1D4AD}"/>
              </a:ext>
            </a:extLst>
          </p:cNvPr>
          <p:cNvCxnSpPr>
            <a:endCxn id="68" idx="0"/>
          </p:cNvCxnSpPr>
          <p:nvPr/>
        </p:nvCxnSpPr>
        <p:spPr>
          <a:xfrm>
            <a:off x="9246000" y="4949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8BAC5FA0-ADAE-9403-EE24-02DE81722D65}"/>
              </a:ext>
            </a:extLst>
          </p:cNvPr>
          <p:cNvCxnSpPr/>
          <p:nvPr/>
        </p:nvCxnSpPr>
        <p:spPr>
          <a:xfrm>
            <a:off x="7491000" y="4949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10F83B8A-FBD8-C939-0D11-27F6491A96E5}"/>
              </a:ext>
            </a:extLst>
          </p:cNvPr>
          <p:cNvGrpSpPr/>
          <p:nvPr/>
        </p:nvGrpSpPr>
        <p:grpSpPr>
          <a:xfrm>
            <a:off x="9786000" y="6119416"/>
            <a:ext cx="226438" cy="45719"/>
            <a:chOff x="4160281" y="1539000"/>
            <a:chExt cx="226438" cy="45719"/>
          </a:xfrm>
          <a:effectLst/>
        </p:grpSpPr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A52DAEF-824B-3CB2-B303-CD2363403EC5}"/>
                </a:ext>
              </a:extLst>
            </p:cNvPr>
            <p:cNvSpPr/>
            <p:nvPr/>
          </p:nvSpPr>
          <p:spPr>
            <a:xfrm>
              <a:off x="4160281" y="1539000"/>
              <a:ext cx="45719" cy="4571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4B3D0D52-BD85-231F-425A-11BC68C8A3AA}"/>
                </a:ext>
              </a:extLst>
            </p:cNvPr>
            <p:cNvSpPr/>
            <p:nvPr/>
          </p:nvSpPr>
          <p:spPr>
            <a:xfrm>
              <a:off x="4250281" y="1539000"/>
              <a:ext cx="45719" cy="4571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18DF2C0A-CE23-22D0-A9CB-EA53B83F7ACD}"/>
                </a:ext>
              </a:extLst>
            </p:cNvPr>
            <p:cNvSpPr/>
            <p:nvPr/>
          </p:nvSpPr>
          <p:spPr>
            <a:xfrm>
              <a:off x="4341000" y="1539000"/>
              <a:ext cx="45719" cy="4571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A3C73A44-24B3-5508-EABF-34EF78A06B47}"/>
              </a:ext>
            </a:extLst>
          </p:cNvPr>
          <p:cNvCxnSpPr/>
          <p:nvPr/>
        </p:nvCxnSpPr>
        <p:spPr>
          <a:xfrm>
            <a:off x="7491000" y="5714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338B91A8-D0DB-5ACC-81D2-A672C2CA5150}"/>
              </a:ext>
            </a:extLst>
          </p:cNvPr>
          <p:cNvCxnSpPr/>
          <p:nvPr/>
        </p:nvCxnSpPr>
        <p:spPr>
          <a:xfrm>
            <a:off x="8481000" y="5714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DDE4CAD6-5279-E964-D4E2-8B4A38EE62A3}"/>
              </a:ext>
            </a:extLst>
          </p:cNvPr>
          <p:cNvCxnSpPr/>
          <p:nvPr/>
        </p:nvCxnSpPr>
        <p:spPr>
          <a:xfrm>
            <a:off x="11001000" y="5714416"/>
            <a:ext cx="0" cy="225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715BB46-D07B-E872-6C73-BBCB99D9F275}"/>
              </a:ext>
            </a:extLst>
          </p:cNvPr>
          <p:cNvSpPr/>
          <p:nvPr/>
        </p:nvSpPr>
        <p:spPr>
          <a:xfrm>
            <a:off x="-1" y="6622906"/>
            <a:ext cx="12798425" cy="576307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/>
              <a:t>Book of the day (Figure 20.6 &amp; 20.7)</a:t>
            </a:r>
            <a:endParaRPr kumimoji="1" lang="ko-KR" altLang="en-US" sz="2000" dirty="0"/>
          </a:p>
        </p:txBody>
      </p:sp>
      <p:sp>
        <p:nvSpPr>
          <p:cNvPr id="123" name="직사각형 4">
            <a:extLst>
              <a:ext uri="{FF2B5EF4-FFF2-40B4-BE49-F238E27FC236}">
                <a16:creationId xmlns:a16="http://schemas.microsoft.com/office/drawing/2014/main" id="{7F7B5852-B44C-6B04-1DB4-64737F269AE0}"/>
              </a:ext>
            </a:extLst>
          </p:cNvPr>
          <p:cNvSpPr/>
          <p:nvPr/>
        </p:nvSpPr>
        <p:spPr>
          <a:xfrm>
            <a:off x="322096" y="-74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MK</a:t>
            </a:r>
            <a:r>
              <a:rPr lang="en" altLang="ko-Kore-KR" sz="2000" b="1" dirty="0"/>
              <a:t> 2004]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4,912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“Principles and Practices of Interconnection Networks,”</a:t>
            </a:r>
            <a:r>
              <a:rPr kumimoji="1" lang="en-US" altLang="ko-Kore-KR" sz="2000" dirty="0"/>
              <a:t> </a:t>
            </a:r>
          </a:p>
          <a:p>
            <a:pPr algn="ctr" eaLnBrk="0" latinLnBrk="0"/>
            <a:r>
              <a:rPr kumimoji="1" lang="en-US" altLang="ko-Kore-KR" sz="2000" dirty="0"/>
              <a:t>W. J. Dally and B. P. Towles</a:t>
            </a:r>
            <a:endParaRPr lang="en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385044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FBDD-CA18-701E-DC41-73A14F6F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553A94-09B5-FF45-E580-8F0FD554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763A12-57C0-5183-2FC0-1C98A62A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0B52F70-D293-82CF-4FE1-CDFB7CD4269E}"/>
              </a:ext>
            </a:extLst>
          </p:cNvPr>
          <p:cNvSpPr/>
          <p:nvPr/>
        </p:nvSpPr>
        <p:spPr>
          <a:xfrm>
            <a:off x="-1" y="6622906"/>
            <a:ext cx="12798425" cy="576307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/>
              <a:t>Book of the day</a:t>
            </a:r>
            <a:endParaRPr kumimoji="1" lang="ko-KR" altLang="en-US" sz="2000" dirty="0"/>
          </a:p>
        </p:txBody>
      </p:sp>
      <p:sp>
        <p:nvSpPr>
          <p:cNvPr id="123" name="직사각형 4">
            <a:extLst>
              <a:ext uri="{FF2B5EF4-FFF2-40B4-BE49-F238E27FC236}">
                <a16:creationId xmlns:a16="http://schemas.microsoft.com/office/drawing/2014/main" id="{3F98337D-E2BB-DC2F-D08F-24A13D86EB19}"/>
              </a:ext>
            </a:extLst>
          </p:cNvPr>
          <p:cNvSpPr/>
          <p:nvPr/>
        </p:nvSpPr>
        <p:spPr>
          <a:xfrm>
            <a:off x="322096" y="-74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MK</a:t>
            </a:r>
            <a:r>
              <a:rPr lang="en" altLang="ko-Kore-KR" sz="2000" b="1" dirty="0"/>
              <a:t> 2004]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4,912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“Principles and Practices of Interconnection Networks,”</a:t>
            </a:r>
            <a:r>
              <a:rPr kumimoji="1" lang="en-US" altLang="ko-Kore-KR" sz="2000" dirty="0"/>
              <a:t> </a:t>
            </a:r>
          </a:p>
          <a:p>
            <a:pPr algn="ctr" eaLnBrk="0" latinLnBrk="0"/>
            <a:r>
              <a:rPr kumimoji="1" lang="en-US" altLang="ko-Kore-KR" sz="2000" dirty="0"/>
              <a:t>W. J. Dally and B. P. Towles</a:t>
            </a:r>
            <a:endParaRPr lang="en" altLang="ko-Kore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8EC16D-3862-9B4B-8534-51EE95CB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820" y="1062506"/>
            <a:ext cx="7128792" cy="543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2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7F4D-EE08-A1CF-732B-EDC99805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CC9780-4A7A-F4DD-FA80-128D183C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36B725-BF57-EE20-4897-BCFEF2D9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8D017C5-29BE-3665-E797-8987E3BDB8F5}"/>
              </a:ext>
            </a:extLst>
          </p:cNvPr>
          <p:cNvSpPr/>
          <p:nvPr/>
        </p:nvSpPr>
        <p:spPr>
          <a:xfrm>
            <a:off x="-1" y="6622906"/>
            <a:ext cx="12798425" cy="576307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dirty="0"/>
              <a:t>Book of the day</a:t>
            </a:r>
            <a:endParaRPr kumimoji="1" lang="ko-KR" altLang="en-US" sz="2000" dirty="0"/>
          </a:p>
        </p:txBody>
      </p:sp>
      <p:sp>
        <p:nvSpPr>
          <p:cNvPr id="123" name="직사각형 4">
            <a:extLst>
              <a:ext uri="{FF2B5EF4-FFF2-40B4-BE49-F238E27FC236}">
                <a16:creationId xmlns:a16="http://schemas.microsoft.com/office/drawing/2014/main" id="{C0023515-1082-3146-13D4-ED6321E2FB4C}"/>
              </a:ext>
            </a:extLst>
          </p:cNvPr>
          <p:cNvSpPr/>
          <p:nvPr/>
        </p:nvSpPr>
        <p:spPr>
          <a:xfrm>
            <a:off x="322096" y="-744"/>
            <a:ext cx="12094344" cy="100800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>
            <a:noFill/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rtlCol="0" anchor="ctr" anchorCtr="0">
            <a:noAutofit/>
          </a:bodyPr>
          <a:lstStyle/>
          <a:p>
            <a:pPr algn="ctr" eaLnBrk="0" latinLnBrk="0"/>
            <a:r>
              <a:rPr lang="en" altLang="ko-Kore-KR" sz="2000" b="1" dirty="0"/>
              <a:t>[</a:t>
            </a:r>
            <a:r>
              <a:rPr lang="en-US" altLang="ko-Kore-KR" sz="2000" b="1" dirty="0"/>
              <a:t>MK</a:t>
            </a:r>
            <a:r>
              <a:rPr lang="en" altLang="ko-Kore-KR" sz="2000" b="1" dirty="0"/>
              <a:t> 2004] </a:t>
            </a:r>
            <a:r>
              <a:rPr lang="en" altLang="ko-Kore-KR" sz="2000" dirty="0"/>
              <a:t>cited </a:t>
            </a:r>
            <a:r>
              <a:rPr lang="en" altLang="ko-Kore-KR" sz="2000" b="1" dirty="0"/>
              <a:t>4,912</a:t>
            </a:r>
            <a:r>
              <a:rPr lang="en" altLang="ko-Kore-KR" sz="2000" dirty="0"/>
              <a:t> times</a:t>
            </a:r>
          </a:p>
          <a:p>
            <a:pPr algn="ctr" eaLnBrk="0" latinLnBrk="0"/>
            <a:r>
              <a:rPr lang="en" altLang="ko-Kore-KR" sz="2000" dirty="0"/>
              <a:t> </a:t>
            </a:r>
            <a:r>
              <a:rPr lang="en-US" altLang="ko-Kore-KR" sz="2000" dirty="0"/>
              <a:t>“Principles and Practices of Interconnection Networks,”</a:t>
            </a:r>
            <a:r>
              <a:rPr kumimoji="1" lang="en-US" altLang="ko-Kore-KR" sz="2000" dirty="0"/>
              <a:t> </a:t>
            </a:r>
          </a:p>
          <a:p>
            <a:pPr algn="ctr" eaLnBrk="0" latinLnBrk="0"/>
            <a:r>
              <a:rPr kumimoji="1" lang="en-US" altLang="ko-Kore-KR" sz="2000" dirty="0"/>
              <a:t>W. J. Dally and B. P. Towles</a:t>
            </a:r>
            <a:endParaRPr lang="en" altLang="ko-Kore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75C080-C628-85C7-3BBB-65978606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00" y="2166702"/>
            <a:ext cx="7772400" cy="44572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DF6D3F-2D45-5921-108E-D63282D7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524" y="1367408"/>
            <a:ext cx="7772400" cy="43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3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F899-4F71-8E44-26FB-FEE1325B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1B7D0F1-950E-0E2F-5AD2-42939ED0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Thank you!</a:t>
            </a:r>
            <a:endParaRPr lang="ko-Kore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596FCEC-7DB6-9723-D50D-75F600984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ore-KR" dirty="0"/>
              <a:t>Back to basic.</a:t>
            </a:r>
          </a:p>
          <a:p>
            <a:r>
              <a:rPr lang="en-US" altLang="ko-Kore-KR" dirty="0"/>
              <a:t>Read textbooks like the way LLMs learn knowledge.</a:t>
            </a:r>
            <a:endParaRPr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DA5BEC-C1CE-C0B2-890A-5B0953EA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ko-Kore-KR"/>
              <a:t>Confidential (geniajh@gmail.com)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D6F546-F04F-8597-7C04-728404D8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061A9-3947-7B48-BFF8-AD18966F39F1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87740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IqX3tYJ9NrhD5chqZXGK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6IECoOuID6OMF5Xg9T2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IqX3tYJ9NrhD5chqZXGK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6IECoOuID6OMF5Xg9T2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IqX3tYJ9NrhD5chqZXGK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6IECoOuID6OMF5Xg9T2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60p4TOj7ps3JHnK3HxLV"/>
</p:tagLst>
</file>

<file path=ppt/theme/theme1.xml><?xml version="1.0" encoding="utf-8"?>
<a:theme xmlns:a="http://schemas.openxmlformats.org/drawingml/2006/main" name="2014-02-25-Memory-Centric Research Efforts for Scalable Computer Systems-안정호">
  <a:themeElements>
    <a:clrScheme name="사용자 지정 1">
      <a:dk1>
        <a:srgbClr val="000000"/>
      </a:dk1>
      <a:lt1>
        <a:srgbClr val="FFFFFF"/>
      </a:lt1>
      <a:dk2>
        <a:srgbClr val="262626"/>
      </a:dk2>
      <a:lt2>
        <a:srgbClr val="D8D8D8"/>
      </a:lt2>
      <a:accent1>
        <a:srgbClr val="E53834"/>
      </a:accent1>
      <a:accent2>
        <a:srgbClr val="FF9800"/>
      </a:accent2>
      <a:accent3>
        <a:srgbClr val="FFEB3B"/>
      </a:accent3>
      <a:accent4>
        <a:srgbClr val="8BC349"/>
      </a:accent4>
      <a:accent5>
        <a:srgbClr val="43A047"/>
      </a:accent5>
      <a:accent6>
        <a:srgbClr val="3849AB"/>
      </a:accent6>
      <a:hlink>
        <a:srgbClr val="155D99"/>
      </a:hlink>
      <a:folHlink>
        <a:srgbClr val="673AB7"/>
      </a:folHlink>
    </a:clrScheme>
    <a:fontScheme name="사용자 지정 3">
      <a:majorFont>
        <a:latin typeface="Arial"/>
        <a:ea typeface="Noto Sans KR"/>
        <a:cs typeface=""/>
      </a:majorFont>
      <a:minorFont>
        <a:latin typeface="Arial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>
          <a:solidFill>
            <a:srgbClr val="C00000"/>
          </a:solidFill>
          <a:prstDash val="sysDash"/>
          <a:round/>
          <a:headEnd type="none" w="sm" len="sm"/>
          <a:tailEnd type="none" w="sm" len="sm"/>
        </a:ln>
      </a:spPr>
      <a:bodyPr spcFirstLastPara="1" wrap="square" lIns="121900" tIns="121900" rIns="121900" bIns="121900" rtlCol="0" anchor="ctr" anchorCtr="0">
        <a:noAutofit/>
      </a:bodyPr>
      <a:lstStyle>
        <a:defPPr algn="l">
          <a:defRPr sz="2400"/>
        </a:defPPr>
      </a:lst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none" rtlCol="0">
        <a:spAutoFit/>
      </a:bodyPr>
      <a:lstStyle>
        <a:defPPr algn="ctr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2021-10-PIM-rev2-SystemLSI</Template>
  <TotalTime>18766</TotalTime>
  <Words>1607</Words>
  <Application>Microsoft Macintosh PowerPoint</Application>
  <PresentationFormat>사용자 지정</PresentationFormat>
  <Paragraphs>274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Calibri</vt:lpstr>
      <vt:lpstr>2014-02-25-Memory-Centric Research Efforts for Scalable Computer Systems-안정호</vt:lpstr>
      <vt:lpstr>From In-house Simulators to Ramulator and DRAM Bender: Lessons and Implications</vt:lpstr>
      <vt:lpstr>Disclaimers</vt:lpstr>
      <vt:lpstr>PowerPoint 프레젠테이션</vt:lpstr>
      <vt:lpstr>DRAM simulators</vt:lpstr>
      <vt:lpstr>PowerPoint 프레젠테이션</vt:lpstr>
      <vt:lpstr>I have co-authored tool papers</vt:lpstr>
      <vt:lpstr>DRAM tools I have been using while writing papers</vt:lpstr>
      <vt:lpstr>Why have I been developing my own simulator?</vt:lpstr>
      <vt:lpstr>Why do I embrace Ramulator?</vt:lpstr>
      <vt:lpstr>How about DRAM Bender and SoftMC?</vt:lpstr>
      <vt:lpstr>Thoughts and lessons</vt:lpstr>
      <vt:lpstr>What I learnt regarding architectural simulation</vt:lpstr>
      <vt:lpstr>Verifying a (memory) simulator or a combination of multiple simulators against real hardware is very important, but complicated</vt:lpstr>
      <vt:lpstr>A few thoughts to throw</vt:lpstr>
      <vt:lpstr>A few thoughts to throw</vt:lpstr>
      <vt:lpstr>PowerPoint 프레젠테이션</vt:lpstr>
      <vt:lpstr>PowerPoint 프레젠테이션</vt:lpstr>
      <vt:lpstr>PowerPoint 프레젠테이션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Ahn Jung Ho</dc:creator>
  <cp:lastModifiedBy>Jung Ho Ahn</cp:lastModifiedBy>
  <cp:revision>303</cp:revision>
  <dcterms:created xsi:type="dcterms:W3CDTF">2021-10-18T06:51:05Z</dcterms:created>
  <dcterms:modified xsi:type="dcterms:W3CDTF">2026-06-26T07:15:33Z</dcterms:modified>
</cp:coreProperties>
</file>