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7" r:id="rId2"/>
    <p:sldMasterId id="2147483679" r:id="rId3"/>
    <p:sldMasterId id="2147483684" r:id="rId4"/>
  </p:sldMasterIdLst>
  <p:notesMasterIdLst>
    <p:notesMasterId r:id="rId55"/>
  </p:notesMasterIdLst>
  <p:handoutMasterIdLst>
    <p:handoutMasterId r:id="rId56"/>
  </p:handoutMasterIdLst>
  <p:sldIdLst>
    <p:sldId id="8354" r:id="rId5"/>
    <p:sldId id="310" r:id="rId6"/>
    <p:sldId id="5199" r:id="rId7"/>
    <p:sldId id="5200" r:id="rId8"/>
    <p:sldId id="5201" r:id="rId9"/>
    <p:sldId id="5202" r:id="rId10"/>
    <p:sldId id="5203" r:id="rId11"/>
    <p:sldId id="7089" r:id="rId12"/>
    <p:sldId id="7092" r:id="rId13"/>
    <p:sldId id="7090" r:id="rId14"/>
    <p:sldId id="8329" r:id="rId15"/>
    <p:sldId id="8331" r:id="rId16"/>
    <p:sldId id="7123" r:id="rId17"/>
    <p:sldId id="257" r:id="rId18"/>
    <p:sldId id="8360" r:id="rId19"/>
    <p:sldId id="8355" r:id="rId20"/>
    <p:sldId id="7244" r:id="rId21"/>
    <p:sldId id="8356" r:id="rId22"/>
    <p:sldId id="8357" r:id="rId23"/>
    <p:sldId id="8358" r:id="rId24"/>
    <p:sldId id="7242" r:id="rId25"/>
    <p:sldId id="7243" r:id="rId26"/>
    <p:sldId id="7247" r:id="rId27"/>
    <p:sldId id="8376" r:id="rId28"/>
    <p:sldId id="8375" r:id="rId29"/>
    <p:sldId id="8361" r:id="rId30"/>
    <p:sldId id="8335" r:id="rId31"/>
    <p:sldId id="8714" r:id="rId32"/>
    <p:sldId id="8722" r:id="rId33"/>
    <p:sldId id="8382" r:id="rId34"/>
    <p:sldId id="8352" r:id="rId35"/>
    <p:sldId id="8372" r:id="rId36"/>
    <p:sldId id="8345" r:id="rId37"/>
    <p:sldId id="8348" r:id="rId38"/>
    <p:sldId id="8349" r:id="rId39"/>
    <p:sldId id="8346" r:id="rId40"/>
    <p:sldId id="7699" r:id="rId41"/>
    <p:sldId id="8378" r:id="rId42"/>
    <p:sldId id="7708" r:id="rId43"/>
    <p:sldId id="7761" r:id="rId44"/>
    <p:sldId id="8682" r:id="rId45"/>
    <p:sldId id="8373" r:id="rId46"/>
    <p:sldId id="8363" r:id="rId47"/>
    <p:sldId id="8332" r:id="rId48"/>
    <p:sldId id="8364" r:id="rId49"/>
    <p:sldId id="8377" r:id="rId50"/>
    <p:sldId id="8368" r:id="rId51"/>
    <p:sldId id="8365" r:id="rId52"/>
    <p:sldId id="8339" r:id="rId53"/>
    <p:sldId id="833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5CA9F4-C014-4D42-A27D-6FB6206EF324}">
          <p14:sldIdLst>
            <p14:sldId id="8354"/>
            <p14:sldId id="310"/>
            <p14:sldId id="5199"/>
            <p14:sldId id="5200"/>
            <p14:sldId id="5201"/>
            <p14:sldId id="5202"/>
            <p14:sldId id="5203"/>
            <p14:sldId id="7089"/>
            <p14:sldId id="7092"/>
            <p14:sldId id="7090"/>
            <p14:sldId id="8329"/>
            <p14:sldId id="8331"/>
            <p14:sldId id="7123"/>
            <p14:sldId id="257"/>
            <p14:sldId id="8360"/>
            <p14:sldId id="8355"/>
            <p14:sldId id="7244"/>
            <p14:sldId id="8356"/>
            <p14:sldId id="8357"/>
            <p14:sldId id="8358"/>
            <p14:sldId id="7242"/>
            <p14:sldId id="7243"/>
            <p14:sldId id="7247"/>
            <p14:sldId id="8376"/>
            <p14:sldId id="8375"/>
            <p14:sldId id="8361"/>
            <p14:sldId id="8335"/>
            <p14:sldId id="8714"/>
            <p14:sldId id="8722"/>
            <p14:sldId id="8382"/>
            <p14:sldId id="8352"/>
            <p14:sldId id="8372"/>
            <p14:sldId id="8345"/>
            <p14:sldId id="8348"/>
            <p14:sldId id="8349"/>
            <p14:sldId id="8346"/>
            <p14:sldId id="7699"/>
            <p14:sldId id="8378"/>
            <p14:sldId id="7708"/>
            <p14:sldId id="7761"/>
            <p14:sldId id="8682"/>
            <p14:sldId id="8373"/>
            <p14:sldId id="8363"/>
            <p14:sldId id="8332"/>
            <p14:sldId id="8364"/>
            <p14:sldId id="8377"/>
            <p14:sldId id="8368"/>
            <p14:sldId id="8365"/>
            <p14:sldId id="8339"/>
            <p14:sldId id="83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6CE3"/>
    <a:srgbClr val="6D40DC"/>
    <a:srgbClr val="FF5F25"/>
    <a:srgbClr val="654591"/>
    <a:srgbClr val="CFDEFD"/>
    <a:srgbClr val="86A9EE"/>
    <a:srgbClr val="5687E8"/>
    <a:srgbClr val="FFEBCD"/>
    <a:srgbClr val="F9D3E4"/>
    <a:srgbClr val="E125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Orta Stil 4 - Vurgu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Orta Stil 4 - Vurgu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71" autoAdjust="0"/>
    <p:restoredTop sz="76633" autoAdjust="0"/>
  </p:normalViewPr>
  <p:slideViewPr>
    <p:cSldViewPr snapToGrid="0">
      <p:cViewPr varScale="1">
        <p:scale>
          <a:sx n="90" d="100"/>
          <a:sy n="90" d="100"/>
        </p:scale>
        <p:origin x="1232" y="192"/>
      </p:cViewPr>
      <p:guideLst/>
    </p:cSldViewPr>
  </p:slideViewPr>
  <p:notesTextViewPr>
    <p:cViewPr>
      <p:scale>
        <a:sx n="153" d="100"/>
        <a:sy n="153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AA832AD0-4930-4A38-9417-2B65CA063F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5B7EE4F-C375-412A-A2C2-5B3E3E3228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EE74D-3E80-4630-85C1-9DAA3B40707E}" type="datetimeFigureOut">
              <a:rPr lang="tr-TR" smtClean="0"/>
              <a:t>26.06.2026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3C7215F-F397-40E9-8612-970E766789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AE5EB41-4C5E-4B7B-986F-D0317A93D1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505F3-A52E-44E1-BBC9-38B71473DE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2461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F0D30-3E46-4825-8588-D9B6072F0A29}" type="datetimeFigureOut">
              <a:rPr lang="tr-TR" smtClean="0"/>
              <a:t>26.06.2026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5BF41-557F-464F-A572-936F8C7D129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2633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U-SAFARI/Cleaning-up-the-Mess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ED96F-65F4-BD36-5619-A1548A34E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09686-3CA2-6388-B05A-247E79432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26ECF-B290-413D-EC7B-E29C865E8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54F3F-BB50-61F5-CCD4-DCBE4967D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7F79D3-8C36-4CB5-B03B-F440DA7B71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9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this need,</a:t>
            </a:r>
          </a:p>
          <a:p>
            <a:r>
              <a:rPr lang="en-US" dirty="0" err="1"/>
              <a:t>Ramulator</a:t>
            </a:r>
            <a:r>
              <a:rPr lang="en-US" dirty="0"/>
              <a:t> was developed. </a:t>
            </a:r>
            <a:r>
              <a:rPr lang="en-US" dirty="0" err="1"/>
              <a:t>Ramulator</a:t>
            </a:r>
            <a:r>
              <a:rPr lang="en-US" dirty="0"/>
              <a:t> is a </a:t>
            </a:r>
            <a:r>
              <a:rPr lang="en-US" sz="1200" dirty="0" err="1"/>
              <a:t>A</a:t>
            </a:r>
            <a:r>
              <a:rPr lang="en-US" sz="1200" dirty="0"/>
              <a:t> </a:t>
            </a:r>
            <a:r>
              <a:rPr lang="en-US" sz="1200" b="1" dirty="0"/>
              <a:t>Fast</a:t>
            </a:r>
            <a:r>
              <a:rPr lang="en-US" sz="1200" dirty="0"/>
              <a:t> and </a:t>
            </a:r>
            <a:r>
              <a:rPr lang="en-US" sz="1200" b="1" dirty="0"/>
              <a:t>Extensible</a:t>
            </a:r>
            <a:r>
              <a:rPr lang="en-US" sz="1200" dirty="0"/>
              <a:t> Memory simulator.</a:t>
            </a:r>
          </a:p>
          <a:p>
            <a:r>
              <a:rPr lang="en-US" sz="1200" dirty="0"/>
              <a:t>which provides out-of-the-box support for many DRAM standards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2077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5BF41-557F-464F-A572-936F8C7D1291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5297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676A0-33B1-4B4B-B1AA-B0B917FCAA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44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75381-7527-4E0E-A355-7550D954D08C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6834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 interface is an abstract C++ class defined in a .h</a:t>
            </a:r>
          </a:p>
          <a:p>
            <a:r>
              <a:rPr lang="en-GB" dirty="0"/>
              <a:t>header file that models the common high-level functionality</a:t>
            </a:r>
          </a:p>
          <a:p>
            <a:r>
              <a:rPr lang="en-GB" dirty="0"/>
              <a:t>of a component as seen by other components in the system.</a:t>
            </a:r>
          </a:p>
          <a:p>
            <a:r>
              <a:rPr lang="en-GB" dirty="0"/>
              <a:t>An implementation is a concrete C++ class defined in a</a:t>
            </a:r>
          </a:p>
          <a:p>
            <a:r>
              <a:rPr lang="en-GB" dirty="0"/>
              <a:t>.</a:t>
            </a:r>
            <a:r>
              <a:rPr lang="en-GB" dirty="0" err="1"/>
              <a:t>cpp</a:t>
            </a:r>
            <a:r>
              <a:rPr lang="en-GB" dirty="0"/>
              <a:t> file that inherits from an interface, </a:t>
            </a:r>
            <a:r>
              <a:rPr lang="en-GB" dirty="0" err="1"/>
              <a:t>modeling</a:t>
            </a:r>
            <a:r>
              <a:rPr lang="en-GB" dirty="0"/>
              <a:t> the actual</a:t>
            </a:r>
          </a:p>
          <a:p>
            <a:r>
              <a:rPr lang="en-GB" dirty="0" err="1"/>
              <a:t>behavior</a:t>
            </a:r>
            <a:r>
              <a:rPr lang="en-GB" dirty="0"/>
              <a:t> of a component. Components interact with each</a:t>
            </a:r>
          </a:p>
          <a:p>
            <a:r>
              <a:rPr lang="en-GB" dirty="0"/>
              <a:t>other through pointers to each other’s interfaces stored in</a:t>
            </a:r>
          </a:p>
          <a:p>
            <a:r>
              <a:rPr lang="en-GB" dirty="0"/>
              <a:t>the implementations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5BF41-557F-464F-A572-936F8C7D1291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99219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676A0-33B1-4B4B-B1AA-B0B917FCAA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45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EBC26-11FB-A3F5-3D1A-E0193A230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C2399-DC37-4706-2421-7033E5048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1D988-B811-7F5C-577C-25AF735BF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56A74-C28B-8F93-B2AF-A60D481481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676A0-33B1-4B4B-B1AA-B0B917FCAA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6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F844C-3D89-EDA9-FEE3-1FF7781A9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4A784-7FB9-6EB4-476A-4F92C581E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AA3DD-8E53-D816-A7FD-CBFB1B99B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FFCED-D527-E349-95E4-C37D7D923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676A0-33B1-4B4B-B1AA-B0B917FCAA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05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676A0-33B1-4B4B-B1AA-B0B917FCAA9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0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676A0-33B1-4B4B-B1AA-B0B917FCAA9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93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676A0-33B1-4B4B-B1AA-B0B917FCAA9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097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MICRO 2024 best paper runner-up publication with all 3 artifact badges</a:t>
            </a:r>
            <a:r>
              <a:rPr lang="en-US"/>
              <a:t>, titled </a:t>
            </a:r>
            <a:r>
              <a:rPr lang="en-GB" sz="1200" b="1" i="1"/>
              <a:t>"A Mess of Memory System Benchmarking, Simulation and Application Profiling",  </a:t>
            </a:r>
            <a:r>
              <a:rPr lang="en-GB" sz="1200" b="0" i="0"/>
              <a:t>which we call the Mess paper, </a:t>
            </a:r>
          </a:p>
          <a:p>
            <a:r>
              <a:rPr lang="en-GB" sz="1200" b="1" i="0"/>
              <a:t>[CLICK] </a:t>
            </a:r>
            <a:r>
              <a:rPr lang="en-GB" sz="1200" b="0" i="0"/>
              <a:t>proposes a new benchmark to evaluate the real and simulated memory system performance</a:t>
            </a:r>
          </a:p>
          <a:p>
            <a:endParaRPr lang="en-GB" sz="1200" b="0" i="0"/>
          </a:p>
          <a:p>
            <a:r>
              <a:rPr lang="en-GB" sz="1200" b="1" i="0"/>
              <a:t>[CLICK]</a:t>
            </a:r>
            <a:r>
              <a:rPr lang="en-GB" sz="1200" b="0" i="0"/>
              <a:t> while doing so, it also makes some </a:t>
            </a:r>
            <a:r>
              <a:rPr lang="en-GB" sz="1200" b="1" i="0"/>
              <a:t>strong negative claims </a:t>
            </a:r>
            <a:r>
              <a:rPr lang="en-GB" sz="1200" b="0" i="0"/>
              <a:t>about two of our simulation infrastructures: </a:t>
            </a:r>
            <a:r>
              <a:rPr lang="en-GB" sz="1200" b="0" i="0" err="1"/>
              <a:t>Ramulator</a:t>
            </a:r>
            <a:r>
              <a:rPr lang="en-GB" sz="1200" b="0" i="0"/>
              <a:t> 2.0 and DAMOV and shows </a:t>
            </a:r>
            <a:r>
              <a:rPr lang="en-GB" sz="1200" b="1" i="0"/>
              <a:t>unexpected results</a:t>
            </a:r>
          </a:p>
          <a:p>
            <a:r>
              <a:rPr lang="en-GB" sz="1200" b="1" i="0"/>
              <a:t>[CLICK] </a:t>
            </a:r>
            <a:r>
              <a:rPr lang="en-GB" sz="1200" b="0" i="0"/>
              <a:t>concluding that they poorly resemble the actual system performance</a:t>
            </a:r>
          </a:p>
          <a:p>
            <a:br>
              <a:rPr lang="en-GB" sz="1200" b="0" i="0"/>
            </a:br>
            <a:br>
              <a:rPr lang="en-GB" sz="1200" b="0" i="0"/>
            </a:br>
            <a:br>
              <a:rPr lang="en-GB" sz="1200" b="0" i="0"/>
            </a:br>
            <a:endParaRPr lang="en-US" b="0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5BF41-557F-464F-A572-936F8C7D1291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782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5449-FFAC-1922-5246-7A5FBC173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3A296-655E-E655-AF64-A19EB02FD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9C741-3428-4E56-A39B-57AF00260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0"/>
              <a:t>[CLICK] </a:t>
            </a:r>
            <a:r>
              <a:rPr lang="en-GB" sz="1200" b="0" i="0"/>
              <a:t>In this work, we demonstrate that these claims and results are </a:t>
            </a:r>
            <a:r>
              <a:rPr lang="en-GB" sz="1200" b="1" i="0"/>
              <a:t>incorrect </a:t>
            </a:r>
            <a:r>
              <a:rPr lang="en-GB" sz="1200" b="0" i="0"/>
              <a:t>and are due to configuration and simulator usage errors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/>
              <a:t>Made in the Mess paper.</a:t>
            </a:r>
            <a:br>
              <a:rPr lang="en-GB" sz="1200" b="0" i="0"/>
            </a:br>
            <a:br>
              <a:rPr lang="en-GB" sz="1200" b="0" i="0"/>
            </a:b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describe </a:t>
            </a:r>
            <a:r>
              <a:rPr lang="en-GB" sz="1200" b="1" kern="1200">
                <a:solidFill>
                  <a:srgbClr val="6D40DC"/>
                </a:solidFill>
                <a:latin typeface="+mn-lt"/>
                <a:ea typeface="+mn-ea"/>
                <a:cs typeface="+mn-cs"/>
              </a:rPr>
              <a:t>four best practices </a:t>
            </a:r>
            <a:b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aid users and developers of simulation tools</a:t>
            </a:r>
            <a:endParaRPr lang="en-US" sz="1200" kern="1200">
              <a:solidFill>
                <a:srgbClr val="C00000"/>
              </a:solidFill>
              <a:latin typeface="+mn-lt"/>
              <a:ea typeface="+mn-ea"/>
              <a:cs typeface="+mn-cs"/>
            </a:endParaRPr>
          </a:p>
          <a:p>
            <a:endParaRPr lang="en-US" b="0" i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facilitate transparency and reproducibility, </a:t>
            </a:r>
            <a:b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</a:t>
            </a:r>
            <a:r>
              <a:rPr lang="en-GB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 source all our code </a:t>
            </a: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GB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results</a:t>
            </a: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b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200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https://github.com/CMU-SAFARI/Cleaning-up-the-Mess</a:t>
            </a:r>
            <a:endParaRPr lang="en-GB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b="0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D009A-7535-0BE4-E383-72AB38C69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5BF41-557F-464F-A572-936F8C7D1291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6019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A756-5766-2E54-463E-D374B348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BEB0D-71C9-4A3B-A700-ABC4BB68B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2802B-4111-AAE0-6BAF-8104D924B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conclude that </a:t>
            </a:r>
          </a:p>
          <a:p>
            <a:r>
              <a:rPr lang="en-US"/>
              <a:t>When </a:t>
            </a:r>
            <a:r>
              <a:rPr lang="en-US" err="1"/>
              <a:t>correcty</a:t>
            </a:r>
            <a:r>
              <a:rPr lang="en-US"/>
              <a:t> configured, </a:t>
            </a:r>
          </a:p>
          <a:p>
            <a:r>
              <a:rPr lang="en-US"/>
              <a:t>Ramulator 2.0's simulated memory system performance</a:t>
            </a:r>
          </a:p>
          <a:p>
            <a:r>
              <a:rPr lang="en-US"/>
              <a:t>Resembles real system characteristics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63DF2-EEAC-5C34-FFE0-6B8244B1D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5BF41-557F-464F-A572-936F8C7D1291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6210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are even more details and analyses in the extended version of our paper on </a:t>
            </a:r>
            <a:r>
              <a:rPr lang="en-US" err="1"/>
              <a:t>arxiv</a:t>
            </a:r>
            <a:r>
              <a:rPr lang="en-US"/>
              <a:t> which you can access it with this link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5BF41-557F-464F-A572-936F8C7D1291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6576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EB1A7-7E71-76DB-C2E2-5354270E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E9C83-6D85-1FE0-0E96-BE1AC0832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373D6-C3E8-998D-96FB-D234357BC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 interface is an abstract C++ class defined in a .h</a:t>
            </a:r>
          </a:p>
          <a:p>
            <a:r>
              <a:rPr lang="en-GB" dirty="0"/>
              <a:t>header file that models the common high-level functionality</a:t>
            </a:r>
          </a:p>
          <a:p>
            <a:r>
              <a:rPr lang="en-GB" dirty="0"/>
              <a:t>of a component as seen by other components in the system.</a:t>
            </a:r>
          </a:p>
          <a:p>
            <a:r>
              <a:rPr lang="en-GB" dirty="0"/>
              <a:t>An implementation is a concrete C++ class defined in a</a:t>
            </a:r>
          </a:p>
          <a:p>
            <a:r>
              <a:rPr lang="en-GB" dirty="0"/>
              <a:t>.</a:t>
            </a:r>
            <a:r>
              <a:rPr lang="en-GB" dirty="0" err="1"/>
              <a:t>cpp</a:t>
            </a:r>
            <a:r>
              <a:rPr lang="en-GB" dirty="0"/>
              <a:t> file that inherits from an interface, </a:t>
            </a:r>
            <a:r>
              <a:rPr lang="en-GB" dirty="0" err="1"/>
              <a:t>modeling</a:t>
            </a:r>
            <a:r>
              <a:rPr lang="en-GB" dirty="0"/>
              <a:t> the actual</a:t>
            </a:r>
          </a:p>
          <a:p>
            <a:r>
              <a:rPr lang="en-GB" dirty="0" err="1"/>
              <a:t>behavior</a:t>
            </a:r>
            <a:r>
              <a:rPr lang="en-GB" dirty="0"/>
              <a:t> of a component. Components interact with each</a:t>
            </a:r>
          </a:p>
          <a:p>
            <a:r>
              <a:rPr lang="en-GB" dirty="0"/>
              <a:t>other through pointers to each other’s interfaces stored in</a:t>
            </a:r>
          </a:p>
          <a:p>
            <a:r>
              <a:rPr lang="en-GB" dirty="0"/>
              <a:t>the implementations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3612B-0827-685C-E356-CE304EB33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5BF41-557F-464F-A572-936F8C7D1291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2285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A489-6CEE-C0AD-A4EB-59D54B29C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99E41-4C11-BE15-61A8-6475B74F7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F887E-A495-D256-B33F-0DD8C6F40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08E1C-8663-A740-390C-CF713DCDC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676A0-33B1-4B4B-B1AA-B0B917FCAA9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1322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9A2C-DFCA-1F5D-EA32-FD03940FC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0FF6E-559D-4FB5-F4F6-C073273F7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681E-F1AF-1866-88BA-EE4E5EF70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467D8-F06C-B8A1-A35E-E0AE735F4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E676A0-33B1-4B4B-B1AA-B0B917FCAA9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13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CB3C5-D218-F43F-D2AB-9D0A4016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B26FF-F309-E7A8-EF57-14606BB4C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74F17-7C57-DB92-0157-3F6A951CE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DBAB1-1104-781A-A66E-75854CD1A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A1997-A3B0-B64A-8AB4-784A003E5D30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526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5BF41-557F-464F-A572-936F8C7D1291}" type="slidenum">
              <a:rPr lang="tr-TR" smtClean="0"/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26310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5BF41-557F-464F-A572-936F8C7D1291}" type="slidenum">
              <a:rPr lang="tr-TR" smtClean="0"/>
              <a:t>49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5690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59A68-3CAB-63E7-CE90-77832792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5ABA8-42A2-6CFA-BD08-6A7A4E64A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7FD7B1-FCBC-0778-A6F1-509B10362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7079E-BA49-C654-4A21-5CF38B5D8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7F79D3-8C36-4CB5-B03B-F440DA7B71A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9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FA05-3589-4289-A74B-1B99958C69FD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036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67A03328-A26B-0D75-E944-B0D91AFD99F5}"/>
              </a:ext>
            </a:extLst>
          </p:cNvPr>
          <p:cNvSpPr/>
          <p:nvPr userDrawn="1"/>
        </p:nvSpPr>
        <p:spPr>
          <a:xfrm>
            <a:off x="0" y="0"/>
            <a:ext cx="9143998" cy="931024"/>
          </a:xfrm>
          <a:prstGeom prst="rect">
            <a:avLst/>
          </a:prstGeom>
          <a:solidFill>
            <a:srgbClr val="CFD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51" y="56062"/>
            <a:ext cx="8894618" cy="931025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2963E3"/>
                </a:solidFill>
              </a:defRPr>
            </a:lvl1pPr>
          </a:lstStyle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931025"/>
            <a:ext cx="9143999" cy="524593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1078" y="6517178"/>
            <a:ext cx="1033897" cy="204298"/>
          </a:xfrm>
        </p:spPr>
        <p:txBody>
          <a:bodyPr/>
          <a:lstStyle/>
          <a:p>
            <a:fld id="{C530EABF-65B2-408A-9519-596A4DE5C5AC}" type="datetime1">
              <a:rPr lang="tr-TR" smtClean="0"/>
              <a:t>26.06.2026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8299" y="6517178"/>
            <a:ext cx="4427556" cy="20429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95854" y="6517178"/>
            <a:ext cx="489065" cy="204298"/>
          </a:xfrm>
        </p:spPr>
        <p:txBody>
          <a:bodyPr/>
          <a:lstStyle>
            <a:lvl1pPr>
              <a:defRPr sz="1800"/>
            </a:lvl1pPr>
          </a:lstStyle>
          <a:p>
            <a:fld id="{CBE5B309-C2CE-4D90-B104-F7E98438FC65}" type="slidenum">
              <a:rPr lang="tr-TR" smtClean="0"/>
              <a:pPr/>
              <a:t>‹#›</a:t>
            </a:fld>
            <a:endParaRPr lang="tr-TR" dirty="0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2D315ADC-F693-4AFB-AC3B-1C4C4DCE7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" y="6514678"/>
            <a:ext cx="1315489" cy="2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6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4" y="0"/>
            <a:ext cx="8894618" cy="931025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2963E3"/>
                </a:solidFill>
              </a:defRPr>
            </a:lvl1pPr>
          </a:lstStyle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088967"/>
            <a:ext cx="9143999" cy="508799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1078" y="6517178"/>
            <a:ext cx="1033897" cy="204298"/>
          </a:xfrm>
        </p:spPr>
        <p:txBody>
          <a:bodyPr/>
          <a:lstStyle/>
          <a:p>
            <a:fld id="{FAE2AB19-EE39-4F48-843E-34CA948357C1}" type="datetime1">
              <a:rPr lang="tr-TR" smtClean="0"/>
              <a:t>26.06.2026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8299" y="6517178"/>
            <a:ext cx="4427556" cy="20429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95854" y="6517178"/>
            <a:ext cx="489065" cy="204298"/>
          </a:xfrm>
        </p:spPr>
        <p:txBody>
          <a:bodyPr/>
          <a:lstStyle>
            <a:lvl1pPr>
              <a:defRPr sz="1800"/>
            </a:lvl1pPr>
          </a:lstStyle>
          <a:p>
            <a:fld id="{CBE5B309-C2CE-4D90-B104-F7E98438FC65}" type="slidenum">
              <a:rPr lang="tr-TR" smtClean="0"/>
              <a:pPr/>
              <a:t>‹#›</a:t>
            </a:fld>
            <a:endParaRPr lang="tr-TR" dirty="0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2D315ADC-F693-4AFB-AC3B-1C4C4DCE7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" y="6514678"/>
            <a:ext cx="1315489" cy="2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6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18DB-4708-433C-B848-CD41E4B7EF16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060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364C6-4BE7-4E72-A29F-FF09B2F63C89}" type="datetime1">
              <a:rPr lang="tr-TR" smtClean="0"/>
              <a:t>26.06.2026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7243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F1D8-E55B-4366-B04D-67EEA78B8CD9}" type="datetime1">
              <a:rPr lang="tr-TR" smtClean="0"/>
              <a:t>26.06.2026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460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C7A75-8BB7-4F27-A9A4-7FCFEFB5ED17}" type="datetime1">
              <a:rPr lang="tr-TR" smtClean="0"/>
              <a:t>26.06.2026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264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F6FC5-8973-4F49-BE79-FF208D287DA4}" type="datetime1">
              <a:rPr lang="tr-TR" smtClean="0"/>
              <a:t>26.06.2026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634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BC50-E615-44FD-A83F-E75145FE5AE6}" type="datetime1">
              <a:rPr lang="tr-TR" smtClean="0"/>
              <a:t>26.06.2026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538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42D04-3D9E-4A34-BC89-C627E89EF33D}" type="datetime1">
              <a:rPr lang="tr-TR" smtClean="0"/>
              <a:t>26.06.2026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8866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BCCFB-E6A4-45C9-B8C5-12A9EA9E0CA9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9358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7B1D-9604-43BF-8861-CB7A6BA51A87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3987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7"/>
            <a:ext cx="8610600" cy="5193723"/>
          </a:xfrm>
        </p:spPr>
        <p:txBody>
          <a:bodyPr/>
          <a:lstStyle>
            <a:lvl1pPr>
              <a:buClr>
                <a:srgbClr val="CC9900"/>
              </a:buClr>
              <a:defRPr/>
            </a:lvl1pPr>
            <a:lvl2pPr>
              <a:buClr>
                <a:srgbClr val="006633"/>
              </a:buClr>
              <a:defRPr/>
            </a:lvl2pPr>
            <a:lvl3pPr>
              <a:buClr>
                <a:srgbClr val="CC9900"/>
              </a:buClr>
              <a:defRPr/>
            </a:lvl3pPr>
            <a:lvl4pPr>
              <a:buClr>
                <a:srgbClr val="006633"/>
              </a:buClr>
              <a:defRPr/>
            </a:lvl4pPr>
            <a:lvl5pPr>
              <a:buClr>
                <a:srgbClr val="CC99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cs typeface="ＭＳ Ｐゴシック" charset="0"/>
              </a:defRPr>
            </a:lvl1pPr>
          </a:lstStyle>
          <a:p>
            <a:pPr>
              <a:defRPr/>
            </a:pPr>
            <a:fld id="{8E574D81-B5DE-384D-B24B-566C679AE6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9530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037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7341D3D9-3FE8-4025-BF66-8DAB1ABB95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82562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0B4AC80-ED89-0C4F-B454-66418E6F9888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9144000" cy="3288432"/>
          </a:xfrm>
          <a:prstGeom prst="rect">
            <a:avLst/>
          </a:prstGeom>
          <a:solidFill>
            <a:schemeClr val="tx2">
              <a:lumMod val="60000"/>
              <a:lumOff val="40000"/>
              <a:alpha val="12243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solidFill>
                <a:srgbClr val="FF000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760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BEB7D73-72B8-803E-50B2-E1E000ED854B}"/>
              </a:ext>
            </a:extLst>
          </p:cNvPr>
          <p:cNvSpPr/>
          <p:nvPr userDrawn="1"/>
        </p:nvSpPr>
        <p:spPr>
          <a:xfrm>
            <a:off x="0" y="0"/>
            <a:ext cx="9144000" cy="741169"/>
          </a:xfrm>
          <a:prstGeom prst="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021" y="1173279"/>
            <a:ext cx="8915400" cy="4943546"/>
          </a:xfr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NanumGothic" panose="020D0604000000000000" pitchFamily="34" charset="-127"/>
              </a:defRPr>
            </a:lvl1pPr>
            <a:lvl2pPr>
              <a:defRPr b="0" i="0">
                <a:latin typeface="Aptos" panose="020B0004020202020204" pitchFamily="34" charset="0"/>
                <a:ea typeface="NanumGothic" panose="020D0604000000000000" pitchFamily="34" charset="-127"/>
              </a:defRPr>
            </a:lvl2pPr>
            <a:lvl3pPr>
              <a:defRPr b="0" i="0">
                <a:latin typeface="Aptos" panose="020B0004020202020204" pitchFamily="34" charset="0"/>
                <a:ea typeface="NanumGothic" panose="020D0604000000000000" pitchFamily="34" charset="-127"/>
              </a:defRPr>
            </a:lvl3pPr>
            <a:lvl4pPr>
              <a:defRPr b="0" i="0">
                <a:latin typeface="Aptos" panose="020B0004020202020204" pitchFamily="34" charset="0"/>
                <a:ea typeface="NanumGothic" panose="020D0604000000000000" pitchFamily="34" charset="-127"/>
              </a:defRPr>
            </a:lvl4pPr>
            <a:lvl5pPr>
              <a:defRPr b="0" i="0">
                <a:latin typeface="Aptos" panose="020B0004020202020204" pitchFamily="34" charset="0"/>
                <a:ea typeface="NanumGothic" panose="020D0604000000000000" pitchFamily="34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3E27ED-4869-A796-C850-88B84A2ABE01}"/>
              </a:ext>
            </a:extLst>
          </p:cNvPr>
          <p:cNvCxnSpPr>
            <a:cxnSpLocks/>
          </p:cNvCxnSpPr>
          <p:nvPr userDrawn="1"/>
        </p:nvCxnSpPr>
        <p:spPr>
          <a:xfrm>
            <a:off x="0" y="741169"/>
            <a:ext cx="9144000" cy="0"/>
          </a:xfrm>
          <a:prstGeom prst="line">
            <a:avLst/>
          </a:prstGeom>
          <a:ln w="28575">
            <a:solidFill>
              <a:schemeClr val="accent1">
                <a:lumMod val="50000"/>
                <a:alpha val="8577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83C84D4-5680-2AB0-7356-29CF8B49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29301" y="6518305"/>
            <a:ext cx="2057400" cy="365125"/>
          </a:xfrm>
        </p:spPr>
        <p:txBody>
          <a:bodyPr/>
          <a:lstStyle>
            <a:lvl1pPr>
              <a:defRPr sz="2500" b="0">
                <a:solidFill>
                  <a:srgbClr val="162746"/>
                </a:solidFill>
                <a:latin typeface="Aptos" panose="020B0004020202020204" pitchFamily="34" charset="0"/>
              </a:defRPr>
            </a:lvl1pPr>
          </a:lstStyle>
          <a:p>
            <a:fld id="{1126AD06-1C69-4F40-B475-B9DE4452D124}" type="slidenum">
              <a:rPr lang="en-CH" smtClean="0"/>
              <a:pPr/>
              <a:t>‹#›</a:t>
            </a:fld>
            <a:endParaRPr lang="en-CH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B1768C-4800-4E4B-E789-9079D6D0B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894791"/>
          </a:xfrm>
        </p:spPr>
        <p:txBody>
          <a:bodyPr>
            <a:normAutofit/>
          </a:bodyPr>
          <a:lstStyle>
            <a:lvl1pPr>
              <a:defRPr sz="4000" b="1" i="0">
                <a:solidFill>
                  <a:schemeClr val="accent1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76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12680A-0AD5-9B43-9F06-7EA32467EDAA}"/>
              </a:ext>
            </a:extLst>
          </p:cNvPr>
          <p:cNvSpPr/>
          <p:nvPr userDrawn="1"/>
        </p:nvSpPr>
        <p:spPr>
          <a:xfrm>
            <a:off x="0" y="1"/>
            <a:ext cx="9144000" cy="115972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499C9F28-2535-9D4E-BEA4-BD6C9F7898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428" y="6351065"/>
            <a:ext cx="1404653" cy="23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CFE2B0-7C01-234C-814E-8466963F58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77" y="6348939"/>
            <a:ext cx="1239400" cy="23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3D8B1F-220C-E34A-B21C-1AE3EF1DC1B3}"/>
              </a:ext>
            </a:extLst>
          </p:cNvPr>
          <p:cNvSpPr txBox="1"/>
          <p:nvPr userDrawn="1"/>
        </p:nvSpPr>
        <p:spPr>
          <a:xfrm>
            <a:off x="-11783833" y="6400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187100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88E83-158B-4B59-84E9-E280E6DBC3FC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80385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67A03328-A26B-0D75-E944-B0D91AFD99F5}"/>
              </a:ext>
            </a:extLst>
          </p:cNvPr>
          <p:cNvSpPr/>
          <p:nvPr userDrawn="1"/>
        </p:nvSpPr>
        <p:spPr>
          <a:xfrm>
            <a:off x="0" y="0"/>
            <a:ext cx="9143998" cy="872836"/>
          </a:xfrm>
          <a:prstGeom prst="rect">
            <a:avLst/>
          </a:prstGeom>
          <a:solidFill>
            <a:srgbClr val="CFD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4" y="0"/>
            <a:ext cx="8894618" cy="931025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2963E3"/>
                </a:solidFill>
              </a:defRPr>
            </a:lvl1pPr>
          </a:lstStyle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088967"/>
            <a:ext cx="9143999" cy="508799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1078" y="6517178"/>
            <a:ext cx="1033897" cy="204298"/>
          </a:xfrm>
        </p:spPr>
        <p:txBody>
          <a:bodyPr/>
          <a:lstStyle/>
          <a:p>
            <a:fld id="{A332BEE0-9135-4AC6-885F-82FD1AE2535E}" type="datetime1">
              <a:rPr lang="tr-TR" smtClean="0"/>
              <a:t>26.06.2026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8299" y="6517178"/>
            <a:ext cx="4427556" cy="20429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95854" y="6517178"/>
            <a:ext cx="489065" cy="204298"/>
          </a:xfrm>
        </p:spPr>
        <p:txBody>
          <a:bodyPr/>
          <a:lstStyle>
            <a:lvl1pPr>
              <a:defRPr sz="1800"/>
            </a:lvl1pPr>
          </a:lstStyle>
          <a:p>
            <a:fld id="{CBE5B309-C2CE-4D90-B104-F7E98438FC65}" type="slidenum">
              <a:rPr lang="tr-TR" smtClean="0"/>
              <a:pPr/>
              <a:t>‹#›</a:t>
            </a:fld>
            <a:endParaRPr lang="tr-TR" dirty="0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2D315ADC-F693-4AFB-AC3B-1C4C4DCE7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" y="6514678"/>
            <a:ext cx="1315489" cy="2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448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4" y="0"/>
            <a:ext cx="8894618" cy="931025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2963E3"/>
                </a:solidFill>
              </a:defRPr>
            </a:lvl1pPr>
          </a:lstStyle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088967"/>
            <a:ext cx="9143999" cy="508799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tr-TR" dirty="0"/>
              <a:t>Asıl metin stillerini düzenlemek için tıklayın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1078" y="6517178"/>
            <a:ext cx="1033897" cy="204298"/>
          </a:xfrm>
        </p:spPr>
        <p:txBody>
          <a:bodyPr/>
          <a:lstStyle/>
          <a:p>
            <a:fld id="{A332BEE0-9135-4AC6-885F-82FD1AE2535E}" type="datetime1">
              <a:rPr lang="tr-TR" smtClean="0"/>
              <a:t>26.06.2026</a:t>
            </a:fld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8299" y="6517178"/>
            <a:ext cx="4427556" cy="20429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95854" y="6517178"/>
            <a:ext cx="489065" cy="204298"/>
          </a:xfrm>
        </p:spPr>
        <p:txBody>
          <a:bodyPr/>
          <a:lstStyle>
            <a:lvl1pPr>
              <a:defRPr sz="1800"/>
            </a:lvl1pPr>
          </a:lstStyle>
          <a:p>
            <a:fld id="{CBE5B309-C2CE-4D90-B104-F7E98438FC65}" type="slidenum">
              <a:rPr lang="tr-TR" smtClean="0"/>
              <a:pPr/>
              <a:t>‹#›</a:t>
            </a:fld>
            <a:endParaRPr lang="tr-TR" dirty="0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2D315ADC-F693-4AFB-AC3B-1C4C4DCE7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" y="6514678"/>
            <a:ext cx="1315489" cy="2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918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0D87A-3270-44B8-81B9-EE9946E7E5FC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21933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4979C-F9C2-4CFE-B5A9-0C6B05A5D3EC}" type="datetime1">
              <a:rPr lang="tr-TR" smtClean="0"/>
              <a:t>26.06.2026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90248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7655-2E18-480C-9064-E1B296A32B7A}" type="datetime1">
              <a:rPr lang="tr-TR" smtClean="0"/>
              <a:t>26.06.2026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86390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DBE6C-826E-4CEC-84E2-E26B95886B92}" type="datetime1">
              <a:rPr lang="tr-TR" smtClean="0"/>
              <a:t>26.06.2026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69081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6753-E1F1-41BE-961E-DEE85F5F88E3}" type="datetime1">
              <a:rPr lang="tr-TR" smtClean="0"/>
              <a:t>26.06.2026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56397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802B-CCFE-42A6-B3E1-C435C701A830}" type="datetime1">
              <a:rPr lang="tr-TR" smtClean="0"/>
              <a:t>26.06.2026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8003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78DC-E34F-485C-BBC9-32750B73CCB6}" type="datetime1">
              <a:rPr lang="tr-TR" smtClean="0"/>
              <a:t>26.06.2026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92817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333B-CC29-4525-88F0-A44EF15B0F10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75616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1F644-7E65-48F8-93BF-10F482289F2D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5177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7"/>
            <a:ext cx="8610600" cy="5193723"/>
          </a:xfrm>
        </p:spPr>
        <p:txBody>
          <a:bodyPr/>
          <a:lstStyle>
            <a:lvl1pPr>
              <a:buClr>
                <a:srgbClr val="CC9900"/>
              </a:buClr>
              <a:defRPr/>
            </a:lvl1pPr>
            <a:lvl2pPr>
              <a:buClr>
                <a:srgbClr val="006633"/>
              </a:buClr>
              <a:defRPr/>
            </a:lvl2pPr>
            <a:lvl3pPr>
              <a:buClr>
                <a:srgbClr val="CC9900"/>
              </a:buClr>
              <a:defRPr/>
            </a:lvl3pPr>
            <a:lvl4pPr>
              <a:buClr>
                <a:srgbClr val="006633"/>
              </a:buClr>
              <a:defRPr/>
            </a:lvl4pPr>
            <a:lvl5pPr>
              <a:buClr>
                <a:srgbClr val="CC99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cs typeface="ＭＳ Ｐゴシック" charset="0"/>
              </a:defRPr>
            </a:lvl1pPr>
          </a:lstStyle>
          <a:p>
            <a:pPr>
              <a:defRPr/>
            </a:pPr>
            <a:fld id="{8E574D81-B5DE-384D-B24B-566C679AE6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635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55666-236B-4226-92C5-3C1DE783E983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68EA19BC-84E2-B20E-D9CA-F6EC07ACDA63}"/>
              </a:ext>
            </a:extLst>
          </p:cNvPr>
          <p:cNvSpPr/>
          <p:nvPr userDrawn="1"/>
        </p:nvSpPr>
        <p:spPr>
          <a:xfrm>
            <a:off x="-1089858" y="27727"/>
            <a:ext cx="849085" cy="466531"/>
          </a:xfrm>
          <a:prstGeom prst="rect">
            <a:avLst/>
          </a:prstGeom>
          <a:solidFill>
            <a:srgbClr val="6292F7"/>
          </a:solidFill>
          <a:ln>
            <a:solidFill>
              <a:srgbClr val="629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1CA6EA86-CEF8-C463-FE7C-0B40F3AFCADF}"/>
              </a:ext>
            </a:extLst>
          </p:cNvPr>
          <p:cNvSpPr/>
          <p:nvPr userDrawn="1"/>
        </p:nvSpPr>
        <p:spPr>
          <a:xfrm>
            <a:off x="-1089859" y="565792"/>
            <a:ext cx="849085" cy="466531"/>
          </a:xfrm>
          <a:prstGeom prst="rect">
            <a:avLst/>
          </a:prstGeom>
          <a:solidFill>
            <a:srgbClr val="7A62E7"/>
          </a:solidFill>
          <a:ln>
            <a:solidFill>
              <a:srgbClr val="7A6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43F55123-6402-8B8A-CAD4-A9BD906B569D}"/>
              </a:ext>
            </a:extLst>
          </p:cNvPr>
          <p:cNvSpPr/>
          <p:nvPr userDrawn="1"/>
        </p:nvSpPr>
        <p:spPr>
          <a:xfrm>
            <a:off x="-1089859" y="1103857"/>
            <a:ext cx="849085" cy="466531"/>
          </a:xfrm>
          <a:prstGeom prst="rect">
            <a:avLst/>
          </a:prstGeom>
          <a:solidFill>
            <a:srgbClr val="E1257C"/>
          </a:solidFill>
          <a:ln>
            <a:solidFill>
              <a:srgbClr val="E12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A45B484E-4836-A2F4-9832-3B0D69CA46A4}"/>
              </a:ext>
            </a:extLst>
          </p:cNvPr>
          <p:cNvSpPr/>
          <p:nvPr userDrawn="1"/>
        </p:nvSpPr>
        <p:spPr>
          <a:xfrm>
            <a:off x="-1089860" y="1643319"/>
            <a:ext cx="849085" cy="466531"/>
          </a:xfrm>
          <a:prstGeom prst="rect">
            <a:avLst/>
          </a:prstGeom>
          <a:solidFill>
            <a:srgbClr val="FF5F25"/>
          </a:solidFill>
          <a:ln>
            <a:solidFill>
              <a:srgbClr val="FF5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2F4B1A99-F06E-82E8-CD81-123648DC1EBE}"/>
              </a:ext>
            </a:extLst>
          </p:cNvPr>
          <p:cNvSpPr/>
          <p:nvPr userDrawn="1"/>
        </p:nvSpPr>
        <p:spPr>
          <a:xfrm>
            <a:off x="-1089861" y="2181384"/>
            <a:ext cx="849085" cy="466531"/>
          </a:xfrm>
          <a:prstGeom prst="rect">
            <a:avLst/>
          </a:prstGeom>
          <a:solidFill>
            <a:srgbClr val="FFAE3C"/>
          </a:solidFill>
          <a:ln>
            <a:solidFill>
              <a:srgbClr val="FFAE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A4F6B98-E975-0A4F-B04B-5F3FD87BA154}"/>
              </a:ext>
            </a:extLst>
          </p:cNvPr>
          <p:cNvSpPr/>
          <p:nvPr userDrawn="1"/>
        </p:nvSpPr>
        <p:spPr>
          <a:xfrm>
            <a:off x="-2067758" y="27727"/>
            <a:ext cx="849085" cy="466531"/>
          </a:xfrm>
          <a:prstGeom prst="rect">
            <a:avLst/>
          </a:prstGeom>
          <a:solidFill>
            <a:srgbClr val="C4D7FC"/>
          </a:solidFill>
          <a:ln>
            <a:solidFill>
              <a:srgbClr val="629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E3FD0C4-2418-8E58-968D-B3352EDC4962}"/>
              </a:ext>
            </a:extLst>
          </p:cNvPr>
          <p:cNvSpPr/>
          <p:nvPr userDrawn="1"/>
        </p:nvSpPr>
        <p:spPr>
          <a:xfrm>
            <a:off x="-2067759" y="565792"/>
            <a:ext cx="849085" cy="466531"/>
          </a:xfrm>
          <a:prstGeom prst="rect">
            <a:avLst/>
          </a:prstGeom>
          <a:solidFill>
            <a:srgbClr val="DAD3F9"/>
          </a:solidFill>
          <a:ln>
            <a:solidFill>
              <a:srgbClr val="7A6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F99CE5C-B9DD-70C9-7D13-418B7A165D7F}"/>
              </a:ext>
            </a:extLst>
          </p:cNvPr>
          <p:cNvSpPr/>
          <p:nvPr userDrawn="1"/>
        </p:nvSpPr>
        <p:spPr>
          <a:xfrm>
            <a:off x="-2067759" y="1103857"/>
            <a:ext cx="849085" cy="466531"/>
          </a:xfrm>
          <a:prstGeom prst="rect">
            <a:avLst/>
          </a:prstGeom>
          <a:solidFill>
            <a:srgbClr val="F9D3E4"/>
          </a:solidFill>
          <a:ln>
            <a:solidFill>
              <a:srgbClr val="E12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2188929A-C5F3-4188-7020-EB1FFA19992C}"/>
              </a:ext>
            </a:extLst>
          </p:cNvPr>
          <p:cNvSpPr/>
          <p:nvPr userDrawn="1"/>
        </p:nvSpPr>
        <p:spPr>
          <a:xfrm>
            <a:off x="-2067760" y="1643319"/>
            <a:ext cx="849085" cy="466531"/>
          </a:xfrm>
          <a:prstGeom prst="rect">
            <a:avLst/>
          </a:prstGeom>
          <a:solidFill>
            <a:srgbClr val="FFE0D5"/>
          </a:solidFill>
          <a:ln>
            <a:solidFill>
              <a:srgbClr val="FF5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6E8508F-0BC5-6B63-2377-26895A041F3E}"/>
              </a:ext>
            </a:extLst>
          </p:cNvPr>
          <p:cNvSpPr/>
          <p:nvPr userDrawn="1"/>
        </p:nvSpPr>
        <p:spPr>
          <a:xfrm>
            <a:off x="-2067761" y="2181384"/>
            <a:ext cx="849085" cy="466531"/>
          </a:xfrm>
          <a:prstGeom prst="rect">
            <a:avLst/>
          </a:prstGeom>
          <a:solidFill>
            <a:srgbClr val="FFEBCD"/>
          </a:solidFill>
          <a:ln>
            <a:solidFill>
              <a:srgbClr val="FFAE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EACC24E1-3D4E-7201-E434-FBF75F2CE77F}"/>
              </a:ext>
            </a:extLst>
          </p:cNvPr>
          <p:cNvSpPr/>
          <p:nvPr userDrawn="1"/>
        </p:nvSpPr>
        <p:spPr>
          <a:xfrm>
            <a:off x="-1089858" y="2827758"/>
            <a:ext cx="849085" cy="466531"/>
          </a:xfrm>
          <a:prstGeom prst="rect">
            <a:avLst/>
          </a:prstGeom>
          <a:solidFill>
            <a:srgbClr val="316CE3"/>
          </a:solidFill>
          <a:ln>
            <a:solidFill>
              <a:srgbClr val="629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45B9A5FD-9A57-5F6B-EF78-3522196A3F17}"/>
              </a:ext>
            </a:extLst>
          </p:cNvPr>
          <p:cNvSpPr/>
          <p:nvPr userDrawn="1"/>
        </p:nvSpPr>
        <p:spPr>
          <a:xfrm>
            <a:off x="-1089859" y="3365823"/>
            <a:ext cx="849085" cy="466531"/>
          </a:xfrm>
          <a:prstGeom prst="rect">
            <a:avLst/>
          </a:prstGeom>
          <a:solidFill>
            <a:srgbClr val="6D40DC"/>
          </a:solidFill>
          <a:ln>
            <a:solidFill>
              <a:srgbClr val="7A6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757EAE82-DA6F-8200-93B7-2D9FECEAD20F}"/>
              </a:ext>
            </a:extLst>
          </p:cNvPr>
          <p:cNvSpPr/>
          <p:nvPr userDrawn="1"/>
        </p:nvSpPr>
        <p:spPr>
          <a:xfrm>
            <a:off x="-1089859" y="3903888"/>
            <a:ext cx="849085" cy="466531"/>
          </a:xfrm>
          <a:prstGeom prst="rect">
            <a:avLst/>
          </a:prstGeom>
          <a:solidFill>
            <a:srgbClr val="B3195F"/>
          </a:solidFill>
          <a:ln>
            <a:solidFill>
              <a:srgbClr val="E12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A0108268-F182-A605-81F2-7244B77BDE3C}"/>
              </a:ext>
            </a:extLst>
          </p:cNvPr>
          <p:cNvSpPr/>
          <p:nvPr userDrawn="1"/>
        </p:nvSpPr>
        <p:spPr>
          <a:xfrm>
            <a:off x="-1089860" y="4443350"/>
            <a:ext cx="849085" cy="466531"/>
          </a:xfrm>
          <a:prstGeom prst="rect">
            <a:avLst/>
          </a:prstGeom>
          <a:solidFill>
            <a:srgbClr val="F23F00"/>
          </a:solidFill>
          <a:ln>
            <a:solidFill>
              <a:srgbClr val="FF5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C75A030-42E4-77C7-5F87-BBC2F3410A37}"/>
              </a:ext>
            </a:extLst>
          </p:cNvPr>
          <p:cNvSpPr/>
          <p:nvPr userDrawn="1"/>
        </p:nvSpPr>
        <p:spPr>
          <a:xfrm>
            <a:off x="-1089861" y="4981415"/>
            <a:ext cx="849085" cy="466531"/>
          </a:xfrm>
          <a:prstGeom prst="rect">
            <a:avLst/>
          </a:prstGeom>
          <a:solidFill>
            <a:srgbClr val="E28700"/>
          </a:solidFill>
          <a:ln>
            <a:solidFill>
              <a:srgbClr val="FFAE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8915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5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4" r:id="rId13"/>
    <p:sldLayoutId id="214748367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10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aramond" pitchFamily="18" charset="0"/>
              </a:defRPr>
            </a:lvl1pPr>
          </a:lstStyle>
          <a:p>
            <a:fld id="{6F400BD0-49BF-48FC-8114-37C1D4F5AB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0360" name="Line 1032"/>
          <p:cNvSpPr>
            <a:spLocks noChangeShapeType="1"/>
          </p:cNvSpPr>
          <p:nvPr/>
        </p:nvSpPr>
        <p:spPr bwMode="auto">
          <a:xfrm>
            <a:off x="228600" y="6381328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361" name="Line 1033"/>
          <p:cNvSpPr>
            <a:spLocks noChangeShapeType="1"/>
          </p:cNvSpPr>
          <p:nvPr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8" name="Picture 7" descr="safari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9512" y="6453336"/>
            <a:ext cx="1080120" cy="3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4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B65DC4-4251-F4EE-EAD1-A3DE8B764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7AC57-8DB6-032B-1029-61B795C12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0A2EF-C486-D5A0-E049-79C254305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4CF3C-41EC-5FE5-5BE0-EC1F57CC2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4A495-0ACD-3033-2B90-32F8A5092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010" y="648208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00" b="0">
                <a:solidFill>
                  <a:srgbClr val="162746"/>
                </a:solidFill>
                <a:latin typeface="Aptos" panose="020B0004020202020204" pitchFamily="34" charset="0"/>
              </a:defRPr>
            </a:lvl1pPr>
          </a:lstStyle>
          <a:p>
            <a:fld id="{7919703D-DFA9-7346-9D15-7F3380AF0B53}" type="slidenum">
              <a:rPr lang="en-CH" smtClean="0"/>
              <a:pPr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10498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7F34D-9950-478C-A4B2-CD9A98A43558}" type="datetime1">
              <a:rPr lang="tr-TR" smtClean="0"/>
              <a:t>26.06.2026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5B309-C2CE-4D90-B104-F7E98438FC65}" type="slidenum">
              <a:rPr lang="tr-TR" smtClean="0"/>
              <a:t>‹#›</a:t>
            </a:fld>
            <a:endParaRPr lang="tr-TR"/>
          </a:p>
        </p:txBody>
      </p:sp>
      <p:sp>
        <p:nvSpPr>
          <p:cNvPr id="23" name="Dikdörtgen 22">
            <a:extLst>
              <a:ext uri="{FF2B5EF4-FFF2-40B4-BE49-F238E27FC236}">
                <a16:creationId xmlns:a16="http://schemas.microsoft.com/office/drawing/2014/main" id="{68EA19BC-84E2-B20E-D9CA-F6EC07ACDA63}"/>
              </a:ext>
            </a:extLst>
          </p:cNvPr>
          <p:cNvSpPr/>
          <p:nvPr userDrawn="1"/>
        </p:nvSpPr>
        <p:spPr>
          <a:xfrm>
            <a:off x="-1089858" y="27727"/>
            <a:ext cx="849085" cy="466531"/>
          </a:xfrm>
          <a:prstGeom prst="rect">
            <a:avLst/>
          </a:prstGeom>
          <a:solidFill>
            <a:srgbClr val="6292F7"/>
          </a:solidFill>
          <a:ln>
            <a:solidFill>
              <a:srgbClr val="629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24" name="Dikdörtgen 23">
            <a:extLst>
              <a:ext uri="{FF2B5EF4-FFF2-40B4-BE49-F238E27FC236}">
                <a16:creationId xmlns:a16="http://schemas.microsoft.com/office/drawing/2014/main" id="{1CA6EA86-CEF8-C463-FE7C-0B40F3AFCADF}"/>
              </a:ext>
            </a:extLst>
          </p:cNvPr>
          <p:cNvSpPr/>
          <p:nvPr userDrawn="1"/>
        </p:nvSpPr>
        <p:spPr>
          <a:xfrm>
            <a:off x="-1089859" y="565792"/>
            <a:ext cx="849085" cy="466531"/>
          </a:xfrm>
          <a:prstGeom prst="rect">
            <a:avLst/>
          </a:prstGeom>
          <a:solidFill>
            <a:srgbClr val="7A62E7"/>
          </a:solidFill>
          <a:ln>
            <a:solidFill>
              <a:srgbClr val="7A6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43F55123-6402-8B8A-CAD4-A9BD906B569D}"/>
              </a:ext>
            </a:extLst>
          </p:cNvPr>
          <p:cNvSpPr/>
          <p:nvPr userDrawn="1"/>
        </p:nvSpPr>
        <p:spPr>
          <a:xfrm>
            <a:off x="-1089859" y="1103857"/>
            <a:ext cx="849085" cy="466531"/>
          </a:xfrm>
          <a:prstGeom prst="rect">
            <a:avLst/>
          </a:prstGeom>
          <a:solidFill>
            <a:srgbClr val="E1257C"/>
          </a:solidFill>
          <a:ln>
            <a:solidFill>
              <a:srgbClr val="E12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6" name="Dikdörtgen 25">
            <a:extLst>
              <a:ext uri="{FF2B5EF4-FFF2-40B4-BE49-F238E27FC236}">
                <a16:creationId xmlns:a16="http://schemas.microsoft.com/office/drawing/2014/main" id="{A45B484E-4836-A2F4-9832-3B0D69CA46A4}"/>
              </a:ext>
            </a:extLst>
          </p:cNvPr>
          <p:cNvSpPr/>
          <p:nvPr userDrawn="1"/>
        </p:nvSpPr>
        <p:spPr>
          <a:xfrm>
            <a:off x="-1089860" y="1643319"/>
            <a:ext cx="849085" cy="466531"/>
          </a:xfrm>
          <a:prstGeom prst="rect">
            <a:avLst/>
          </a:prstGeom>
          <a:solidFill>
            <a:srgbClr val="FF5F25"/>
          </a:solidFill>
          <a:ln>
            <a:solidFill>
              <a:srgbClr val="FF5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7" name="Dikdörtgen 26">
            <a:extLst>
              <a:ext uri="{FF2B5EF4-FFF2-40B4-BE49-F238E27FC236}">
                <a16:creationId xmlns:a16="http://schemas.microsoft.com/office/drawing/2014/main" id="{2F4B1A99-F06E-82E8-CD81-123648DC1EBE}"/>
              </a:ext>
            </a:extLst>
          </p:cNvPr>
          <p:cNvSpPr/>
          <p:nvPr userDrawn="1"/>
        </p:nvSpPr>
        <p:spPr>
          <a:xfrm>
            <a:off x="-1089861" y="2181384"/>
            <a:ext cx="849085" cy="466531"/>
          </a:xfrm>
          <a:prstGeom prst="rect">
            <a:avLst/>
          </a:prstGeom>
          <a:solidFill>
            <a:srgbClr val="FFAE3C"/>
          </a:solidFill>
          <a:ln>
            <a:solidFill>
              <a:srgbClr val="FFAE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7A4F6B98-E975-0A4F-B04B-5F3FD87BA154}"/>
              </a:ext>
            </a:extLst>
          </p:cNvPr>
          <p:cNvSpPr/>
          <p:nvPr userDrawn="1"/>
        </p:nvSpPr>
        <p:spPr>
          <a:xfrm>
            <a:off x="-2067758" y="27727"/>
            <a:ext cx="849085" cy="466531"/>
          </a:xfrm>
          <a:prstGeom prst="rect">
            <a:avLst/>
          </a:prstGeom>
          <a:solidFill>
            <a:srgbClr val="C4D7FC"/>
          </a:solidFill>
          <a:ln>
            <a:solidFill>
              <a:srgbClr val="629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E3FD0C4-2418-8E58-968D-B3352EDC4962}"/>
              </a:ext>
            </a:extLst>
          </p:cNvPr>
          <p:cNvSpPr/>
          <p:nvPr userDrawn="1"/>
        </p:nvSpPr>
        <p:spPr>
          <a:xfrm>
            <a:off x="-2067759" y="565792"/>
            <a:ext cx="849085" cy="466531"/>
          </a:xfrm>
          <a:prstGeom prst="rect">
            <a:avLst/>
          </a:prstGeom>
          <a:solidFill>
            <a:srgbClr val="DAD3F9"/>
          </a:solidFill>
          <a:ln>
            <a:solidFill>
              <a:srgbClr val="7A6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F99CE5C-B9DD-70C9-7D13-418B7A165D7F}"/>
              </a:ext>
            </a:extLst>
          </p:cNvPr>
          <p:cNvSpPr/>
          <p:nvPr userDrawn="1"/>
        </p:nvSpPr>
        <p:spPr>
          <a:xfrm>
            <a:off x="-2067759" y="1103857"/>
            <a:ext cx="849085" cy="466531"/>
          </a:xfrm>
          <a:prstGeom prst="rect">
            <a:avLst/>
          </a:prstGeom>
          <a:solidFill>
            <a:srgbClr val="F9D3E4"/>
          </a:solidFill>
          <a:ln>
            <a:solidFill>
              <a:srgbClr val="E12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2188929A-C5F3-4188-7020-EB1FFA19992C}"/>
              </a:ext>
            </a:extLst>
          </p:cNvPr>
          <p:cNvSpPr/>
          <p:nvPr userDrawn="1"/>
        </p:nvSpPr>
        <p:spPr>
          <a:xfrm>
            <a:off x="-2067760" y="1643319"/>
            <a:ext cx="849085" cy="466531"/>
          </a:xfrm>
          <a:prstGeom prst="rect">
            <a:avLst/>
          </a:prstGeom>
          <a:solidFill>
            <a:srgbClr val="FFE0D5"/>
          </a:solidFill>
          <a:ln>
            <a:solidFill>
              <a:srgbClr val="FF5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A6E8508F-0BC5-6B63-2377-26895A041F3E}"/>
              </a:ext>
            </a:extLst>
          </p:cNvPr>
          <p:cNvSpPr/>
          <p:nvPr userDrawn="1"/>
        </p:nvSpPr>
        <p:spPr>
          <a:xfrm>
            <a:off x="-2067761" y="2181384"/>
            <a:ext cx="849085" cy="466531"/>
          </a:xfrm>
          <a:prstGeom prst="rect">
            <a:avLst/>
          </a:prstGeom>
          <a:solidFill>
            <a:srgbClr val="FFEBCD"/>
          </a:solidFill>
          <a:ln>
            <a:solidFill>
              <a:srgbClr val="FFAE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EACC24E1-3D4E-7201-E434-FBF75F2CE77F}"/>
              </a:ext>
            </a:extLst>
          </p:cNvPr>
          <p:cNvSpPr/>
          <p:nvPr userDrawn="1"/>
        </p:nvSpPr>
        <p:spPr>
          <a:xfrm>
            <a:off x="-1089858" y="2827758"/>
            <a:ext cx="849085" cy="466531"/>
          </a:xfrm>
          <a:prstGeom prst="rect">
            <a:avLst/>
          </a:prstGeom>
          <a:solidFill>
            <a:srgbClr val="316CE3"/>
          </a:solidFill>
          <a:ln>
            <a:solidFill>
              <a:srgbClr val="6292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rgbClr val="6292F7"/>
              </a:solidFill>
            </a:endParaRPr>
          </a:p>
        </p:txBody>
      </p:sp>
      <p:sp>
        <p:nvSpPr>
          <p:cNvPr id="20" name="Dikdörtgen 19">
            <a:extLst>
              <a:ext uri="{FF2B5EF4-FFF2-40B4-BE49-F238E27FC236}">
                <a16:creationId xmlns:a16="http://schemas.microsoft.com/office/drawing/2014/main" id="{45B9A5FD-9A57-5F6B-EF78-3522196A3F17}"/>
              </a:ext>
            </a:extLst>
          </p:cNvPr>
          <p:cNvSpPr/>
          <p:nvPr userDrawn="1"/>
        </p:nvSpPr>
        <p:spPr>
          <a:xfrm>
            <a:off x="-1089859" y="3365823"/>
            <a:ext cx="849085" cy="466531"/>
          </a:xfrm>
          <a:prstGeom prst="rect">
            <a:avLst/>
          </a:prstGeom>
          <a:solidFill>
            <a:srgbClr val="6D40DC"/>
          </a:solidFill>
          <a:ln>
            <a:solidFill>
              <a:srgbClr val="7A6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" name="Dikdörtgen 20">
            <a:extLst>
              <a:ext uri="{FF2B5EF4-FFF2-40B4-BE49-F238E27FC236}">
                <a16:creationId xmlns:a16="http://schemas.microsoft.com/office/drawing/2014/main" id="{757EAE82-DA6F-8200-93B7-2D9FECEAD20F}"/>
              </a:ext>
            </a:extLst>
          </p:cNvPr>
          <p:cNvSpPr/>
          <p:nvPr userDrawn="1"/>
        </p:nvSpPr>
        <p:spPr>
          <a:xfrm>
            <a:off x="-1089859" y="3903888"/>
            <a:ext cx="849085" cy="466531"/>
          </a:xfrm>
          <a:prstGeom prst="rect">
            <a:avLst/>
          </a:prstGeom>
          <a:solidFill>
            <a:srgbClr val="B3195F"/>
          </a:solidFill>
          <a:ln>
            <a:solidFill>
              <a:srgbClr val="E12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A0108268-F182-A605-81F2-7244B77BDE3C}"/>
              </a:ext>
            </a:extLst>
          </p:cNvPr>
          <p:cNvSpPr/>
          <p:nvPr userDrawn="1"/>
        </p:nvSpPr>
        <p:spPr>
          <a:xfrm>
            <a:off x="-1089860" y="4443350"/>
            <a:ext cx="849085" cy="466531"/>
          </a:xfrm>
          <a:prstGeom prst="rect">
            <a:avLst/>
          </a:prstGeom>
          <a:solidFill>
            <a:srgbClr val="F23F00"/>
          </a:solidFill>
          <a:ln>
            <a:solidFill>
              <a:srgbClr val="FF5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4C75A030-42E4-77C7-5F87-BBC2F3410A37}"/>
              </a:ext>
            </a:extLst>
          </p:cNvPr>
          <p:cNvSpPr/>
          <p:nvPr userDrawn="1"/>
        </p:nvSpPr>
        <p:spPr>
          <a:xfrm>
            <a:off x="-1089861" y="4981415"/>
            <a:ext cx="849085" cy="466531"/>
          </a:xfrm>
          <a:prstGeom prst="rect">
            <a:avLst/>
          </a:prstGeom>
          <a:solidFill>
            <a:srgbClr val="E28700"/>
          </a:solidFill>
          <a:ln>
            <a:solidFill>
              <a:srgbClr val="FFAE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6160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isabostanci.github.io/" TargetMode="External"/><Relationship Id="rId2" Type="http://schemas.openxmlformats.org/officeDocument/2006/relationships/hyperlink" Target="mailto:nisa.bostanci@safari.ethz.ch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mputer.org/web/cal" TargetMode="External"/><Relationship Id="rId2" Type="http://schemas.openxmlformats.org/officeDocument/2006/relationships/hyperlink" Target="http://users.ece.cmu.edu/~omutlu/pub/ramulator_dram_simulator-ieee-cal15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github.com/CMU-SAFARI/ramulato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U-SAFARI/ramulator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CMU-SAFARI/ramulato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CMU-SAFARI/ramulator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U-SAFARI/ramulator2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U-SAFARI/Cleaning-up-the-Mes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U-SAFARI/ramulator2/tree/mes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10.15744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CMU-SAFARI/LeakyHammer" TargetMode="External"/><Relationship Id="rId4" Type="http://schemas.openxmlformats.org/officeDocument/2006/relationships/hyperlink" Target="https://arxiv.org/pdf/2503.17891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3.04635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MU-SAFARI/Virtuoso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i6ttrmu_OM&amp;t=12703s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arxiv.org/pdf/2505.10111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MU-SAFARI/ramulator2/tree/v2.1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E00C-6A14-0CE1-63B2-42871790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>
            <a:extLst>
              <a:ext uri="{FF2B5EF4-FFF2-40B4-BE49-F238E27FC236}">
                <a16:creationId xmlns:a16="http://schemas.microsoft.com/office/drawing/2014/main" id="{9A23A29E-7DFC-8425-28C9-B6E0480E331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9144000" cy="3689131"/>
          </a:xfrm>
          <a:prstGeom prst="rect">
            <a:avLst/>
          </a:prstGeom>
          <a:solidFill>
            <a:srgbClr val="316CE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solidFill>
                <a:srgbClr val="70AD47"/>
              </a:solidFill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0FCEDC28-1873-639B-A422-DC1E4F8E5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97854"/>
            <a:ext cx="7772400" cy="23876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 err="1">
                <a:solidFill>
                  <a:schemeClr val="bg1"/>
                </a:solidFill>
              </a:rPr>
              <a:t>Ramulator</a:t>
            </a:r>
            <a:r>
              <a:rPr lang="en-US" sz="6600" b="1" dirty="0">
                <a:solidFill>
                  <a:schemeClr val="bg1"/>
                </a:solidFill>
              </a:rPr>
              <a:t>: </a:t>
            </a:r>
            <a:br>
              <a:rPr lang="en-US" sz="6600" b="1" dirty="0">
                <a:solidFill>
                  <a:schemeClr val="bg1"/>
                </a:solidFill>
              </a:rPr>
            </a:br>
            <a:r>
              <a:rPr lang="en-US" sz="6600" b="1" dirty="0">
                <a:solidFill>
                  <a:schemeClr val="bg1"/>
                </a:solidFill>
              </a:rPr>
              <a:t>A Brief Introduction</a:t>
            </a:r>
            <a:endParaRPr lang="en-US" sz="6600" b="1" dirty="0">
              <a:solidFill>
                <a:schemeClr val="bg1"/>
              </a:solidFill>
              <a:cs typeface="Cambria"/>
            </a:endParaRPr>
          </a:p>
        </p:txBody>
      </p:sp>
      <p:sp>
        <p:nvSpPr>
          <p:cNvPr id="103" name="Subtitle 2">
            <a:extLst>
              <a:ext uri="{FF2B5EF4-FFF2-40B4-BE49-F238E27FC236}">
                <a16:creationId xmlns:a16="http://schemas.microsoft.com/office/drawing/2014/main" id="{9503E38C-59C7-C3E2-4A74-535C44ECF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979309"/>
            <a:ext cx="6858000" cy="1655762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latin typeface="+mj-lt"/>
                <a:cs typeface="Cambria"/>
              </a:rPr>
              <a:t>Nisa </a:t>
            </a:r>
            <a:r>
              <a:rPr lang="en-US" b="1" dirty="0" err="1">
                <a:latin typeface="+mj-lt"/>
                <a:cs typeface="Cambria"/>
              </a:rPr>
              <a:t>Bostanc</a:t>
            </a:r>
            <a:r>
              <a:rPr lang="tr-TR" b="1" dirty="0">
                <a:latin typeface="+mj-lt"/>
                <a:cs typeface="Cambria"/>
              </a:rPr>
              <a:t>ı</a:t>
            </a:r>
            <a:br>
              <a:rPr lang="en-US" dirty="0">
                <a:latin typeface="+mj-lt"/>
                <a:cs typeface="Cambria"/>
              </a:rPr>
            </a:b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Cambria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Cambria"/>
              </a:rPr>
              <a:t>27.06.2026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Cambria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Cambria"/>
              </a:rPr>
              <a:t>R&amp;DB Tutorial at ISCA’26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ADE1B2-CC0F-2B4D-D500-27803216CD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556" y="6128926"/>
            <a:ext cx="2176678" cy="4187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76F4C9-12E2-47D1-9535-C33948991F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1820" t="33599" r="12247" b="30996"/>
          <a:stretch/>
        </p:blipFill>
        <p:spPr>
          <a:xfrm>
            <a:off x="6111979" y="6090478"/>
            <a:ext cx="2657465" cy="457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910F1D-7347-EEC7-511C-99B01EE9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776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09" name="Title 1">
            <a:extLst>
              <a:ext uri="{FF2B5EF4-FFF2-40B4-BE49-F238E27FC236}">
                <a16:creationId xmlns:a16="http://schemas.microsoft.com/office/drawing/2014/main" id="{0DF95D71-4717-9641-A2B1-944FC9032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Brief Self Introduction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9CD130D2-C623-7247-B0C8-1800F218D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200" b="1" dirty="0">
                <a:ea typeface="ＭＳ Ｐゴシック" panose="020B0600070205080204" pitchFamily="34" charset="-128"/>
              </a:rPr>
              <a:t>F. Nisa </a:t>
            </a:r>
            <a:r>
              <a:rPr lang="en-US" altLang="en-US" sz="2200" b="1" dirty="0" err="1">
                <a:ea typeface="ＭＳ Ｐゴシック" panose="020B0600070205080204" pitchFamily="34" charset="-128"/>
              </a:rPr>
              <a:t>Bostanci</a:t>
            </a:r>
            <a:endParaRPr lang="en-US" altLang="en-US" sz="2200" b="1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Researcher @</a:t>
            </a:r>
            <a:r>
              <a:rPr lang="en-US" altLang="en-US" sz="1800" dirty="0">
                <a:solidFill>
                  <a:srgbClr val="FF5F25"/>
                </a:solidFill>
                <a:ea typeface="ＭＳ Ｐゴシック" panose="020B0600070205080204" pitchFamily="34" charset="-128"/>
              </a:rPr>
              <a:t> SAFARI Research Group </a:t>
            </a:r>
            <a:r>
              <a:rPr lang="en-US" altLang="en-US" sz="1800" dirty="0">
                <a:ea typeface="ＭＳ Ｐゴシック" panose="020B0600070205080204" pitchFamily="34" charset="-128"/>
              </a:rPr>
              <a:t>since September 2018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PhD @ </a:t>
            </a:r>
            <a:r>
              <a:rPr lang="en-US" altLang="en-US" sz="1800" dirty="0">
                <a:solidFill>
                  <a:srgbClr val="316CE3"/>
                </a:solidFill>
                <a:ea typeface="ＭＳ Ｐゴシック" panose="020B0600070205080204" pitchFamily="34" charset="-128"/>
              </a:rPr>
              <a:t>ETH Zurich </a:t>
            </a:r>
            <a:r>
              <a:rPr lang="en-US" altLang="en-US" sz="1800" dirty="0">
                <a:ea typeface="ＭＳ Ｐゴシック" panose="020B0600070205080204" pitchFamily="34" charset="-128"/>
              </a:rPr>
              <a:t>(November 2022 – ongoing)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  <a:hlinkClick r:id="rId2"/>
              </a:rPr>
              <a:t>nisa.bostanci@safari.ethz.ch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800" dirty="0">
                <a:hlinkClick r:id="rId3"/>
              </a:rPr>
              <a:t>https://nisabostanci.github.io/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1800" b="1" dirty="0">
                <a:ea typeface="ＭＳ Ｐゴシック" panose="020B0600070205080204" pitchFamily="34" charset="-128"/>
              </a:rPr>
              <a:t>Looking for internships for Summer-Fall 2026</a:t>
            </a:r>
          </a:p>
          <a:p>
            <a:pPr lvl="1"/>
            <a:endParaRPr lang="en-US" altLang="en-US" sz="1000" dirty="0">
              <a:ea typeface="ＭＳ Ｐゴシック" panose="020B0600070205080204" pitchFamily="34" charset="-128"/>
            </a:endParaRPr>
          </a:p>
          <a:p>
            <a:pPr>
              <a:buClr>
                <a:schemeClr val="tx1"/>
              </a:buClr>
            </a:pPr>
            <a:r>
              <a:rPr lang="en-US" altLang="en-US" sz="2200" b="1" dirty="0">
                <a:ea typeface="ＭＳ Ｐゴシック" panose="020B0600070205080204" pitchFamily="34" charset="-128"/>
              </a:rPr>
              <a:t>Research interests:</a:t>
            </a:r>
          </a:p>
          <a:p>
            <a:pPr lvl="1">
              <a:buClr>
                <a:schemeClr val="tx1"/>
              </a:buClr>
            </a:pPr>
            <a:r>
              <a:rPr lang="en-US" altLang="en-US" sz="1800" dirty="0">
                <a:solidFill>
                  <a:srgbClr val="316CE3"/>
                </a:solidFill>
                <a:ea typeface="ＭＳ Ｐゴシック" panose="020B0600070205080204" pitchFamily="34" charset="-128"/>
              </a:rPr>
              <a:t>Computer architecture</a:t>
            </a:r>
          </a:p>
          <a:p>
            <a:pPr lvl="1">
              <a:buClr>
                <a:schemeClr val="tx1"/>
              </a:buClr>
            </a:pPr>
            <a:r>
              <a:rPr lang="en-US" altLang="en-US" sz="1800" dirty="0">
                <a:ea typeface="ＭＳ Ｐゴシック" panose="020B0600070205080204" pitchFamily="34" charset="-128"/>
              </a:rPr>
              <a:t>Memory system performance and robustness</a:t>
            </a:r>
          </a:p>
          <a:p>
            <a:pPr lvl="1">
              <a:buClr>
                <a:schemeClr val="tx1"/>
              </a:buClr>
            </a:pPr>
            <a:r>
              <a:rPr lang="en-US" altLang="en-US" sz="1800" dirty="0">
                <a:ea typeface="ＭＳ Ｐゴシック" panose="020B0600070205080204" pitchFamily="34" charset="-128"/>
              </a:rPr>
              <a:t>Hardware security, safety, reliability, performance, </a:t>
            </a:r>
            <a:br>
              <a:rPr lang="en-US" altLang="en-US" sz="1800" dirty="0">
                <a:ea typeface="ＭＳ Ｐゴシック" panose="020B0600070205080204" pitchFamily="34" charset="-128"/>
              </a:rPr>
            </a:br>
            <a:r>
              <a:rPr lang="en-US" altLang="en-US" sz="1800" dirty="0">
                <a:ea typeface="ＭＳ Ｐゴシック" panose="020B0600070205080204" pitchFamily="34" charset="-128"/>
              </a:rPr>
              <a:t>availability, fairness, energy efficiency</a:t>
            </a:r>
          </a:p>
          <a:p>
            <a:pPr lvl="1">
              <a:buClr>
                <a:schemeClr val="tx1"/>
              </a:buClr>
            </a:pPr>
            <a:r>
              <a:rPr lang="en-US" altLang="en-US" sz="1800" dirty="0">
                <a:ea typeface="ＭＳ Ｐゴシック" panose="020B0600070205080204" pitchFamily="34" charset="-128"/>
              </a:rPr>
              <a:t>Processing-in-memory architectures</a:t>
            </a:r>
          </a:p>
          <a:p>
            <a:pPr lvl="1">
              <a:buClr>
                <a:schemeClr val="tx1"/>
              </a:buClr>
            </a:pPr>
            <a:r>
              <a:rPr lang="en-US" altLang="en-US" sz="1800" dirty="0">
                <a:ea typeface="ＭＳ Ｐゴシック" panose="020B0600070205080204" pitchFamily="34" charset="-128"/>
              </a:rPr>
              <a:t>Hardware/software cooperation</a:t>
            </a:r>
          </a:p>
          <a:p>
            <a:pPr lvl="1">
              <a:buClr>
                <a:schemeClr val="tx1"/>
              </a:buClr>
            </a:pPr>
            <a:r>
              <a:rPr lang="is-IS" altLang="en-US" sz="1800" dirty="0">
                <a:ea typeface="ＭＳ Ｐゴシック" panose="020B0600070205080204" pitchFamily="34" charset="-128"/>
              </a:rPr>
              <a:t>… </a:t>
            </a: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F98CD8A-9390-C6B3-DD68-145DB56A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E7CCCE-54C2-B74B-9DA4-3325C0BB5DFA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person smiling at camera&#10;&#10;AI-generated content may be incorrect.">
            <a:extLst>
              <a:ext uri="{FF2B5EF4-FFF2-40B4-BE49-F238E27FC236}">
                <a16:creationId xmlns:a16="http://schemas.microsoft.com/office/drawing/2014/main" id="{47D48EF5-2FB0-B92A-4AC7-6C8AFE123F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17" t="13576" r="16420" b="28889"/>
          <a:stretch/>
        </p:blipFill>
        <p:spPr>
          <a:xfrm>
            <a:off x="7111410" y="1"/>
            <a:ext cx="2032590" cy="247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602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4631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7300" dirty="0" err="1">
                <a:solidFill>
                  <a:srgbClr val="316CE3"/>
                </a:solidFill>
              </a:rPr>
              <a:t>Ramulator</a:t>
            </a:r>
            <a:r>
              <a:rPr lang="en-US" sz="7300" dirty="0">
                <a:solidFill>
                  <a:srgbClr val="316CE3"/>
                </a:solidFill>
              </a:rPr>
              <a:t> </a:t>
            </a:r>
            <a:br>
              <a:rPr lang="en-US" sz="4800" dirty="0">
                <a:solidFill>
                  <a:srgbClr val="316CE3"/>
                </a:solidFill>
              </a:rPr>
            </a:br>
            <a:r>
              <a:rPr lang="en-US" sz="4800" dirty="0">
                <a:solidFill>
                  <a:srgbClr val="316CE3"/>
                </a:solidFill>
              </a:rPr>
              <a:t>A </a:t>
            </a:r>
            <a:r>
              <a:rPr lang="en-US" sz="4800" b="1" dirty="0">
                <a:solidFill>
                  <a:srgbClr val="316CE3"/>
                </a:solidFill>
              </a:rPr>
              <a:t>Fast</a:t>
            </a:r>
            <a:r>
              <a:rPr lang="en-US" sz="4800" dirty="0">
                <a:solidFill>
                  <a:srgbClr val="316CE3"/>
                </a:solidFill>
              </a:rPr>
              <a:t> and </a:t>
            </a:r>
            <a:r>
              <a:rPr lang="en-US" sz="4800" b="1" dirty="0">
                <a:solidFill>
                  <a:srgbClr val="316CE3"/>
                </a:solidFill>
              </a:rPr>
              <a:t>Extensible</a:t>
            </a:r>
            <a:r>
              <a:rPr lang="en-US" sz="4800" dirty="0">
                <a:solidFill>
                  <a:srgbClr val="316CE3"/>
                </a:solidFill>
              </a:rPr>
              <a:t> DRAM Simulator </a:t>
            </a:r>
            <a:br>
              <a:rPr lang="en-US" sz="4800" dirty="0">
                <a:solidFill>
                  <a:srgbClr val="316CE3"/>
                </a:solidFill>
              </a:rPr>
            </a:br>
            <a:r>
              <a:rPr lang="en-US" sz="3600" b="1" dirty="0">
                <a:solidFill>
                  <a:srgbClr val="316CE3"/>
                </a:solidFill>
              </a:rPr>
              <a:t>[IEEE Computer Architecture Letters’15]</a:t>
            </a:r>
          </a:p>
        </p:txBody>
      </p:sp>
    </p:spTree>
    <p:extLst>
      <p:ext uri="{BB962C8B-B14F-4D97-AF65-F5344CB8AC3E}">
        <p14:creationId xmlns:p14="http://schemas.microsoft.com/office/powerpoint/2010/main" val="206971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DRAM and Memory Controller landscape is changing</a:t>
            </a:r>
          </a:p>
          <a:p>
            <a:r>
              <a:rPr lang="en-US" sz="2400" dirty="0"/>
              <a:t>Many new and upcoming standards</a:t>
            </a:r>
          </a:p>
          <a:p>
            <a:r>
              <a:rPr lang="en-US" sz="2400" dirty="0"/>
              <a:t>Many new controller designs</a:t>
            </a:r>
          </a:p>
          <a:p>
            <a:r>
              <a:rPr lang="en-US" sz="2400" dirty="0"/>
              <a:t>A </a:t>
            </a:r>
            <a:r>
              <a:rPr lang="en-US" sz="2400" b="1" dirty="0"/>
              <a:t>fast</a:t>
            </a:r>
            <a:r>
              <a:rPr lang="en-US" sz="2400" dirty="0"/>
              <a:t> and </a:t>
            </a:r>
            <a:r>
              <a:rPr lang="en-US" sz="2400" b="1" dirty="0"/>
              <a:t>easy-to-extend</a:t>
            </a:r>
            <a:r>
              <a:rPr lang="en-US" sz="2400" dirty="0"/>
              <a:t> simulator is very much needed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b="2674"/>
          <a:stretch>
            <a:fillRect/>
          </a:stretch>
        </p:blipFill>
        <p:spPr>
          <a:xfrm>
            <a:off x="1229424" y="2726347"/>
            <a:ext cx="6874934" cy="37172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09982-8C8C-AB71-92EF-92B9E732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421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: </a:t>
            </a:r>
            <a:r>
              <a:rPr lang="en-US" dirty="0">
                <a:solidFill>
                  <a:srgbClr val="316CE3"/>
                </a:solidFill>
              </a:rPr>
              <a:t>A Fast and Extensible</a:t>
            </a:r>
            <a:br>
              <a:rPr lang="en-US" dirty="0">
                <a:solidFill>
                  <a:srgbClr val="316CE3"/>
                </a:solidFill>
              </a:rPr>
            </a:br>
            <a:r>
              <a:rPr lang="en-US" dirty="0">
                <a:solidFill>
                  <a:srgbClr val="316CE3"/>
                </a:solidFill>
              </a:rPr>
              <a:t>DRAM Simulator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Modular and extensible to different standards</a:t>
            </a:r>
          </a:p>
          <a:p>
            <a:r>
              <a:rPr lang="en-US" dirty="0"/>
              <a:t>Provides out-of-the box support for many DRAM standards:</a:t>
            </a:r>
          </a:p>
          <a:p>
            <a:pPr lvl="1"/>
            <a:r>
              <a:rPr lang="en-US" dirty="0"/>
              <a:t>DDR3/4, LPDDR3/4, GDDR5, WIO1/2, HBM, PCM, STT-RAM</a:t>
            </a:r>
          </a:p>
          <a:p>
            <a:pPr lvl="1"/>
            <a:r>
              <a:rPr lang="en-US" dirty="0"/>
              <a:t>new proposals (SALP, AL-DRAM, TLDRAM, RowClone, and SARP)</a:t>
            </a:r>
          </a:p>
          <a:p>
            <a:r>
              <a:rPr lang="en-US" dirty="0"/>
              <a:t>~2.5X faster than fastest open-source simulator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429000"/>
            <a:ext cx="7073900" cy="26543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80ED4-C8E2-CCC8-BCAF-134A0B70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830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Case Study: Comparison of DRAM Standards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E510E-6A36-0D99-1102-1D90FEAF1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743" y="3977178"/>
            <a:ext cx="6997700" cy="254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98" y="931025"/>
            <a:ext cx="6985000" cy="304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12360" y="4604935"/>
            <a:ext cx="19442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"/>
                <a:cs typeface="+mn-cs"/>
              </a:rPr>
              <a:t>Across 22 workloads, simple CPU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3E4AA-F276-257D-1920-46E457FB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88922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 Paper and 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Yoongu Kim, </a:t>
            </a:r>
            <a:r>
              <a:rPr lang="en-US" dirty="0" err="1"/>
              <a:t>Weikun</a:t>
            </a:r>
            <a:r>
              <a:rPr lang="en-US" dirty="0"/>
              <a:t> Yang, and Onur Mutlu,</a:t>
            </a:r>
            <a:br>
              <a:rPr lang="en-US" dirty="0"/>
            </a:br>
            <a:r>
              <a:rPr lang="en-US" b="1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"Ramulator: A Fast and Extensible DRAM Simulator"</a:t>
            </a:r>
            <a:br>
              <a:rPr lang="en-US" dirty="0"/>
            </a:br>
            <a:r>
              <a:rPr lang="en-US" i="1" dirty="0">
                <a:hlinkClick r:id="rId3"/>
              </a:rPr>
              <a:t>IEEE Computer Architecture Letters</a:t>
            </a:r>
            <a:r>
              <a:rPr lang="en-US" i="1" dirty="0"/>
              <a:t> (</a:t>
            </a:r>
            <a:r>
              <a:rPr lang="en-US" b="1" i="1" dirty="0"/>
              <a:t>CAL</a:t>
            </a:r>
            <a:r>
              <a:rPr lang="en-US" i="1" dirty="0"/>
              <a:t>)</a:t>
            </a:r>
            <a:r>
              <a:rPr lang="en-US" dirty="0"/>
              <a:t>, March 2015. </a:t>
            </a:r>
            <a:br>
              <a:rPr lang="en-US" dirty="0"/>
            </a:br>
            <a:r>
              <a:rPr lang="en-US" dirty="0"/>
              <a:t>[</a:t>
            </a:r>
            <a:r>
              <a:rPr lang="en-US" dirty="0">
                <a:hlinkClick r:id="rId4"/>
              </a:rPr>
              <a:t>Source Code</a:t>
            </a:r>
            <a:r>
              <a:rPr lang="en-US" dirty="0"/>
              <a:t>] </a:t>
            </a:r>
          </a:p>
          <a:p>
            <a:endParaRPr lang="en-US" dirty="0"/>
          </a:p>
          <a:p>
            <a:r>
              <a:rPr lang="en-US" dirty="0"/>
              <a:t>Source code is released under the liberal MIT License</a:t>
            </a:r>
          </a:p>
          <a:p>
            <a:pPr lvl="1"/>
            <a:r>
              <a:rPr lang="en-US" dirty="0">
                <a:hlinkClick r:id="rId4"/>
              </a:rPr>
              <a:t>https://github.com/CMU-SAFARI/ramulator</a:t>
            </a:r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61724"/>
            <a:ext cx="9144000" cy="11902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A3CB3-0FEF-E285-F0D9-68350C1C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19204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D87C-AF4E-B4BF-B3FA-81A79243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: Free &amp; Open Source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84B10-C124-6178-17FF-5A3D5107D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16332-E4CF-2E76-6814-D78506DE4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63" y="922159"/>
            <a:ext cx="4462992" cy="5747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078E33-D288-B74D-42AB-906AC8BF21B2}"/>
              </a:ext>
            </a:extLst>
          </p:cNvPr>
          <p:cNvSpPr txBox="1"/>
          <p:nvPr/>
        </p:nvSpPr>
        <p:spPr>
          <a:xfrm>
            <a:off x="1853146" y="6471255"/>
            <a:ext cx="5437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https://github.com/CMU-SAFARI/ramulator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E977E-AEE1-0025-9C81-EC3C490C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53834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D87C-AF4E-B4BF-B3FA-81A79243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: Reproducibility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C4E8-BBFD-F5EF-0CDF-525177A08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78E33-D288-B74D-42AB-906AC8BF21B2}"/>
              </a:ext>
            </a:extLst>
          </p:cNvPr>
          <p:cNvSpPr txBox="1"/>
          <p:nvPr/>
        </p:nvSpPr>
        <p:spPr>
          <a:xfrm>
            <a:off x="1853146" y="6474617"/>
            <a:ext cx="5437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https://github.com/CMU-SAFARI/ramulator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6DEB7-A9F2-13DE-964B-61755DEBE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092" y="910501"/>
            <a:ext cx="4264146" cy="5528461"/>
          </a:xfrm>
          <a:prstGeom prst="rect">
            <a:avLst/>
          </a:prstGeom>
        </p:spPr>
      </p:pic>
      <p:sp>
        <p:nvSpPr>
          <p:cNvPr id="8" name="Rectangle 39">
            <a:extLst>
              <a:ext uri="{FF2B5EF4-FFF2-40B4-BE49-F238E27FC236}">
                <a16:creationId xmlns:a16="http://schemas.microsoft.com/office/drawing/2014/main" id="{E70E40D2-C7B7-DE89-A20F-E0021DD08A42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3942661" y="-656723"/>
            <a:ext cx="394582" cy="3744416"/>
          </a:xfrm>
          <a:prstGeom prst="rect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CA44F-C3CD-934F-F5D3-43EA6BF4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6092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5D87C-AF4E-B4BF-B3FA-81A79243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: Integration with Other Simulators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8E190-A36F-DED6-1E52-C25D9A4D7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78E33-D288-B74D-42AB-906AC8BF21B2}"/>
              </a:ext>
            </a:extLst>
          </p:cNvPr>
          <p:cNvSpPr txBox="1"/>
          <p:nvPr/>
        </p:nvSpPr>
        <p:spPr>
          <a:xfrm>
            <a:off x="1853146" y="6474617"/>
            <a:ext cx="5437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https://github.com/CMU-SAFARI/ramulator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502BBC-1621-8977-81AA-5B3510783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715" y="997527"/>
            <a:ext cx="4082050" cy="5256644"/>
          </a:xfrm>
          <a:prstGeom prst="rect">
            <a:avLst/>
          </a:prstGeom>
        </p:spPr>
      </p:pic>
      <p:sp>
        <p:nvSpPr>
          <p:cNvPr id="8" name="Rectangle 39">
            <a:extLst>
              <a:ext uri="{FF2B5EF4-FFF2-40B4-BE49-F238E27FC236}">
                <a16:creationId xmlns:a16="http://schemas.microsoft.com/office/drawing/2014/main" id="{898A1673-ECB2-603B-EC4D-984F433FD7BD}"/>
              </a:ext>
            </a:extLst>
          </p:cNvPr>
          <p:cNvSpPr>
            <a:spLocks noChangeArrowheads="1"/>
          </p:cNvSpPr>
          <p:nvPr/>
        </p:nvSpPr>
        <p:spPr bwMode="auto">
          <a:xfrm rot="5400000" flipH="1">
            <a:off x="4139952" y="1772816"/>
            <a:ext cx="576064" cy="3744416"/>
          </a:xfrm>
          <a:prstGeom prst="rect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98C8D-9402-84A2-C18A-84EDCEA3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5623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4433D-C0F6-D66F-B779-2D4194C1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 Enabled Many Works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82C0F2-D04D-16CE-3914-0749D9920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6" t="182" r="25185" b="10889"/>
          <a:stretch>
            <a:fillRect/>
          </a:stretch>
        </p:blipFill>
        <p:spPr>
          <a:xfrm>
            <a:off x="503613" y="1230488"/>
            <a:ext cx="8319627" cy="44252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F1D81-1817-DC2B-F2A3-514795FE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11</a:t>
            </a:fld>
            <a:endParaRPr lang="tr-T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73D0AD-471F-9C0F-1BCF-A50AC6DC00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2" t="64933" r="61111" b="18632"/>
          <a:stretch>
            <a:fillRect/>
          </a:stretch>
        </p:blipFill>
        <p:spPr>
          <a:xfrm>
            <a:off x="1813935" y="4678680"/>
            <a:ext cx="7179734" cy="17284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54732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9C2B-13C3-313E-2123-4F345577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1C42-4F58-CFBB-9631-8462416FE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7300" dirty="0" err="1">
                <a:solidFill>
                  <a:srgbClr val="316CE3"/>
                </a:solidFill>
              </a:rPr>
              <a:t>Ramulator</a:t>
            </a:r>
            <a:r>
              <a:rPr lang="en-US" sz="7300" dirty="0">
                <a:solidFill>
                  <a:srgbClr val="316CE3"/>
                </a:solidFill>
              </a:rPr>
              <a:t> 2.0 </a:t>
            </a:r>
            <a:br>
              <a:rPr lang="en-US" sz="4800" dirty="0">
                <a:solidFill>
                  <a:srgbClr val="316CE3"/>
                </a:solidFill>
              </a:rPr>
            </a:br>
            <a:r>
              <a:rPr lang="en-GB" sz="4800" dirty="0">
                <a:solidFill>
                  <a:srgbClr val="316CE3"/>
                </a:solidFill>
              </a:rPr>
              <a:t>A Modern, Modular, and Extensible DRAM Simulator</a:t>
            </a:r>
            <a:br>
              <a:rPr lang="en-US" sz="4800" dirty="0">
                <a:solidFill>
                  <a:srgbClr val="316CE3"/>
                </a:solidFill>
              </a:rPr>
            </a:br>
            <a:r>
              <a:rPr lang="en-US" sz="3600" b="1" dirty="0">
                <a:solidFill>
                  <a:srgbClr val="316CE3"/>
                </a:solidFill>
              </a:rPr>
              <a:t>[IEEE Computer Architecture Letters’24]</a:t>
            </a:r>
          </a:p>
        </p:txBody>
      </p:sp>
    </p:spTree>
    <p:extLst>
      <p:ext uri="{BB962C8B-B14F-4D97-AF65-F5344CB8AC3E}">
        <p14:creationId xmlns:p14="http://schemas.microsoft.com/office/powerpoint/2010/main" val="2503288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Motivation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9AFDE-35A2-49CE-AA0B-6EE6DA7CC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DRAM and Memory Controller landscape is changing</a:t>
            </a:r>
            <a:endParaRPr lang="en-GB" sz="2800" b="1" dirty="0">
              <a:solidFill>
                <a:srgbClr val="C00000"/>
              </a:solidFill>
            </a:endParaRPr>
          </a:p>
          <a:p>
            <a:r>
              <a:rPr lang="en-GB" sz="2800" b="1" dirty="0">
                <a:solidFill>
                  <a:srgbClr val="C00000"/>
                </a:solidFill>
              </a:rPr>
              <a:t>Robustness issues</a:t>
            </a:r>
            <a:r>
              <a:rPr lang="en-GB" sz="2800" b="1" dirty="0"/>
              <a:t> </a:t>
            </a:r>
            <a:r>
              <a:rPr lang="en-GB" sz="2800" dirty="0"/>
              <a:t>in DRAM</a:t>
            </a:r>
          </a:p>
          <a:p>
            <a:pPr lvl="1"/>
            <a:r>
              <a:rPr lang="en-GB" sz="2400" dirty="0"/>
              <a:t>Data retention</a:t>
            </a:r>
          </a:p>
          <a:p>
            <a:pPr lvl="1"/>
            <a:r>
              <a:rPr lang="en-GB" sz="2400" dirty="0"/>
              <a:t>Read disturbance (</a:t>
            </a:r>
            <a:r>
              <a:rPr lang="en-GB" sz="2400" dirty="0" err="1"/>
              <a:t>RowHammer</a:t>
            </a:r>
            <a:r>
              <a:rPr lang="en-GB" sz="2400" dirty="0"/>
              <a:t>, </a:t>
            </a:r>
            <a:r>
              <a:rPr lang="en-GB" sz="2400" dirty="0" err="1"/>
              <a:t>RowPress</a:t>
            </a:r>
            <a:r>
              <a:rPr lang="en-GB" sz="2400" dirty="0"/>
              <a:t>, </a:t>
            </a:r>
            <a:r>
              <a:rPr lang="en-GB" sz="2400" dirty="0" err="1"/>
              <a:t>ColumnDisturb</a:t>
            </a:r>
            <a:r>
              <a:rPr lang="en-GB" sz="2400" dirty="0"/>
              <a:t> etc.)</a:t>
            </a:r>
          </a:p>
          <a:p>
            <a:pPr lvl="1"/>
            <a:r>
              <a:rPr lang="en-GB" sz="2400" dirty="0"/>
              <a:t>…</a:t>
            </a:r>
          </a:p>
          <a:p>
            <a:r>
              <a:rPr lang="en-GB" sz="2800" b="1" dirty="0">
                <a:solidFill>
                  <a:srgbClr val="C00000"/>
                </a:solidFill>
              </a:rPr>
              <a:t>Performance issues</a:t>
            </a:r>
            <a:r>
              <a:rPr lang="en-GB" sz="2800" b="1" dirty="0"/>
              <a:t> </a:t>
            </a:r>
            <a:r>
              <a:rPr lang="en-GB" sz="2800" dirty="0"/>
              <a:t>in main memory system</a:t>
            </a:r>
          </a:p>
          <a:p>
            <a:pPr lvl="1"/>
            <a:r>
              <a:rPr lang="en-GB" sz="2400" dirty="0"/>
              <a:t>Processing-in-Memory architectures</a:t>
            </a:r>
          </a:p>
          <a:p>
            <a:pPr lvl="1"/>
            <a:r>
              <a:rPr lang="en-GB" sz="2400" dirty="0"/>
              <a:t>Emerging memory technologies</a:t>
            </a:r>
          </a:p>
          <a:p>
            <a:pPr lvl="1"/>
            <a:r>
              <a:rPr lang="en-GB" dirty="0"/>
              <a:t>Performance overhead analysis of read disturbance mitigation techniques</a:t>
            </a:r>
            <a:endParaRPr lang="en-GB" sz="2400" dirty="0"/>
          </a:p>
          <a:p>
            <a:pPr lvl="1"/>
            <a:r>
              <a:rPr lang="en-GB" sz="2400" dirty="0"/>
              <a:t>…</a:t>
            </a:r>
          </a:p>
          <a:p>
            <a:pPr lvl="1"/>
            <a:endParaRPr lang="en-GB" sz="2000" dirty="0"/>
          </a:p>
          <a:p>
            <a:pPr marL="457200" lvl="1" indent="0">
              <a:buNone/>
            </a:pPr>
            <a:endParaRPr lang="en-GB" sz="2000" dirty="0"/>
          </a:p>
          <a:p>
            <a:endParaRPr lang="en-GB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4E541D-C2EC-7F53-EEBC-417F3F53D319}"/>
              </a:ext>
            </a:extLst>
          </p:cNvPr>
          <p:cNvSpPr txBox="1">
            <a:spLocks/>
          </p:cNvSpPr>
          <p:nvPr/>
        </p:nvSpPr>
        <p:spPr>
          <a:xfrm>
            <a:off x="0" y="5075460"/>
            <a:ext cx="9144000" cy="1340994"/>
          </a:xfrm>
          <a:prstGeom prst="rect">
            <a:avLst/>
          </a:prstGeom>
          <a:solidFill>
            <a:srgbClr val="FFEBCD"/>
          </a:solidFill>
          <a:ln w="28575">
            <a:solidFill>
              <a:schemeClr val="tx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600" b="1" dirty="0">
                <a:solidFill>
                  <a:srgbClr val="C00000"/>
                </a:solidFill>
                <a:latin typeface="+mj-lt"/>
              </a:rPr>
              <a:t>DRAM simulation infrastructures </a:t>
            </a:r>
            <a:r>
              <a:rPr lang="en-US" sz="2600" b="1" dirty="0">
                <a:latin typeface="+mj-lt"/>
              </a:rPr>
              <a:t>are needed </a:t>
            </a:r>
            <a:br>
              <a:rPr lang="en-US" sz="2600" b="1" dirty="0">
                <a:latin typeface="+mj-lt"/>
              </a:rPr>
            </a:br>
            <a:r>
              <a:rPr lang="en-US" sz="2600" b="1" dirty="0">
                <a:latin typeface="+mj-lt"/>
              </a:rPr>
              <a:t>to understand, characterize, and evaluate </a:t>
            </a:r>
            <a:br>
              <a:rPr lang="en-US" sz="2600" b="1" dirty="0">
                <a:latin typeface="+mj-lt"/>
              </a:rPr>
            </a:br>
            <a:r>
              <a:rPr lang="en-US" sz="2600" b="1" dirty="0">
                <a:latin typeface="+mj-lt"/>
              </a:rPr>
              <a:t>the robustness and performance of DRAM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22E42-AE78-3331-97CC-F1EEC7CC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7149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0C55A8-F7CF-4984-A1C7-0D1BFCF0D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Executive Summary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754E5C6-8092-46E1-A98C-201D5F079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b="1" dirty="0"/>
              <a:t>Ramulator 2.0: </a:t>
            </a:r>
            <a:r>
              <a:rPr lang="en-US" sz="2800" dirty="0"/>
              <a:t>Modern, modular, and extensible </a:t>
            </a:r>
            <a:br>
              <a:rPr lang="en-US" sz="2800" dirty="0"/>
            </a:br>
            <a:r>
              <a:rPr lang="en-US" sz="2800" dirty="0"/>
              <a:t>DRAM &amp; memory system simulator</a:t>
            </a:r>
          </a:p>
          <a:p>
            <a:pPr>
              <a:lnSpc>
                <a:spcPct val="100000"/>
              </a:lnSpc>
              <a:spcAft>
                <a:spcPts val="500"/>
              </a:spcAft>
              <a:buClr>
                <a:schemeClr val="tx1"/>
              </a:buClr>
            </a:pPr>
            <a:r>
              <a:rPr lang="en-US" dirty="0"/>
              <a:t>Models a wide range of </a:t>
            </a:r>
            <a:r>
              <a:rPr lang="en-US" dirty="0">
                <a:solidFill>
                  <a:srgbClr val="316CE3"/>
                </a:solidFill>
              </a:rPr>
              <a:t>DRAM standards </a:t>
            </a:r>
            <a:r>
              <a:rPr lang="en-US" dirty="0"/>
              <a:t>and </a:t>
            </a:r>
            <a:r>
              <a:rPr lang="en-US" dirty="0">
                <a:solidFill>
                  <a:srgbClr val="316CE3"/>
                </a:solidFill>
              </a:rPr>
              <a:t>memory controller functionalities</a:t>
            </a:r>
          </a:p>
          <a:p>
            <a:pPr>
              <a:lnSpc>
                <a:spcPct val="100000"/>
              </a:lnSpc>
              <a:spcAft>
                <a:spcPts val="500"/>
              </a:spcAft>
              <a:buClr>
                <a:schemeClr val="tx1"/>
              </a:buClr>
            </a:pPr>
            <a:r>
              <a:rPr lang="en-US" dirty="0">
                <a:solidFill>
                  <a:srgbClr val="316CE3"/>
                </a:solidFill>
              </a:rPr>
              <a:t>Modular and extensible </a:t>
            </a:r>
            <a:r>
              <a:rPr lang="en-US" dirty="0"/>
              <a:t>software architecture</a:t>
            </a:r>
            <a:endParaRPr lang="en-US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Clr>
                <a:schemeClr val="tx1"/>
              </a:buClr>
            </a:pPr>
            <a:r>
              <a:rPr lang="en-US" dirty="0">
                <a:solidFill>
                  <a:srgbClr val="316CE3"/>
                </a:solidFill>
              </a:rPr>
              <a:t>Fine-grained modeling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of DRAM operation (cycle-level)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dirty="0"/>
              <a:t>Used in a wide range of research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4E8AF-23DB-AE33-F69D-58517A423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3975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FB67D-A7D5-5774-92C5-08CB2B85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6FAEAF-D95D-71F9-D060-A6BA95854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07223"/>
            <a:ext cx="7772400" cy="23876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316CE3"/>
                </a:solidFill>
                <a:latin typeface="Aptos Display" panose="020B0004020202020204" pitchFamily="34" charset="0"/>
              </a:rPr>
              <a:t>Ramulator</a:t>
            </a:r>
            <a:r>
              <a:rPr lang="en-US" b="1" dirty="0">
                <a:solidFill>
                  <a:srgbClr val="316CE3"/>
                </a:solidFill>
                <a:latin typeface="Aptos Display" panose="020B0004020202020204" pitchFamily="34" charset="0"/>
              </a:rPr>
              <a:t> 2.0 </a:t>
            </a:r>
            <a:br>
              <a:rPr lang="en-US" b="1" dirty="0">
                <a:solidFill>
                  <a:srgbClr val="316CE3"/>
                </a:solidFill>
                <a:latin typeface="Aptos Display" panose="020B0004020202020204" pitchFamily="34" charset="0"/>
              </a:rPr>
            </a:br>
            <a:r>
              <a:rPr lang="en-US" b="1" dirty="0">
                <a:solidFill>
                  <a:srgbClr val="316CE3"/>
                </a:solidFill>
                <a:latin typeface="Aptos Display" panose="020B0004020202020204" pitchFamily="34" charset="0"/>
              </a:rPr>
              <a:t>Design and Features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56FB3F4-888F-B686-B219-2DBEF34C1E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347F0-B519-129C-9BD4-6B886397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08796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F7C8-1FC2-D710-0A0B-46C3D02E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86765-11AF-6295-7E53-FE17D6684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D40DC"/>
                </a:solidFill>
              </a:rPr>
              <a:t>Modular</a:t>
            </a:r>
            <a:r>
              <a:rPr lang="en-US" dirty="0"/>
              <a:t> and </a:t>
            </a:r>
            <a:r>
              <a:rPr lang="en-US" b="1" dirty="0">
                <a:solidFill>
                  <a:srgbClr val="6D40DC"/>
                </a:solidFill>
              </a:rPr>
              <a:t>extensible software architecture</a:t>
            </a:r>
          </a:p>
          <a:p>
            <a:endParaRPr lang="en-US" sz="1050" dirty="0"/>
          </a:p>
          <a:p>
            <a:r>
              <a:rPr lang="en-US" b="1" dirty="0">
                <a:solidFill>
                  <a:srgbClr val="6D40DC"/>
                </a:solidFill>
              </a:rPr>
              <a:t>All components</a:t>
            </a:r>
            <a:r>
              <a:rPr lang="en-US" dirty="0">
                <a:solidFill>
                  <a:srgbClr val="6D40DC"/>
                </a:solidFill>
              </a:rPr>
              <a:t> </a:t>
            </a:r>
            <a:r>
              <a:rPr lang="en-US" dirty="0"/>
              <a:t>in the memory system are modeled </a:t>
            </a:r>
            <a:br>
              <a:rPr lang="en-US" dirty="0"/>
            </a:br>
            <a:r>
              <a:rPr lang="en-US" dirty="0"/>
              <a:t>with </a:t>
            </a:r>
            <a:r>
              <a:rPr lang="en-US" b="1" dirty="0">
                <a:solidFill>
                  <a:srgbClr val="6D40DC"/>
                </a:solidFill>
              </a:rPr>
              <a:t>two main concepts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48CEC-2ABB-FD4A-651A-0B25C5A0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16</a:t>
            </a:fld>
            <a:endParaRPr lang="tr-T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513653-DDC7-A128-0EE6-9A3A54891E06}"/>
              </a:ext>
            </a:extLst>
          </p:cNvPr>
          <p:cNvSpPr/>
          <p:nvPr/>
        </p:nvSpPr>
        <p:spPr>
          <a:xfrm>
            <a:off x="1155700" y="2743200"/>
            <a:ext cx="2654300" cy="6858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+mj-lt"/>
              </a:rPr>
              <a:t>Interface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9BC3A-36BF-118C-116F-7C6C9D85E55A}"/>
              </a:ext>
            </a:extLst>
          </p:cNvPr>
          <p:cNvSpPr/>
          <p:nvPr/>
        </p:nvSpPr>
        <p:spPr>
          <a:xfrm>
            <a:off x="5334000" y="2743200"/>
            <a:ext cx="2654300" cy="68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Implementation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9A566F-8405-052C-450D-9B6012D8F55F}"/>
              </a:ext>
            </a:extLst>
          </p:cNvPr>
          <p:cNvSpPr/>
          <p:nvPr/>
        </p:nvSpPr>
        <p:spPr>
          <a:xfrm>
            <a:off x="649770" y="4023562"/>
            <a:ext cx="2654300" cy="68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SimpleO3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9DA0CF-D650-7A3A-421A-9924B72EB383}"/>
              </a:ext>
            </a:extLst>
          </p:cNvPr>
          <p:cNvSpPr/>
          <p:nvPr/>
        </p:nvSpPr>
        <p:spPr>
          <a:xfrm>
            <a:off x="5334000" y="4023562"/>
            <a:ext cx="3551710" cy="68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Generic DRAM Controller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3EEF17-4912-E18A-2280-F66451597A24}"/>
              </a:ext>
            </a:extLst>
          </p:cNvPr>
          <p:cNvGrpSpPr/>
          <p:nvPr/>
        </p:nvGrpSpPr>
        <p:grpSpPr>
          <a:xfrm>
            <a:off x="1075220" y="4534059"/>
            <a:ext cx="7361785" cy="1793824"/>
            <a:chOff x="1075220" y="4534059"/>
            <a:chExt cx="7361785" cy="17938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BBFE94A-5075-74C6-B86C-FF8FEECD2567}"/>
                </a:ext>
              </a:extLst>
            </p:cNvPr>
            <p:cNvSpPr/>
            <p:nvPr/>
          </p:nvSpPr>
          <p:spPr>
            <a:xfrm>
              <a:off x="1075220" y="4709362"/>
              <a:ext cx="1803400" cy="87496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+mj-lt"/>
                </a:rPr>
                <a:t>Frontend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42B078-C103-DE55-BAB9-E58FD5AE8AAE}"/>
                </a:ext>
              </a:extLst>
            </p:cNvPr>
            <p:cNvSpPr/>
            <p:nvPr/>
          </p:nvSpPr>
          <p:spPr>
            <a:xfrm>
              <a:off x="5782705" y="4709362"/>
              <a:ext cx="2654300" cy="87496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+mj-lt"/>
                </a:rPr>
                <a:t>Memory Controller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D44C948-100F-8E70-EDBC-EE24E2EDFBD5}"/>
                </a:ext>
              </a:extLst>
            </p:cNvPr>
            <p:cNvCxnSpPr>
              <a:cxnSpLocks/>
            </p:cNvCxnSpPr>
            <p:nvPr/>
          </p:nvCxnSpPr>
          <p:spPr>
            <a:xfrm>
              <a:off x="2878620" y="5025859"/>
              <a:ext cx="2904085" cy="0"/>
            </a:xfrm>
            <a:prstGeom prst="straightConnector1">
              <a:avLst/>
            </a:prstGeom>
            <a:ln w="60325">
              <a:solidFill>
                <a:srgbClr val="FF5F2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CE5C9B-BF76-DC2A-F3E5-7B5857F29EFA}"/>
                </a:ext>
              </a:extLst>
            </p:cNvPr>
            <p:cNvSpPr txBox="1"/>
            <p:nvPr/>
          </p:nvSpPr>
          <p:spPr>
            <a:xfrm>
              <a:off x="2743163" y="4534059"/>
              <a:ext cx="3175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FF5F25"/>
                  </a:solidFill>
                  <a:latin typeface="+mj-lt"/>
                </a:rPr>
                <a:t>send request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41C73E4-0804-DA0C-A75C-990CEB1B7189}"/>
                </a:ext>
              </a:extLst>
            </p:cNvPr>
            <p:cNvCxnSpPr>
              <a:cxnSpLocks/>
            </p:cNvCxnSpPr>
            <p:nvPr/>
          </p:nvCxnSpPr>
          <p:spPr>
            <a:xfrm>
              <a:off x="2878620" y="5388306"/>
              <a:ext cx="2904085" cy="0"/>
            </a:xfrm>
            <a:prstGeom prst="straightConnector1">
              <a:avLst/>
            </a:prstGeom>
            <a:ln w="60325">
              <a:solidFill>
                <a:srgbClr val="316CE3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0DCAB4-A863-E85F-639B-530DF80A9902}"/>
                </a:ext>
              </a:extLst>
            </p:cNvPr>
            <p:cNvSpPr txBox="1"/>
            <p:nvPr/>
          </p:nvSpPr>
          <p:spPr>
            <a:xfrm>
              <a:off x="2743163" y="5373776"/>
              <a:ext cx="3175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316CE3"/>
                  </a:solidFill>
                  <a:latin typeface="+mj-lt"/>
                </a:rPr>
                <a:t>receive request</a:t>
              </a:r>
              <a:br>
                <a:rPr lang="en-US" sz="2800" b="1" dirty="0">
                  <a:solidFill>
                    <a:srgbClr val="316CE3"/>
                  </a:solidFill>
                  <a:latin typeface="+mj-lt"/>
                </a:rPr>
              </a:br>
              <a:r>
                <a:rPr lang="en-US" sz="2800" b="1" dirty="0">
                  <a:solidFill>
                    <a:srgbClr val="316CE3"/>
                  </a:solidFill>
                  <a:latin typeface="+mj-lt"/>
                </a:rPr>
                <a:t>call back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521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Key Design Concepts (II)</a:t>
            </a:r>
            <a:endParaRPr lang="en-US" sz="3600" dirty="0"/>
          </a:p>
        </p:txBody>
      </p:sp>
      <p:sp>
        <p:nvSpPr>
          <p:cNvPr id="4" name="Content Placeholder 57">
            <a:extLst>
              <a:ext uri="{FF2B5EF4-FFF2-40B4-BE49-F238E27FC236}">
                <a16:creationId xmlns:a16="http://schemas.microsoft.com/office/drawing/2014/main" id="{E7DAB0F8-2128-6A21-40EE-F4A2A45B5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6D40DC"/>
                </a:solidFill>
              </a:rPr>
              <a:t>Example:</a:t>
            </a:r>
            <a:r>
              <a:rPr lang="en-US" dirty="0"/>
              <a:t> The memory controller include:</a:t>
            </a:r>
          </a:p>
          <a:p>
            <a:pPr lvl="2"/>
            <a:r>
              <a:rPr lang="en-US" sz="2800" dirty="0"/>
              <a:t>Address Mapper, Request Scheduler,</a:t>
            </a:r>
            <a:br>
              <a:rPr lang="en-US" sz="2800" dirty="0"/>
            </a:br>
            <a:r>
              <a:rPr lang="en-US" sz="2800" dirty="0"/>
              <a:t>Refresh Manager, Row Policy, etc.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45E099-5068-F448-A0AC-2CF624D53B84}"/>
              </a:ext>
            </a:extLst>
          </p:cNvPr>
          <p:cNvSpPr txBox="1">
            <a:spLocks/>
          </p:cNvSpPr>
          <p:nvPr/>
        </p:nvSpPr>
        <p:spPr>
          <a:xfrm>
            <a:off x="75991" y="813916"/>
            <a:ext cx="8987622" cy="55868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400"/>
              </a:spcAft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0481B-4456-6F92-8EC5-E90FB90F5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9109"/>
            <a:ext cx="9144000" cy="2785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ECEDF3-7C8D-BCDB-F350-10C32A62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17</a:t>
            </a:fld>
            <a:endParaRPr lang="tr-TR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F4F44B-7316-EEC3-3723-A8B489DFED36}"/>
              </a:ext>
            </a:extLst>
          </p:cNvPr>
          <p:cNvSpPr txBox="1">
            <a:spLocks/>
          </p:cNvSpPr>
          <p:nvPr/>
        </p:nvSpPr>
        <p:spPr>
          <a:xfrm>
            <a:off x="0" y="5499100"/>
            <a:ext cx="9144000" cy="917354"/>
          </a:xfrm>
          <a:prstGeom prst="rect">
            <a:avLst/>
          </a:prstGeom>
          <a:solidFill>
            <a:srgbClr val="FFEBCD"/>
          </a:solidFill>
          <a:ln w="28575">
            <a:solidFill>
              <a:schemeClr val="tx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2800" b="1" dirty="0">
                <a:latin typeface="+mj-lt"/>
              </a:rPr>
              <a:t>Each component can be </a:t>
            </a:r>
            <a:r>
              <a:rPr lang="en-GB" sz="2800" b="1" dirty="0">
                <a:solidFill>
                  <a:srgbClr val="C00000"/>
                </a:solidFill>
                <a:latin typeface="+mj-lt"/>
              </a:rPr>
              <a:t>flexibly changed </a:t>
            </a:r>
            <a:br>
              <a:rPr lang="en-GB" sz="2800" b="1" dirty="0">
                <a:latin typeface="+mj-lt"/>
              </a:rPr>
            </a:br>
            <a:r>
              <a:rPr lang="en-GB" sz="2800" b="1" dirty="0">
                <a:latin typeface="+mj-lt"/>
              </a:rPr>
              <a:t>without hardcoding other parts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D8CF6B-E5CC-7179-6EDD-755E028AF3D1}"/>
              </a:ext>
            </a:extLst>
          </p:cNvPr>
          <p:cNvSpPr/>
          <p:nvPr/>
        </p:nvSpPr>
        <p:spPr>
          <a:xfrm>
            <a:off x="1180902" y="3101579"/>
            <a:ext cx="7984309" cy="2183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3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33CDD-380E-A4FD-0BFD-7A55237C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CD02-9199-AFA4-321B-6A418B903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Memory Controller Plugins</a:t>
            </a:r>
            <a:endParaRPr lang="en-US" sz="3600" dirty="0"/>
          </a:p>
        </p:txBody>
      </p:sp>
      <p:sp>
        <p:nvSpPr>
          <p:cNvPr id="4" name="Content Placeholder 57">
            <a:extLst>
              <a:ext uri="{FF2B5EF4-FFF2-40B4-BE49-F238E27FC236}">
                <a16:creationId xmlns:a16="http://schemas.microsoft.com/office/drawing/2014/main" id="{A1ADA36A-8BBF-A78C-9EE6-6324CCE50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6D40DC"/>
                </a:solidFill>
              </a:rPr>
              <a:t>Observation: </a:t>
            </a:r>
            <a:r>
              <a:rPr lang="en-US" dirty="0"/>
              <a:t>Many memory controller functions and utilities are </a:t>
            </a:r>
            <a:r>
              <a:rPr lang="en-US" b="1" dirty="0">
                <a:solidFill>
                  <a:srgbClr val="316CE3"/>
                </a:solidFill>
              </a:rPr>
              <a:t>triggered</a:t>
            </a:r>
            <a:r>
              <a:rPr lang="en-US" dirty="0"/>
              <a:t> and </a:t>
            </a:r>
            <a:r>
              <a:rPr lang="en-US" b="1" dirty="0">
                <a:solidFill>
                  <a:srgbClr val="316CE3"/>
                </a:solidFill>
              </a:rPr>
              <a:t>updated</a:t>
            </a:r>
            <a:r>
              <a:rPr lang="en-US" dirty="0"/>
              <a:t> by </a:t>
            </a:r>
            <a:r>
              <a:rPr lang="en-US" b="1" dirty="0">
                <a:solidFill>
                  <a:srgbClr val="316CE3"/>
                </a:solidFill>
              </a:rPr>
              <a:t>the currently scheduled command</a:t>
            </a:r>
          </a:p>
          <a:p>
            <a:pPr lvl="1"/>
            <a:r>
              <a:rPr lang="en-US" sz="2800" dirty="0"/>
              <a:t>validation, access pattern profiling, </a:t>
            </a:r>
            <a:br>
              <a:rPr lang="en-US" sz="2800" dirty="0"/>
            </a:br>
            <a:r>
              <a:rPr lang="en-US" sz="2800" dirty="0" err="1"/>
              <a:t>RowHammer</a:t>
            </a:r>
            <a:r>
              <a:rPr lang="en-US" sz="2800" dirty="0"/>
              <a:t> mitigations, …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D38205-FB06-DAE8-DE7E-5FF58E1CDD23}"/>
              </a:ext>
            </a:extLst>
          </p:cNvPr>
          <p:cNvSpPr txBox="1">
            <a:spLocks/>
          </p:cNvSpPr>
          <p:nvPr/>
        </p:nvSpPr>
        <p:spPr>
          <a:xfrm>
            <a:off x="75991" y="813916"/>
            <a:ext cx="8987622" cy="55868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400"/>
              </a:spcAft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A047B5-6622-A28F-4F57-759F1218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18</a:t>
            </a:fld>
            <a:endParaRPr lang="tr-TR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8F6E5B-BFF1-C22A-9C99-D1C35617914F}"/>
              </a:ext>
            </a:extLst>
          </p:cNvPr>
          <p:cNvGrpSpPr/>
          <p:nvPr/>
        </p:nvGrpSpPr>
        <p:grpSpPr>
          <a:xfrm>
            <a:off x="8875" y="3421591"/>
            <a:ext cx="9144000" cy="2979209"/>
            <a:chOff x="0" y="3429000"/>
            <a:chExt cx="9144000" cy="29792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AAE90E-0E28-BA56-7F0B-27E7D9F99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429000"/>
              <a:ext cx="9144000" cy="27859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D752D8-DD34-4977-D032-63B1D89F9A1E}"/>
                </a:ext>
              </a:extLst>
            </p:cNvPr>
            <p:cNvSpPr/>
            <p:nvPr/>
          </p:nvSpPr>
          <p:spPr>
            <a:xfrm>
              <a:off x="5000624" y="4080862"/>
              <a:ext cx="3495675" cy="1419225"/>
            </a:xfrm>
            <a:prstGeom prst="rect">
              <a:avLst/>
            </a:prstGeom>
            <a:solidFill>
              <a:schemeClr val="bg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529D37-8580-1464-1FDE-0BE1D313F1A5}"/>
                </a:ext>
              </a:extLst>
            </p:cNvPr>
            <p:cNvSpPr/>
            <p:nvPr/>
          </p:nvSpPr>
          <p:spPr>
            <a:xfrm>
              <a:off x="5095874" y="5824567"/>
              <a:ext cx="2428875" cy="583642"/>
            </a:xfrm>
            <a:prstGeom prst="rect">
              <a:avLst/>
            </a:prstGeom>
            <a:solidFill>
              <a:schemeClr val="bg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76A31F-EE1A-EF29-700D-381A6FA196E4}"/>
                </a:ext>
              </a:extLst>
            </p:cNvPr>
            <p:cNvSpPr/>
            <p:nvPr/>
          </p:nvSpPr>
          <p:spPr>
            <a:xfrm>
              <a:off x="1143000" y="4054433"/>
              <a:ext cx="3724275" cy="2083830"/>
            </a:xfrm>
            <a:prstGeom prst="rect">
              <a:avLst/>
            </a:prstGeom>
            <a:solidFill>
              <a:schemeClr val="bg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1DC1FD-47E7-7228-295A-5B840F93B75C}"/>
                </a:ext>
              </a:extLst>
            </p:cNvPr>
            <p:cNvSpPr/>
            <p:nvPr/>
          </p:nvSpPr>
          <p:spPr>
            <a:xfrm>
              <a:off x="1142998" y="3543773"/>
              <a:ext cx="3228978" cy="510660"/>
            </a:xfrm>
            <a:prstGeom prst="rect">
              <a:avLst/>
            </a:prstGeom>
            <a:solidFill>
              <a:schemeClr val="bg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9121D93-ECAC-0205-F8E7-5ED2A4E5CBB7}"/>
                </a:ext>
              </a:extLst>
            </p:cNvPr>
            <p:cNvSpPr/>
            <p:nvPr/>
          </p:nvSpPr>
          <p:spPr>
            <a:xfrm>
              <a:off x="5514973" y="3544802"/>
              <a:ext cx="2981326" cy="484231"/>
            </a:xfrm>
            <a:prstGeom prst="rect">
              <a:avLst/>
            </a:prstGeom>
            <a:solidFill>
              <a:schemeClr val="bg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006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1814B-E96D-9619-5EEC-268B0B23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Controller Plugins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1E14C-0C78-424F-C1B5-1A1C49C2E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521590"/>
            <a:ext cx="9143999" cy="2995588"/>
          </a:xfrm>
        </p:spPr>
        <p:txBody>
          <a:bodyPr>
            <a:normAutofit/>
          </a:bodyPr>
          <a:lstStyle/>
          <a:p>
            <a:r>
              <a:rPr lang="en-US" dirty="0"/>
              <a:t>Memory controller </a:t>
            </a:r>
            <a:r>
              <a:rPr lang="en-US" b="1" dirty="0">
                <a:solidFill>
                  <a:srgbClr val="FF5F25"/>
                </a:solidFill>
              </a:rPr>
              <a:t>updates</a:t>
            </a:r>
            <a:r>
              <a:rPr lang="en-US" dirty="0"/>
              <a:t> the memory controller plugins </a:t>
            </a:r>
            <a:r>
              <a:rPr lang="en-US" b="1" dirty="0">
                <a:solidFill>
                  <a:srgbClr val="FF5F25"/>
                </a:solidFill>
              </a:rPr>
              <a:t>when a new DRAM command is issued</a:t>
            </a:r>
            <a:endParaRPr lang="en-US" dirty="0"/>
          </a:p>
          <a:p>
            <a:r>
              <a:rPr lang="en-US" dirty="0"/>
              <a:t>A plugin </a:t>
            </a:r>
            <a:r>
              <a:rPr lang="en-US" b="1" dirty="0"/>
              <a:t>implements design-specific tracking methods </a:t>
            </a:r>
            <a:r>
              <a:rPr lang="en-US" dirty="0"/>
              <a:t>or </a:t>
            </a:r>
            <a:r>
              <a:rPr lang="en-US" b="1" dirty="0"/>
              <a:t>probabilistic schemes </a:t>
            </a:r>
            <a:r>
              <a:rPr lang="en-US" dirty="0"/>
              <a:t>to perform </a:t>
            </a:r>
            <a:r>
              <a:rPr lang="en-US" b="1" dirty="0">
                <a:solidFill>
                  <a:srgbClr val="00B050"/>
                </a:solidFill>
              </a:rPr>
              <a:t>preventive actions</a:t>
            </a:r>
          </a:p>
          <a:p>
            <a:pPr lvl="1"/>
            <a:r>
              <a:rPr lang="en-GB" sz="2800" dirty="0"/>
              <a:t>Enqueue victim refresh operations, </a:t>
            </a:r>
            <a:br>
              <a:rPr lang="en-GB" sz="2800" dirty="0"/>
            </a:br>
            <a:r>
              <a:rPr lang="en-GB" sz="2800" dirty="0"/>
              <a:t>trigger aggressor migration, etc. 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6A2E4-DA0F-B3F9-2C67-72301909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19</a:t>
            </a:fld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53E2A9-6FD9-40F4-AD70-BE25E35C5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676"/>
            <a:ext cx="9144000" cy="23493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6CE28F-AB16-8B49-EB7A-79F03D8489E6}"/>
              </a:ext>
            </a:extLst>
          </p:cNvPr>
          <p:cNvSpPr/>
          <p:nvPr/>
        </p:nvSpPr>
        <p:spPr>
          <a:xfrm>
            <a:off x="2920348" y="1497719"/>
            <a:ext cx="3899552" cy="831407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08EA7-0A19-1CDD-AE98-4B465E48FE26}"/>
              </a:ext>
            </a:extLst>
          </p:cNvPr>
          <p:cNvSpPr/>
          <p:nvPr/>
        </p:nvSpPr>
        <p:spPr>
          <a:xfrm>
            <a:off x="1581151" y="2087010"/>
            <a:ext cx="1521618" cy="57999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3CF8A0-78FA-11AC-A5AE-4719CCC7283B}"/>
              </a:ext>
            </a:extLst>
          </p:cNvPr>
          <p:cNvSpPr/>
          <p:nvPr/>
        </p:nvSpPr>
        <p:spPr>
          <a:xfrm>
            <a:off x="3102769" y="2229217"/>
            <a:ext cx="5890900" cy="1027074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0EA69-751C-3630-697B-CC8BDCE5A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1D9B-2DA1-C2C2-1288-4CD180129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Hierarchical </a:t>
            </a:r>
            <a:r>
              <a:rPr lang="en-US" sz="3600" dirty="0"/>
              <a:t>DRAM Modeling</a:t>
            </a:r>
          </a:p>
        </p:txBody>
      </p:sp>
      <p:sp>
        <p:nvSpPr>
          <p:cNvPr id="4" name="Content Placeholder 57">
            <a:extLst>
              <a:ext uri="{FF2B5EF4-FFF2-40B4-BE49-F238E27FC236}">
                <a16:creationId xmlns:a16="http://schemas.microsoft.com/office/drawing/2014/main" id="{7DE7D63B-76E7-3291-71B0-18C8662F6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87087"/>
            <a:ext cx="9143999" cy="5189876"/>
          </a:xfrm>
        </p:spPr>
        <p:txBody>
          <a:bodyPr/>
          <a:lstStyle/>
          <a:p>
            <a:r>
              <a:rPr lang="en-US" dirty="0"/>
              <a:t>DRAM device interface supports implementations of </a:t>
            </a:r>
            <a:br>
              <a:rPr lang="en-US" dirty="0"/>
            </a:br>
            <a:r>
              <a:rPr lang="en-US" dirty="0"/>
              <a:t>many memory standards:</a:t>
            </a:r>
          </a:p>
          <a:p>
            <a:pPr lvl="1"/>
            <a:r>
              <a:rPr lang="en-US" dirty="0"/>
              <a:t>DDR3/4/5, LDDR5, HBM1/2/3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7ED977-D1AE-DA98-09B2-F1438180056C}"/>
              </a:ext>
            </a:extLst>
          </p:cNvPr>
          <p:cNvSpPr txBox="1">
            <a:spLocks/>
          </p:cNvSpPr>
          <p:nvPr/>
        </p:nvSpPr>
        <p:spPr>
          <a:xfrm>
            <a:off x="75991" y="813916"/>
            <a:ext cx="8987622" cy="55868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400"/>
              </a:spcAft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62408-FE56-8809-79DE-AD58D38D4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5966"/>
            <a:ext cx="9144000" cy="2785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064855-B795-3692-7ECF-A409C5E9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20</a:t>
            </a:fld>
            <a:endParaRPr lang="tr-T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A7F90-0A12-B60C-10A0-B5F693F0217D}"/>
              </a:ext>
            </a:extLst>
          </p:cNvPr>
          <p:cNvSpPr/>
          <p:nvPr/>
        </p:nvSpPr>
        <p:spPr>
          <a:xfrm>
            <a:off x="1143000" y="3141399"/>
            <a:ext cx="3724275" cy="208383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0EF1DE-3C90-883E-D933-35885F7C26A8}"/>
              </a:ext>
            </a:extLst>
          </p:cNvPr>
          <p:cNvSpPr/>
          <p:nvPr/>
        </p:nvSpPr>
        <p:spPr>
          <a:xfrm>
            <a:off x="1142998" y="2630739"/>
            <a:ext cx="3228978" cy="510660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5898E9-5F27-1F95-8154-1644EFC6D97F}"/>
              </a:ext>
            </a:extLst>
          </p:cNvPr>
          <p:cNvCxnSpPr/>
          <p:nvPr/>
        </p:nvCxnSpPr>
        <p:spPr>
          <a:xfrm flipH="1">
            <a:off x="7329714" y="2150611"/>
            <a:ext cx="261257" cy="730709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77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Hierarchical DRAM Modeling (II)</a:t>
            </a:r>
            <a:endParaRPr lang="en-US" sz="3600" dirty="0"/>
          </a:p>
        </p:txBody>
      </p:sp>
      <p:sp>
        <p:nvSpPr>
          <p:cNvPr id="4" name="Content Placeholder 57">
            <a:extLst>
              <a:ext uri="{FF2B5EF4-FFF2-40B4-BE49-F238E27FC236}">
                <a16:creationId xmlns:a16="http://schemas.microsoft.com/office/drawing/2014/main" id="{E7DAB0F8-2128-6A21-40EE-F4A2A45B5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02659"/>
            <a:ext cx="9143999" cy="5074304"/>
          </a:xfrm>
        </p:spPr>
        <p:txBody>
          <a:bodyPr/>
          <a:lstStyle/>
          <a:p>
            <a:r>
              <a:rPr lang="en-US" sz="2800" b="1" dirty="0"/>
              <a:t>Hierarchical state-machine </a:t>
            </a:r>
            <a:r>
              <a:rPr lang="en-US" sz="2800" dirty="0"/>
              <a:t>based modeling of DRAM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45E099-5068-F448-A0AC-2CF624D53B84}"/>
              </a:ext>
            </a:extLst>
          </p:cNvPr>
          <p:cNvSpPr txBox="1">
            <a:spLocks/>
          </p:cNvSpPr>
          <p:nvPr/>
        </p:nvSpPr>
        <p:spPr>
          <a:xfrm>
            <a:off x="75991" y="813916"/>
            <a:ext cx="8987622" cy="55868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400"/>
              </a:spcAft>
            </a:pPr>
            <a:endParaRPr lang="en-US" sz="2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F097BE-3556-4A1E-85E5-4C3E8CCF9A8C}"/>
              </a:ext>
            </a:extLst>
          </p:cNvPr>
          <p:cNvGrpSpPr/>
          <p:nvPr/>
        </p:nvGrpSpPr>
        <p:grpSpPr>
          <a:xfrm>
            <a:off x="391157" y="1982395"/>
            <a:ext cx="5304793" cy="3772946"/>
            <a:chOff x="391157" y="1982395"/>
            <a:chExt cx="5304793" cy="377294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DE74A39-438E-1990-9AE0-4447F312A244}"/>
                </a:ext>
              </a:extLst>
            </p:cNvPr>
            <p:cNvGrpSpPr/>
            <p:nvPr/>
          </p:nvGrpSpPr>
          <p:grpSpPr>
            <a:xfrm>
              <a:off x="742240" y="1982395"/>
              <a:ext cx="1996440" cy="864764"/>
              <a:chOff x="1501140" y="2766060"/>
              <a:chExt cx="2461260" cy="96958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863086-F4B0-8423-8A7E-4A5A4C638F70}"/>
                  </a:ext>
                </a:extLst>
              </p:cNvPr>
              <p:cNvSpPr/>
              <p:nvPr/>
            </p:nvSpPr>
            <p:spPr>
              <a:xfrm>
                <a:off x="1501140" y="2766060"/>
                <a:ext cx="2461260" cy="9695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6828E2-61B6-54EE-FB59-4E506AA64BC1}"/>
                  </a:ext>
                </a:extLst>
              </p:cNvPr>
              <p:cNvSpPr txBox="1"/>
              <p:nvPr/>
            </p:nvSpPr>
            <p:spPr>
              <a:xfrm>
                <a:off x="1577340" y="2853689"/>
                <a:ext cx="2324100" cy="828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Level: “Channel”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Id: 0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State: …</a:t>
                </a:r>
                <a:endParaRPr lang="LID4096" sz="1400" dirty="0">
                  <a:latin typeface="Roboto Mono" panose="00000009000000000000" pitchFamily="49" charset="0"/>
                  <a:ea typeface="Roboto Mono" panose="00000009000000000000" pitchFamily="49" charset="0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FBD4C80-4962-81CF-F70D-674425DD7A59}"/>
                </a:ext>
              </a:extLst>
            </p:cNvPr>
            <p:cNvGrpSpPr/>
            <p:nvPr/>
          </p:nvGrpSpPr>
          <p:grpSpPr>
            <a:xfrm>
              <a:off x="3458205" y="3410135"/>
              <a:ext cx="1835784" cy="864764"/>
              <a:chOff x="1501140" y="2766060"/>
              <a:chExt cx="1835784" cy="96958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52F0E21-A1F3-1411-C6D4-E76EF382223E}"/>
                  </a:ext>
                </a:extLst>
              </p:cNvPr>
              <p:cNvSpPr/>
              <p:nvPr/>
            </p:nvSpPr>
            <p:spPr>
              <a:xfrm>
                <a:off x="1501140" y="2766060"/>
                <a:ext cx="1623060" cy="9695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DA34FD-C501-DD9B-C697-D16B147DAF49}"/>
                  </a:ext>
                </a:extLst>
              </p:cNvPr>
              <p:cNvSpPr txBox="1"/>
              <p:nvPr/>
            </p:nvSpPr>
            <p:spPr>
              <a:xfrm>
                <a:off x="1515744" y="2834795"/>
                <a:ext cx="1821180" cy="828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Level: “Rank”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Id: 1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State: …</a:t>
                </a:r>
                <a:endParaRPr lang="LID4096" sz="1400" dirty="0">
                  <a:latin typeface="Roboto Mono" panose="00000009000000000000" pitchFamily="49" charset="0"/>
                  <a:ea typeface="Roboto Mono" panose="00000009000000000000" pitchFamily="49" charset="0"/>
                </a:endParaRPr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9ED361D-334A-C83F-F8FB-40DC6EC8D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9720" y="2865569"/>
              <a:ext cx="3810" cy="55689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93ECA7C-22BC-19C8-79C8-D3F38EF48A21}"/>
                </a:ext>
              </a:extLst>
            </p:cNvPr>
            <p:cNvSpPr txBox="1"/>
            <p:nvPr/>
          </p:nvSpPr>
          <p:spPr>
            <a:xfrm>
              <a:off x="1649730" y="2928592"/>
              <a:ext cx="14630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Parent</a:t>
              </a:r>
              <a:endParaRPr lang="LID4096" sz="2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ED03A57-470B-5682-B2B6-8E57D38CF262}"/>
                </a:ext>
              </a:extLst>
            </p:cNvPr>
            <p:cNvGrpSpPr/>
            <p:nvPr/>
          </p:nvGrpSpPr>
          <p:grpSpPr>
            <a:xfrm>
              <a:off x="762000" y="3410135"/>
              <a:ext cx="1864014" cy="864764"/>
              <a:chOff x="1501140" y="2766060"/>
              <a:chExt cx="2384461" cy="969584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CD9DA8E-F2CC-9F8B-5C84-1A6FB43A773C}"/>
                  </a:ext>
                </a:extLst>
              </p:cNvPr>
              <p:cNvSpPr/>
              <p:nvPr/>
            </p:nvSpPr>
            <p:spPr>
              <a:xfrm>
                <a:off x="1501140" y="2766060"/>
                <a:ext cx="2076231" cy="9695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0419DEE-C585-A00E-11CB-126D4ED818F6}"/>
                  </a:ext>
                </a:extLst>
              </p:cNvPr>
              <p:cNvSpPr txBox="1"/>
              <p:nvPr/>
            </p:nvSpPr>
            <p:spPr>
              <a:xfrm>
                <a:off x="1561502" y="2828352"/>
                <a:ext cx="2324099" cy="828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Level: “Rank”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Id: 0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State: …</a:t>
                </a:r>
                <a:endParaRPr lang="LID4096" sz="1400" dirty="0">
                  <a:latin typeface="Roboto Mono" panose="00000009000000000000" pitchFamily="49" charset="0"/>
                  <a:ea typeface="Roboto Mono" panose="00000009000000000000" pitchFamily="49" charset="0"/>
                </a:endParaRPr>
              </a:p>
            </p:txBody>
          </p: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07D09CF-C6E3-0145-CC67-E730D2527790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>
              <a:off x="2385060" y="3842517"/>
              <a:ext cx="106612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965D77-424A-B162-B306-522FB01F5058}"/>
                </a:ext>
              </a:extLst>
            </p:cNvPr>
            <p:cNvSpPr txBox="1"/>
            <p:nvPr/>
          </p:nvSpPr>
          <p:spPr>
            <a:xfrm>
              <a:off x="2383644" y="3402451"/>
              <a:ext cx="11293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Sibling</a:t>
              </a:r>
              <a:endParaRPr lang="LID4096" sz="2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DE1D43C-CE78-0CE3-5C8A-3301AD5848AF}"/>
                </a:ext>
              </a:extLst>
            </p:cNvPr>
            <p:cNvGrpSpPr/>
            <p:nvPr/>
          </p:nvGrpSpPr>
          <p:grpSpPr>
            <a:xfrm>
              <a:off x="761365" y="4890577"/>
              <a:ext cx="2316480" cy="864764"/>
              <a:chOff x="1501141" y="2766060"/>
              <a:chExt cx="2040359" cy="969584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61654D6-6189-E667-B3CD-68FF2055A95F}"/>
                  </a:ext>
                </a:extLst>
              </p:cNvPr>
              <p:cNvSpPr/>
              <p:nvPr/>
            </p:nvSpPr>
            <p:spPr>
              <a:xfrm>
                <a:off x="1501141" y="2766060"/>
                <a:ext cx="1926259" cy="9695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80A280-5FA4-70C3-2F62-2CA85C96DB0F}"/>
                  </a:ext>
                </a:extLst>
              </p:cNvPr>
              <p:cNvSpPr txBox="1"/>
              <p:nvPr/>
            </p:nvSpPr>
            <p:spPr>
              <a:xfrm>
                <a:off x="1564309" y="2826240"/>
                <a:ext cx="1977191" cy="828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Level: “</a:t>
                </a:r>
                <a:r>
                  <a:rPr lang="en-US" sz="1400" dirty="0" err="1">
                    <a:latin typeface="Roboto Mono" panose="00000009000000000000" pitchFamily="49" charset="0"/>
                    <a:ea typeface="Roboto Mono" panose="00000009000000000000" pitchFamily="49" charset="0"/>
                  </a:rPr>
                  <a:t>BankGroup</a:t>
                </a:r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”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Id: 0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State: …</a:t>
                </a:r>
                <a:endParaRPr lang="LID4096" sz="1400" dirty="0">
                  <a:latin typeface="Roboto Mono" panose="00000009000000000000" pitchFamily="49" charset="0"/>
                  <a:ea typeface="Roboto Mono" panose="00000009000000000000" pitchFamily="49" charset="0"/>
                </a:endParaRPr>
              </a:p>
            </p:txBody>
          </p: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0DA8633-5969-37B4-D3E9-FCE8B2AACF0C}"/>
                </a:ext>
              </a:extLst>
            </p:cNvPr>
            <p:cNvCxnSpPr>
              <a:cxnSpLocks/>
            </p:cNvCxnSpPr>
            <p:nvPr/>
          </p:nvCxnSpPr>
          <p:spPr>
            <a:xfrm>
              <a:off x="1577340" y="4270841"/>
              <a:ext cx="0" cy="60370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4243BA9-C66A-4E7A-9777-1F3D793AACDA}"/>
                </a:ext>
              </a:extLst>
            </p:cNvPr>
            <p:cNvSpPr txBox="1"/>
            <p:nvPr/>
          </p:nvSpPr>
          <p:spPr>
            <a:xfrm>
              <a:off x="391157" y="4363587"/>
              <a:ext cx="14630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Children</a:t>
              </a:r>
              <a:endParaRPr lang="LID4096" sz="2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9E127FC-8BC1-A266-BB9A-97BEFEF6E3C3}"/>
                </a:ext>
              </a:extLst>
            </p:cNvPr>
            <p:cNvCxnSpPr>
              <a:cxnSpLocks/>
              <a:stCxn id="31" idx="2"/>
            </p:cNvCxnSpPr>
            <p:nvPr/>
          </p:nvCxnSpPr>
          <p:spPr>
            <a:xfrm>
              <a:off x="1573530" y="4274899"/>
              <a:ext cx="1805940" cy="58140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7FCCBB4-4753-AAE8-81D0-4DA060AE18D1}"/>
                </a:ext>
              </a:extLst>
            </p:cNvPr>
            <p:cNvGrpSpPr/>
            <p:nvPr/>
          </p:nvGrpSpPr>
          <p:grpSpPr>
            <a:xfrm>
              <a:off x="3379470" y="4890577"/>
              <a:ext cx="2316480" cy="864764"/>
              <a:chOff x="1501141" y="2766060"/>
              <a:chExt cx="2040359" cy="969584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C71DDC7-F5CA-1F02-FACF-9D833319E55D}"/>
                  </a:ext>
                </a:extLst>
              </p:cNvPr>
              <p:cNvSpPr/>
              <p:nvPr/>
            </p:nvSpPr>
            <p:spPr>
              <a:xfrm>
                <a:off x="1501141" y="2766060"/>
                <a:ext cx="1926259" cy="96958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D227C98-7894-5AA6-4343-E2B4E79327D7}"/>
                  </a:ext>
                </a:extLst>
              </p:cNvPr>
              <p:cNvSpPr txBox="1"/>
              <p:nvPr/>
            </p:nvSpPr>
            <p:spPr>
              <a:xfrm>
                <a:off x="1564309" y="2826240"/>
                <a:ext cx="1977191" cy="828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Level: “</a:t>
                </a:r>
                <a:r>
                  <a:rPr lang="en-US" sz="1400" dirty="0" err="1">
                    <a:latin typeface="Roboto Mono" panose="00000009000000000000" pitchFamily="49" charset="0"/>
                    <a:ea typeface="Roboto Mono" panose="00000009000000000000" pitchFamily="49" charset="0"/>
                  </a:rPr>
                  <a:t>BankGroup</a:t>
                </a:r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”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Id: 1</a:t>
                </a:r>
              </a:p>
              <a:p>
                <a:pPr algn="l"/>
                <a:r>
                  <a:rPr lang="en-US" sz="1400" dirty="0">
                    <a:latin typeface="Roboto Mono" panose="00000009000000000000" pitchFamily="49" charset="0"/>
                    <a:ea typeface="Roboto Mono" panose="00000009000000000000" pitchFamily="49" charset="0"/>
                  </a:rPr>
                  <a:t>State: …</a:t>
                </a:r>
                <a:endParaRPr lang="LID4096" sz="1400" dirty="0">
                  <a:latin typeface="Roboto Mono" panose="00000009000000000000" pitchFamily="49" charset="0"/>
                  <a:ea typeface="Roboto Mono" panose="00000009000000000000" pitchFamily="49" charset="0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1459B0-0083-0A8B-FF8A-486CB180BEA2}"/>
              </a:ext>
            </a:extLst>
          </p:cNvPr>
          <p:cNvGrpSpPr/>
          <p:nvPr/>
        </p:nvGrpSpPr>
        <p:grpSpPr>
          <a:xfrm>
            <a:off x="3499966" y="2575038"/>
            <a:ext cx="2066443" cy="1651328"/>
            <a:chOff x="3499966" y="2575038"/>
            <a:chExt cx="2066443" cy="165132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76F1BC1-4CDA-1D3B-F039-4EF8AA8EFA7A}"/>
                </a:ext>
              </a:extLst>
            </p:cNvPr>
            <p:cNvSpPr/>
            <p:nvPr/>
          </p:nvSpPr>
          <p:spPr>
            <a:xfrm>
              <a:off x="3499966" y="3909629"/>
              <a:ext cx="1239554" cy="31673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15549F5-18CD-55EA-3F85-1041425D32F3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 flipV="1">
              <a:off x="4739520" y="2575038"/>
              <a:ext cx="826889" cy="149296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52DAF28-9F24-79DA-7AB6-2D58BDBA50DC}"/>
              </a:ext>
            </a:extLst>
          </p:cNvPr>
          <p:cNvSpPr txBox="1"/>
          <p:nvPr/>
        </p:nvSpPr>
        <p:spPr>
          <a:xfrm>
            <a:off x="5594162" y="1878957"/>
            <a:ext cx="350422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latin typeface="+mj-lt"/>
                <a:ea typeface="Cambria" panose="02040503050406030204" pitchFamily="18" charset="0"/>
              </a:rPr>
              <a:t>State</a:t>
            </a:r>
            <a:r>
              <a:rPr lang="en-US" sz="2400" dirty="0">
                <a:latin typeface="+mj-lt"/>
                <a:ea typeface="Cambria" panose="02040503050406030204" pitchFamily="18" charset="0"/>
              </a:rPr>
              <a:t> of a DRAM node: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  <a:ea typeface="Cambria" panose="02040503050406030204" pitchFamily="18" charset="0"/>
              </a:rPr>
              <a:t>Current state: </a:t>
            </a:r>
            <a:r>
              <a:rPr lang="en-US" dirty="0">
                <a:latin typeface="+mj-lt"/>
                <a:ea typeface="Cambria" panose="02040503050406030204" pitchFamily="18" charset="0"/>
              </a:rPr>
              <a:t>open, close, activating, etc.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5F25"/>
                </a:solidFill>
                <a:latin typeface="+mj-lt"/>
                <a:ea typeface="Cambria" panose="02040503050406030204" pitchFamily="18" charset="0"/>
              </a:rPr>
              <a:t>Timing constraints:</a:t>
            </a:r>
            <a:r>
              <a:rPr lang="en-US" dirty="0">
                <a:solidFill>
                  <a:srgbClr val="FF5F25"/>
                </a:solidFill>
                <a:latin typeface="+mj-lt"/>
                <a:ea typeface="Cambria" panose="02040503050406030204" pitchFamily="18" charset="0"/>
              </a:rPr>
              <a:t> </a:t>
            </a:r>
            <a:r>
              <a:rPr lang="en-US" dirty="0">
                <a:latin typeface="+mj-lt"/>
                <a:ea typeface="Cambria" panose="02040503050406030204" pitchFamily="18" charset="0"/>
              </a:rPr>
              <a:t>Earliest time in the future that each DRAM command is allowed to be issued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6D40DC"/>
                </a:solidFill>
                <a:latin typeface="+mj-lt"/>
                <a:ea typeface="Cambria" panose="02040503050406030204" pitchFamily="18" charset="0"/>
              </a:rPr>
              <a:t>Energy &amp; power:</a:t>
            </a:r>
            <a:r>
              <a:rPr lang="en-US" dirty="0">
                <a:solidFill>
                  <a:srgbClr val="6D40DC"/>
                </a:solidFill>
                <a:latin typeface="+mj-lt"/>
                <a:ea typeface="Cambria" panose="02040503050406030204" pitchFamily="18" charset="0"/>
              </a:rPr>
              <a:t> </a:t>
            </a:r>
            <a:r>
              <a:rPr lang="en-US" dirty="0">
                <a:latin typeface="+mj-lt"/>
                <a:ea typeface="Cambria" panose="02040503050406030204" pitchFamily="18" charset="0"/>
              </a:rPr>
              <a:t>Time spent in each state and the number of DRAM commands served (</a:t>
            </a:r>
            <a:r>
              <a:rPr lang="en-US" dirty="0" err="1">
                <a:latin typeface="+mj-lt"/>
                <a:ea typeface="Cambria" panose="02040503050406030204" pitchFamily="18" charset="0"/>
              </a:rPr>
              <a:t>DRAMPower</a:t>
            </a:r>
            <a:r>
              <a:rPr lang="en-US" dirty="0">
                <a:latin typeface="+mj-lt"/>
                <a:ea typeface="Cambria" panose="02040503050406030204" pitchFamily="18" charset="0"/>
              </a:rPr>
              <a:t> model)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  <a:ea typeface="Cambria" panose="02040503050406030204" pitchFamily="18" charset="0"/>
              </a:rPr>
              <a:t>Can be extended to include more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61C45F-58EE-651D-68FA-66F12802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121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Hierarchical DRAM Modeling (III)</a:t>
            </a:r>
            <a:endParaRPr lang="en-US" sz="3600" dirty="0"/>
          </a:p>
        </p:txBody>
      </p:sp>
      <p:sp>
        <p:nvSpPr>
          <p:cNvPr id="4" name="Content Placeholder 57">
            <a:extLst>
              <a:ext uri="{FF2B5EF4-FFF2-40B4-BE49-F238E27FC236}">
                <a16:creationId xmlns:a16="http://schemas.microsoft.com/office/drawing/2014/main" id="{E7DAB0F8-2128-6A21-40EE-F4A2A45B5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DRAM commands implemented as lambda functions that </a:t>
            </a:r>
            <a:r>
              <a:rPr lang="en-US" sz="2400" b="1" dirty="0">
                <a:solidFill>
                  <a:srgbClr val="6D40DC"/>
                </a:solidFill>
              </a:rPr>
              <a:t>hierarchically traverses and updates the states</a:t>
            </a:r>
            <a:r>
              <a:rPr lang="en-US" sz="2400" dirty="0"/>
              <a:t> of the nodes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Checks the current states of the nodes to </a:t>
            </a:r>
            <a:br>
              <a:rPr lang="en-US" sz="2000" dirty="0"/>
            </a:br>
            <a:r>
              <a:rPr lang="en-US" sz="2000" dirty="0">
                <a:solidFill>
                  <a:srgbClr val="6D40DC"/>
                </a:solidFill>
              </a:rPr>
              <a:t>decode  which DRAM command to issue</a:t>
            </a:r>
          </a:p>
          <a:p>
            <a:pPr marL="914400" lvl="1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6D40DC"/>
                </a:solidFill>
              </a:rPr>
              <a:t>Programmatically</a:t>
            </a:r>
            <a:r>
              <a:rPr lang="en-US" sz="2000" dirty="0"/>
              <a:t> apply state changes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Updates the </a:t>
            </a:r>
            <a:r>
              <a:rPr lang="en-US" sz="2000" dirty="0">
                <a:solidFill>
                  <a:srgbClr val="6D40DC"/>
                </a:solidFill>
              </a:rPr>
              <a:t>timing constraints, power metrics</a:t>
            </a:r>
            <a:r>
              <a:rPr lang="en-US" sz="2000" dirty="0"/>
              <a:t>, etc.</a:t>
            </a:r>
          </a:p>
          <a:p>
            <a:pPr>
              <a:spcBef>
                <a:spcPts val="1200"/>
              </a:spcBef>
              <a:buClr>
                <a:schemeClr val="tx1"/>
              </a:buClr>
            </a:pPr>
            <a:r>
              <a:rPr lang="en-US" sz="2400" b="1" dirty="0">
                <a:solidFill>
                  <a:srgbClr val="316CE3"/>
                </a:solidFill>
              </a:rPr>
              <a:t>Templated</a:t>
            </a:r>
            <a:r>
              <a:rPr lang="en-US" sz="2400" dirty="0"/>
              <a:t> library of generalized DRAM command lambda functions allow </a:t>
            </a:r>
            <a:r>
              <a:rPr lang="en-US" sz="2400" b="1" dirty="0">
                <a:solidFill>
                  <a:srgbClr val="316CE3"/>
                </a:solidFill>
              </a:rPr>
              <a:t>reuse of command implementations</a:t>
            </a:r>
            <a:r>
              <a:rPr lang="en-US" sz="2400" dirty="0">
                <a:solidFill>
                  <a:srgbClr val="316CE3"/>
                </a:solidFill>
              </a:rPr>
              <a:t> </a:t>
            </a:r>
            <a:r>
              <a:rPr lang="en-US" sz="2400" dirty="0"/>
              <a:t>across different DRAM standards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45E099-5068-F448-A0AC-2CF624D53B84}"/>
              </a:ext>
            </a:extLst>
          </p:cNvPr>
          <p:cNvSpPr txBox="1">
            <a:spLocks/>
          </p:cNvSpPr>
          <p:nvPr/>
        </p:nvSpPr>
        <p:spPr>
          <a:xfrm>
            <a:off x="75991" y="813916"/>
            <a:ext cx="8987622" cy="55868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400"/>
              </a:spcAft>
            </a:pPr>
            <a:endParaRPr lang="en-US" sz="2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B34373-FA91-96DE-E35A-115AAE085BF3}"/>
              </a:ext>
            </a:extLst>
          </p:cNvPr>
          <p:cNvGrpSpPr/>
          <p:nvPr/>
        </p:nvGrpSpPr>
        <p:grpSpPr>
          <a:xfrm>
            <a:off x="-400051" y="4067398"/>
            <a:ext cx="10600761" cy="2333402"/>
            <a:chOff x="-400050" y="4318633"/>
            <a:chExt cx="10600761" cy="23334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D428257-3D2C-3B52-F2E1-CF3A9BF1AAE0}"/>
                </a:ext>
              </a:extLst>
            </p:cNvPr>
            <p:cNvGrpSpPr/>
            <p:nvPr/>
          </p:nvGrpSpPr>
          <p:grpSpPr>
            <a:xfrm>
              <a:off x="-400050" y="4318633"/>
              <a:ext cx="7595779" cy="2333402"/>
              <a:chOff x="-400050" y="4318633"/>
              <a:chExt cx="7595779" cy="2333402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0662ECB-BAB0-82E6-346A-C546F2481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3549" y="4318633"/>
                <a:ext cx="5478983" cy="2082165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8D882C-F04E-F82F-2D6C-03DF8488AE02}"/>
                  </a:ext>
                </a:extLst>
              </p:cNvPr>
              <p:cNvSpPr txBox="1"/>
              <p:nvPr/>
            </p:nvSpPr>
            <p:spPr>
              <a:xfrm>
                <a:off x="-400050" y="6282703"/>
                <a:ext cx="75957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+mj-lt"/>
                    <a:ea typeface="Cambria" panose="02040503050406030204" pitchFamily="18" charset="0"/>
                  </a:rPr>
                  <a:t>Example Function</a:t>
                </a:r>
                <a:endParaRPr lang="LID4096" b="1" dirty="0">
                  <a:latin typeface="+mj-lt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2D5160-DA38-FCFD-62A6-E8159A260A78}"/>
                </a:ext>
              </a:extLst>
            </p:cNvPr>
            <p:cNvSpPr txBox="1"/>
            <p:nvPr/>
          </p:nvSpPr>
          <p:spPr>
            <a:xfrm>
              <a:off x="6798380" y="4731282"/>
              <a:ext cx="3402331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b="1" dirty="0">
                  <a:latin typeface="+mj-lt"/>
                  <a:ea typeface="Cambria" panose="02040503050406030204" pitchFamily="18" charset="0"/>
                </a:rPr>
                <a:t>Applicable to:</a:t>
              </a:r>
            </a:p>
            <a:p>
              <a:pPr algn="l"/>
              <a:r>
                <a:rPr lang="en-US" sz="1600" dirty="0">
                  <a:latin typeface="+mj-lt"/>
                  <a:ea typeface="Cambria" panose="02040503050406030204" pitchFamily="18" charset="0"/>
                </a:rPr>
                <a:t>DDR3, DDR4, DDR5</a:t>
              </a:r>
            </a:p>
            <a:p>
              <a:pPr algn="l"/>
              <a:r>
                <a:rPr lang="en-US" sz="1600" dirty="0">
                  <a:latin typeface="+mj-lt"/>
                  <a:ea typeface="Cambria" panose="02040503050406030204" pitchFamily="18" charset="0"/>
                </a:rPr>
                <a:t>LPDDR4, LPDDR5</a:t>
              </a:r>
            </a:p>
            <a:p>
              <a:pPr algn="l"/>
              <a:r>
                <a:rPr lang="en-US" sz="1600" dirty="0">
                  <a:latin typeface="+mj-lt"/>
                  <a:ea typeface="Cambria" panose="02040503050406030204" pitchFamily="18" charset="0"/>
                </a:rPr>
                <a:t>HBM (1/2/3), GDDR6</a:t>
              </a:r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66FD8-4164-870B-958D-3BDB7562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3255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More in the Paper</a:t>
            </a:r>
          </a:p>
        </p:txBody>
      </p:sp>
      <p:sp>
        <p:nvSpPr>
          <p:cNvPr id="4" name="Content Placeholder 57">
            <a:extLst>
              <a:ext uri="{FF2B5EF4-FFF2-40B4-BE49-F238E27FC236}">
                <a16:creationId xmlns:a16="http://schemas.microsoft.com/office/drawing/2014/main" id="{E7DAB0F8-2128-6A21-40EE-F4A2A45B5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More in the paper</a:t>
            </a:r>
          </a:p>
          <a:p>
            <a:pPr lvl="1"/>
            <a:r>
              <a:rPr lang="en-US" sz="2400" dirty="0"/>
              <a:t>More detailed explanation of modeling methodology</a:t>
            </a:r>
          </a:p>
          <a:p>
            <a:pPr lvl="1"/>
            <a:r>
              <a:rPr lang="en-US" sz="2400" dirty="0"/>
              <a:t>Modeling new DRAM specifications (organization, timings, etc.)</a:t>
            </a:r>
          </a:p>
          <a:p>
            <a:pPr lvl="1"/>
            <a:r>
              <a:rPr lang="en-US" sz="2400" dirty="0"/>
              <a:t>Adding </a:t>
            </a:r>
            <a:r>
              <a:rPr lang="en-US" dirty="0"/>
              <a:t>m</a:t>
            </a:r>
            <a:r>
              <a:rPr lang="en-US" sz="2400" dirty="0"/>
              <a:t>emory controller plugins &amp; </a:t>
            </a:r>
            <a:r>
              <a:rPr lang="en-US" sz="2400" dirty="0" err="1"/>
              <a:t>RowHammer</a:t>
            </a:r>
            <a:r>
              <a:rPr lang="en-US" sz="2400" dirty="0"/>
              <a:t> mitigations</a:t>
            </a:r>
          </a:p>
          <a:p>
            <a:pPr lvl="1"/>
            <a:r>
              <a:rPr lang="en-US" sz="2400" dirty="0"/>
              <a:t>Performance comparison with other DRAM simulators</a:t>
            </a:r>
          </a:p>
          <a:p>
            <a:pPr marL="457200" indent="-457200">
              <a:buFont typeface="+mj-lt"/>
              <a:buAutoNum type="arabicPeriod"/>
            </a:pPr>
            <a:endParaRPr lang="en-US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45E099-5068-F448-A0AC-2CF624D53B84}"/>
              </a:ext>
            </a:extLst>
          </p:cNvPr>
          <p:cNvSpPr txBox="1">
            <a:spLocks/>
          </p:cNvSpPr>
          <p:nvPr/>
        </p:nvSpPr>
        <p:spPr>
          <a:xfrm>
            <a:off x="75991" y="813916"/>
            <a:ext cx="8987622" cy="55868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400"/>
              </a:spcAft>
            </a:pP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BF7B8F-66AD-35AF-6AD1-E8C36FD0E9EF}"/>
              </a:ext>
            </a:extLst>
          </p:cNvPr>
          <p:cNvSpPr txBox="1"/>
          <p:nvPr/>
        </p:nvSpPr>
        <p:spPr>
          <a:xfrm>
            <a:off x="1432240" y="6098232"/>
            <a:ext cx="233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+mj-lt"/>
                <a:ea typeface="Cambria" panose="02040503050406030204" pitchFamily="18" charset="0"/>
              </a:rPr>
              <a:t>IEEE CAL Paper</a:t>
            </a:r>
            <a:endParaRPr lang="LID4096" b="1" dirty="0">
              <a:solidFill>
                <a:srgbClr val="C00000"/>
              </a:solidFill>
              <a:latin typeface="+mj-lt"/>
              <a:ea typeface="Cambria" panose="020405030504060302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8B9D0E-06F4-CB37-A317-DFF8BF34C9BE}"/>
              </a:ext>
            </a:extLst>
          </p:cNvPr>
          <p:cNvGrpSpPr/>
          <p:nvPr/>
        </p:nvGrpSpPr>
        <p:grpSpPr>
          <a:xfrm>
            <a:off x="557359" y="3166318"/>
            <a:ext cx="8175161" cy="3523225"/>
            <a:chOff x="557359" y="3166318"/>
            <a:chExt cx="8175161" cy="352322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249B22-0CD3-0FCA-AAF4-B33FDA9AE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7359" y="3166318"/>
              <a:ext cx="8029281" cy="143698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588D6A-EB53-CAA4-69DB-C8D12D628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92016" y="4842718"/>
              <a:ext cx="1200764" cy="1200764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C9FCB5-D305-0C91-C60E-7C878BF19EB0}"/>
                </a:ext>
              </a:extLst>
            </p:cNvPr>
            <p:cNvGrpSpPr/>
            <p:nvPr/>
          </p:nvGrpSpPr>
          <p:grpSpPr>
            <a:xfrm>
              <a:off x="4152900" y="4842718"/>
              <a:ext cx="4579620" cy="1846825"/>
              <a:chOff x="156173" y="4879698"/>
              <a:chExt cx="4579620" cy="1846825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DB149383-4F07-9737-FDC3-D1B14205A4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791820" y="4879698"/>
                <a:ext cx="1216959" cy="1216959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56885D-B8B9-9525-D05F-49A443FA05CB}"/>
                  </a:ext>
                </a:extLst>
              </p:cNvPr>
              <p:cNvSpPr txBox="1"/>
              <p:nvPr/>
            </p:nvSpPr>
            <p:spPr>
              <a:xfrm>
                <a:off x="156173" y="6080192"/>
                <a:ext cx="45796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  <a:latin typeface="+mj-lt"/>
                    <a:ea typeface="Cambria" panose="02040503050406030204" pitchFamily="18" charset="0"/>
                  </a:rPr>
                  <a:t>Open-source version </a:t>
                </a:r>
                <a:r>
                  <a:rPr lang="en-US" b="1" dirty="0" err="1">
                    <a:solidFill>
                      <a:srgbClr val="C00000"/>
                    </a:solidFill>
                    <a:latin typeface="+mj-lt"/>
                    <a:ea typeface="Cambria" panose="02040503050406030204" pitchFamily="18" charset="0"/>
                  </a:rPr>
                  <a:t>Github</a:t>
                </a:r>
                <a:r>
                  <a:rPr lang="en-US" b="1" dirty="0">
                    <a:solidFill>
                      <a:srgbClr val="C00000"/>
                    </a:solidFill>
                    <a:latin typeface="+mj-lt"/>
                    <a:ea typeface="Cambria" panose="02040503050406030204" pitchFamily="18" charset="0"/>
                  </a:rPr>
                  <a:t> repo: </a:t>
                </a:r>
                <a:br>
                  <a:rPr lang="en-US" b="1" dirty="0">
                    <a:latin typeface="+mj-lt"/>
                    <a:ea typeface="Cambria" panose="02040503050406030204" pitchFamily="18" charset="0"/>
                  </a:rPr>
                </a:br>
                <a:r>
                  <a:rPr lang="en-US" b="1" dirty="0">
                    <a:latin typeface="+mj-lt"/>
                    <a:ea typeface="Cambria" panose="02040503050406030204" pitchFamily="18" charset="0"/>
                  </a:rPr>
                  <a:t>CMU-SAFARI/ramulator2</a:t>
                </a:r>
                <a:endParaRPr lang="LID4096" b="1" dirty="0">
                  <a:latin typeface="+mj-lt"/>
                  <a:ea typeface="Cambria" panose="02040503050406030204" pitchFamily="18" charset="0"/>
                </a:endParaRPr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163FD-EB22-2B24-8942-5C314B63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363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B447-2D25-49B4-0479-85EFD1A8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Ramulator</a:t>
            </a:r>
            <a:r>
              <a:rPr lang="en-GB" dirty="0"/>
              <a:t> 2.0 is Open Sourced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1DB1D-17A1-CA11-7084-46C7462EB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83733"/>
            <a:ext cx="9143999" cy="5093230"/>
          </a:xfrm>
        </p:spPr>
        <p:txBody>
          <a:bodyPr/>
          <a:lstStyle/>
          <a:p>
            <a:r>
              <a:rPr lang="en-US" dirty="0"/>
              <a:t>More detailed user guide and documentation available: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1B767-98B5-6303-AFCD-774C2809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24</a:t>
            </a:fld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48D21-DEE5-9BC2-2806-34ADC049C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38" y="1810922"/>
            <a:ext cx="8395854" cy="30240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2AEAE8-8063-294C-903D-6A2705052DDD}"/>
              </a:ext>
            </a:extLst>
          </p:cNvPr>
          <p:cNvSpPr txBox="1"/>
          <p:nvPr/>
        </p:nvSpPr>
        <p:spPr>
          <a:xfrm>
            <a:off x="819951" y="5342200"/>
            <a:ext cx="8173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  <a:hlinkClick r:id="rId3"/>
              </a:rPr>
              <a:t>https://github.com/CMU-SAFARI/ramulator2</a:t>
            </a: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9415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EACB5-5F28-C6EB-3A20-30B5C26E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984FC8-50A1-3164-5CF2-36609CF59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07223"/>
            <a:ext cx="7772400" cy="23876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316CE3"/>
                </a:solidFill>
                <a:latin typeface="Aptos Display" panose="020B0004020202020204" pitchFamily="34" charset="0"/>
              </a:rPr>
              <a:t>Ramulator</a:t>
            </a:r>
            <a:r>
              <a:rPr lang="en-US" b="1" dirty="0">
                <a:solidFill>
                  <a:srgbClr val="316CE3"/>
                </a:solidFill>
                <a:latin typeface="Aptos Display" panose="020B0004020202020204" pitchFamily="34" charset="0"/>
              </a:rPr>
              <a:t> 2.0 </a:t>
            </a:r>
            <a:br>
              <a:rPr lang="en-US" b="1" dirty="0">
                <a:solidFill>
                  <a:srgbClr val="316CE3"/>
                </a:solidFill>
                <a:latin typeface="Aptos Display" panose="020B0004020202020204" pitchFamily="34" charset="0"/>
              </a:rPr>
            </a:br>
            <a:r>
              <a:rPr lang="en-US" b="1" dirty="0">
                <a:solidFill>
                  <a:srgbClr val="316CE3"/>
                </a:solidFill>
                <a:latin typeface="Aptos Display" panose="020B0004020202020204" pitchFamily="34" charset="0"/>
              </a:rPr>
              <a:t>Validation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0917D45-A8D8-97FA-BBDE-BB45BE174F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40F4A-2BC7-4CD1-14FB-90C68154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12619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1090-EBA4-DA51-EA00-F4DBDDA86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FA25-82D9-A8B7-BB8A-C2E3AE47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Validation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ED0E-E845-219C-CB12-74CC48EDB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 2.0's DRAM command traces are validated against Micron's DDR4 Verilog model [1]</a:t>
            </a:r>
          </a:p>
          <a:p>
            <a:endParaRPr lang="en-US" sz="1200" dirty="0"/>
          </a:p>
          <a:p>
            <a:pPr lvl="1"/>
            <a:r>
              <a:rPr lang="en-US" sz="2800" dirty="0"/>
              <a:t>Across streaming- and random-access patterns with varying memory intensities</a:t>
            </a:r>
          </a:p>
          <a:p>
            <a:pPr lvl="1"/>
            <a:endParaRPr lang="en-US" sz="2800" dirty="0"/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0A92A-59B7-C76A-DE83-CFBDD7236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26</a:t>
            </a:fld>
            <a:endParaRPr lang="tr-TR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108D4E-403F-6C9E-BACA-0CBBE837C77B}"/>
              </a:ext>
            </a:extLst>
          </p:cNvPr>
          <p:cNvSpPr txBox="1">
            <a:spLocks/>
          </p:cNvSpPr>
          <p:nvPr/>
        </p:nvSpPr>
        <p:spPr>
          <a:xfrm>
            <a:off x="0" y="4172719"/>
            <a:ext cx="9144000" cy="1449568"/>
          </a:xfrm>
          <a:prstGeom prst="rect">
            <a:avLst/>
          </a:prstGeom>
          <a:solidFill>
            <a:srgbClr val="FFEBCD"/>
          </a:solidFill>
          <a:ln w="28575">
            <a:solidFill>
              <a:schemeClr val="tx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b="1" dirty="0">
                <a:solidFill>
                  <a:srgbClr val="C00000"/>
                </a:solidFill>
                <a:latin typeface="+mj-lt"/>
              </a:rPr>
              <a:t>We find no timing or state transition violations</a:t>
            </a:r>
            <a:endParaRPr lang="en-US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B8687-F475-3C6E-1BA0-1DFFC1D57D73}"/>
              </a:ext>
            </a:extLst>
          </p:cNvPr>
          <p:cNvSpPr txBox="1"/>
          <p:nvPr/>
        </p:nvSpPr>
        <p:spPr>
          <a:xfrm>
            <a:off x="2764219" y="6450050"/>
            <a:ext cx="5244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[1] Micron Technology, “Micron DDR4 Verilog Model,” 2018.</a:t>
            </a:r>
          </a:p>
        </p:txBody>
      </p:sp>
    </p:spTree>
    <p:extLst>
      <p:ext uri="{BB962C8B-B14F-4D97-AF65-F5344CB8AC3E}">
        <p14:creationId xmlns:p14="http://schemas.microsoft.com/office/powerpoint/2010/main" val="37252803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9E9DC-7523-C579-F353-87650ADC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56062"/>
            <a:ext cx="9143999" cy="931025"/>
          </a:xfrm>
        </p:spPr>
        <p:txBody>
          <a:bodyPr/>
          <a:lstStyle/>
          <a:p>
            <a:r>
              <a:rPr lang="en-US" dirty="0"/>
              <a:t>Further Evaluation of Latency and Throughput</a:t>
            </a:r>
            <a:endParaRPr lang="en-US" spc="-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A6FCB-25AF-665A-B248-286EEB88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27</a:t>
            </a:fld>
            <a:endParaRPr lang="tr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FD5012-ED67-F260-733E-607D66E410C7}"/>
              </a:ext>
            </a:extLst>
          </p:cNvPr>
          <p:cNvSpPr/>
          <p:nvPr/>
        </p:nvSpPr>
        <p:spPr>
          <a:xfrm>
            <a:off x="5763250" y="2337321"/>
            <a:ext cx="399394" cy="247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6916390-1A53-71A5-8F9D-62487E91B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87087"/>
            <a:ext cx="9143999" cy="5258070"/>
          </a:xfrm>
        </p:spPr>
        <p:txBody>
          <a:bodyPr>
            <a:normAutofit/>
          </a:bodyPr>
          <a:lstStyle/>
          <a:p>
            <a:r>
              <a:rPr lang="en-GB" sz="2400" b="1" i="1"/>
              <a:t>"A Mess of Memory System Benchmarking, Simulation</a:t>
            </a:r>
            <a:br>
              <a:rPr lang="en-GB" sz="2400" b="1" i="1"/>
            </a:br>
            <a:r>
              <a:rPr lang="en-GB" sz="2400" b="1" i="1"/>
              <a:t>and Application Profiling", </a:t>
            </a:r>
            <a:r>
              <a:rPr lang="en-GB" sz="2400"/>
              <a:t>MICRO'24</a:t>
            </a:r>
          </a:p>
          <a:p>
            <a:pPr lvl="1">
              <a:buClr>
                <a:schemeClr val="tx1"/>
              </a:buClr>
            </a:pPr>
            <a:r>
              <a:rPr lang="en-GB" b="1">
                <a:solidFill>
                  <a:srgbClr val="FF5F25"/>
                </a:solidFill>
              </a:rPr>
              <a:t>A best paper runner-up </a:t>
            </a:r>
            <a:r>
              <a:rPr lang="en-GB"/>
              <a:t>with </a:t>
            </a:r>
            <a:r>
              <a:rPr lang="en-GB" b="1">
                <a:solidFill>
                  <a:srgbClr val="FF5F25"/>
                </a:solidFill>
              </a:rPr>
              <a:t>all 3 artifact badges</a:t>
            </a:r>
            <a:r>
              <a:rPr lang="en-GB" b="1" i="1">
                <a:solidFill>
                  <a:srgbClr val="FF5F25"/>
                </a:solidFill>
              </a:rPr>
              <a:t> </a:t>
            </a:r>
            <a:br>
              <a:rPr lang="en-GB" b="1" i="1">
                <a:solidFill>
                  <a:srgbClr val="FF5F25"/>
                </a:solidFill>
              </a:rPr>
            </a:br>
            <a:r>
              <a:rPr lang="en-GB"/>
              <a:t>(including </a:t>
            </a:r>
            <a:r>
              <a:rPr lang="en-GB" i="1"/>
              <a:t>"Reproducible"</a:t>
            </a:r>
            <a:r>
              <a:rPr lang="en-GB"/>
              <a:t>)</a:t>
            </a:r>
          </a:p>
          <a:p>
            <a:pPr>
              <a:buClr>
                <a:schemeClr val="tx1"/>
              </a:buClr>
            </a:pPr>
            <a:endParaRPr lang="en-GB" sz="2400" spc="-70"/>
          </a:p>
          <a:p>
            <a:r>
              <a:rPr lang="en-US" sz="2400"/>
              <a:t>Proposes </a:t>
            </a:r>
            <a:r>
              <a:rPr lang="en-US" sz="2400" b="1"/>
              <a:t>a new benchmark</a:t>
            </a:r>
            <a:r>
              <a:rPr lang="en-US" sz="2400"/>
              <a:t> to evaluate </a:t>
            </a:r>
            <a:r>
              <a:rPr lang="en-US" sz="2400" b="1"/>
              <a:t>the real</a:t>
            </a:r>
            <a:r>
              <a:rPr lang="en-US" sz="2400"/>
              <a:t> and </a:t>
            </a:r>
            <a:r>
              <a:rPr lang="en-US" sz="2400" b="1"/>
              <a:t>simulated memory system performance</a:t>
            </a:r>
          </a:p>
          <a:p>
            <a:endParaRPr lang="en-US" sz="2400" b="1"/>
          </a:p>
          <a:p>
            <a:r>
              <a:rPr lang="en-US" sz="2400"/>
              <a:t>Makes </a:t>
            </a:r>
            <a:r>
              <a:rPr lang="en-US" sz="2400" b="1">
                <a:solidFill>
                  <a:srgbClr val="FF5F25"/>
                </a:solidFill>
              </a:rPr>
              <a:t>strong negative claims </a:t>
            </a:r>
            <a:r>
              <a:rPr lang="en-US" sz="2400"/>
              <a:t>about two of our simulation infrastructures, </a:t>
            </a:r>
            <a:r>
              <a:rPr lang="en-US" sz="2400" err="1"/>
              <a:t>Ramulator</a:t>
            </a:r>
            <a:r>
              <a:rPr lang="en-US" sz="2400"/>
              <a:t> 2.0 and DAMOV, </a:t>
            </a:r>
            <a:br>
              <a:rPr lang="en-US" sz="2400"/>
            </a:br>
            <a:r>
              <a:rPr lang="en-US" sz="2400"/>
              <a:t>and shows </a:t>
            </a:r>
            <a:r>
              <a:rPr lang="en-US" sz="2400" b="1">
                <a:solidFill>
                  <a:srgbClr val="FF5F25"/>
                </a:solidFill>
              </a:rPr>
              <a:t>unexpected results</a:t>
            </a:r>
          </a:p>
          <a:p>
            <a:pPr lvl="1"/>
            <a:r>
              <a:rPr lang="en-US"/>
              <a:t>Contending that they </a:t>
            </a:r>
            <a:r>
              <a:rPr lang="en-US" i="1"/>
              <a:t>"poorly resemble the actual system performance"</a:t>
            </a:r>
          </a:p>
        </p:txBody>
      </p:sp>
    </p:spTree>
    <p:extLst>
      <p:ext uri="{BB962C8B-B14F-4D97-AF65-F5344CB8AC3E}">
        <p14:creationId xmlns:p14="http://schemas.microsoft.com/office/powerpoint/2010/main" val="4217128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7783E-6F2B-070E-534E-755251C92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C799-CACB-F9F7-B275-7CC4AE50A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up the Mess (ISPASS 2026)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9BAA-5326-2B6D-6B0E-08165E31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28</a:t>
            </a:fld>
            <a:endParaRPr lang="tr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97EF6B-F189-03C3-0D8D-0E22B911F29D}"/>
              </a:ext>
            </a:extLst>
          </p:cNvPr>
          <p:cNvSpPr/>
          <p:nvPr/>
        </p:nvSpPr>
        <p:spPr>
          <a:xfrm>
            <a:off x="5763250" y="2337321"/>
            <a:ext cx="399394" cy="247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30B448-1FFC-D7D0-B486-A7D1598EC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31025"/>
            <a:ext cx="9143999" cy="5314132"/>
          </a:xfrm>
        </p:spPr>
        <p:txBody>
          <a:bodyPr>
            <a:normAutofit/>
          </a:bodyPr>
          <a:lstStyle/>
          <a:p>
            <a:endParaRPr lang="en-US" sz="2200" i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254E85-A4A5-3CBD-7AF6-DD3F403DE4D2}"/>
              </a:ext>
            </a:extLst>
          </p:cNvPr>
          <p:cNvSpPr txBox="1">
            <a:spLocks/>
          </p:cNvSpPr>
          <p:nvPr/>
        </p:nvSpPr>
        <p:spPr>
          <a:xfrm>
            <a:off x="0" y="1385574"/>
            <a:ext cx="9144000" cy="1285872"/>
          </a:xfrm>
          <a:prstGeom prst="rect">
            <a:avLst/>
          </a:prstGeom>
          <a:solidFill>
            <a:srgbClr val="FFEDE7"/>
          </a:solidFill>
          <a:ln w="28575">
            <a:solidFill>
              <a:srgbClr val="FF5F25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F23F00"/>
                </a:solidFill>
                <a:latin typeface="+mj-lt"/>
              </a:rPr>
              <a:t>We demonstrate that </a:t>
            </a:r>
            <a:r>
              <a:rPr lang="en-GB" sz="2400" b="1">
                <a:solidFill>
                  <a:srgbClr val="F23F00"/>
                </a:solidFill>
                <a:latin typeface="+mj-lt"/>
              </a:rPr>
              <a:t>these claims and results are incorrect </a:t>
            </a:r>
            <a:br>
              <a:rPr lang="en-GB" sz="2400">
                <a:solidFill>
                  <a:srgbClr val="F23F00"/>
                </a:solidFill>
                <a:latin typeface="+mj-lt"/>
              </a:rPr>
            </a:br>
            <a:r>
              <a:rPr lang="en-GB" sz="2400">
                <a:solidFill>
                  <a:srgbClr val="F23F00"/>
                </a:solidFill>
                <a:latin typeface="+mj-lt"/>
              </a:rPr>
              <a:t>and are due to </a:t>
            </a:r>
            <a:r>
              <a:rPr lang="en-GB" sz="2400" b="1">
                <a:solidFill>
                  <a:srgbClr val="F23F00"/>
                </a:solidFill>
                <a:latin typeface="+mj-lt"/>
              </a:rPr>
              <a:t>configuration</a:t>
            </a:r>
            <a:r>
              <a:rPr lang="en-GB" sz="2400">
                <a:solidFill>
                  <a:srgbClr val="F23F00"/>
                </a:solidFill>
                <a:latin typeface="+mj-lt"/>
              </a:rPr>
              <a:t> and </a:t>
            </a:r>
            <a:r>
              <a:rPr lang="en-GB" sz="2400" b="1">
                <a:solidFill>
                  <a:srgbClr val="F23F00"/>
                </a:solidFill>
                <a:latin typeface="+mj-lt"/>
              </a:rPr>
              <a:t>simulator usage errors </a:t>
            </a:r>
            <a:br>
              <a:rPr lang="en-GB" sz="2400">
                <a:solidFill>
                  <a:srgbClr val="F23F00"/>
                </a:solidFill>
                <a:latin typeface="+mj-lt"/>
              </a:rPr>
            </a:br>
            <a:r>
              <a:rPr lang="en-GB" sz="2400">
                <a:solidFill>
                  <a:srgbClr val="F23F00"/>
                </a:solidFill>
                <a:latin typeface="+mj-lt"/>
              </a:rPr>
              <a:t>made in the Mess paper</a:t>
            </a:r>
            <a:endParaRPr lang="en-US" sz="2400">
              <a:solidFill>
                <a:srgbClr val="F23F00"/>
              </a:solidFill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8F820-7E13-A663-D618-36190EABFD44}"/>
              </a:ext>
            </a:extLst>
          </p:cNvPr>
          <p:cNvSpPr txBox="1">
            <a:spLocks/>
          </p:cNvSpPr>
          <p:nvPr/>
        </p:nvSpPr>
        <p:spPr>
          <a:xfrm>
            <a:off x="-240" y="3150353"/>
            <a:ext cx="9144000" cy="1285872"/>
          </a:xfrm>
          <a:prstGeom prst="rect">
            <a:avLst/>
          </a:prstGeom>
          <a:solidFill>
            <a:srgbClr val="E3DEFA"/>
          </a:solidFill>
          <a:ln w="28575">
            <a:solidFill>
              <a:srgbClr val="6D40DC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solidFill>
                  <a:srgbClr val="6D40DC"/>
                </a:solidFill>
                <a:latin typeface="+mj-lt"/>
              </a:rPr>
              <a:t>We describe </a:t>
            </a:r>
            <a:r>
              <a:rPr lang="en-GB" sz="2400" b="1">
                <a:solidFill>
                  <a:srgbClr val="6D40DC"/>
                </a:solidFill>
                <a:latin typeface="+mj-lt"/>
              </a:rPr>
              <a:t>four best practices </a:t>
            </a:r>
            <a:br>
              <a:rPr lang="en-GB" sz="2400">
                <a:solidFill>
                  <a:srgbClr val="6D40DC"/>
                </a:solidFill>
                <a:latin typeface="+mj-lt"/>
              </a:rPr>
            </a:br>
            <a:r>
              <a:rPr lang="en-GB" sz="2400">
                <a:solidFill>
                  <a:srgbClr val="6D40DC"/>
                </a:solidFill>
                <a:latin typeface="+mj-lt"/>
              </a:rPr>
              <a:t>to aid users and developers of simulation tools</a:t>
            </a:r>
            <a:endParaRPr lang="en-US" sz="2400">
              <a:solidFill>
                <a:srgbClr val="6D40DC"/>
              </a:solidFill>
              <a:latin typeface="+mj-l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764A39-06C4-3AF6-23B5-FF9EDF962B6B}"/>
              </a:ext>
            </a:extLst>
          </p:cNvPr>
          <p:cNvSpPr txBox="1">
            <a:spLocks/>
          </p:cNvSpPr>
          <p:nvPr/>
        </p:nvSpPr>
        <p:spPr>
          <a:xfrm>
            <a:off x="-240" y="4915132"/>
            <a:ext cx="9144000" cy="128587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>
                <a:latin typeface="+mj-lt"/>
              </a:rPr>
              <a:t>To facilitate transparency and reproducibility, </a:t>
            </a:r>
            <a:br>
              <a:rPr lang="en-GB" sz="2400">
                <a:latin typeface="+mj-lt"/>
              </a:rPr>
            </a:br>
            <a:r>
              <a:rPr lang="en-GB" sz="2400">
                <a:latin typeface="+mj-lt"/>
              </a:rPr>
              <a:t>we </a:t>
            </a:r>
            <a:r>
              <a:rPr lang="en-GB" sz="2400" b="1">
                <a:latin typeface="+mj-lt"/>
              </a:rPr>
              <a:t>open source all our code </a:t>
            </a:r>
            <a:r>
              <a:rPr lang="en-GB" sz="2400">
                <a:latin typeface="+mj-lt"/>
              </a:rPr>
              <a:t>and </a:t>
            </a:r>
            <a:r>
              <a:rPr lang="en-GB" sz="2400" b="1">
                <a:latin typeface="+mj-lt"/>
              </a:rPr>
              <a:t>results</a:t>
            </a:r>
            <a:r>
              <a:rPr lang="en-GB" sz="2400">
                <a:latin typeface="+mj-lt"/>
              </a:rPr>
              <a:t>: </a:t>
            </a:r>
            <a:br>
              <a:rPr lang="en-GB" sz="2400">
                <a:latin typeface="+mj-lt"/>
              </a:rPr>
            </a:br>
            <a:r>
              <a:rPr lang="en-GB" sz="2400">
                <a:latin typeface="+mj-lt"/>
                <a:hlinkClick r:id="rId3"/>
              </a:rPr>
              <a:t>https://github.com/CMU-SAFARI/Cleaning-up-the-Mess</a:t>
            </a:r>
            <a:endParaRPr lang="en-GB" sz="2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4395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A0BB7-4709-76C7-916D-4D086695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D0161-F653-841E-34C6-6D5311935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Key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D2929-8E7F-6BF8-4905-AB89B0CF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29</a:t>
            </a:fld>
            <a:endParaRPr lang="tr-TR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107E623-50A6-CD57-D629-6B541EC2FDD9}"/>
              </a:ext>
            </a:extLst>
          </p:cNvPr>
          <p:cNvSpPr txBox="1">
            <a:spLocks/>
          </p:cNvSpPr>
          <p:nvPr/>
        </p:nvSpPr>
        <p:spPr>
          <a:xfrm>
            <a:off x="10510" y="5321565"/>
            <a:ext cx="9144000" cy="807740"/>
          </a:xfrm>
          <a:prstGeom prst="rect">
            <a:avLst/>
          </a:prstGeom>
          <a:solidFill>
            <a:srgbClr val="FFEDE7"/>
          </a:solidFill>
          <a:ln w="28575">
            <a:solidFill>
              <a:srgbClr val="FF5F25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2400">
                <a:solidFill>
                  <a:srgbClr val="F23F00"/>
                </a:solidFill>
                <a:latin typeface="+mj-lt"/>
              </a:rPr>
              <a:t>When </a:t>
            </a:r>
            <a:r>
              <a:rPr lang="en-GB" sz="2400" b="1">
                <a:solidFill>
                  <a:srgbClr val="F23F00"/>
                </a:solidFill>
                <a:latin typeface="+mj-lt"/>
              </a:rPr>
              <a:t>correctly configured</a:t>
            </a:r>
            <a:r>
              <a:rPr lang="en-GB" sz="2400">
                <a:solidFill>
                  <a:srgbClr val="F23F00"/>
                </a:solidFill>
                <a:latin typeface="+mj-lt"/>
              </a:rPr>
              <a:t>, Ramulator 2.0’s simulated memory system performance </a:t>
            </a:r>
            <a:r>
              <a:rPr lang="en-GB" sz="2400" b="1">
                <a:solidFill>
                  <a:srgbClr val="F23F00"/>
                </a:solidFill>
                <a:latin typeface="+mj-lt"/>
              </a:rPr>
              <a:t>resembles real system characteristics</a:t>
            </a:r>
            <a:endParaRPr lang="en-US" sz="2400" b="1">
              <a:solidFill>
                <a:srgbClr val="F23F00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A9DDD4-D8E0-9567-A09C-BBCB2AED112D}"/>
              </a:ext>
            </a:extLst>
          </p:cNvPr>
          <p:cNvSpPr txBox="1"/>
          <p:nvPr/>
        </p:nvSpPr>
        <p:spPr>
          <a:xfrm>
            <a:off x="2144110" y="6390562"/>
            <a:ext cx="5749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linkClick r:id="rId3"/>
              </a:rPr>
              <a:t>https://github.com/CMU-SAFARI/ramulator2/tree/mess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720105-67E6-63A1-A624-167DDB631205}"/>
              </a:ext>
            </a:extLst>
          </p:cNvPr>
          <p:cNvSpPr/>
          <p:nvPr/>
        </p:nvSpPr>
        <p:spPr>
          <a:xfrm>
            <a:off x="2151550" y="1227820"/>
            <a:ext cx="4547824" cy="699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ED406D-69B4-B700-30FF-959E634B82C4}"/>
              </a:ext>
            </a:extLst>
          </p:cNvPr>
          <p:cNvSpPr/>
          <p:nvPr/>
        </p:nvSpPr>
        <p:spPr>
          <a:xfrm>
            <a:off x="6041052" y="1863748"/>
            <a:ext cx="449213" cy="1510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B3AC4B-1C11-A523-D197-BF4DD2014124}"/>
              </a:ext>
            </a:extLst>
          </p:cNvPr>
          <p:cNvSpPr/>
          <p:nvPr/>
        </p:nvSpPr>
        <p:spPr>
          <a:xfrm>
            <a:off x="2402332" y="1537568"/>
            <a:ext cx="4164627" cy="272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8D0C39-A8B8-3CEF-DEF7-B589DAE7C835}"/>
              </a:ext>
            </a:extLst>
          </p:cNvPr>
          <p:cNvGrpSpPr/>
          <p:nvPr/>
        </p:nvGrpSpPr>
        <p:grpSpPr>
          <a:xfrm>
            <a:off x="1270353" y="1195008"/>
            <a:ext cx="6603295" cy="3712376"/>
            <a:chOff x="1270353" y="1195008"/>
            <a:chExt cx="6603295" cy="371237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1FEBBF1-FF66-CE15-7EA4-C380ED25E656}"/>
                </a:ext>
              </a:extLst>
            </p:cNvPr>
            <p:cNvGrpSpPr/>
            <p:nvPr/>
          </p:nvGrpSpPr>
          <p:grpSpPr>
            <a:xfrm>
              <a:off x="1270353" y="1195008"/>
              <a:ext cx="6603295" cy="3712376"/>
              <a:chOff x="1270353" y="1195008"/>
              <a:chExt cx="6603295" cy="3712376"/>
            </a:xfrm>
          </p:grpSpPr>
          <p:pic>
            <p:nvPicPr>
              <p:cNvPr id="21" name="Content Placeholder 11" descr="A blue and white graphic&#10;&#10;AI-generated content may be incorrect.">
                <a:extLst>
                  <a:ext uri="{FF2B5EF4-FFF2-40B4-BE49-F238E27FC236}">
                    <a16:creationId xmlns:a16="http://schemas.microsoft.com/office/drawing/2014/main" id="{0A9E6254-130C-2AF8-B567-6A5D6E88EC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207" t="11957"/>
              <a:stretch>
                <a:fillRect/>
              </a:stretch>
            </p:blipFill>
            <p:spPr>
              <a:xfrm>
                <a:off x="1270353" y="1195008"/>
                <a:ext cx="6603295" cy="3712376"/>
              </a:xfrm>
              <a:prstGeom prst="rect">
                <a:avLst/>
              </a:prstGeom>
            </p:spPr>
          </p:pic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170FED5-1F8C-C76B-4D0C-DEB6E700DB74}"/>
                  </a:ext>
                </a:extLst>
              </p:cNvPr>
              <p:cNvSpPr/>
              <p:nvPr/>
            </p:nvSpPr>
            <p:spPr>
              <a:xfrm>
                <a:off x="2298700" y="2349500"/>
                <a:ext cx="3056467" cy="1794933"/>
              </a:xfrm>
              <a:custGeom>
                <a:avLst/>
                <a:gdLst>
                  <a:gd name="csX0" fmla="*/ 0 w 3056467"/>
                  <a:gd name="csY0" fmla="*/ 1794933 h 1794933"/>
                  <a:gd name="csX1" fmla="*/ 1625600 w 3056467"/>
                  <a:gd name="csY1" fmla="*/ 1325033 h 1794933"/>
                  <a:gd name="csX2" fmla="*/ 2683933 w 3056467"/>
                  <a:gd name="csY2" fmla="*/ 850900 h 1794933"/>
                  <a:gd name="csX3" fmla="*/ 3056467 w 3056467"/>
                  <a:gd name="csY3" fmla="*/ 0 h 17949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56467" h="1794933">
                    <a:moveTo>
                      <a:pt x="0" y="1794933"/>
                    </a:moveTo>
                    <a:cubicBezTo>
                      <a:pt x="589139" y="1638652"/>
                      <a:pt x="1178278" y="1482372"/>
                      <a:pt x="1625600" y="1325033"/>
                    </a:cubicBezTo>
                    <a:cubicBezTo>
                      <a:pt x="2072922" y="1167694"/>
                      <a:pt x="2445455" y="1071739"/>
                      <a:pt x="2683933" y="850900"/>
                    </a:cubicBezTo>
                    <a:cubicBezTo>
                      <a:pt x="2922411" y="630061"/>
                      <a:pt x="2989439" y="315030"/>
                      <a:pt x="3056467" y="0"/>
                    </a:cubicBezTo>
                  </a:path>
                </a:pathLst>
              </a:custGeom>
              <a:noFill/>
              <a:ln w="76200">
                <a:solidFill>
                  <a:srgbClr val="FF0000">
                    <a:alpha val="51000"/>
                  </a:srgb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3605769-4899-8F8C-643E-5993161E90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1900" y="1612900"/>
              <a:ext cx="616701" cy="1595967"/>
            </a:xfrm>
            <a:prstGeom prst="straightConnector1">
              <a:avLst/>
            </a:prstGeom>
            <a:ln w="76200">
              <a:solidFill>
                <a:srgbClr val="FF0000">
                  <a:alpha val="50000"/>
                </a:srgb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61604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12070-39B3-242E-AD9E-EED6EE526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E3D20-9EE3-8E84-2382-FD5F0A9E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 the next sessions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AD2E0-FC60-99BA-7EE7-66139B57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30</a:t>
            </a:fld>
            <a:endParaRPr lang="tr-T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0874E2-8725-F2BC-7FF9-8ECED58B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2" y="5755279"/>
            <a:ext cx="9143999" cy="5439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>
                <a:hlinkClick r:id="rId3"/>
              </a:rPr>
              <a:t>https://arxiv.org/pdf/2510.15744</a:t>
            </a:r>
            <a:endParaRPr lang="en-US" sz="3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307C7-730F-291D-ED83-B08A40E5B8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36" y="1549818"/>
            <a:ext cx="8805333" cy="38361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8A46AE-D734-E574-6790-46C1E925347B}"/>
              </a:ext>
            </a:extLst>
          </p:cNvPr>
          <p:cNvSpPr txBox="1"/>
          <p:nvPr/>
        </p:nvSpPr>
        <p:spPr>
          <a:xfrm>
            <a:off x="7008341" y="5385947"/>
            <a:ext cx="3264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* Equal contribution</a:t>
            </a:r>
          </a:p>
        </p:txBody>
      </p:sp>
    </p:spTree>
    <p:extLst>
      <p:ext uri="{BB962C8B-B14F-4D97-AF65-F5344CB8AC3E}">
        <p14:creationId xmlns:p14="http://schemas.microsoft.com/office/powerpoint/2010/main" val="19989519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122CE-D51A-C0F3-5765-77C14400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31639B-2A4F-305D-F54A-942DA7551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07223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316CE3"/>
                </a:solidFill>
              </a:rPr>
              <a:t>Ramulator</a:t>
            </a:r>
            <a:r>
              <a:rPr lang="en-US" b="1" dirty="0">
                <a:solidFill>
                  <a:srgbClr val="316CE3"/>
                </a:solidFill>
              </a:rPr>
              <a:t> 2.0 </a:t>
            </a:r>
            <a:br>
              <a:rPr lang="en-US" b="1" dirty="0">
                <a:solidFill>
                  <a:srgbClr val="316CE3"/>
                </a:solidFill>
              </a:rPr>
            </a:br>
            <a:r>
              <a:rPr lang="en-US" b="1" dirty="0">
                <a:solidFill>
                  <a:srgbClr val="316CE3"/>
                </a:solidFill>
              </a:rPr>
              <a:t>Integration with Other Simulators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47D78E6-341F-C215-E6A8-6C0205C34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0A4DF-A4D6-745E-33A9-A84AD157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31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3267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D969C-AC2B-5EDA-C2A1-758D84EB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3B0B8-7747-3A22-1A32-D96C26F07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31024"/>
            <a:ext cx="9143999" cy="558615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6D40DC"/>
                </a:solidFill>
              </a:rPr>
              <a:t>Modular</a:t>
            </a:r>
            <a:r>
              <a:rPr lang="en-US" dirty="0"/>
              <a:t> and </a:t>
            </a:r>
            <a:r>
              <a:rPr lang="en-US" b="1" dirty="0">
                <a:solidFill>
                  <a:srgbClr val="6D40DC"/>
                </a:solidFill>
              </a:rPr>
              <a:t>extensible software architecture</a:t>
            </a:r>
          </a:p>
          <a:p>
            <a:r>
              <a:rPr lang="en-US" dirty="0" err="1"/>
              <a:t>Ramulator</a:t>
            </a:r>
            <a:r>
              <a:rPr lang="en-US" dirty="0"/>
              <a:t> 2.0 can be packed into </a:t>
            </a:r>
            <a:r>
              <a:rPr lang="en-US" b="1" dirty="0">
                <a:solidFill>
                  <a:srgbClr val="6D40DC"/>
                </a:solidFill>
              </a:rPr>
              <a:t>a library</a:t>
            </a:r>
          </a:p>
          <a:p>
            <a:endParaRPr lang="en-US" b="1" dirty="0">
              <a:solidFill>
                <a:srgbClr val="6D40DC"/>
              </a:solidFill>
            </a:endParaRPr>
          </a:p>
          <a:p>
            <a:endParaRPr lang="en-US" b="1" dirty="0">
              <a:solidFill>
                <a:srgbClr val="6D40DC"/>
              </a:solidFill>
            </a:endParaRPr>
          </a:p>
          <a:p>
            <a:endParaRPr lang="en-US" b="1" dirty="0">
              <a:solidFill>
                <a:srgbClr val="6D40DC"/>
              </a:solidFill>
            </a:endParaRPr>
          </a:p>
          <a:p>
            <a:endParaRPr lang="en-US" b="1" dirty="0">
              <a:solidFill>
                <a:srgbClr val="6D40DC"/>
              </a:solidFill>
            </a:endParaRPr>
          </a:p>
          <a:p>
            <a:endParaRPr lang="en-US" b="1" dirty="0">
              <a:solidFill>
                <a:srgbClr val="6D40DC"/>
              </a:solidFill>
            </a:endParaRPr>
          </a:p>
          <a:p>
            <a:endParaRPr lang="en-US" b="1" dirty="0">
              <a:solidFill>
                <a:srgbClr val="6D40DC"/>
              </a:solidFill>
            </a:endParaRPr>
          </a:p>
          <a:p>
            <a:endParaRPr lang="en-US" b="1" dirty="0">
              <a:solidFill>
                <a:srgbClr val="6D40DC"/>
              </a:solidFill>
            </a:endParaRP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CB6769-7AFC-317B-DDEE-752BCA1E4E24}"/>
              </a:ext>
            </a:extLst>
          </p:cNvPr>
          <p:cNvSpPr/>
          <p:nvPr/>
        </p:nvSpPr>
        <p:spPr>
          <a:xfrm>
            <a:off x="4532773" y="2150482"/>
            <a:ext cx="3988040" cy="2557036"/>
          </a:xfrm>
          <a:prstGeom prst="rect">
            <a:avLst/>
          </a:prstGeom>
          <a:solidFill>
            <a:srgbClr val="CFDEFD"/>
          </a:solidFill>
          <a:ln w="57150">
            <a:solidFill>
              <a:srgbClr val="316C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F74F9-2701-004C-F13B-DF6C27E5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Ramulator 2.0 Integration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44212-DDB4-E5B5-97D5-89C322D80942}"/>
              </a:ext>
            </a:extLst>
          </p:cNvPr>
          <p:cNvSpPr/>
          <p:nvPr/>
        </p:nvSpPr>
        <p:spPr>
          <a:xfrm>
            <a:off x="1290569" y="3283426"/>
            <a:ext cx="1803400" cy="8749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+mj-lt"/>
              </a:rPr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6E7B8-B79C-E4F4-00AC-DF49BC1BDA31}"/>
              </a:ext>
            </a:extLst>
          </p:cNvPr>
          <p:cNvSpPr/>
          <p:nvPr/>
        </p:nvSpPr>
        <p:spPr>
          <a:xfrm>
            <a:off x="5155862" y="3283426"/>
            <a:ext cx="2654300" cy="8749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+mj-lt"/>
              </a:rPr>
              <a:t>Memory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3A2617-EEA7-5365-ED0C-57807BDFFC2C}"/>
              </a:ext>
            </a:extLst>
          </p:cNvPr>
          <p:cNvSpPr/>
          <p:nvPr/>
        </p:nvSpPr>
        <p:spPr>
          <a:xfrm>
            <a:off x="865119" y="2597626"/>
            <a:ext cx="2654300" cy="68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SimpleO3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B025A1-8414-E21D-636D-4CEFB6FB1CC2}"/>
              </a:ext>
            </a:extLst>
          </p:cNvPr>
          <p:cNvSpPr/>
          <p:nvPr/>
        </p:nvSpPr>
        <p:spPr>
          <a:xfrm>
            <a:off x="4707157" y="2597626"/>
            <a:ext cx="3551710" cy="68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DRAM-Based System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113D04-DB14-8D60-CB86-284D040ED6D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093969" y="3720908"/>
            <a:ext cx="2061893" cy="0"/>
          </a:xfrm>
          <a:prstGeom prst="straightConnector1">
            <a:avLst/>
          </a:prstGeom>
          <a:ln w="6032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D7EA215-5CEF-6FA3-8685-2B6F7F1FC336}"/>
              </a:ext>
            </a:extLst>
          </p:cNvPr>
          <p:cNvSpPr/>
          <p:nvPr/>
        </p:nvSpPr>
        <p:spPr>
          <a:xfrm>
            <a:off x="865119" y="2597626"/>
            <a:ext cx="2654300" cy="68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gem5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4D9F20-C7BF-B066-E2BE-E260EBE93CFE}"/>
              </a:ext>
            </a:extLst>
          </p:cNvPr>
          <p:cNvSpPr txBox="1"/>
          <p:nvPr/>
        </p:nvSpPr>
        <p:spPr>
          <a:xfrm>
            <a:off x="4939293" y="4768115"/>
            <a:ext cx="317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316CE3"/>
                </a:solidFill>
                <a:latin typeface="+mj-lt"/>
              </a:rPr>
              <a:t>libramulator.so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812745D-2371-57E9-A1D7-56CBCF6C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32</a:t>
            </a:fld>
            <a:endParaRPr lang="tr-TR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AC9B5F2-B3BF-ABC2-57D1-94D333C0C45A}"/>
              </a:ext>
            </a:extLst>
          </p:cNvPr>
          <p:cNvSpPr txBox="1">
            <a:spLocks/>
          </p:cNvSpPr>
          <p:nvPr/>
        </p:nvSpPr>
        <p:spPr>
          <a:xfrm>
            <a:off x="3388" y="5291335"/>
            <a:ext cx="9144000" cy="1026721"/>
          </a:xfrm>
          <a:prstGeom prst="rect">
            <a:avLst/>
          </a:prstGeom>
          <a:solidFill>
            <a:srgbClr val="FFEBCD"/>
          </a:solidFill>
          <a:ln w="28575">
            <a:solidFill>
              <a:schemeClr val="tx1"/>
            </a:solidFill>
          </a:ln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mbria" panose="02040503050406030204" pitchFamily="18" charset="0"/>
              <a:buChar char="-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3200" b="1" dirty="0">
                <a:solidFill>
                  <a:srgbClr val="C00000"/>
                </a:solidFill>
                <a:latin typeface="+mj-lt"/>
              </a:rPr>
              <a:t>Easy integration </a:t>
            </a:r>
            <a:r>
              <a:rPr lang="en-GB" sz="3200" b="1" dirty="0">
                <a:latin typeface="+mj-lt"/>
              </a:rPr>
              <a:t>into other simulators </a:t>
            </a:r>
            <a:br>
              <a:rPr lang="en-GB" sz="3200" b="1" dirty="0">
                <a:latin typeface="+mj-lt"/>
              </a:rPr>
            </a:br>
            <a:r>
              <a:rPr lang="en-GB" sz="3200" b="1" dirty="0">
                <a:solidFill>
                  <a:srgbClr val="C00000"/>
                </a:solidFill>
                <a:latin typeface="+mj-lt"/>
              </a:rPr>
              <a:t>to support detailed memory system simulation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A998C7-B2F7-8B96-DBB9-E404B6F610B3}"/>
              </a:ext>
            </a:extLst>
          </p:cNvPr>
          <p:cNvSpPr/>
          <p:nvPr/>
        </p:nvSpPr>
        <p:spPr>
          <a:xfrm>
            <a:off x="862868" y="2592795"/>
            <a:ext cx="2654300" cy="68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  <a:latin typeface="+mj-lt"/>
              </a:rPr>
              <a:t>ChampSim</a:t>
            </a:r>
            <a:endParaRPr lang="en-US" sz="24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017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" grpId="0" animBg="1"/>
      <p:bldP spid="11" grpId="0" animBg="1"/>
      <p:bldP spid="11" grpId="1" animBg="1"/>
      <p:bldP spid="11" grpId="2" animBg="1"/>
      <p:bldP spid="14" grpId="0"/>
      <p:bldP spid="23" grpId="0" animBg="1"/>
      <p:bldP spid="24" grpId="0" animBg="1"/>
      <p:bldP spid="24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F1A7-BEAE-2ACB-D9B2-907A2E298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0BF6-E61E-4D14-1DDC-BC1BCB01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Integration with gem5</a:t>
            </a:r>
          </a:p>
        </p:txBody>
      </p:sp>
      <p:sp>
        <p:nvSpPr>
          <p:cNvPr id="4" name="Content Placeholder 57">
            <a:extLst>
              <a:ext uri="{FF2B5EF4-FFF2-40B4-BE49-F238E27FC236}">
                <a16:creationId xmlns:a16="http://schemas.microsoft.com/office/drawing/2014/main" id="{F7B24497-2B58-5350-BEDB-FB98840B4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31025"/>
            <a:ext cx="9144001" cy="5245938"/>
          </a:xfrm>
        </p:spPr>
        <p:txBody>
          <a:bodyPr>
            <a:normAutofit/>
          </a:bodyPr>
          <a:lstStyle/>
          <a:p>
            <a:r>
              <a:rPr lang="en-US" sz="2400" dirty="0"/>
              <a:t>Combine a more detailed core model with </a:t>
            </a:r>
            <a:r>
              <a:rPr lang="en-US" sz="2400" dirty="0" err="1"/>
              <a:t>Ramulator</a:t>
            </a:r>
            <a:r>
              <a:rPr lang="en-US" sz="2400" dirty="0"/>
              <a:t> 2.0's detailed memory system simulation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A965BB-154E-BD7B-4898-E8210E891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33</a:t>
            </a:fld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D6B90B-5984-5169-903B-5EF455997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99" y="1862050"/>
            <a:ext cx="8494520" cy="36614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637ECE-EE75-A98A-2B7E-E32D9127DD43}"/>
              </a:ext>
            </a:extLst>
          </p:cNvPr>
          <p:cNvSpPr txBox="1"/>
          <p:nvPr/>
        </p:nvSpPr>
        <p:spPr>
          <a:xfrm>
            <a:off x="1028036" y="5619415"/>
            <a:ext cx="7036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4"/>
              </a:rPr>
              <a:t>https://arxiv.org/pdf/2503.17891</a:t>
            </a:r>
            <a:br>
              <a:rPr lang="en-US" sz="2400" dirty="0"/>
            </a:br>
            <a:r>
              <a:rPr lang="en-US" sz="2400" dirty="0">
                <a:hlinkClick r:id="rId5"/>
              </a:rPr>
              <a:t>https://github.com/CMU-SAFARI/LeakyHammer</a:t>
            </a: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11213-45FE-6C68-BA8D-D08BC6B3D4F2}"/>
              </a:ext>
            </a:extLst>
          </p:cNvPr>
          <p:cNvSpPr/>
          <p:nvPr/>
        </p:nvSpPr>
        <p:spPr>
          <a:xfrm>
            <a:off x="492562" y="1975555"/>
            <a:ext cx="1842638" cy="47413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+mj-lt"/>
              </a:rPr>
              <a:t>MICRO 2025</a:t>
            </a:r>
          </a:p>
        </p:txBody>
      </p:sp>
    </p:spTree>
    <p:extLst>
      <p:ext uri="{BB962C8B-B14F-4D97-AF65-F5344CB8AC3E}">
        <p14:creationId xmlns:p14="http://schemas.microsoft.com/office/powerpoint/2010/main" val="575795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CF19D-271D-BFAE-052B-D38D6C69B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BF6B-81EB-362B-C650-FF34F0DE6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Integration with gem5 (II)</a:t>
            </a:r>
          </a:p>
        </p:txBody>
      </p:sp>
      <p:sp>
        <p:nvSpPr>
          <p:cNvPr id="4" name="Content Placeholder 57">
            <a:extLst>
              <a:ext uri="{FF2B5EF4-FFF2-40B4-BE49-F238E27FC236}">
                <a16:creationId xmlns:a16="http://schemas.microsoft.com/office/drawing/2014/main" id="{7AD0091C-54DC-F656-B013-64C02D1A9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31025"/>
            <a:ext cx="9144001" cy="5245938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LeakyHammer</a:t>
            </a:r>
            <a:r>
              <a:rPr lang="en-US" sz="2400" b="1" dirty="0"/>
              <a:t>: Timing Covert and Side Channels Introduced by </a:t>
            </a:r>
            <a:r>
              <a:rPr lang="en-US" sz="2400" b="1" dirty="0" err="1"/>
              <a:t>RowHammer</a:t>
            </a:r>
            <a:r>
              <a:rPr lang="en-US" sz="2400" b="1" dirty="0"/>
              <a:t> Defenses </a:t>
            </a:r>
            <a:r>
              <a:rPr lang="en-US" sz="2400" b="1" dirty="0">
                <a:solidFill>
                  <a:srgbClr val="C00000"/>
                </a:solidFill>
              </a:rPr>
              <a:t>[Bostanci+, MICRO’25]</a:t>
            </a:r>
          </a:p>
          <a:p>
            <a:pPr lvl="1"/>
            <a:r>
              <a:rPr lang="en-US" sz="2000" dirty="0"/>
              <a:t>Integrating Ramulator2 with gem5 </a:t>
            </a:r>
          </a:p>
          <a:p>
            <a:pPr lvl="1"/>
            <a:r>
              <a:rPr lang="en-US" sz="2000" dirty="0"/>
              <a:t>Demonstrating side and covert channels leveraging two latest industry solutions to </a:t>
            </a:r>
            <a:r>
              <a:rPr lang="en-US" sz="2000" dirty="0" err="1"/>
              <a:t>RowHammer</a:t>
            </a:r>
            <a:r>
              <a:rPr lang="en-US" sz="2000" dirty="0"/>
              <a:t> (i.e., PRAC and RFM) </a:t>
            </a:r>
          </a:p>
          <a:p>
            <a:pPr lvl="1"/>
            <a:r>
              <a:rPr lang="en-US" sz="2000" dirty="0"/>
              <a:t>Evaluating defenses against </a:t>
            </a:r>
            <a:r>
              <a:rPr lang="en-US" sz="2000" dirty="0" err="1"/>
              <a:t>LeakyHammer</a:t>
            </a:r>
            <a:r>
              <a:rPr lang="en-US" sz="2000" dirty="0"/>
              <a:t> 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7E1D58-D81B-5480-4F7A-88560EAA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34</a:t>
            </a:fld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099956-F484-7986-C90A-2ACB29482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906186"/>
            <a:ext cx="5539740" cy="1897470"/>
          </a:xfrm>
          <a:prstGeom prst="rect">
            <a:avLst/>
          </a:prstGeo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87AC0A9-6A6B-4F7A-AE17-084BC941D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463" y="4737677"/>
            <a:ext cx="6141793" cy="198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04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7F02-045E-EF91-867F-AC274CCB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with Virtuoso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14193-4E67-A752-3549-416D7891B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Enable simulation of virtual memory functionalities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AF8C4-579D-75A6-385F-721FB65F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35</a:t>
            </a:fld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6C4438-9619-537C-D487-CBFB668E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58" b="19677"/>
          <a:stretch>
            <a:fillRect/>
          </a:stretch>
        </p:blipFill>
        <p:spPr>
          <a:xfrm>
            <a:off x="479776" y="1789271"/>
            <a:ext cx="8184444" cy="32794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D007857-031D-582B-2089-87C2B3EB5C37}"/>
              </a:ext>
            </a:extLst>
          </p:cNvPr>
          <p:cNvSpPr/>
          <p:nvPr/>
        </p:nvSpPr>
        <p:spPr>
          <a:xfrm>
            <a:off x="582873" y="1904096"/>
            <a:ext cx="1842638" cy="47413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+mj-lt"/>
              </a:rPr>
              <a:t>ASPLOS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4EE1F6-A72F-6F79-F2E6-543C44B75812}"/>
              </a:ext>
            </a:extLst>
          </p:cNvPr>
          <p:cNvSpPr txBox="1"/>
          <p:nvPr/>
        </p:nvSpPr>
        <p:spPr>
          <a:xfrm>
            <a:off x="1053674" y="5345966"/>
            <a:ext cx="7036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linkClick r:id="rId3"/>
              </a:rPr>
              <a:t>https://arxiv.org/pdf/2403.04635</a:t>
            </a:r>
            <a:endParaRPr lang="en-US" sz="2400" dirty="0"/>
          </a:p>
          <a:p>
            <a:pPr algn="ctr"/>
            <a:r>
              <a:rPr lang="en-US" sz="2400" dirty="0">
                <a:hlinkClick r:id="rId4"/>
              </a:rPr>
              <a:t>https://github.com/CMU-SAFARI/Virtuoso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3932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10BC-1C46-026D-DB6D-9AA7E049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 2.0: Integration with Virtuoso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41E0-64CE-54A0-AB7F-63B0D4D1D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Integration with Virtuoso:  A Fast and Accurate </a:t>
            </a:r>
            <a:br>
              <a:rPr lang="en-GB" b="1" dirty="0"/>
            </a:br>
            <a:r>
              <a:rPr lang="en-GB" b="1" dirty="0"/>
              <a:t>Virtual Memory Simulation Framework </a:t>
            </a:r>
            <a:br>
              <a:rPr lang="en-GB" b="1" dirty="0"/>
            </a:br>
            <a:r>
              <a:rPr lang="en-GB" b="1" dirty="0">
                <a:solidFill>
                  <a:srgbClr val="C00000"/>
                </a:solidFill>
              </a:rPr>
              <a:t>[Kanellopoulos, ASPLOS'25]</a:t>
            </a:r>
          </a:p>
          <a:p>
            <a:pPr lvl="1"/>
            <a:r>
              <a:rPr lang="en-GB" dirty="0"/>
              <a:t>Enabling fast and accurate evaluation of the hardware and software components of the virtual memory subsystem with low simulation time and memory overheads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91B7F-EE6B-10F8-D78E-1EDB8FD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36</a:t>
            </a:fld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A46E5A-D433-87F9-2564-F8D0C421D4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58" b="5374"/>
          <a:stretch>
            <a:fillRect/>
          </a:stretch>
        </p:blipFill>
        <p:spPr>
          <a:xfrm>
            <a:off x="1697620" y="3429000"/>
            <a:ext cx="5146876" cy="30731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8BD3934-A183-8062-0858-40F6CC17A872}"/>
              </a:ext>
            </a:extLst>
          </p:cNvPr>
          <p:cNvSpPr/>
          <p:nvPr/>
        </p:nvSpPr>
        <p:spPr>
          <a:xfrm>
            <a:off x="4305782" y="3696182"/>
            <a:ext cx="914400" cy="25464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359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9C0A0-88CA-CD3D-B087-F2CD8866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r>
              <a:rPr lang="en-CH" dirty="0"/>
              <a:t>Workshop </a:t>
            </a:r>
            <a:r>
              <a:rPr lang="en-US" dirty="0"/>
              <a:t>on Virtuoso </a:t>
            </a:r>
            <a:r>
              <a:rPr lang="en-CH" dirty="0"/>
              <a:t>at MICRO 2025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D539AE-1841-5508-14AD-75CECBD3E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AF3208-8AD7-F13E-4976-EDDAE6BA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26AD06-1C69-4F40-B475-B9DE4452D124}" type="slidenum">
              <a:rPr kumimoji="0" lang="en-CH" sz="2500" b="0" i="0" u="none" strike="noStrike" kern="1200" cap="none" spc="0" normalizeH="0" baseline="0" noProof="0" smtClean="0">
                <a:ln>
                  <a:noFill/>
                </a:ln>
                <a:solidFill>
                  <a:srgbClr val="16274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CH" sz="2500" b="0" i="0" u="none" strike="noStrike" kern="1200" cap="none" spc="0" normalizeH="0" baseline="0" noProof="0" dirty="0">
              <a:ln>
                <a:noFill/>
              </a:ln>
              <a:solidFill>
                <a:srgbClr val="16274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468EDF-9CF2-322E-667B-2310FA3DBC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452"/>
          <a:stretch/>
        </p:blipFill>
        <p:spPr>
          <a:xfrm>
            <a:off x="272415" y="1050437"/>
            <a:ext cx="8599169" cy="4217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8CD820-5883-2270-0FD6-72CBB6F446EB}"/>
              </a:ext>
            </a:extLst>
          </p:cNvPr>
          <p:cNvSpPr txBox="1"/>
          <p:nvPr/>
        </p:nvSpPr>
        <p:spPr>
          <a:xfrm>
            <a:off x="1822477" y="5456742"/>
            <a:ext cx="549904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https://cmu-safari.github.io/Virtuoso-Workshop-MICRO25/</a:t>
            </a:r>
          </a:p>
        </p:txBody>
      </p:sp>
    </p:spTree>
    <p:extLst>
      <p:ext uri="{BB962C8B-B14F-4D97-AF65-F5344CB8AC3E}">
        <p14:creationId xmlns:p14="http://schemas.microsoft.com/office/powerpoint/2010/main" val="35639713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E6E8-2A58-C581-1B77-C23155BA9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Workflow: Page Fault Handling Example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0D283-60BF-0CAE-5EFD-54DDAD25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38</a:t>
            </a:fld>
            <a:endParaRPr lang="tr-TR" dirty="0"/>
          </a:p>
        </p:txBody>
      </p:sp>
      <p:cxnSp>
        <p:nvCxnSpPr>
          <p:cNvPr id="5" name="Elbow Connector 52">
            <a:extLst>
              <a:ext uri="{FF2B5EF4-FFF2-40B4-BE49-F238E27FC236}">
                <a16:creationId xmlns:a16="http://schemas.microsoft.com/office/drawing/2014/main" id="{77C456BC-72E2-D154-B28A-F984376C53C6}"/>
              </a:ext>
            </a:extLst>
          </p:cNvPr>
          <p:cNvCxnSpPr>
            <a:cxnSpLocks/>
            <a:stCxn id="25" idx="2"/>
            <a:endCxn id="7" idx="2"/>
          </p:cNvCxnSpPr>
          <p:nvPr/>
        </p:nvCxnSpPr>
        <p:spPr>
          <a:xfrm rot="16200000" flipH="1">
            <a:off x="3714254" y="1587089"/>
            <a:ext cx="1933506" cy="6539577"/>
          </a:xfrm>
          <a:prstGeom prst="bentConnector3">
            <a:avLst>
              <a:gd name="adj1" fmla="val 119330"/>
            </a:avLst>
          </a:prstGeom>
          <a:ln w="476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15">
            <a:extLst>
              <a:ext uri="{FF2B5EF4-FFF2-40B4-BE49-F238E27FC236}">
                <a16:creationId xmlns:a16="http://schemas.microsoft.com/office/drawing/2014/main" id="{6D5679DD-6AC8-E5D9-EC74-1B0F7C8EF385}"/>
              </a:ext>
            </a:extLst>
          </p:cNvPr>
          <p:cNvSpPr/>
          <p:nvPr/>
        </p:nvSpPr>
        <p:spPr>
          <a:xfrm>
            <a:off x="2665137" y="4202310"/>
            <a:ext cx="6321564" cy="1854140"/>
          </a:xfrm>
          <a:prstGeom prst="roundRect">
            <a:avLst>
              <a:gd name="adj" fmla="val 4115"/>
            </a:avLst>
          </a:prstGeom>
          <a:solidFill>
            <a:srgbClr val="FACAA7">
              <a:alpha val="21921"/>
            </a:srgbClr>
          </a:solidFill>
          <a:ln w="31750">
            <a:solidFill>
              <a:srgbClr val="C2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35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B444B19E-89B3-1B9E-C648-527CC39358FC}"/>
              </a:ext>
            </a:extLst>
          </p:cNvPr>
          <p:cNvSpPr/>
          <p:nvPr/>
        </p:nvSpPr>
        <p:spPr>
          <a:xfrm>
            <a:off x="7200047" y="4648965"/>
            <a:ext cx="1501497" cy="1174666"/>
          </a:xfrm>
          <a:prstGeom prst="roundRect">
            <a:avLst>
              <a:gd name="adj" fmla="val 4115"/>
            </a:avLst>
          </a:prstGeom>
          <a:solidFill>
            <a:schemeClr val="accent2">
              <a:lumMod val="40000"/>
              <a:lumOff val="60000"/>
              <a:alpha val="94000"/>
            </a:schemeClr>
          </a:solidFill>
          <a:ln w="31750">
            <a:solidFill>
              <a:srgbClr val="C2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Core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91F6D-3978-D892-CD09-6ACBAF970171}"/>
              </a:ext>
            </a:extLst>
          </p:cNvPr>
          <p:cNvSpPr txBox="1"/>
          <p:nvPr/>
        </p:nvSpPr>
        <p:spPr>
          <a:xfrm>
            <a:off x="6493622" y="6232697"/>
            <a:ext cx="20350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6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Ramulator</a:t>
            </a:r>
          </a:p>
        </p:txBody>
      </p:sp>
      <p:sp>
        <p:nvSpPr>
          <p:cNvPr id="9" name="Rounded Rectangle 27">
            <a:extLst>
              <a:ext uri="{FF2B5EF4-FFF2-40B4-BE49-F238E27FC236}">
                <a16:creationId xmlns:a16="http://schemas.microsoft.com/office/drawing/2014/main" id="{06E2DA92-0528-2BEA-2087-6AC564EDE075}"/>
              </a:ext>
            </a:extLst>
          </p:cNvPr>
          <p:cNvSpPr/>
          <p:nvPr/>
        </p:nvSpPr>
        <p:spPr>
          <a:xfrm>
            <a:off x="3384175" y="4669518"/>
            <a:ext cx="1770542" cy="1149209"/>
          </a:xfrm>
          <a:prstGeom prst="roundRect">
            <a:avLst>
              <a:gd name="adj" fmla="val 4115"/>
            </a:avLst>
          </a:prstGeom>
          <a:solidFill>
            <a:schemeClr val="accent2">
              <a:lumMod val="40000"/>
              <a:lumOff val="60000"/>
            </a:schemeClr>
          </a:solidFill>
          <a:ln w="31750">
            <a:solidFill>
              <a:srgbClr val="C2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MMU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Model</a:t>
            </a:r>
            <a:endParaRPr kumimoji="0" lang="en-CH" sz="2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E6E686-F711-702A-EC01-9D4D9EB032BD}"/>
              </a:ext>
            </a:extLst>
          </p:cNvPr>
          <p:cNvCxnSpPr>
            <a:cxnSpLocks/>
          </p:cNvCxnSpPr>
          <p:nvPr/>
        </p:nvCxnSpPr>
        <p:spPr>
          <a:xfrm>
            <a:off x="7807102" y="2611742"/>
            <a:ext cx="0" cy="20372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54776D-A596-819E-CE6A-6137AD80ED6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74796" y="5236298"/>
            <a:ext cx="202525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CB06FEE-8AF6-9559-1D8B-349D4C48A978}"/>
              </a:ext>
            </a:extLst>
          </p:cNvPr>
          <p:cNvSpPr txBox="1"/>
          <p:nvPr/>
        </p:nvSpPr>
        <p:spPr>
          <a:xfrm>
            <a:off x="5447526" y="4892420"/>
            <a:ext cx="16898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Translation Request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09077C-7CF1-FE6C-7964-D58AF75BBE75}"/>
              </a:ext>
            </a:extLst>
          </p:cNvPr>
          <p:cNvSpPr txBox="1"/>
          <p:nvPr/>
        </p:nvSpPr>
        <p:spPr>
          <a:xfrm>
            <a:off x="180371" y="937451"/>
            <a:ext cx="49713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3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Example Userspace Kernel</a:t>
            </a:r>
            <a:endParaRPr kumimoji="0" lang="en-CH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13194BBC-EA32-F199-F1E7-7241844BF870}"/>
              </a:ext>
            </a:extLst>
          </p:cNvPr>
          <p:cNvSpPr/>
          <p:nvPr/>
        </p:nvSpPr>
        <p:spPr>
          <a:xfrm>
            <a:off x="262660" y="1473354"/>
            <a:ext cx="4735888" cy="1182336"/>
          </a:xfrm>
          <a:prstGeom prst="roundRect">
            <a:avLst>
              <a:gd name="adj" fmla="val 4115"/>
            </a:avLst>
          </a:prstGeom>
          <a:solidFill>
            <a:schemeClr val="tx2">
              <a:lumMod val="75000"/>
              <a:alpha val="3348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  <p:sp>
        <p:nvSpPr>
          <p:cNvPr id="15" name="Rounded Rectangle 20">
            <a:extLst>
              <a:ext uri="{FF2B5EF4-FFF2-40B4-BE49-F238E27FC236}">
                <a16:creationId xmlns:a16="http://schemas.microsoft.com/office/drawing/2014/main" id="{1D0F3D80-CF02-0A6E-2AB2-F988D1E16445}"/>
              </a:ext>
            </a:extLst>
          </p:cNvPr>
          <p:cNvSpPr/>
          <p:nvPr/>
        </p:nvSpPr>
        <p:spPr>
          <a:xfrm>
            <a:off x="6603539" y="1852547"/>
            <a:ext cx="2234123" cy="744068"/>
          </a:xfrm>
          <a:prstGeom prst="roundRect">
            <a:avLst>
              <a:gd name="adj" fmla="val 4115"/>
            </a:avLst>
          </a:prstGeom>
          <a:solidFill>
            <a:schemeClr val="accent1">
              <a:lumMod val="75000"/>
              <a:alpha val="18000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Workload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F32F6D-0A5A-E218-261D-93E3422CD48C}"/>
              </a:ext>
            </a:extLst>
          </p:cNvPr>
          <p:cNvSpPr/>
          <p:nvPr/>
        </p:nvSpPr>
        <p:spPr>
          <a:xfrm>
            <a:off x="6141127" y="2044492"/>
            <a:ext cx="352495" cy="35249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CC8440-3990-B670-7B53-DF4EE3F86885}"/>
              </a:ext>
            </a:extLst>
          </p:cNvPr>
          <p:cNvGrpSpPr/>
          <p:nvPr/>
        </p:nvGrpSpPr>
        <p:grpSpPr>
          <a:xfrm>
            <a:off x="6428411" y="3043270"/>
            <a:ext cx="1440176" cy="1010364"/>
            <a:chOff x="6428411" y="3043270"/>
            <a:chExt cx="1440176" cy="101036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027EC2-C79E-C601-A336-0E20C0F95BCD}"/>
                </a:ext>
              </a:extLst>
            </p:cNvPr>
            <p:cNvSpPr txBox="1"/>
            <p:nvPr/>
          </p:nvSpPr>
          <p:spPr>
            <a:xfrm>
              <a:off x="6428411" y="3043270"/>
              <a:ext cx="1440176" cy="7335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ts val="25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SemiBold" panose="020B0004020202020204" pitchFamily="34" charset="0"/>
                  <a:ea typeface="+mn-ea"/>
                  <a:cs typeface="+mn-cs"/>
                </a:rPr>
                <a:t>Memory </a:t>
              </a:r>
            </a:p>
            <a:p>
              <a:pPr marL="0" marR="0" lvl="0" indent="0" algn="ctr" defTabSz="457200" rtl="0" eaLnBrk="1" fontAlgn="auto" latinLnBrk="0" hangingPunct="1">
                <a:lnSpc>
                  <a:spcPts val="25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 SemiBold" panose="020B0004020202020204" pitchFamily="34" charset="0"/>
                  <a:ea typeface="+mn-ea"/>
                  <a:cs typeface="+mn-cs"/>
                </a:rPr>
                <a:t>Access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AC34EDE-8794-01AA-9C74-AC30CF0AB7D4}"/>
                </a:ext>
              </a:extLst>
            </p:cNvPr>
            <p:cNvSpPr/>
            <p:nvPr/>
          </p:nvSpPr>
          <p:spPr>
            <a:xfrm>
              <a:off x="6995004" y="3701139"/>
              <a:ext cx="352495" cy="352495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H" sz="2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3</a:t>
              </a: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B1D32D09-AD29-6B3E-36F4-2677C073B306}"/>
              </a:ext>
            </a:extLst>
          </p:cNvPr>
          <p:cNvSpPr/>
          <p:nvPr/>
        </p:nvSpPr>
        <p:spPr>
          <a:xfrm>
            <a:off x="6116192" y="5564962"/>
            <a:ext cx="352495" cy="35249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2FFF7A-D8E0-EF9D-C107-18DBB08F732F}"/>
              </a:ext>
            </a:extLst>
          </p:cNvPr>
          <p:cNvSpPr/>
          <p:nvPr/>
        </p:nvSpPr>
        <p:spPr>
          <a:xfrm>
            <a:off x="4885354" y="3480273"/>
            <a:ext cx="352495" cy="35249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22" name="Rounded Rectangle 37">
            <a:extLst>
              <a:ext uri="{FF2B5EF4-FFF2-40B4-BE49-F238E27FC236}">
                <a16:creationId xmlns:a16="http://schemas.microsoft.com/office/drawing/2014/main" id="{B45B7B0B-9D72-A5AB-F648-3AA0251155AB}"/>
              </a:ext>
            </a:extLst>
          </p:cNvPr>
          <p:cNvSpPr/>
          <p:nvPr/>
        </p:nvSpPr>
        <p:spPr>
          <a:xfrm>
            <a:off x="433102" y="1716966"/>
            <a:ext cx="4371112" cy="583581"/>
          </a:xfrm>
          <a:prstGeom prst="roundRect">
            <a:avLst>
              <a:gd name="adj" fmla="val 4115"/>
            </a:avLst>
          </a:prstGeom>
          <a:solidFill>
            <a:schemeClr val="tx2">
              <a:lumMod val="75000"/>
              <a:alpha val="3348"/>
            </a:schemeClr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Page Fault Handler</a:t>
            </a:r>
          </a:p>
        </p:txBody>
      </p:sp>
      <p:sp>
        <p:nvSpPr>
          <p:cNvPr id="23" name="Rounded Rectangle 40">
            <a:extLst>
              <a:ext uri="{FF2B5EF4-FFF2-40B4-BE49-F238E27FC236}">
                <a16:creationId xmlns:a16="http://schemas.microsoft.com/office/drawing/2014/main" id="{BF74B48A-F846-43A5-134E-46C8F60E7049}"/>
              </a:ext>
            </a:extLst>
          </p:cNvPr>
          <p:cNvSpPr/>
          <p:nvPr/>
        </p:nvSpPr>
        <p:spPr>
          <a:xfrm>
            <a:off x="837981" y="2192989"/>
            <a:ext cx="3769045" cy="677293"/>
          </a:xfrm>
          <a:prstGeom prst="roundRect">
            <a:avLst>
              <a:gd name="adj" fmla="val 4115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AB48CE-5088-FA7D-D369-8BEE7438928E}"/>
              </a:ext>
            </a:extLst>
          </p:cNvPr>
          <p:cNvSpPr/>
          <p:nvPr/>
        </p:nvSpPr>
        <p:spPr>
          <a:xfrm>
            <a:off x="4998548" y="1030703"/>
            <a:ext cx="352495" cy="35249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5" name="Rounded Rectangle 46">
            <a:extLst>
              <a:ext uri="{FF2B5EF4-FFF2-40B4-BE49-F238E27FC236}">
                <a16:creationId xmlns:a16="http://schemas.microsoft.com/office/drawing/2014/main" id="{4E37A124-C9B2-4855-F04B-04A47B2435C1}"/>
              </a:ext>
            </a:extLst>
          </p:cNvPr>
          <p:cNvSpPr/>
          <p:nvPr/>
        </p:nvSpPr>
        <p:spPr>
          <a:xfrm>
            <a:off x="157300" y="2922938"/>
            <a:ext cx="2507837" cy="967187"/>
          </a:xfrm>
          <a:prstGeom prst="roundRect">
            <a:avLst>
              <a:gd name="adj" fmla="val 4115"/>
            </a:avLst>
          </a:prstGeom>
          <a:solidFill>
            <a:srgbClr val="FF0000">
              <a:alpha val="3348"/>
            </a:srgb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Binary Instrumentation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F64D34-8A6D-72E7-AA9D-7603DC93FB5C}"/>
              </a:ext>
            </a:extLst>
          </p:cNvPr>
          <p:cNvCxnSpPr>
            <a:cxnSpLocks/>
          </p:cNvCxnSpPr>
          <p:nvPr/>
        </p:nvCxnSpPr>
        <p:spPr>
          <a:xfrm>
            <a:off x="977030" y="2300547"/>
            <a:ext cx="0" cy="62239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EB4F2F5-72AA-2BC4-1CB2-623C33858B58}"/>
              </a:ext>
            </a:extLst>
          </p:cNvPr>
          <p:cNvSpPr txBox="1"/>
          <p:nvPr/>
        </p:nvSpPr>
        <p:spPr>
          <a:xfrm>
            <a:off x="4083214" y="3069429"/>
            <a:ext cx="195677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Page Fault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1B6BCB-2EB6-60AE-9548-ACA62D21C064}"/>
              </a:ext>
            </a:extLst>
          </p:cNvPr>
          <p:cNvCxnSpPr>
            <a:cxnSpLocks/>
          </p:cNvCxnSpPr>
          <p:nvPr/>
        </p:nvCxnSpPr>
        <p:spPr>
          <a:xfrm flipV="1">
            <a:off x="4272873" y="2655690"/>
            <a:ext cx="0" cy="201382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B890304F-E9E8-A4D8-C315-3260E644046A}"/>
              </a:ext>
            </a:extLst>
          </p:cNvPr>
          <p:cNvSpPr/>
          <p:nvPr/>
        </p:nvSpPr>
        <p:spPr>
          <a:xfrm>
            <a:off x="4083214" y="1832509"/>
            <a:ext cx="352495" cy="35249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6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FCEBC01-EC5C-8F42-E83B-C3F1505E699C}"/>
              </a:ext>
            </a:extLst>
          </p:cNvPr>
          <p:cNvSpPr/>
          <p:nvPr/>
        </p:nvSpPr>
        <p:spPr>
          <a:xfrm>
            <a:off x="2082798" y="3046967"/>
            <a:ext cx="352495" cy="35249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805C92F-7EE6-6B06-A5D3-C492B028B037}"/>
              </a:ext>
            </a:extLst>
          </p:cNvPr>
          <p:cNvSpPr/>
          <p:nvPr/>
        </p:nvSpPr>
        <p:spPr>
          <a:xfrm>
            <a:off x="8069941" y="5880202"/>
            <a:ext cx="352495" cy="35249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698264-DE10-4EB0-D0D3-1A20201C60D9}"/>
              </a:ext>
            </a:extLst>
          </p:cNvPr>
          <p:cNvSpPr txBox="1"/>
          <p:nvPr/>
        </p:nvSpPr>
        <p:spPr>
          <a:xfrm>
            <a:off x="304767" y="6162605"/>
            <a:ext cx="615881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7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Intermediate Trace Creation</a:t>
            </a:r>
          </a:p>
        </p:txBody>
      </p:sp>
    </p:spTree>
    <p:extLst>
      <p:ext uri="{BB962C8B-B14F-4D97-AF65-F5344CB8AC3E}">
        <p14:creationId xmlns:p14="http://schemas.microsoft.com/office/powerpoint/2010/main" val="4294073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202CE-B2B2-2946-2FAF-AE447521A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CADB73-2E55-9934-00BF-847B78B9E31F}"/>
              </a:ext>
            </a:extLst>
          </p:cNvPr>
          <p:cNvSpPr txBox="1"/>
          <p:nvPr/>
        </p:nvSpPr>
        <p:spPr>
          <a:xfrm>
            <a:off x="170450" y="4227516"/>
            <a:ext cx="88030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case: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Enabling Swap Space Studies</a:t>
            </a:r>
            <a:endParaRPr kumimoji="0" lang="en-CH" sz="40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F0695D-38CD-3425-BBAA-2E155CD81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188" y="150619"/>
            <a:ext cx="4555619" cy="11564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E0CDF7-6A1B-B9A9-00CA-E737D5DEC33A}"/>
              </a:ext>
            </a:extLst>
          </p:cNvPr>
          <p:cNvSpPr txBox="1"/>
          <p:nvPr/>
        </p:nvSpPr>
        <p:spPr>
          <a:xfrm>
            <a:off x="1653436" y="2182505"/>
            <a:ext cx="6427345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75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Ramulator</a:t>
            </a: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kumimoji="0" lang="en-CH" sz="75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2.0</a:t>
            </a:r>
          </a:p>
        </p:txBody>
      </p:sp>
      <p:pic>
        <p:nvPicPr>
          <p:cNvPr id="6" name="Graphic 5" descr="Badge Follow with solid fill">
            <a:extLst>
              <a:ext uri="{FF2B5EF4-FFF2-40B4-BE49-F238E27FC236}">
                <a16:creationId xmlns:a16="http://schemas.microsoft.com/office/drawing/2014/main" id="{4F5674A4-D67F-4C98-8F9C-D92AED57DC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0662" y="1499835"/>
            <a:ext cx="682670" cy="68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40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82A16A-2B13-8FF2-55D5-6DCF242A7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Follow the Tutorial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3A746C-48AD-3583-F713-3B652C4AD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5" t="7709" r="28611"/>
          <a:stretch>
            <a:fillRect/>
          </a:stretch>
        </p:blipFill>
        <p:spPr>
          <a:xfrm>
            <a:off x="728025" y="1125852"/>
            <a:ext cx="7467600" cy="469968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0DFF61-B1E6-89D4-4BB1-6E4F12D6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26AD06-1C69-4F40-B475-B9DE4452D124}" type="slidenum">
              <a:rPr kumimoji="0" lang="en-CH" sz="2500" b="0" i="0" u="none" strike="noStrike" kern="1200" cap="none" spc="0" normalizeH="0" baseline="0" noProof="0" smtClean="0">
                <a:ln>
                  <a:noFill/>
                </a:ln>
                <a:solidFill>
                  <a:srgbClr val="16274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CH" sz="2500" b="0" i="0" u="none" strike="noStrike" kern="1200" cap="none" spc="0" normalizeH="0" baseline="0" noProof="0" dirty="0">
              <a:ln>
                <a:noFill/>
              </a:ln>
              <a:solidFill>
                <a:srgbClr val="16274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447F1B7D-4A8C-9FE6-EF1E-E1DA0F535F84}"/>
              </a:ext>
            </a:extLst>
          </p:cNvPr>
          <p:cNvSpPr txBox="1"/>
          <p:nvPr/>
        </p:nvSpPr>
        <p:spPr>
          <a:xfrm>
            <a:off x="518475" y="5964307"/>
            <a:ext cx="78867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sng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Virtuoso+Ramulator</a:t>
            </a:r>
            <a:r>
              <a:rPr kumimoji="0" lang="en-GB" sz="3000" b="1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: 8:10:00 – 8:42:00</a:t>
            </a:r>
            <a:endParaRPr kumimoji="0" lang="en-CH" sz="3000" b="1" i="0" u="sng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516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0E47-9353-061B-6E83-77703BE6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Virtuoso Workshop at ASPLOS'26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553101-329D-E503-6A99-0F874411B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6" r="19012"/>
          <a:stretch>
            <a:fillRect/>
          </a:stretch>
        </p:blipFill>
        <p:spPr>
          <a:xfrm>
            <a:off x="298588" y="987087"/>
            <a:ext cx="8495544" cy="53976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10EC1-FABD-592B-8E59-3635EC2B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321393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6B0B-5AD4-0F97-2E5B-643B08D24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Integrations from the Community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DECA5-086D-E1D7-172F-9863AF137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87087"/>
            <a:ext cx="9143999" cy="5189876"/>
          </a:xfrm>
        </p:spPr>
        <p:txBody>
          <a:bodyPr/>
          <a:lstStyle/>
          <a:p>
            <a:r>
              <a:rPr lang="en-US" dirty="0"/>
              <a:t>Integration with </a:t>
            </a:r>
            <a:r>
              <a:rPr lang="en-US" dirty="0" err="1"/>
              <a:t>ChampSim</a:t>
            </a:r>
            <a:r>
              <a:rPr lang="en-US" dirty="0"/>
              <a:t> (as the core model)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61E8C-DBB4-77E6-1F36-93747045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42</a:t>
            </a:fld>
            <a:endParaRPr lang="tr-T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689DD-EEDC-9D36-131C-D09467AB121F}"/>
              </a:ext>
            </a:extLst>
          </p:cNvPr>
          <p:cNvSpPr txBox="1"/>
          <p:nvPr/>
        </p:nvSpPr>
        <p:spPr>
          <a:xfrm>
            <a:off x="1219200" y="5793105"/>
            <a:ext cx="6660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316CE3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https://arxiv.org/pdf/2505.10111</a:t>
            </a:r>
            <a:endParaRPr lang="en-US" sz="2400" dirty="0">
              <a:solidFill>
                <a:srgbClr val="316CE3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709BA8-232A-9DB5-7B2F-085549B1A3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8" t="4423" r="11806" b="38439"/>
          <a:stretch>
            <a:fillRect/>
          </a:stretch>
        </p:blipFill>
        <p:spPr>
          <a:xfrm>
            <a:off x="805246" y="2155179"/>
            <a:ext cx="7824471" cy="34106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7001B4-3B7B-451B-C145-2F9D7196A15C}"/>
              </a:ext>
            </a:extLst>
          </p:cNvPr>
          <p:cNvSpPr/>
          <p:nvPr/>
        </p:nvSpPr>
        <p:spPr>
          <a:xfrm>
            <a:off x="3625041" y="1577897"/>
            <a:ext cx="1842638" cy="47413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+mj-lt"/>
              </a:rPr>
              <a:t>ISCA 2025</a:t>
            </a:r>
          </a:p>
        </p:txBody>
      </p:sp>
    </p:spTree>
    <p:extLst>
      <p:ext uri="{BB962C8B-B14F-4D97-AF65-F5344CB8AC3E}">
        <p14:creationId xmlns:p14="http://schemas.microsoft.com/office/powerpoint/2010/main" val="32376148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029C9-4567-4014-3027-9DEC4CC1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63B37D-8BAC-3A53-4C27-92CD8CACF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07223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316CE3"/>
                </a:solidFill>
              </a:rPr>
              <a:t>Ramulator</a:t>
            </a:r>
            <a:r>
              <a:rPr lang="en-US" b="1" dirty="0">
                <a:solidFill>
                  <a:srgbClr val="316CE3"/>
                </a:solidFill>
              </a:rPr>
              <a:t> 2.0 </a:t>
            </a:r>
            <a:br>
              <a:rPr lang="en-US" b="1" dirty="0">
                <a:solidFill>
                  <a:srgbClr val="316CE3"/>
                </a:solidFill>
              </a:rPr>
            </a:br>
            <a:r>
              <a:rPr lang="en-US" b="1" dirty="0">
                <a:solidFill>
                  <a:srgbClr val="316CE3"/>
                </a:solidFill>
              </a:rPr>
              <a:t>Impact, Future Work </a:t>
            </a:r>
            <a:br>
              <a:rPr lang="en-US" b="1" dirty="0">
                <a:solidFill>
                  <a:srgbClr val="316CE3"/>
                </a:solidFill>
              </a:rPr>
            </a:br>
            <a:r>
              <a:rPr lang="en-US" b="1" dirty="0">
                <a:solidFill>
                  <a:srgbClr val="316CE3"/>
                </a:solidFill>
              </a:rPr>
              <a:t>and Conclusion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51E3B41-9D06-B140-4245-5AEC708E8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2ABA5-F9DE-BC67-A9EE-14FB5E5DA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059770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4854-F755-B5B3-84AA-5C4B9E10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9BD1-127B-F836-2AE2-542EFB0A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 2.0 Already Enabled Many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404D8-0F00-373E-5586-9EF8CFA70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87087"/>
            <a:ext cx="9143999" cy="5392692"/>
          </a:xfrm>
        </p:spPr>
        <p:txBody>
          <a:bodyPr>
            <a:normAutofit fontScale="85000" lnSpcReduction="20000"/>
          </a:bodyPr>
          <a:lstStyle/>
          <a:p>
            <a:r>
              <a:rPr lang="en-GB" sz="1800" dirty="0"/>
              <a:t>Nam, </a:t>
            </a:r>
            <a:r>
              <a:rPr lang="en-GB" sz="1800" dirty="0" err="1"/>
              <a:t>Hwayong</a:t>
            </a:r>
            <a:r>
              <a:rPr lang="en-GB" sz="1800" dirty="0"/>
              <a:t>, et al., "</a:t>
            </a:r>
            <a:r>
              <a:rPr lang="en-GB" sz="1800" dirty="0" err="1"/>
              <a:t>RoMe</a:t>
            </a:r>
            <a:r>
              <a:rPr lang="en-GB" sz="1800" dirty="0"/>
              <a:t>: Row Granularity Access Memory System for Large Language Models", HPCA 2026.</a:t>
            </a:r>
          </a:p>
          <a:p>
            <a:r>
              <a:rPr lang="en-GB" sz="1800" dirty="0"/>
              <a:t>Yuksel, Ismail, et al. "</a:t>
            </a:r>
            <a:r>
              <a:rPr lang="en-GB" sz="1800" dirty="0" err="1"/>
              <a:t>PuDHammer</a:t>
            </a:r>
            <a:r>
              <a:rPr lang="en-GB" sz="1800" dirty="0"/>
              <a:t>: Experimental Analysis of Read Disturbance Effects of Processing-using-DRAM in Real DRAM Chips" ISCA 2025.</a:t>
            </a:r>
          </a:p>
          <a:p>
            <a:r>
              <a:rPr lang="en-GB" sz="1800" dirty="0"/>
              <a:t>Li, Cong, et al. "H2-LLM: Hardware-Dataflow Co-Exploration for Heterogeneous Hybrid-Bonding-based Low-Batch LLM Inference." ISCA 2025.</a:t>
            </a:r>
            <a:endParaRPr lang="en-US" sz="1800" dirty="0"/>
          </a:p>
          <a:p>
            <a:r>
              <a:rPr lang="en-US" sz="1800" dirty="0"/>
              <a:t>Canpolat, Oğuzhan, et al. "</a:t>
            </a:r>
            <a:r>
              <a:rPr lang="en-US" sz="1800" dirty="0" err="1"/>
              <a:t>Chronus</a:t>
            </a:r>
            <a:r>
              <a:rPr lang="en-US" sz="1800" dirty="0"/>
              <a:t>: Understanding and securing the cutting-edge industry solutions to dram read disturbance." HPCA 2025.</a:t>
            </a:r>
          </a:p>
          <a:p>
            <a:r>
              <a:rPr lang="en-US" sz="1800" dirty="0"/>
              <a:t>Olgun, </a:t>
            </a:r>
            <a:r>
              <a:rPr lang="en-US" sz="1800" dirty="0" err="1"/>
              <a:t>Ataberk</a:t>
            </a:r>
            <a:r>
              <a:rPr lang="en-US" sz="1800" dirty="0"/>
              <a:t>, et al. "Variable Read Disturbance: An Experimental Analysis of Temporal Variation in DRAM Read Disturbance." HPCA 2025.</a:t>
            </a:r>
          </a:p>
          <a:p>
            <a:r>
              <a:rPr lang="en-US" sz="1800" dirty="0"/>
              <a:t>Woo, </a:t>
            </a:r>
            <a:r>
              <a:rPr lang="en-US" sz="1800" dirty="0" err="1"/>
              <a:t>Jeonghyun</a:t>
            </a:r>
            <a:r>
              <a:rPr lang="en-US" sz="1800" dirty="0"/>
              <a:t>, et al. "QPRAC: Towards Secure and Practical PRAC-based </a:t>
            </a:r>
            <a:r>
              <a:rPr lang="en-US" sz="1800" dirty="0" err="1"/>
              <a:t>RowHammer</a:t>
            </a:r>
            <a:r>
              <a:rPr lang="en-US" sz="1800" dirty="0"/>
              <a:t> Mitigation using Priority Queues." HPCA 2025.</a:t>
            </a:r>
          </a:p>
          <a:p>
            <a:r>
              <a:rPr lang="en-US" sz="1800" dirty="0"/>
              <a:t>Woo, </a:t>
            </a:r>
            <a:r>
              <a:rPr lang="en-US" sz="1800" dirty="0" err="1"/>
              <a:t>Jeonghyun</a:t>
            </a:r>
            <a:r>
              <a:rPr lang="en-US" sz="1800" dirty="0"/>
              <a:t>, and Prashant J. Nair. "DAPPER: A Performance-Attack-Resilient Tracker for </a:t>
            </a:r>
            <a:r>
              <a:rPr lang="en-US" sz="1800" dirty="0" err="1"/>
              <a:t>RowHammer</a:t>
            </a:r>
            <a:r>
              <a:rPr lang="en-US" sz="1800" dirty="0"/>
              <a:t> Defense." HPCA 2025.</a:t>
            </a:r>
          </a:p>
          <a:p>
            <a:r>
              <a:rPr lang="en-GB" sz="1800" dirty="0"/>
              <a:t>Wang, Cheng, and Mingyu Gao. "</a:t>
            </a:r>
            <a:r>
              <a:rPr lang="en-GB" sz="1800" dirty="0" err="1"/>
              <a:t>UniZK</a:t>
            </a:r>
            <a:r>
              <a:rPr lang="en-GB" sz="1800" dirty="0"/>
              <a:t>: Accelerating Zero-Knowledge Proof with Unified Hardware and Flexible Kernel Mapping." ASPLOS 2025.</a:t>
            </a:r>
            <a:endParaRPr lang="en-US" sz="1800" dirty="0"/>
          </a:p>
          <a:p>
            <a:r>
              <a:rPr lang="en-US" sz="1800" dirty="0"/>
              <a:t>Yun, Sungmin, et al. "Duplex: A Device for Large Language Models with Mixture of Experts, Grouped Query Attention, and Continuous Batching." MICRO 2024.</a:t>
            </a:r>
          </a:p>
          <a:p>
            <a:r>
              <a:rPr lang="en-US" sz="1800" dirty="0"/>
              <a:t>Lee, Seung Yul, et al. "VGA: Hardware Accelerator for Scalable Long Sequence Model Inference." MICRO 2024.</a:t>
            </a:r>
          </a:p>
          <a:p>
            <a:r>
              <a:rPr lang="en-US" sz="1800" dirty="0"/>
              <a:t>Zhao, Yilong, et al. "UM-PIM: DRAM-based PIM with Uniform &amp; Shared Memory Space." ISCA 2024.</a:t>
            </a:r>
          </a:p>
          <a:p>
            <a:r>
              <a:rPr lang="en-US" sz="1800" dirty="0"/>
              <a:t>Li, </a:t>
            </a:r>
            <a:r>
              <a:rPr lang="en-US" sz="1800" dirty="0" err="1"/>
              <a:t>Jinhao</a:t>
            </a:r>
            <a:r>
              <a:rPr lang="en-US" sz="1800" dirty="0"/>
              <a:t>, et al. "MARCA: Mamba Accelerator with Reconfigurable Architecture." ICCAD 2024.</a:t>
            </a:r>
          </a:p>
          <a:p>
            <a:r>
              <a:rPr lang="en-US" sz="1800" dirty="0"/>
              <a:t>And many more other works…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64A83-2F5F-7CC5-6733-F8E4BB38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44</a:t>
            </a:fld>
            <a:endParaRPr lang="tr-T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C239D-8C2F-79EC-1C90-EEF5EFE33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001" y="3921703"/>
            <a:ext cx="3542085" cy="2705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030670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FA08-E95E-7AB0-9B1A-F17A0326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next for </a:t>
            </a:r>
            <a:r>
              <a:rPr lang="en-US" dirty="0" err="1"/>
              <a:t>Ramulator</a:t>
            </a:r>
            <a:r>
              <a:rPr lang="en-US" dirty="0"/>
              <a:t> 2.0?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AA722-3F86-D70A-F558-17FF81072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31024"/>
            <a:ext cx="8993670" cy="55861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We have been working on:</a:t>
            </a:r>
          </a:p>
          <a:p>
            <a:pPr marL="0" indent="0">
              <a:buNone/>
            </a:pPr>
            <a:endParaRPr lang="en-GB" sz="800" dirty="0"/>
          </a:p>
          <a:p>
            <a:pPr lvl="1"/>
            <a:r>
              <a:rPr lang="en-GB" sz="2800" dirty="0"/>
              <a:t>Unit &amp; regression test coverage</a:t>
            </a:r>
          </a:p>
          <a:p>
            <a:pPr lvl="2"/>
            <a:r>
              <a:rPr lang="en-GB" sz="2400" dirty="0"/>
              <a:t>Verifying the timing constraints for all DRAM standards</a:t>
            </a:r>
          </a:p>
          <a:p>
            <a:pPr lvl="2"/>
            <a:endParaRPr lang="en-GB" sz="200" dirty="0"/>
          </a:p>
          <a:p>
            <a:pPr lvl="1"/>
            <a:r>
              <a:rPr lang="en-GB" sz="2800" dirty="0"/>
              <a:t>More detailed memory controller modelling</a:t>
            </a:r>
          </a:p>
          <a:p>
            <a:pPr lvl="2"/>
            <a:r>
              <a:rPr lang="en-GB" sz="2400" dirty="0"/>
              <a:t>HBM Controllers</a:t>
            </a:r>
          </a:p>
          <a:p>
            <a:pPr lvl="2"/>
            <a:endParaRPr lang="en-GB" sz="200" dirty="0"/>
          </a:p>
          <a:p>
            <a:pPr lvl="1"/>
            <a:r>
              <a:rPr lang="en-GB" sz="2800" dirty="0"/>
              <a:t>More DRAM standards and emerging technologies</a:t>
            </a:r>
          </a:p>
          <a:p>
            <a:pPr lvl="2"/>
            <a:r>
              <a:rPr lang="en-GB" sz="2400" dirty="0"/>
              <a:t>GDDR6, HBM4</a:t>
            </a:r>
          </a:p>
          <a:p>
            <a:pPr lvl="2"/>
            <a:endParaRPr lang="en-GB" sz="200" dirty="0"/>
          </a:p>
          <a:p>
            <a:pPr lvl="1"/>
            <a:r>
              <a:rPr lang="en-US" sz="2800" dirty="0"/>
              <a:t>Better tools for debugging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dirty="0"/>
              <a:t>Some of these changes</a:t>
            </a:r>
            <a:br>
              <a:rPr lang="en-US" dirty="0"/>
            </a:br>
            <a:r>
              <a:rPr lang="en-US" dirty="0"/>
              <a:t>are  happening soon…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55646-021B-58EC-908C-F000E471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022981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48F94-A9EB-6379-F5EA-DC89F68A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</a:t>
            </a:r>
            <a:r>
              <a:rPr lang="en-US" dirty="0" err="1"/>
              <a:t>Ramulator</a:t>
            </a:r>
            <a:r>
              <a:rPr lang="en-US" dirty="0"/>
              <a:t> 2.1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80316-0675-D6E6-7098-EF24D08F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46</a:t>
            </a:fld>
            <a:endParaRPr lang="tr-TR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A1BF5C3-C682-601A-C59A-217AD3418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6225" y="1303867"/>
            <a:ext cx="5520266" cy="78087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🎉 </a:t>
            </a:r>
            <a:r>
              <a:rPr lang="en-US" sz="3500" dirty="0" err="1"/>
              <a:t>Ramulator</a:t>
            </a:r>
            <a:r>
              <a:rPr lang="en-US" sz="3500" dirty="0"/>
              <a:t> 2.1 is now online!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93A392-65F0-296B-5DAD-60364F432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5" t="13101" r="18889" b="15848"/>
          <a:stretch>
            <a:fillRect/>
          </a:stretch>
        </p:blipFill>
        <p:spPr>
          <a:xfrm>
            <a:off x="770226" y="2192109"/>
            <a:ext cx="7552268" cy="33620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63E201-8186-6A72-46AF-324A25D05960}"/>
              </a:ext>
            </a:extLst>
          </p:cNvPr>
          <p:cNvSpPr txBox="1"/>
          <p:nvPr/>
        </p:nvSpPr>
        <p:spPr>
          <a:xfrm>
            <a:off x="770225" y="5793105"/>
            <a:ext cx="7552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316CE3"/>
                </a:solidFill>
                <a:latin typeface="+mj-lt"/>
                <a:hlinkClick r:id="rId3"/>
              </a:rPr>
              <a:t>https://github.com/CMU-SAFARI/ramulator2/tree/v2.1</a:t>
            </a:r>
            <a:endParaRPr lang="en-US" sz="2400" dirty="0">
              <a:solidFill>
                <a:srgbClr val="316CE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2062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Ramulator</a:t>
            </a:r>
            <a:r>
              <a:rPr lang="en-US" dirty="0"/>
              <a:t> 2.1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041069"/>
            <a:ext cx="9143999" cy="53016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Ramulator 2.1 is a major overhaul of Ramulator 2.0 that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2800" dirty="0">
                <a:solidFill>
                  <a:srgbClr val="316CE3"/>
                </a:solidFill>
              </a:rPr>
              <a:t>Fixes almost all bugs</a:t>
            </a:r>
            <a:r>
              <a:rPr lang="en-US" sz="2800" dirty="0"/>
              <a:t> identified by current </a:t>
            </a:r>
            <a:r>
              <a:rPr lang="en-US" sz="2800" dirty="0" err="1"/>
              <a:t>Github</a:t>
            </a:r>
            <a:r>
              <a:rPr lang="en-US" sz="2800" dirty="0"/>
              <a:t> issues </a:t>
            </a:r>
            <a:br>
              <a:rPr lang="en-US" sz="2800" dirty="0"/>
            </a:br>
            <a:r>
              <a:rPr lang="en-US" sz="2800" dirty="0"/>
              <a:t>and internal testing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More comprehensive support for </a:t>
            </a:r>
            <a:br>
              <a:rPr lang="en-US" sz="2800" dirty="0"/>
            </a:br>
            <a:r>
              <a:rPr lang="en-US" sz="2800" dirty="0">
                <a:solidFill>
                  <a:srgbClr val="316CE3"/>
                </a:solidFill>
              </a:rPr>
              <a:t>new DRAM &amp; controller features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More comprehensive set of </a:t>
            </a:r>
            <a:r>
              <a:rPr lang="en-US" sz="2800" dirty="0">
                <a:solidFill>
                  <a:srgbClr val="316CE3"/>
                </a:solidFill>
              </a:rPr>
              <a:t>tests and validations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Significantly improved </a:t>
            </a:r>
            <a:r>
              <a:rPr lang="en-US" sz="2800" dirty="0">
                <a:solidFill>
                  <a:srgbClr val="316CE3"/>
                </a:solidFill>
              </a:rPr>
              <a:t>the ease of use, </a:t>
            </a:r>
            <a:br>
              <a:rPr lang="en-US" sz="2800" dirty="0">
                <a:solidFill>
                  <a:srgbClr val="316CE3"/>
                </a:solidFill>
              </a:rPr>
            </a:br>
            <a:r>
              <a:rPr lang="en-US" sz="2800" dirty="0">
                <a:solidFill>
                  <a:srgbClr val="316CE3"/>
                </a:solidFill>
              </a:rPr>
              <a:t>configuration, and extension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Overall </a:t>
            </a:r>
            <a:r>
              <a:rPr lang="en-US" sz="2800" dirty="0">
                <a:solidFill>
                  <a:srgbClr val="316CE3"/>
                </a:solidFill>
              </a:rPr>
              <a:t>code quality improvements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Much more detailed </a:t>
            </a:r>
            <a:r>
              <a:rPr lang="en-US" sz="2800" dirty="0">
                <a:solidFill>
                  <a:srgbClr val="316CE3"/>
                </a:solidFill>
              </a:rPr>
              <a:t>documentation and usage guide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09982-8C8C-AB71-92EF-92B9E732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92643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C696-9EDB-A573-E365-824B37AB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for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BC1C-713F-5AF6-F95C-276DF8A66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46629"/>
            <a:ext cx="9143999" cy="5030334"/>
          </a:xfrm>
        </p:spPr>
        <p:txBody>
          <a:bodyPr>
            <a:normAutofit/>
          </a:bodyPr>
          <a:lstStyle/>
          <a:p>
            <a:pPr fontAlgn="base"/>
            <a:r>
              <a:rPr lang="en-GB" dirty="0"/>
              <a:t>Integration with other simulators</a:t>
            </a:r>
          </a:p>
          <a:p>
            <a:pPr lvl="1" fontAlgn="base"/>
            <a:r>
              <a:rPr lang="en-GB" sz="2800" dirty="0" err="1"/>
              <a:t>ChampSim</a:t>
            </a:r>
            <a:r>
              <a:rPr lang="en-GB" sz="2800" dirty="0"/>
              <a:t>, Sniper, your favourite system simulator</a:t>
            </a:r>
          </a:p>
          <a:p>
            <a:pPr fontAlgn="base"/>
            <a:r>
              <a:rPr lang="en-GB" dirty="0"/>
              <a:t>More DRAM standards and emerging memory technologies</a:t>
            </a:r>
          </a:p>
          <a:p>
            <a:pPr fontAlgn="base"/>
            <a:r>
              <a:rPr lang="en-GB" dirty="0"/>
              <a:t>More DRAM timing presets</a:t>
            </a:r>
          </a:p>
          <a:p>
            <a:pPr fontAlgn="base"/>
            <a:r>
              <a:rPr lang="en-GB" dirty="0"/>
              <a:t>Aligning our generic memory controller models to your hardware designs</a:t>
            </a:r>
          </a:p>
          <a:p>
            <a:pPr fontAlgn="base"/>
            <a:r>
              <a:rPr lang="en-GB" dirty="0"/>
              <a:t>…</a:t>
            </a:r>
          </a:p>
          <a:p>
            <a:pPr fontAlgn="base"/>
            <a:endParaRPr lang="en-GB" dirty="0"/>
          </a:p>
          <a:p>
            <a:pPr fontAlgn="base"/>
            <a:r>
              <a:rPr lang="en-GB" dirty="0"/>
              <a:t>Further contributions are also welcome</a:t>
            </a:r>
            <a:br>
              <a:rPr lang="en-GB" dirty="0"/>
            </a:br>
            <a:r>
              <a:rPr lang="en-GB" dirty="0"/>
              <a:t>and we would be happy to help with and support all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34D4-B5FD-7DE6-7203-D8B65562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42155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E69A-A73F-C650-B042-BEA9E3CD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283EE-B6B1-8586-2DBE-8B806698A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6F571-C4C2-50CD-9A97-B8FCFA03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B309-C2CE-4D90-B104-F7E98438FC65}" type="slidenum">
              <a:rPr lang="tr-TR" smtClean="0"/>
              <a:pPr/>
              <a:t>49</a:t>
            </a:fld>
            <a:endParaRPr lang="tr-TR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59C8AB-A863-898D-B602-6B4F1CB5C6D1}"/>
              </a:ext>
            </a:extLst>
          </p:cNvPr>
          <p:cNvGrpSpPr/>
          <p:nvPr/>
        </p:nvGrpSpPr>
        <p:grpSpPr>
          <a:xfrm>
            <a:off x="5846564" y="5007295"/>
            <a:ext cx="1200764" cy="1422217"/>
            <a:chOff x="3145354" y="4789601"/>
            <a:chExt cx="1200764" cy="142221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A49F872-6FE2-0775-46CB-B840C721C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5354" y="4789601"/>
              <a:ext cx="1200764" cy="1200764"/>
            </a:xfrm>
            <a:prstGeom prst="rect">
              <a:avLst/>
            </a:prstGeom>
          </p:spPr>
        </p:pic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DD522C9D-2D50-EFDB-2215-2B7266D920C3}"/>
                </a:ext>
              </a:extLst>
            </p:cNvPr>
            <p:cNvSpPr txBox="1"/>
            <p:nvPr/>
          </p:nvSpPr>
          <p:spPr>
            <a:xfrm>
              <a:off x="3145354" y="5873264"/>
              <a:ext cx="12007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+mj-lt"/>
                  <a:ea typeface="Cambria" panose="02040503050406030204" pitchFamily="18" charset="0"/>
                </a:rPr>
                <a:t>Paper</a:t>
              </a:r>
              <a:endParaRPr lang="LID4096" sz="1600" b="1" dirty="0">
                <a:solidFill>
                  <a:srgbClr val="C00000"/>
                </a:solidFill>
                <a:latin typeface="+mj-lt"/>
                <a:ea typeface="Cambria" panose="02040503050406030204" pitchFamily="18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84D524-23D1-4BC2-F51A-05F1E2257ADB}"/>
              </a:ext>
            </a:extLst>
          </p:cNvPr>
          <p:cNvGrpSpPr/>
          <p:nvPr/>
        </p:nvGrpSpPr>
        <p:grpSpPr>
          <a:xfrm>
            <a:off x="7195090" y="5007087"/>
            <a:ext cx="1200764" cy="1440517"/>
            <a:chOff x="4943667" y="4789601"/>
            <a:chExt cx="1200764" cy="144051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7117A6A-01F7-CDB0-6081-8A3EFD362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43667" y="4789601"/>
              <a:ext cx="1200764" cy="1200764"/>
            </a:xfrm>
            <a:prstGeom prst="rect">
              <a:avLst/>
            </a:prstGeom>
          </p:spPr>
        </p:pic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15DD8958-81A0-5492-5C36-6F3A09670035}"/>
                </a:ext>
              </a:extLst>
            </p:cNvPr>
            <p:cNvSpPr txBox="1"/>
            <p:nvPr/>
          </p:nvSpPr>
          <p:spPr>
            <a:xfrm>
              <a:off x="4943667" y="5891564"/>
              <a:ext cx="12007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+mj-lt"/>
                  <a:ea typeface="Cambria" panose="02040503050406030204" pitchFamily="18" charset="0"/>
                </a:rPr>
                <a:t>GitHub</a:t>
              </a:r>
              <a:endParaRPr lang="LID4096" sz="1600" b="1" dirty="0">
                <a:latin typeface="+mj-lt"/>
                <a:ea typeface="Cambria" panose="02040503050406030204" pitchFamily="18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33D9AA5-D72A-2032-083F-9E3508CA4268}"/>
              </a:ext>
            </a:extLst>
          </p:cNvPr>
          <p:cNvSpPr txBox="1"/>
          <p:nvPr/>
        </p:nvSpPr>
        <p:spPr>
          <a:xfrm>
            <a:off x="349138" y="5101726"/>
            <a:ext cx="5497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+mj-lt"/>
              </a:rPr>
              <a:t>We are happy to support</a:t>
            </a:r>
            <a:br>
              <a:rPr lang="en-GB" sz="2800" dirty="0">
                <a:latin typeface="+mj-lt"/>
              </a:rPr>
            </a:br>
            <a:r>
              <a:rPr lang="en-GB" sz="2800" dirty="0">
                <a:latin typeface="+mj-lt"/>
              </a:rPr>
              <a:t>and help anyone who wants to use it</a:t>
            </a:r>
            <a:endParaRPr lang="en-US" sz="28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A019C4-03D9-0AD3-687C-9D170B8B5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38" y="1572615"/>
            <a:ext cx="8395854" cy="30240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20525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7577-1855-4FB7-AFEF-68EB8A667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>
            <a:extLst>
              <a:ext uri="{FF2B5EF4-FFF2-40B4-BE49-F238E27FC236}">
                <a16:creationId xmlns:a16="http://schemas.microsoft.com/office/drawing/2014/main" id="{D4080371-F07E-5F09-028A-64AB66CC5E37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9144000" cy="3689131"/>
          </a:xfrm>
          <a:prstGeom prst="rect">
            <a:avLst/>
          </a:prstGeom>
          <a:solidFill>
            <a:srgbClr val="316CE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6600" b="1" dirty="0">
              <a:solidFill>
                <a:srgbClr val="70AD47"/>
              </a:solidFill>
            </a:endParaRP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328CCB1D-1784-9357-07FF-C20942E4A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97854"/>
            <a:ext cx="7772400" cy="2387600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 err="1">
                <a:solidFill>
                  <a:schemeClr val="bg1"/>
                </a:solidFill>
              </a:rPr>
              <a:t>Ramulator</a:t>
            </a:r>
            <a:r>
              <a:rPr lang="en-US" sz="6600" b="1" dirty="0">
                <a:solidFill>
                  <a:schemeClr val="bg1"/>
                </a:solidFill>
              </a:rPr>
              <a:t>: </a:t>
            </a:r>
            <a:br>
              <a:rPr lang="en-US" sz="6600" b="1" dirty="0">
                <a:solidFill>
                  <a:schemeClr val="bg1"/>
                </a:solidFill>
              </a:rPr>
            </a:br>
            <a:r>
              <a:rPr lang="en-US" sz="6600" b="1" dirty="0">
                <a:solidFill>
                  <a:schemeClr val="bg1"/>
                </a:solidFill>
              </a:rPr>
              <a:t>A Brief Introduction</a:t>
            </a:r>
            <a:endParaRPr lang="en-US" sz="6600" b="1" dirty="0">
              <a:solidFill>
                <a:schemeClr val="bg1"/>
              </a:solidFill>
              <a:cs typeface="Cambria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B432A8-C4FA-17B8-4F39-F020D7E8A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556" y="6128926"/>
            <a:ext cx="2176678" cy="4187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1CFC7B-7DC6-09E5-1BE2-1BE230381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1820" t="33599" r="12247" b="30996"/>
          <a:stretch/>
        </p:blipFill>
        <p:spPr>
          <a:xfrm>
            <a:off x="6111979" y="6090478"/>
            <a:ext cx="2657465" cy="4572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A5DA0ED-13F8-0A39-4D1B-A0A313944412}"/>
              </a:ext>
            </a:extLst>
          </p:cNvPr>
          <p:cNvSpPr txBox="1">
            <a:spLocks/>
          </p:cNvSpPr>
          <p:nvPr/>
        </p:nvSpPr>
        <p:spPr>
          <a:xfrm>
            <a:off x="1143000" y="3979309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+mj-lt"/>
                <a:cs typeface="Cambria"/>
              </a:rPr>
              <a:t>Nisa Bostanc</a:t>
            </a:r>
            <a:r>
              <a:rPr lang="tr-TR" b="1">
                <a:latin typeface="+mj-lt"/>
                <a:cs typeface="Cambria"/>
              </a:rPr>
              <a:t>ı</a:t>
            </a:r>
            <a:br>
              <a:rPr lang="en-US">
                <a:latin typeface="+mj-lt"/>
                <a:cs typeface="Cambria"/>
              </a:rPr>
            </a:br>
            <a:b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Cambria"/>
              </a:rPr>
            </a:b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Cambria"/>
              </a:rPr>
              <a:t>22.03.2026</a:t>
            </a:r>
            <a:b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Cambria"/>
              </a:rPr>
            </a:b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Cambria"/>
              </a:rPr>
              <a:t>R&amp;DB Tutorial at ASPLOS'26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35802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34390</TotalTime>
  <Words>2493</Words>
  <Application>Microsoft Macintosh PowerPoint</Application>
  <PresentationFormat>On-screen Show (4:3)</PresentationFormat>
  <Paragraphs>392</Paragraphs>
  <Slides>50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50</vt:i4>
      </vt:variant>
    </vt:vector>
  </HeadingPairs>
  <TitlesOfParts>
    <vt:vector size="70" baseType="lpstr">
      <vt:lpstr>ＭＳ Ｐゴシック</vt:lpstr>
      <vt:lpstr>Aptos</vt:lpstr>
      <vt:lpstr>Aptos Display</vt:lpstr>
      <vt:lpstr>Aptos SemiBold</vt:lpstr>
      <vt:lpstr>Arial</vt:lpstr>
      <vt:lpstr>Calibri</vt:lpstr>
      <vt:lpstr>Calibri Light</vt:lpstr>
      <vt:lpstr>Cambria</vt:lpstr>
      <vt:lpstr>Corbel</vt:lpstr>
      <vt:lpstr>Courier New</vt:lpstr>
      <vt:lpstr>Garamond</vt:lpstr>
      <vt:lpstr>Helvetica Neue</vt:lpstr>
      <vt:lpstr>Roboto Mono</vt:lpstr>
      <vt:lpstr>Segoe UI</vt:lpstr>
      <vt:lpstr>Tahoma</vt:lpstr>
      <vt:lpstr>Wingdings</vt:lpstr>
      <vt:lpstr>Office Teması</vt:lpstr>
      <vt:lpstr>Edge</vt:lpstr>
      <vt:lpstr>1_Office Theme</vt:lpstr>
      <vt:lpstr>1_Office Teması</vt:lpstr>
      <vt:lpstr>Ramulator:  A Brief Introduction</vt:lpstr>
      <vt:lpstr>Brief Self Introduction</vt:lpstr>
      <vt:lpstr>Ramulator  A Fast and Extensible DRAM Simulator  [IEEE Computer Architecture Letters’15]</vt:lpstr>
      <vt:lpstr>Motivation</vt:lpstr>
      <vt:lpstr>Ramulator: A Fast and Extensible DRAM Simulator </vt:lpstr>
      <vt:lpstr>Case Study: Comparison of DRAM Standards</vt:lpstr>
      <vt:lpstr>Ramulator Paper and Source Code</vt:lpstr>
      <vt:lpstr>Ramulator: Free &amp; Open Source</vt:lpstr>
      <vt:lpstr>Ramulator: Reproducibility</vt:lpstr>
      <vt:lpstr>Ramulator: Integration with Other Simulators</vt:lpstr>
      <vt:lpstr>Ramulator Enabled Many Works</vt:lpstr>
      <vt:lpstr>Ramulator 2.0  A Modern, Modular, and Extensible DRAM Simulator [IEEE Computer Architecture Letters’24]</vt:lpstr>
      <vt:lpstr>Motivation</vt:lpstr>
      <vt:lpstr>Executive Summary</vt:lpstr>
      <vt:lpstr>Ramulator 2.0  Design and Features</vt:lpstr>
      <vt:lpstr>Key Design Concepts</vt:lpstr>
      <vt:lpstr>Key Design Concepts (II)</vt:lpstr>
      <vt:lpstr>Memory Controller Plugins</vt:lpstr>
      <vt:lpstr>Memory Controller Plugins (II)</vt:lpstr>
      <vt:lpstr>Hierarchical DRAM Modeling</vt:lpstr>
      <vt:lpstr>Hierarchical DRAM Modeling (II)</vt:lpstr>
      <vt:lpstr>Hierarchical DRAM Modeling (III)</vt:lpstr>
      <vt:lpstr>More in the Paper</vt:lpstr>
      <vt:lpstr>Ramulator 2.0 is Open Sourced</vt:lpstr>
      <vt:lpstr>Ramulator 2.0  Validation</vt:lpstr>
      <vt:lpstr>Timing Validation </vt:lpstr>
      <vt:lpstr>Further Evaluation of Latency and Throughput</vt:lpstr>
      <vt:lpstr>Cleaning up the Mess (ISPASS 2026)</vt:lpstr>
      <vt:lpstr>Our Key Results</vt:lpstr>
      <vt:lpstr>More in the next sessions</vt:lpstr>
      <vt:lpstr>Ramulator 2.0  Integration with Other Simulators</vt:lpstr>
      <vt:lpstr>Ramulator 2.0 Integration</vt:lpstr>
      <vt:lpstr>Integration with gem5</vt:lpstr>
      <vt:lpstr>Integration with gem5 (II)</vt:lpstr>
      <vt:lpstr>Integration with Virtuoso</vt:lpstr>
      <vt:lpstr>Ramulator 2.0: Integration with Virtuoso (I)</vt:lpstr>
      <vt:lpstr>1st Workshop on Virtuoso at MICRO 2025 </vt:lpstr>
      <vt:lpstr>Workflow: Page Fault Handling Example</vt:lpstr>
      <vt:lpstr>PowerPoint Presentation</vt:lpstr>
      <vt:lpstr>Follow the Tutorial</vt:lpstr>
      <vt:lpstr>Virtuoso Workshop at ASPLOS'26</vt:lpstr>
      <vt:lpstr>More Integrations from the Community</vt:lpstr>
      <vt:lpstr>Ramulator 2.0  Impact, Future Work  and Conclusion</vt:lpstr>
      <vt:lpstr>Ramulator 2.0 Already Enabled Many Works</vt:lpstr>
      <vt:lpstr>What's next for Ramulator 2.0?</vt:lpstr>
      <vt:lpstr>Introducing Ramulator 2.1</vt:lpstr>
      <vt:lpstr>Ramulator 2.1</vt:lpstr>
      <vt:lpstr>Call for Contributions</vt:lpstr>
      <vt:lpstr>Conclusion &amp; Future Work</vt:lpstr>
      <vt:lpstr>Ramulator:  A Brief 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LeakyHammer and IMPACT</dc:title>
  <dc:creator>Fatma Nisa Bostancı</dc:creator>
  <cp:lastModifiedBy>Bostanci  Fatma Nisa</cp:lastModifiedBy>
  <cp:revision>812</cp:revision>
  <dcterms:created xsi:type="dcterms:W3CDTF">2022-03-02T08:12:14Z</dcterms:created>
  <dcterms:modified xsi:type="dcterms:W3CDTF">2026-06-27T04:02:12Z</dcterms:modified>
</cp:coreProperties>
</file>