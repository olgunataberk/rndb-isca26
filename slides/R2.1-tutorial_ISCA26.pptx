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0" r:id="rId4"/>
    <p:sldMasterId id="2147483698" r:id="rId5"/>
  </p:sldMasterIdLst>
  <p:notesMasterIdLst>
    <p:notesMasterId r:id="rId26"/>
  </p:notesMasterIdLst>
  <p:handoutMasterIdLst>
    <p:handoutMasterId r:id="rId27"/>
  </p:handoutMasterIdLst>
  <p:sldIdLst>
    <p:sldId id="7355" r:id="rId6"/>
    <p:sldId id="7357" r:id="rId7"/>
    <p:sldId id="7391" r:id="rId8"/>
    <p:sldId id="7376" r:id="rId9"/>
    <p:sldId id="7377" r:id="rId10"/>
    <p:sldId id="7378" r:id="rId11"/>
    <p:sldId id="7379" r:id="rId12"/>
    <p:sldId id="7363" r:id="rId13"/>
    <p:sldId id="7380" r:id="rId14"/>
    <p:sldId id="7381" r:id="rId15"/>
    <p:sldId id="7382" r:id="rId16"/>
    <p:sldId id="7383" r:id="rId17"/>
    <p:sldId id="7384" r:id="rId18"/>
    <p:sldId id="7385" r:id="rId19"/>
    <p:sldId id="7386" r:id="rId20"/>
    <p:sldId id="7387" r:id="rId21"/>
    <p:sldId id="7388" r:id="rId22"/>
    <p:sldId id="7389" r:id="rId23"/>
    <p:sldId id="7375" r:id="rId24"/>
    <p:sldId id="7374" r:id="rId25"/>
  </p:sldIdLst>
  <p:sldSz cx="9144000" cy="6858000" type="screen4x3"/>
  <p:notesSz cx="6858000" cy="9144000"/>
  <p:embeddedFontLst>
    <p:embeddedFont>
      <p:font typeface="ＭＳ Ｐゴシック" panose="020B0600070205080204" pitchFamily="34" charset="-128"/>
      <p:regular r:id="rId28"/>
    </p:embeddedFont>
    <p:embeddedFont>
      <p:font typeface="Cambria" panose="02040503050406030204" pitchFamily="18" charset="0"/>
      <p:regular r:id="rId29"/>
      <p:bold r:id="rId30"/>
      <p:italic r:id="rId31"/>
      <p:boldItalic r:id="rId32"/>
    </p:embeddedFont>
    <p:embeddedFont>
      <p:font typeface="Garamond" panose="02020404030301010803" pitchFamily="18" charset="0"/>
      <p:regular r:id="rId33"/>
      <p:bold r:id="rId34"/>
      <p:italic r:id="rId35"/>
    </p:embeddedFont>
    <p:embeddedFont>
      <p:font typeface="Tahoma" panose="020B0604030504040204" pitchFamily="34" charset="0"/>
      <p:regular r:id="rId36"/>
      <p:bold r:id="rId3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5CA9F4-C014-4D42-A27D-6FB6206EF324}">
          <p14:sldIdLst>
            <p14:sldId id="7355"/>
            <p14:sldId id="7357"/>
            <p14:sldId id="7391"/>
            <p14:sldId id="7376"/>
            <p14:sldId id="7377"/>
            <p14:sldId id="7378"/>
            <p14:sldId id="7379"/>
            <p14:sldId id="7363"/>
            <p14:sldId id="7380"/>
            <p14:sldId id="7381"/>
            <p14:sldId id="7382"/>
            <p14:sldId id="7383"/>
            <p14:sldId id="7384"/>
            <p14:sldId id="7385"/>
            <p14:sldId id="7386"/>
            <p14:sldId id="7387"/>
            <p14:sldId id="7388"/>
            <p14:sldId id="7389"/>
            <p14:sldId id="7375"/>
            <p14:sldId id="73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565768-B9C7-452C-840C-CF80B6EBBAF4}" name="Olgun  Ataberk" initials="OA" userId="S::aolgun@ethz.ch::af774e6e-6259-4f74-8c0e-70a4d8a1692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berk Olgun" initials="AO" lastIdx="2" clrIdx="0">
    <p:extLst>
      <p:ext uri="{19B8F6BF-5375-455C-9EA6-DF929625EA0E}">
        <p15:presenceInfo xmlns:p15="http://schemas.microsoft.com/office/powerpoint/2012/main" userId="S::aolgun@etu.edu.tr::acd4a36d-8e2b-4bf9-9640-24bbf4f0f28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EF2"/>
    <a:srgbClr val="CC9900"/>
    <a:srgbClr val="0066CC"/>
    <a:srgbClr val="000000"/>
    <a:srgbClr val="A6A6A6"/>
    <a:srgbClr val="006633"/>
    <a:srgbClr val="CC0000"/>
    <a:srgbClr val="FF00FF"/>
    <a:srgbClr val="FF6600"/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Orta Stil 2 - Vurgu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24" autoAdjust="0"/>
    <p:restoredTop sz="88617" autoAdjust="0"/>
  </p:normalViewPr>
  <p:slideViewPr>
    <p:cSldViewPr snapToGrid="0">
      <p:cViewPr varScale="1">
        <p:scale>
          <a:sx n="95" d="100"/>
          <a:sy n="95" d="100"/>
        </p:scale>
        <p:origin x="176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font" Target="fonts/font7.fntdata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2.fntdata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microsoft.com/office/2018/10/relationships/authors" Target="author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6.fntdata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77DA08E8-53C0-41C1-B14E-9595836993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0143DBD-F10E-492C-ADF8-342A939EC0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9D07D-4A00-4F92-AF55-18EA03C4412A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6D6159E-3F4F-4721-B75C-D4A1DC2369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A8C30C48-0F14-4D5C-A4D0-95BC221427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8118C-437E-4328-ACDE-5D7FE2C38D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54811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8B997D-A77B-4492-B8BA-B7DF74E65B62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75381-7527-4E0E-A355-7550D954D0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413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CB6A3-5002-F9A5-7D50-8087CBD3E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>
            <a:extLst>
              <a:ext uri="{FF2B5EF4-FFF2-40B4-BE49-F238E27FC236}">
                <a16:creationId xmlns:a16="http://schemas.microsoft.com/office/drawing/2014/main" id="{149731C0-35F3-027C-A3D1-9DFCB5E763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marL="0" marR="0" lvl="0" indent="0" algn="r" defTabSz="9112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EB913B-253C-AD49-B9C4-8FBF00D4106C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12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EFC02CCF-BB75-FA6E-434D-80223EC82E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AA7ED6F3-3253-CF76-1C09-745A015E1F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dirty="0">
                <a:latin typeface="Arial" charset="0"/>
                <a:ea typeface="ＭＳ Ｐゴシック" charset="-128"/>
              </a:rPr>
              <a:t>Hello everyone, I am Haocong, and I will be presenting our work revisiting…</a:t>
            </a:r>
          </a:p>
        </p:txBody>
      </p:sp>
    </p:spTree>
    <p:extLst>
      <p:ext uri="{BB962C8B-B14F-4D97-AF65-F5344CB8AC3E}">
        <p14:creationId xmlns:p14="http://schemas.microsoft.com/office/powerpoint/2010/main" val="1271359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75381-7527-4E0E-A355-7550D954D08C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02469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72518-BDDC-4D0E-E079-FFE068950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24B4F3-CDA9-A5F0-6ABD-496015D7B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CE942-EFD9-5CDD-8BD7-2D4A15932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6E791-B739-4767-2EF8-9C5B1E9E1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75381-7527-4E0E-A355-7550D954D08C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5371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B59E6-4CA9-9F90-3C72-22FC461CD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5F536-E85E-7B47-3F92-2A90819342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B9C2B-0A06-41AB-5704-808CDC590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0A3F9-00AB-E7BB-E607-F53E3E152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75381-7527-4E0E-A355-7550D954D08C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40714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5F010-69DB-2FE7-D615-658751CBB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B3D852-EE6F-0CEB-04DC-FB3BDE76D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F59FD-8FC1-BCCB-8DE5-C054E693F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19B63-FB8C-B6C8-183E-D43586F0F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75381-7527-4E0E-A355-7550D954D08C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3977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EC186-5C49-C0AD-C289-C9ADAB2FB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E513D1-18D1-0C43-EA2E-16193AD45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657566-B3DF-F412-E678-DCF7C9947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97A55-9749-0980-5208-CEA72E4FD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75381-7527-4E0E-A355-7550D954D08C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2574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750BD-6370-743E-9F73-9C819223E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321A8D-782A-BBB9-40A7-508736939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459E3-5EF3-9338-DE04-0D0121887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6055F-8340-26A6-915A-CF7B160592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75381-7527-4E0E-A355-7550D954D08C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08473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59AF0-09B3-B3D6-A187-3CF2B55F9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6633D-827E-EB6D-62F4-052C35064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CBAD9C-0885-4CF8-7C24-DF51688BB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811AE-F962-DD24-7D6C-940CBA4F3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75381-7527-4E0E-A355-7550D954D08C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76768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8BD73-2C0C-0831-C6EA-6CAB2E6EC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E2DD41-A3F9-536E-7725-5D1EA146A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9047D7-2C8D-1E85-A597-D071B8FF8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0841A-17B9-288F-6495-21D22EE542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75381-7527-4E0E-A355-7550D954D08C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0701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0D8BD-555A-D71C-31DD-E7DFF8647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8C6B2-44C0-4668-59B4-3771ABB2A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A326C-04D4-6CD0-217D-B6C599CD8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EA136-EA1F-B3E3-9838-ABF34B804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75381-7527-4E0E-A355-7550D954D08C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36483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B278F-BACF-E4CA-62EC-3360570F4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926384-2E27-3352-FEEF-42C5BCC87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ABECED-FE3F-AC60-5880-7FA64DF26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35B34-B70D-0CDF-2C9A-68F28125E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75381-7527-4E0E-A355-7550D954D08C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6860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105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38B7E-9D90-9B48-A8F0-5C08F12D5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70062"/>
            <a:ext cx="9144000" cy="1325563"/>
          </a:xfrm>
          <a:prstGeom prst="rect">
            <a:avLst/>
          </a:prstGeom>
        </p:spPr>
        <p:txBody>
          <a:bodyPr/>
          <a:lstStyle>
            <a:lvl1pPr>
              <a:defRPr sz="6600" b="1" i="1" baseline="0">
                <a:latin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17C05B-AE6B-CA40-92B3-312C96F8E5F4}"/>
              </a:ext>
            </a:extLst>
          </p:cNvPr>
          <p:cNvSpPr/>
          <p:nvPr userDrawn="1"/>
        </p:nvSpPr>
        <p:spPr>
          <a:xfrm>
            <a:off x="0" y="4697080"/>
            <a:ext cx="9144000" cy="143750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31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6FA48C-FC23-4C73-AC9B-B702C151A810}"/>
              </a:ext>
            </a:extLst>
          </p:cNvPr>
          <p:cNvSpPr/>
          <p:nvPr userDrawn="1"/>
        </p:nvSpPr>
        <p:spPr>
          <a:xfrm>
            <a:off x="0" y="0"/>
            <a:ext cx="9144000" cy="86041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91" y="11100"/>
            <a:ext cx="8987621" cy="76125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Aft>
                <a:spcPts val="600"/>
              </a:spcAft>
              <a:defRPr sz="4000" b="1" baseline="0">
                <a:solidFill>
                  <a:schemeClr val="bg1"/>
                </a:solidFill>
                <a:latin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91" y="975034"/>
            <a:ext cx="8987622" cy="5435043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Cambria" panose="02040503050406030204" pitchFamily="18" charset="0"/>
              </a:defRPr>
            </a:lvl1pPr>
            <a:lvl2pPr marL="685800" indent="-228600">
              <a:buFont typeface="Cambria" panose="02040503050406030204" pitchFamily="18" charset="0"/>
              <a:buChar char="-"/>
              <a:defRPr sz="2800">
                <a:latin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7924800" y="6471465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chemeClr val="tx1">
                    <a:tint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D2B188-1D62-4FCA-8363-938AD4629BB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safari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5991" y="6524699"/>
            <a:ext cx="977147" cy="28272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88180C1-8B68-AC4C-94FA-42ACC1C193E9}"/>
              </a:ext>
            </a:extLst>
          </p:cNvPr>
          <p:cNvSpPr/>
          <p:nvPr userDrawn="1"/>
        </p:nvSpPr>
        <p:spPr>
          <a:xfrm>
            <a:off x="1073731" y="6449551"/>
            <a:ext cx="779781" cy="343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654604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BB22F3D8-372A-7E4F-BAF0-2B62E16D7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2538D10A-B20C-1F4A-A69F-0F0B507B6CB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323C0A52-D6B6-4A4D-BD73-5955293DBD0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03D96CF-D2B5-284A-8A3B-88E2B14F16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900">
                <a:solidFill>
                  <a:srgbClr val="000000"/>
                </a:solidFill>
                <a:latin typeface="Garamond" pitchFamily="-106" charset="0"/>
                <a:ea typeface="Arial" pitchFamily="-106" charset="0"/>
                <a:cs typeface="Arial" pitchFamily="-106" charset="0"/>
              </a:defRPr>
            </a:lvl1pPr>
          </a:lstStyle>
          <a:p>
            <a:pPr>
              <a:defRPr/>
            </a:pPr>
            <a:r>
              <a:rPr lang="en-US"/>
              <a:t>Efficient Runahead Execution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CE92EBB-E8F1-BB42-9972-9FC2F1E39D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815D7EE-6875-8949-837F-2AE3A4F79F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pPr>
              <a:defRPr/>
            </a:pPr>
            <a:fld id="{800691C5-9FA5-3F46-90A7-ED5D0D102B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330506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7529"/>
            <a:ext cx="86106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30D4116A-1656-924F-8339-968CDC00B50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A92E4BB7-CF8F-934D-88CB-2C51D02F649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E33320-76E4-0249-8CA9-3902D97168F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853030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2D009077-10AD-0947-8806-7D3C25918E6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AA347429-32EA-F843-AE5C-FC1A699EBC2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FAB052-3664-BF4F-993F-29369860E1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76482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24642810-0270-CB48-A1CA-24DCF4455E9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431DA97B-4E00-DC4F-B7DB-18E15C43442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6EB4A5-7404-294B-999D-175F606D62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620906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>
            <a:extLst>
              <a:ext uri="{FF2B5EF4-FFF2-40B4-BE49-F238E27FC236}">
                <a16:creationId xmlns:a16="http://schemas.microsoft.com/office/drawing/2014/main" id="{24BD8FCD-1BEB-6A42-B8B1-C39ED5BE279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030">
            <a:extLst>
              <a:ext uri="{FF2B5EF4-FFF2-40B4-BE49-F238E27FC236}">
                <a16:creationId xmlns:a16="http://schemas.microsoft.com/office/drawing/2014/main" id="{91A21973-5A9E-154E-A49A-033DD08EB7E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A13A1E-7D24-2943-AA19-843CF9E699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435733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>
            <a:extLst>
              <a:ext uri="{FF2B5EF4-FFF2-40B4-BE49-F238E27FC236}">
                <a16:creationId xmlns:a16="http://schemas.microsoft.com/office/drawing/2014/main" id="{DB659D62-F008-694B-A107-310AB43E4C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>
            <a:extLst>
              <a:ext uri="{FF2B5EF4-FFF2-40B4-BE49-F238E27FC236}">
                <a16:creationId xmlns:a16="http://schemas.microsoft.com/office/drawing/2014/main" id="{866F093A-DC6C-3444-8F25-CDFB50F79ED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D812E9-CA0A-8244-A046-0571FC5453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566752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>
            <a:extLst>
              <a:ext uri="{FF2B5EF4-FFF2-40B4-BE49-F238E27FC236}">
                <a16:creationId xmlns:a16="http://schemas.microsoft.com/office/drawing/2014/main" id="{F96B94DE-149A-A84D-858F-4D5B428FA7A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030">
            <a:extLst>
              <a:ext uri="{FF2B5EF4-FFF2-40B4-BE49-F238E27FC236}">
                <a16:creationId xmlns:a16="http://schemas.microsoft.com/office/drawing/2014/main" id="{24B1C692-591D-3346-8E1A-A19CC1BBF04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001C4-BF5C-F640-BD99-70162C2025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59492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7690CA2F-7EF4-4D4B-B05E-9CD06D97C0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3EF9E563-85B6-884B-A069-BAB01B87B7D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D0717-7499-9E44-845B-E851FCB169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450259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9562426B-A5A0-F944-991E-0F589442A93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9EBECD59-3F6D-0145-A9B5-5EE2DF859F8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9139E-1132-E74D-AAEB-A81F8150B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737925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BB00FC4D-28B2-774A-BDF5-CB3A5D1E70E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EBDB0E60-2A7B-1B44-BB6D-97BF3A139C9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5C9412-F662-064D-BEDC-D33A60B08A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76335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10E3EA30-DFF3-9C4B-9691-5C9AAB88EB4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2B2EE262-3A13-4443-80B8-614C7A4B25F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970A1F-36EE-AC4A-B790-1CFE7EECDE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324614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2A476F68-C964-6F4C-B323-CADD64DDE3D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F4A41114-0EC5-4244-A8AE-388F27C4901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11C9BF-9555-1749-A87B-CA7C52D013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463221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57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666" name="Rectangle 1026">
            <a:extLst>
              <a:ext uri="{FF2B5EF4-FFF2-40B4-BE49-F238E27FC236}">
                <a16:creationId xmlns:a16="http://schemas.microsoft.com/office/drawing/2014/main" id="{767842EF-2E87-9649-8E4C-4EF07515E6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25667" name="Rectangle 1027">
            <a:extLst>
              <a:ext uri="{FF2B5EF4-FFF2-40B4-BE49-F238E27FC236}">
                <a16:creationId xmlns:a16="http://schemas.microsoft.com/office/drawing/2014/main" id="{7F46E882-405C-294F-A176-5EB4B6E5E8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898527"/>
            <a:ext cx="86106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>
            <a:extLst>
              <a:ext uri="{FF2B5EF4-FFF2-40B4-BE49-F238E27FC236}">
                <a16:creationId xmlns:a16="http://schemas.microsoft.com/office/drawing/2014/main" id="{3955FDDD-00C5-1D4C-912E-1BDB0E3BD3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9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8" name="Rectangle 1030">
            <a:extLst>
              <a:ext uri="{FF2B5EF4-FFF2-40B4-BE49-F238E27FC236}">
                <a16:creationId xmlns:a16="http://schemas.microsoft.com/office/drawing/2014/main" id="{2C1267A1-BE40-C34F-A587-D92B7D4A5D5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77038" y="631825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00000"/>
                </a:solidFill>
                <a:latin typeface="Garamond" charset="0"/>
              </a:defRPr>
            </a:lvl1pPr>
          </a:lstStyle>
          <a:p>
            <a:pPr>
              <a:defRPr/>
            </a:pPr>
            <a:fld id="{B1C60925-3F6D-0244-A63C-8428EA4EFD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25670" name="Line 1032">
            <a:extLst>
              <a:ext uri="{FF2B5EF4-FFF2-40B4-BE49-F238E27FC236}">
                <a16:creationId xmlns:a16="http://schemas.microsoft.com/office/drawing/2014/main" id="{BEFE2080-76AE-4B40-AEAD-392FD767B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6481763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5671" name="Line 1033">
            <a:extLst>
              <a:ext uri="{FF2B5EF4-FFF2-40B4-BE49-F238E27FC236}">
                <a16:creationId xmlns:a16="http://schemas.microsoft.com/office/drawing/2014/main" id="{23A53299-EA82-2047-A09E-6BA50065689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28600" y="898525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05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1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02444" indent="-244079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1650">
          <a:solidFill>
            <a:schemeClr val="tx1"/>
          </a:solidFill>
          <a:latin typeface="+mn-lt"/>
          <a:ea typeface="ＭＳ Ｐゴシック" pitchFamily="-106" charset="-128"/>
        </a:defRPr>
      </a:lvl2pPr>
      <a:lvl3pPr marL="766763" indent="-263129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1500">
          <a:solidFill>
            <a:schemeClr val="tx1"/>
          </a:solidFill>
          <a:latin typeface="+mn-lt"/>
          <a:ea typeface="ＭＳ Ｐゴシック" pitchFamily="-106" charset="-128"/>
        </a:defRPr>
      </a:lvl3pPr>
      <a:lvl4pPr marL="1004888" indent="-23693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>
          <a:solidFill>
            <a:schemeClr val="tx1"/>
          </a:solidFill>
          <a:latin typeface="+mn-lt"/>
          <a:ea typeface="ＭＳ Ｐゴシック" pitchFamily="-106" charset="-128"/>
        </a:defRPr>
      </a:lvl4pPr>
      <a:lvl5pPr marL="1260872" indent="-254794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200">
          <a:solidFill>
            <a:schemeClr val="tx1"/>
          </a:solidFill>
          <a:latin typeface="+mn-lt"/>
          <a:ea typeface="ＭＳ Ｐゴシック" pitchFamily="-106" charset="-128"/>
        </a:defRPr>
      </a:lvl5pPr>
      <a:lvl6pPr marL="1603772" indent="-254794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6pPr>
      <a:lvl7pPr marL="1946672" indent="-254794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7pPr>
      <a:lvl8pPr marL="2289572" indent="-254794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8pPr>
      <a:lvl9pPr marL="2632472" indent="-254794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MU-SAFARI/ramulator2/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CMU-SAFARI/ramulator2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CMU-SAFARI/ramulator2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8328A-0307-77F0-EF06-7B4B213BA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4">
            <a:extLst>
              <a:ext uri="{FF2B5EF4-FFF2-40B4-BE49-F238E27FC236}">
                <a16:creationId xmlns:a16="http://schemas.microsoft.com/office/drawing/2014/main" id="{18B80015-5613-9219-1588-2F3BE7C1433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6081" y="1151724"/>
            <a:ext cx="8428037" cy="2198749"/>
          </a:xfrm>
        </p:spPr>
        <p:txBody>
          <a:bodyPr anchor="ctr"/>
          <a:lstStyle/>
          <a:p>
            <a:pPr algn="ctr" eaLnBrk="1" hangingPunct="1"/>
            <a:r>
              <a:rPr lang="en-US" altLang="en-US" sz="4000" b="1" dirty="0">
                <a:solidFill>
                  <a:srgbClr val="C00000"/>
                </a:solidFill>
                <a:ea typeface="ＭＳ Ｐゴシック" charset="-128"/>
              </a:rPr>
              <a:t>Ramulator 2.1 Tutorial</a:t>
            </a:r>
            <a:endParaRPr lang="en-US" altLang="en-US" sz="4400" dirty="0">
              <a:ea typeface="ＭＳ Ｐゴシック" charset="-128"/>
            </a:endParaRPr>
          </a:p>
        </p:txBody>
      </p:sp>
      <p:sp>
        <p:nvSpPr>
          <p:cNvPr id="96258" name="Rectangle 5">
            <a:extLst>
              <a:ext uri="{FF2B5EF4-FFF2-40B4-BE49-F238E27FC236}">
                <a16:creationId xmlns:a16="http://schemas.microsoft.com/office/drawing/2014/main" id="{78DC755A-2527-A0F7-84F2-34468DF5956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799" y="3773573"/>
            <a:ext cx="7821071" cy="2708190"/>
          </a:xfrm>
        </p:spPr>
        <p:txBody>
          <a:bodyPr/>
          <a:lstStyle/>
          <a:p>
            <a:pPr eaLnBrk="1" hangingPunct="1">
              <a:buFont typeface="Wingdings" charset="2"/>
              <a:buNone/>
            </a:pPr>
            <a:r>
              <a:rPr lang="en-US" altLang="en-US" sz="2400" b="1" dirty="0">
                <a:solidFill>
                  <a:srgbClr val="003399"/>
                </a:solidFill>
                <a:ea typeface="ＭＳ Ｐゴシック" charset="-128"/>
              </a:rPr>
              <a:t>Haocong Luo</a:t>
            </a:r>
            <a:endParaRPr lang="en-US" altLang="en-US" sz="2400" dirty="0">
              <a:solidFill>
                <a:srgbClr val="003399"/>
              </a:solidFill>
              <a:ea typeface="ＭＳ Ｐゴシック" charset="-128"/>
            </a:endParaRPr>
          </a:p>
          <a:p>
            <a:pPr eaLnBrk="1" hangingPunct="1">
              <a:buFont typeface="Wingdings" charset="2"/>
              <a:buNone/>
            </a:pPr>
            <a:r>
              <a:rPr lang="en-US" altLang="en-US" sz="2400" b="1" dirty="0">
                <a:ea typeface="ＭＳ Ｐゴシック" charset="-128"/>
              </a:rPr>
              <a:t>ETH Zurich</a:t>
            </a:r>
          </a:p>
          <a:p>
            <a:pPr eaLnBrk="1" hangingPunct="1"/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ea typeface="ＭＳ Ｐゴシック" charset="-128"/>
              </a:rPr>
              <a:t>2</a:t>
            </a:r>
            <a:r>
              <a:rPr lang="en-US" altLang="en-US" sz="2400" baseline="30000" dirty="0">
                <a:solidFill>
                  <a:schemeClr val="bg1">
                    <a:lumMod val="65000"/>
                  </a:schemeClr>
                </a:solidFill>
                <a:ea typeface="ＭＳ Ｐゴシック" charset="-128"/>
              </a:rPr>
              <a:t>nd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ea typeface="ＭＳ Ｐゴシック" charset="-128"/>
              </a:rPr>
              <a:t> R&amp;DB Workshop and Tutorial @ ISCA’26</a:t>
            </a:r>
          </a:p>
          <a:p>
            <a:pPr eaLnBrk="1" hangingPunct="1"/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ea typeface="ＭＳ Ｐゴシック" charset="-128"/>
              </a:rPr>
              <a:t>27.06.2026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F76C684-B64A-0ACD-D8B5-9F03902569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954" y="6405806"/>
            <a:ext cx="1621717" cy="3119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C9767C-5DA2-8525-1723-ABC3F96373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820" t="33599" r="12247" b="30996"/>
          <a:stretch/>
        </p:blipFill>
        <p:spPr>
          <a:xfrm>
            <a:off x="7051627" y="6400703"/>
            <a:ext cx="1813419" cy="31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90699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F1E54-6506-51AB-2548-7157994C4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F007D-872D-E0E8-1DF3-46DDE13C2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Introduction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466C0-7753-666C-58C9-2C51C443F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Ramulator 2.1 is a </a:t>
            </a:r>
            <a:r>
              <a:rPr lang="en-US" sz="2400" b="1" dirty="0">
                <a:solidFill>
                  <a:srgbClr val="0066CC"/>
                </a:solidFill>
              </a:rPr>
              <a:t>major overhaul </a:t>
            </a:r>
            <a:r>
              <a:rPr lang="en-US" sz="2400" b="1" dirty="0"/>
              <a:t>of Ramulator 2.0</a:t>
            </a:r>
          </a:p>
          <a:p>
            <a:pPr lvl="1"/>
            <a:r>
              <a:rPr lang="en-US" sz="2000" b="1" dirty="0">
                <a:solidFill>
                  <a:srgbClr val="0066CC"/>
                </a:solidFill>
              </a:rPr>
              <a:t>Fixes bugs </a:t>
            </a:r>
            <a:r>
              <a:rPr lang="en-US" sz="2000" dirty="0"/>
              <a:t>identified by </a:t>
            </a:r>
            <a:r>
              <a:rPr lang="en-US" sz="2000" dirty="0" err="1"/>
              <a:t>Github</a:t>
            </a:r>
            <a:r>
              <a:rPr lang="en-US" sz="2000" dirty="0"/>
              <a:t> issues and internal testing</a:t>
            </a:r>
          </a:p>
          <a:p>
            <a:pPr lvl="1"/>
            <a:r>
              <a:rPr lang="en-US" sz="2000" dirty="0"/>
              <a:t>More comprehensive support for </a:t>
            </a:r>
            <a:r>
              <a:rPr lang="en-US" sz="2000" b="1" dirty="0">
                <a:solidFill>
                  <a:srgbClr val="0066CC"/>
                </a:solidFill>
              </a:rPr>
              <a:t>new DRAM &amp; controller features</a:t>
            </a:r>
          </a:p>
          <a:p>
            <a:pPr lvl="1"/>
            <a:r>
              <a:rPr lang="en-US" sz="2000" dirty="0"/>
              <a:t>More comprehensive set of </a:t>
            </a:r>
            <a:r>
              <a:rPr lang="en-US" sz="2000" b="1" dirty="0">
                <a:solidFill>
                  <a:srgbClr val="0066CC"/>
                </a:solidFill>
              </a:rPr>
              <a:t>tests and validations</a:t>
            </a:r>
          </a:p>
          <a:p>
            <a:pPr lvl="1"/>
            <a:r>
              <a:rPr lang="en-US" sz="2000" dirty="0"/>
              <a:t>Significantly improved </a:t>
            </a:r>
            <a:r>
              <a:rPr lang="en-US" sz="2000" b="1" dirty="0">
                <a:solidFill>
                  <a:srgbClr val="0066CC"/>
                </a:solidFill>
              </a:rPr>
              <a:t>ease of use, configuration, and extension</a:t>
            </a:r>
          </a:p>
          <a:p>
            <a:pPr lvl="1"/>
            <a:r>
              <a:rPr lang="en-US" sz="2000" dirty="0"/>
              <a:t>Overall code quality and documentation improvements</a:t>
            </a:r>
          </a:p>
          <a:p>
            <a:pPr>
              <a:spcBef>
                <a:spcPts val="1200"/>
              </a:spcBef>
            </a:pPr>
            <a:r>
              <a:rPr lang="en-US" sz="2400" dirty="0" err="1"/>
              <a:t>Github</a:t>
            </a:r>
            <a:r>
              <a:rPr lang="en-US" sz="2400" dirty="0"/>
              <a:t> main branch updated to v2.1.0</a:t>
            </a:r>
            <a:endParaRPr lang="en-US" sz="2400" b="1" dirty="0">
              <a:solidFill>
                <a:srgbClr val="0066CC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US" sz="2000" dirty="0">
                <a:hlinkClick r:id="rId2"/>
              </a:rPr>
              <a:t>https://github.com/CMU-SAFARI/ramulator2/</a:t>
            </a:r>
            <a:endParaRPr lang="en-US" sz="2000" dirty="0"/>
          </a:p>
          <a:p>
            <a:pPr lvl="1">
              <a:spcBef>
                <a:spcPts val="600"/>
              </a:spcBef>
            </a:pPr>
            <a:r>
              <a:rPr lang="en-US" sz="2000" dirty="0" err="1"/>
              <a:t>codespace</a:t>
            </a:r>
            <a:r>
              <a:rPr lang="en-US" sz="2000" dirty="0"/>
              <a:t> and </a:t>
            </a:r>
            <a:r>
              <a:rPr lang="en-US" sz="2000" dirty="0" err="1"/>
              <a:t>devcontainer</a:t>
            </a:r>
            <a:r>
              <a:rPr lang="en-US" sz="2000" dirty="0"/>
              <a:t> ready!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V2.0a is archived as legacy/v2.0a</a:t>
            </a:r>
          </a:p>
          <a:p>
            <a:pPr>
              <a:spcBef>
                <a:spcPts val="1200"/>
              </a:spcBef>
            </a:pPr>
            <a:r>
              <a:rPr lang="en-US" sz="2400" b="1" dirty="0"/>
              <a:t>Welcomes your </a:t>
            </a:r>
            <a:r>
              <a:rPr lang="en-US" sz="2400" b="1" dirty="0">
                <a:solidFill>
                  <a:srgbClr val="0066CC"/>
                </a:solidFill>
              </a:rPr>
              <a:t>use, contribution, and feedback</a:t>
            </a:r>
            <a:r>
              <a:rPr lang="en-US" sz="2400" b="1" dirty="0"/>
              <a:t>!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Issues &amp; Discussions on </a:t>
            </a:r>
            <a:r>
              <a:rPr lang="en-US" sz="2000" dirty="0" err="1"/>
              <a:t>Github</a:t>
            </a:r>
            <a:endParaRPr lang="en-US" sz="2000" dirty="0"/>
          </a:p>
          <a:p>
            <a:pPr lvl="1">
              <a:spcBef>
                <a:spcPts val="600"/>
              </a:spcBef>
            </a:pPr>
            <a:r>
              <a:rPr lang="en-US" sz="2000" dirty="0"/>
              <a:t>Open PRs for bug fixes, improvements, and new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EF727-6CFD-94C7-7D13-8560FA22FD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96275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BDF5B-EF00-52E4-6C16-CD3835799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51D89-7754-45F1-CCF4-7D9D7093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Currently Supported DRAM Standards</a:t>
            </a:r>
            <a:endParaRPr lang="LID4096" sz="36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F3A56-0271-0AD4-8770-A7E792C573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472171-88C9-1B26-76B0-7AAD9CD4B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612710-4D76-56E4-52E8-7A26A2FF0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0712"/>
            <a:ext cx="9144000" cy="431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60126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0968F-566A-666D-1587-31F4CEB50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5D333-E330-D19B-2976-B79568A8C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Getting Started (I)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D1BD2-FCA5-7909-7E02-B4C122900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err="1"/>
              <a:t>Github</a:t>
            </a:r>
            <a:r>
              <a:rPr lang="en-US" sz="2400" b="1" dirty="0"/>
              <a:t> </a:t>
            </a:r>
            <a:r>
              <a:rPr lang="en-US" sz="2400" b="1" dirty="0" err="1"/>
              <a:t>codespace</a:t>
            </a:r>
            <a:endParaRPr lang="en-US" sz="2400" b="1" dirty="0"/>
          </a:p>
          <a:p>
            <a:pPr lvl="1"/>
            <a:r>
              <a:rPr lang="en-US" sz="2000" dirty="0">
                <a:hlinkClick r:id="rId2"/>
              </a:rPr>
              <a:t>https://github.com/CMU-SAFARI/ramulator2</a:t>
            </a:r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45EFA-FB36-08A3-9A4C-B4A01CAF78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57336F-768D-4413-A905-CFF16EE9C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2299"/>
            <a:ext cx="9144000" cy="34049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66F014E-245A-B5E4-985A-4197DCD0AA43}"/>
              </a:ext>
            </a:extLst>
          </p:cNvPr>
          <p:cNvSpPr/>
          <p:nvPr/>
        </p:nvSpPr>
        <p:spPr bwMode="auto">
          <a:xfrm>
            <a:off x="4968688" y="3953435"/>
            <a:ext cx="1331259" cy="591671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3195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0A6F1-D791-0E6F-A905-909D333CA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428ED-907F-58D0-93EB-54E8A7ED4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Getting Started (I)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E7C79-E8F7-B08F-9CF7-F4CAD8BAB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err="1"/>
              <a:t>Github</a:t>
            </a:r>
            <a:r>
              <a:rPr lang="en-US" sz="2400" b="1" dirty="0"/>
              <a:t> </a:t>
            </a:r>
            <a:r>
              <a:rPr lang="en-US" sz="2400" b="1" dirty="0" err="1"/>
              <a:t>codespace</a:t>
            </a:r>
            <a:endParaRPr lang="en-US" sz="2400" b="1" dirty="0"/>
          </a:p>
          <a:p>
            <a:pPr lvl="1"/>
            <a:r>
              <a:rPr lang="en-US" sz="2000" dirty="0">
                <a:hlinkClick r:id="rId2"/>
              </a:rPr>
              <a:t>https://github.com/CMU-SAFARI/ramulator2</a:t>
            </a:r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9372E-9FD7-AEF0-D821-DA4D6ED151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B355F1-614D-72A3-0B62-34E3DE27A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197" y="1120934"/>
            <a:ext cx="4959605" cy="507391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7A0817-842D-0C29-BC96-422DFE887E77}"/>
              </a:ext>
            </a:extLst>
          </p:cNvPr>
          <p:cNvSpPr/>
          <p:nvPr/>
        </p:nvSpPr>
        <p:spPr bwMode="auto">
          <a:xfrm>
            <a:off x="3322768" y="4237915"/>
            <a:ext cx="2536165" cy="591671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4629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252C3-8875-8C54-7ADC-4AD550725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B9972-3362-A412-4196-DB662D46C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Getting Started (II)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758B7-E7B5-B284-FE76-C325A61EE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Local (</a:t>
            </a:r>
            <a:r>
              <a:rPr lang="en-US" sz="2400" b="1" dirty="0" err="1"/>
              <a:t>devcontainer</a:t>
            </a:r>
            <a:r>
              <a:rPr lang="en-US" sz="2400" b="1" dirty="0"/>
              <a:t>)</a:t>
            </a:r>
          </a:p>
          <a:p>
            <a:pPr lvl="1"/>
            <a:r>
              <a:rPr lang="en-US" sz="2000" dirty="0"/>
              <a:t>Clone the repository</a:t>
            </a:r>
          </a:p>
          <a:p>
            <a:pPr lvl="1"/>
            <a:r>
              <a:rPr lang="en-US" sz="2000" dirty="0"/>
              <a:t>Open with </a:t>
            </a:r>
            <a:r>
              <a:rPr lang="en-US" sz="2000" dirty="0" err="1"/>
              <a:t>VSCode</a:t>
            </a:r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50720-2F3D-9289-8CD9-8FB5FE4FC5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47F19-FF8E-83EA-EEFA-B94C1CF0A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199" y="2327270"/>
            <a:ext cx="5581601" cy="16215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0D08FF-B5F4-F7B9-6ABE-524ADF886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50" y="4279204"/>
            <a:ext cx="8266724" cy="185616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089D767-4007-C46D-CA8E-CBEB713C19E5}"/>
              </a:ext>
            </a:extLst>
          </p:cNvPr>
          <p:cNvSpPr/>
          <p:nvPr/>
        </p:nvSpPr>
        <p:spPr bwMode="auto">
          <a:xfrm>
            <a:off x="490818" y="5419165"/>
            <a:ext cx="3926541" cy="363070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1755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9B2B7-BE95-DA33-1002-4A5B1274B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59164-3125-2601-E6FB-4BB534E37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Getting Started (III)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9D354-0A81-B229-395B-F6F5C7AA9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Local</a:t>
            </a:r>
          </a:p>
          <a:p>
            <a:pPr lvl="1"/>
            <a:r>
              <a:rPr lang="en-US" sz="2000" dirty="0"/>
              <a:t>.</a:t>
            </a:r>
            <a:r>
              <a:rPr lang="en-US" sz="2000" dirty="0" err="1"/>
              <a:t>devcontainer</a:t>
            </a:r>
            <a:r>
              <a:rPr lang="en-US" sz="2000" dirty="0"/>
              <a:t>/</a:t>
            </a:r>
            <a:r>
              <a:rPr lang="en-US" sz="2000" dirty="0" err="1"/>
              <a:t>Dockerfile</a:t>
            </a:r>
            <a:endParaRPr lang="en-US" sz="2000" dirty="0"/>
          </a:p>
          <a:p>
            <a:pPr lvl="1"/>
            <a:r>
              <a:rPr lang="en-US" sz="2000" dirty="0"/>
              <a:t>.</a:t>
            </a:r>
            <a:r>
              <a:rPr lang="en-US" sz="2000" dirty="0" err="1"/>
              <a:t>devcontainer</a:t>
            </a:r>
            <a:r>
              <a:rPr lang="en-US" sz="2000" dirty="0"/>
              <a:t>/post-create.sh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B6723-D302-659D-DD8A-014A07CCA1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61524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12AAD-507D-3389-4202-C245DC73D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F2B92-857E-D489-288C-249955504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Navigating the Source Tree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8D7DA-E25A-C9C5-A28F-7D217A483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682038" cy="5193723"/>
          </a:xfrm>
        </p:spPr>
        <p:txBody>
          <a:bodyPr/>
          <a:lstStyle/>
          <a:p>
            <a:r>
              <a:rPr lang="en-US" sz="2000" dirty="0"/>
              <a:t>examples/		</a:t>
            </a:r>
            <a:r>
              <a:rPr lang="en-US" sz="2000" dirty="0">
                <a:solidFill>
                  <a:srgbClr val="0066CC"/>
                </a:solidFill>
              </a:rPr>
              <a:t># example configs, traces</a:t>
            </a:r>
          </a:p>
          <a:p>
            <a:r>
              <a:rPr lang="en-US" sz="2000" dirty="0"/>
              <a:t>python/</a:t>
            </a:r>
            <a:r>
              <a:rPr lang="en-US" sz="2000" dirty="0" err="1"/>
              <a:t>ramulator</a:t>
            </a:r>
            <a:r>
              <a:rPr lang="en-US" sz="2000" dirty="0"/>
              <a:t>/</a:t>
            </a:r>
          </a:p>
          <a:p>
            <a:pPr lvl="1"/>
            <a:r>
              <a:rPr lang="en-US" sz="1800" dirty="0"/>
              <a:t>&lt;auto-generated python wrappers&gt;</a:t>
            </a:r>
          </a:p>
          <a:p>
            <a:pPr lvl="1"/>
            <a:r>
              <a:rPr lang="en-US" sz="1800" dirty="0"/>
              <a:t>dram/		</a:t>
            </a:r>
            <a:r>
              <a:rPr lang="en-US" sz="1800" dirty="0">
                <a:solidFill>
                  <a:srgbClr val="0066CC"/>
                </a:solidFill>
              </a:rPr>
              <a:t># source code for DRAM standards</a:t>
            </a:r>
            <a:endParaRPr lang="en-US" sz="1800" dirty="0"/>
          </a:p>
          <a:p>
            <a:r>
              <a:rPr lang="en-US" sz="2000" dirty="0"/>
              <a:t>resources/</a:t>
            </a:r>
          </a:p>
          <a:p>
            <a:pPr lvl="1"/>
            <a:r>
              <a:rPr lang="en-US" sz="1800" dirty="0"/>
              <a:t>gem5_wrappers/</a:t>
            </a:r>
          </a:p>
          <a:p>
            <a:r>
              <a:rPr lang="en-US" sz="2000" dirty="0" err="1"/>
              <a:t>src</a:t>
            </a:r>
            <a:r>
              <a:rPr lang="en-US" sz="2000" dirty="0"/>
              <a:t>/</a:t>
            </a:r>
            <a:r>
              <a:rPr lang="en-US" sz="2000" dirty="0" err="1"/>
              <a:t>ramulator</a:t>
            </a:r>
            <a:r>
              <a:rPr lang="en-US" sz="2000" dirty="0"/>
              <a:t>/</a:t>
            </a:r>
          </a:p>
          <a:p>
            <a:pPr lvl="1"/>
            <a:r>
              <a:rPr lang="en-US" sz="1800" dirty="0"/>
              <a:t>base/		</a:t>
            </a:r>
            <a:r>
              <a:rPr lang="en-US" sz="1800" dirty="0">
                <a:solidFill>
                  <a:srgbClr val="0066CC"/>
                </a:solidFill>
              </a:rPr>
              <a:t># </a:t>
            </a:r>
            <a:r>
              <a:rPr lang="en-US" sz="1800" dirty="0" err="1">
                <a:solidFill>
                  <a:srgbClr val="0066CC"/>
                </a:solidFill>
              </a:rPr>
              <a:t>sw</a:t>
            </a:r>
            <a:r>
              <a:rPr lang="en-US" sz="1800" dirty="0">
                <a:solidFill>
                  <a:srgbClr val="0066CC"/>
                </a:solidFill>
              </a:rPr>
              <a:t> framework of Ramulator 2.1</a:t>
            </a:r>
          </a:p>
          <a:p>
            <a:pPr lvl="1"/>
            <a:r>
              <a:rPr lang="en-US" sz="1800" dirty="0"/>
              <a:t>controller/		</a:t>
            </a:r>
            <a:r>
              <a:rPr lang="en-US" sz="1800" dirty="0">
                <a:solidFill>
                  <a:srgbClr val="0066CC"/>
                </a:solidFill>
              </a:rPr>
              <a:t># source code of the mem. ctrl. Interface</a:t>
            </a:r>
          </a:p>
          <a:p>
            <a:pPr lvl="2"/>
            <a:r>
              <a:rPr lang="en-US" sz="1800" dirty="0" err="1"/>
              <a:t>i_controller.h</a:t>
            </a:r>
            <a:r>
              <a:rPr lang="en-US" sz="1800" dirty="0"/>
              <a:t>	</a:t>
            </a:r>
            <a:r>
              <a:rPr lang="en-US" sz="1800" dirty="0">
                <a:solidFill>
                  <a:srgbClr val="0066CC"/>
                </a:solidFill>
              </a:rPr>
              <a:t># interface source</a:t>
            </a:r>
          </a:p>
          <a:p>
            <a:pPr lvl="2"/>
            <a:r>
              <a:rPr lang="en-US" sz="1800" dirty="0" err="1"/>
              <a:t>impl</a:t>
            </a:r>
            <a:r>
              <a:rPr lang="en-US" sz="1800" dirty="0"/>
              <a:t>/		</a:t>
            </a:r>
            <a:r>
              <a:rPr lang="en-US" sz="1800" dirty="0">
                <a:solidFill>
                  <a:srgbClr val="0066CC"/>
                </a:solidFill>
              </a:rPr>
              <a:t># implementation source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dirty="0"/>
              <a:t>hbm34_controller.cpp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dirty="0"/>
              <a:t>…</a:t>
            </a:r>
          </a:p>
          <a:p>
            <a:pPr lvl="1"/>
            <a:r>
              <a:rPr lang="en-US" sz="1800" dirty="0"/>
              <a:t>dram/		</a:t>
            </a:r>
            <a:r>
              <a:rPr lang="en-US" sz="1800" dirty="0">
                <a:solidFill>
                  <a:srgbClr val="0066CC"/>
                </a:solidFill>
              </a:rPr>
              <a:t># auto-generated C++ source of DRAM device</a:t>
            </a:r>
          </a:p>
          <a:p>
            <a:pPr lvl="1"/>
            <a:r>
              <a:rPr lang="en-US" sz="1800" dirty="0"/>
              <a:t>…</a:t>
            </a:r>
            <a:endParaRPr lang="en-US" sz="2000" dirty="0"/>
          </a:p>
          <a:p>
            <a:r>
              <a:rPr lang="en-US" sz="1950" dirty="0"/>
              <a:t>tests/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63356-B2FB-1578-05F3-6E08BD14EC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674475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2A63D-D551-6037-8E8C-067DD07F8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81992-B63D-03E1-F962-FDB7F5E00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Simulator Architecture (I)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D8BE3-3108-DCB0-9D9D-D55BC3F28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682038" cy="5193723"/>
          </a:xfrm>
        </p:spPr>
        <p:txBody>
          <a:bodyPr/>
          <a:lstStyle/>
          <a:p>
            <a:r>
              <a:rPr lang="en-US" sz="2400" b="1" dirty="0"/>
              <a:t>Two top-level components</a:t>
            </a:r>
            <a:endParaRPr lang="en-US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7C725-001C-997A-A9F1-DC2B917EC6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5FD67FB-8DDA-DCDC-D0D9-8B130E24160A}"/>
              </a:ext>
            </a:extLst>
          </p:cNvPr>
          <p:cNvGrpSpPr/>
          <p:nvPr/>
        </p:nvGrpSpPr>
        <p:grpSpPr>
          <a:xfrm>
            <a:off x="228600" y="1931015"/>
            <a:ext cx="8909437" cy="2441033"/>
            <a:chOff x="228600" y="1707495"/>
            <a:chExt cx="8909437" cy="2441033"/>
          </a:xfrm>
        </p:grpSpPr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D5DBA830-208A-8054-59C3-F120AD9CFF68}"/>
                </a:ext>
              </a:extLst>
            </p:cNvPr>
            <p:cNvSpPr/>
            <p:nvPr/>
          </p:nvSpPr>
          <p:spPr bwMode="auto">
            <a:xfrm rot="10800000">
              <a:off x="3019985" y="2994024"/>
              <a:ext cx="3353720" cy="484632"/>
            </a:xfrm>
            <a:prstGeom prst="rightArrow">
              <a:avLst/>
            </a:prstGeom>
            <a:solidFill>
              <a:srgbClr val="CC99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93EC2326-3704-0902-7E73-93A12B21CE57}"/>
                </a:ext>
              </a:extLst>
            </p:cNvPr>
            <p:cNvSpPr/>
            <p:nvPr/>
          </p:nvSpPr>
          <p:spPr bwMode="auto">
            <a:xfrm>
              <a:off x="3019986" y="2373193"/>
              <a:ext cx="3353721" cy="484632"/>
            </a:xfrm>
            <a:prstGeom prst="rightArrow">
              <a:avLst/>
            </a:prstGeom>
            <a:solidFill>
              <a:srgbClr val="CC99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62F4B88-9AB4-A525-4D46-DEA61E95278A}"/>
                </a:ext>
              </a:extLst>
            </p:cNvPr>
            <p:cNvGrpSpPr/>
            <p:nvPr/>
          </p:nvGrpSpPr>
          <p:grpSpPr>
            <a:xfrm>
              <a:off x="228600" y="2299704"/>
              <a:ext cx="3092027" cy="1242907"/>
              <a:chOff x="364987" y="2286000"/>
              <a:chExt cx="3092027" cy="2615453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EDB997-09BA-0B81-B7F2-FF911D5AD4CD}"/>
                  </a:ext>
                </a:extLst>
              </p:cNvPr>
              <p:cNvSpPr/>
              <p:nvPr/>
            </p:nvSpPr>
            <p:spPr bwMode="auto">
              <a:xfrm>
                <a:off x="665629" y="2286000"/>
                <a:ext cx="2490744" cy="2615453"/>
              </a:xfrm>
              <a:prstGeom prst="rect">
                <a:avLst/>
              </a:prstGeom>
              <a:noFill/>
              <a:ln w="5715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LID4096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5DF381-FC19-6F61-020D-C9223610F082}"/>
                  </a:ext>
                </a:extLst>
              </p:cNvPr>
              <p:cNvSpPr txBox="1"/>
              <p:nvPr/>
            </p:nvSpPr>
            <p:spPr>
              <a:xfrm>
                <a:off x="364987" y="2947395"/>
                <a:ext cx="3092027" cy="646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600" b="1" dirty="0"/>
                  <a:t>Frontend</a:t>
                </a:r>
                <a:endParaRPr lang="en-US" sz="3200" b="1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4301C0A-0513-29D7-D3CC-842F05781484}"/>
                </a:ext>
              </a:extLst>
            </p:cNvPr>
            <p:cNvGrpSpPr/>
            <p:nvPr/>
          </p:nvGrpSpPr>
          <p:grpSpPr>
            <a:xfrm>
              <a:off x="6046010" y="1994747"/>
              <a:ext cx="3092027" cy="2153781"/>
              <a:chOff x="783202" y="2286000"/>
              <a:chExt cx="3092027" cy="29750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15FF089-34E8-8C7C-F1AE-505EA31978DD}"/>
                  </a:ext>
                </a:extLst>
              </p:cNvPr>
              <p:cNvSpPr/>
              <p:nvPr/>
            </p:nvSpPr>
            <p:spPr bwMode="auto">
              <a:xfrm>
                <a:off x="1110899" y="2286000"/>
                <a:ext cx="2436634" cy="2615453"/>
              </a:xfrm>
              <a:prstGeom prst="rect">
                <a:avLst/>
              </a:prstGeom>
              <a:noFill/>
              <a:ln w="5715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LID4096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378DE7-1D26-5586-0CC0-E483138BCD2A}"/>
                  </a:ext>
                </a:extLst>
              </p:cNvPr>
              <p:cNvSpPr txBox="1"/>
              <p:nvPr/>
            </p:nvSpPr>
            <p:spPr>
              <a:xfrm>
                <a:off x="783202" y="2735176"/>
                <a:ext cx="3092027" cy="25258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600" b="1" dirty="0"/>
                  <a:t>Memory</a:t>
                </a:r>
                <a:br>
                  <a:rPr lang="en-US" sz="3600" b="1" dirty="0"/>
                </a:br>
                <a:r>
                  <a:rPr lang="en-US" sz="3600" b="1" dirty="0"/>
                  <a:t>System</a:t>
                </a:r>
                <a:endParaRPr lang="en-US" sz="3200" b="1" dirty="0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5B05998-9647-7618-421B-FFA4C99483E6}"/>
                </a:ext>
              </a:extLst>
            </p:cNvPr>
            <p:cNvSpPr txBox="1"/>
            <p:nvPr/>
          </p:nvSpPr>
          <p:spPr>
            <a:xfrm>
              <a:off x="3471566" y="1707495"/>
              <a:ext cx="22060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send</a:t>
              </a:r>
            </a:p>
            <a:p>
              <a:pPr algn="ctr"/>
              <a:r>
                <a:rPr lang="en-US" b="1" dirty="0"/>
                <a:t>memory requests</a:t>
              </a:r>
              <a:endParaRPr lang="LID4096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7EDD458-FA22-F175-E404-6D07764E2DBC}"/>
                </a:ext>
              </a:extLst>
            </p:cNvPr>
            <p:cNvSpPr txBox="1"/>
            <p:nvPr/>
          </p:nvSpPr>
          <p:spPr>
            <a:xfrm>
              <a:off x="3550114" y="3429000"/>
              <a:ext cx="212750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callback</a:t>
              </a:r>
            </a:p>
            <a:p>
              <a:pPr algn="ctr"/>
              <a:r>
                <a:rPr lang="en-US" b="1" dirty="0"/>
                <a:t>upon completion</a:t>
              </a:r>
              <a:endParaRPr lang="LID4096" b="1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09DD927-13B1-7E5C-C98B-67ECC424094A}"/>
              </a:ext>
            </a:extLst>
          </p:cNvPr>
          <p:cNvSpPr txBox="1"/>
          <p:nvPr/>
        </p:nvSpPr>
        <p:spPr>
          <a:xfrm>
            <a:off x="202745" y="4114617"/>
            <a:ext cx="39693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Builtin</a:t>
            </a:r>
            <a:r>
              <a:rPr lang="en-US" b="1" dirty="0"/>
              <a:t> core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Memory trace parser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Wrappers for other simulators</a:t>
            </a:r>
            <a:endParaRPr lang="LID4096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A70F45-AB95-C0D6-485F-E92E14ED2396}"/>
              </a:ext>
            </a:extLst>
          </p:cNvPr>
          <p:cNvSpPr txBox="1"/>
          <p:nvPr/>
        </p:nvSpPr>
        <p:spPr>
          <a:xfrm>
            <a:off x="5008815" y="4622358"/>
            <a:ext cx="3927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 or more memory controllers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278805260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FCC4F-6C67-122A-E688-7994AC331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6CB68-F9A5-0864-738C-DF64DC910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Simulator Architecture (II)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6AD0-9612-B1AB-9F1E-6C87DA844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682038" cy="5193723"/>
          </a:xfrm>
        </p:spPr>
        <p:txBody>
          <a:bodyPr/>
          <a:lstStyle/>
          <a:p>
            <a:r>
              <a:rPr lang="en-US" sz="2400" b="1" dirty="0"/>
              <a:t>Inside the Memory System</a:t>
            </a:r>
            <a:endParaRPr lang="en-US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C39C5-BC4C-6067-5F8A-36D6B7FECF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BBDB001-AE58-F0DA-7EC8-6B49B1F92819}"/>
              </a:ext>
            </a:extLst>
          </p:cNvPr>
          <p:cNvGrpSpPr/>
          <p:nvPr/>
        </p:nvGrpSpPr>
        <p:grpSpPr>
          <a:xfrm>
            <a:off x="-2114974" y="1584960"/>
            <a:ext cx="10906762" cy="4733290"/>
            <a:chOff x="-85705" y="2165371"/>
            <a:chExt cx="4043807" cy="31810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6A8E41-C05A-1ACA-E19E-AA780D672453}"/>
                </a:ext>
              </a:extLst>
            </p:cNvPr>
            <p:cNvSpPr/>
            <p:nvPr/>
          </p:nvSpPr>
          <p:spPr bwMode="auto">
            <a:xfrm>
              <a:off x="911906" y="2165371"/>
              <a:ext cx="3046196" cy="3181011"/>
            </a:xfrm>
            <a:prstGeom prst="rect">
              <a:avLst/>
            </a:prstGeom>
            <a:noFill/>
            <a:ln w="571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A56B077-901B-F5E8-6BD1-44929780BE08}"/>
                </a:ext>
              </a:extLst>
            </p:cNvPr>
            <p:cNvSpPr txBox="1"/>
            <p:nvPr/>
          </p:nvSpPr>
          <p:spPr>
            <a:xfrm>
              <a:off x="-85705" y="2229901"/>
              <a:ext cx="3092027" cy="3102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Memory System</a:t>
              </a:r>
              <a:endPara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7FA8450-62F9-4F79-8299-E756BC391013}"/>
              </a:ext>
            </a:extLst>
          </p:cNvPr>
          <p:cNvGrpSpPr/>
          <p:nvPr/>
        </p:nvGrpSpPr>
        <p:grpSpPr>
          <a:xfrm rot="16200000">
            <a:off x="597752" y="4496220"/>
            <a:ext cx="2248311" cy="665903"/>
            <a:chOff x="2944707" y="2397124"/>
            <a:chExt cx="3478108" cy="66590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A6D7E80-4DED-3A1F-8979-06ACF0D80150}"/>
                </a:ext>
              </a:extLst>
            </p:cNvPr>
            <p:cNvSpPr/>
            <p:nvPr/>
          </p:nvSpPr>
          <p:spPr bwMode="auto">
            <a:xfrm>
              <a:off x="2944707" y="2397124"/>
              <a:ext cx="3478108" cy="665903"/>
            </a:xfrm>
            <a:prstGeom prst="rect">
              <a:avLst/>
            </a:prstGeom>
            <a:noFill/>
            <a:ln w="571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FFFD485-057B-5025-9215-C656747DC2CD}"/>
                </a:ext>
              </a:extLst>
            </p:cNvPr>
            <p:cNvSpPr txBox="1"/>
            <p:nvPr/>
          </p:nvSpPr>
          <p:spPr>
            <a:xfrm>
              <a:off x="2944707" y="2499242"/>
              <a:ext cx="347810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/>
                <a:t>Controller 0</a:t>
              </a:r>
              <a:endParaRPr lang="en-US" sz="2000" b="1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335BF22-064C-06F7-6E5C-6FB5587BA903}"/>
              </a:ext>
            </a:extLst>
          </p:cNvPr>
          <p:cNvGrpSpPr/>
          <p:nvPr/>
        </p:nvGrpSpPr>
        <p:grpSpPr>
          <a:xfrm rot="16200000">
            <a:off x="6579029" y="4496219"/>
            <a:ext cx="2248311" cy="665903"/>
            <a:chOff x="2944707" y="2397124"/>
            <a:chExt cx="3478108" cy="66590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854BCC3-29B4-C8E2-FABF-BEB19023BE04}"/>
                </a:ext>
              </a:extLst>
            </p:cNvPr>
            <p:cNvSpPr/>
            <p:nvPr/>
          </p:nvSpPr>
          <p:spPr bwMode="auto">
            <a:xfrm>
              <a:off x="2944707" y="2397124"/>
              <a:ext cx="3478108" cy="665903"/>
            </a:xfrm>
            <a:prstGeom prst="rect">
              <a:avLst/>
            </a:prstGeom>
            <a:noFill/>
            <a:ln w="571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DB25B16-46B7-5BCC-016B-4281A48B4C22}"/>
                </a:ext>
              </a:extLst>
            </p:cNvPr>
            <p:cNvSpPr txBox="1"/>
            <p:nvPr/>
          </p:nvSpPr>
          <p:spPr>
            <a:xfrm>
              <a:off x="2944707" y="2499242"/>
              <a:ext cx="347810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/>
                <a:t>Controller K</a:t>
              </a:r>
              <a:endParaRPr lang="en-US" sz="20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E5D5AE7-441C-281F-CAE4-76A002FB3A74}"/>
              </a:ext>
            </a:extLst>
          </p:cNvPr>
          <p:cNvSpPr txBox="1"/>
          <p:nvPr/>
        </p:nvSpPr>
        <p:spPr>
          <a:xfrm>
            <a:off x="4662548" y="4290429"/>
            <a:ext cx="7489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…</a:t>
            </a:r>
            <a:endParaRPr lang="LID4096" sz="4400" b="1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FA9A9C3-5B34-A7EA-EFE1-57F04B1A79D7}"/>
              </a:ext>
            </a:extLst>
          </p:cNvPr>
          <p:cNvGrpSpPr/>
          <p:nvPr/>
        </p:nvGrpSpPr>
        <p:grpSpPr>
          <a:xfrm>
            <a:off x="4683761" y="1963271"/>
            <a:ext cx="2954140" cy="529873"/>
            <a:chOff x="4683761" y="1963271"/>
            <a:chExt cx="2954140" cy="529873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2E766E0-0DFD-EFD4-E1A6-8AFB610BDAAC}"/>
                </a:ext>
              </a:extLst>
            </p:cNvPr>
            <p:cNvCxnSpPr>
              <a:cxnSpLocks/>
              <a:endCxn id="6" idx="0"/>
            </p:cNvCxnSpPr>
            <p:nvPr/>
          </p:nvCxnSpPr>
          <p:spPr bwMode="auto">
            <a:xfrm>
              <a:off x="4683761" y="1963271"/>
              <a:ext cx="0" cy="529873"/>
            </a:xfrm>
            <a:prstGeom prst="straightConnector1">
              <a:avLst/>
            </a:prstGeom>
            <a:solidFill>
              <a:srgbClr val="C0C0C0"/>
            </a:solidFill>
            <a:ln w="57150" cap="flat" cmpd="sng" algn="ctr">
              <a:solidFill>
                <a:srgbClr val="CC99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BF7E711-8660-A8F3-BE40-9A980CE80A96}"/>
                </a:ext>
              </a:extLst>
            </p:cNvPr>
            <p:cNvSpPr txBox="1"/>
            <p:nvPr/>
          </p:nvSpPr>
          <p:spPr>
            <a:xfrm>
              <a:off x="4811485" y="1977765"/>
              <a:ext cx="28264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66CC"/>
                  </a:solidFill>
                </a:rPr>
                <a:t>Request from frontend</a:t>
              </a:r>
              <a:endParaRPr lang="LID4096" b="1" dirty="0">
                <a:solidFill>
                  <a:srgbClr val="0066CC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9CF1C05-E31B-329B-F0AD-EBE7C9108C5D}"/>
              </a:ext>
            </a:extLst>
          </p:cNvPr>
          <p:cNvGrpSpPr/>
          <p:nvPr/>
        </p:nvGrpSpPr>
        <p:grpSpPr>
          <a:xfrm>
            <a:off x="2734944" y="3159047"/>
            <a:ext cx="4156847" cy="817832"/>
            <a:chOff x="3415677" y="1750179"/>
            <a:chExt cx="4122410" cy="817832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FC32255-7442-3150-246A-001594827F58}"/>
                </a:ext>
              </a:extLst>
            </p:cNvPr>
            <p:cNvCxnSpPr>
              <a:cxnSpLocks/>
              <a:stCxn id="6" idx="2"/>
              <a:endCxn id="26" idx="3"/>
            </p:cNvCxnSpPr>
            <p:nvPr/>
          </p:nvCxnSpPr>
          <p:spPr bwMode="auto">
            <a:xfrm flipH="1">
              <a:off x="3415677" y="1750179"/>
              <a:ext cx="1932672" cy="545969"/>
            </a:xfrm>
            <a:prstGeom prst="straightConnector1">
              <a:avLst/>
            </a:prstGeom>
            <a:solidFill>
              <a:srgbClr val="C0C0C0"/>
            </a:solidFill>
            <a:ln w="57150" cap="flat" cmpd="sng" algn="ctr">
              <a:solidFill>
                <a:srgbClr val="CC99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7311186-CE33-A621-5748-B2493DA0E99E}"/>
                </a:ext>
              </a:extLst>
            </p:cNvPr>
            <p:cNvSpPr txBox="1"/>
            <p:nvPr/>
          </p:nvSpPr>
          <p:spPr>
            <a:xfrm>
              <a:off x="4420323" y="1921680"/>
              <a:ext cx="31177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66CC"/>
                  </a:solidFill>
                </a:rPr>
                <a:t>Strip channel bits</a:t>
              </a:r>
            </a:p>
            <a:p>
              <a:pPr algn="ctr"/>
              <a:r>
                <a:rPr lang="en-US" b="1" dirty="0">
                  <a:solidFill>
                    <a:srgbClr val="0066CC"/>
                  </a:solidFill>
                </a:rPr>
                <a:t>Dispatch to the controller</a:t>
              </a:r>
              <a:endParaRPr lang="LID4096" b="1" dirty="0">
                <a:solidFill>
                  <a:srgbClr val="0066CC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4DF6C7F-1C70-5763-BCC8-93FFC91F707B}"/>
              </a:ext>
            </a:extLst>
          </p:cNvPr>
          <p:cNvGrpSpPr/>
          <p:nvPr/>
        </p:nvGrpSpPr>
        <p:grpSpPr>
          <a:xfrm>
            <a:off x="2944707" y="2493144"/>
            <a:ext cx="3478108" cy="665903"/>
            <a:chOff x="2944707" y="2397124"/>
            <a:chExt cx="3478108" cy="66590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F990CC5-F32B-D13D-63E3-E788AD8BB6B2}"/>
                </a:ext>
              </a:extLst>
            </p:cNvPr>
            <p:cNvSpPr/>
            <p:nvPr/>
          </p:nvSpPr>
          <p:spPr bwMode="auto">
            <a:xfrm>
              <a:off x="2944707" y="2397124"/>
              <a:ext cx="3478108" cy="665903"/>
            </a:xfrm>
            <a:prstGeom prst="rect">
              <a:avLst/>
            </a:prstGeom>
            <a:noFill/>
            <a:ln w="571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303D380-AA77-0C7E-AFC5-0A3981BD931B}"/>
                </a:ext>
              </a:extLst>
            </p:cNvPr>
            <p:cNvSpPr txBox="1"/>
            <p:nvPr/>
          </p:nvSpPr>
          <p:spPr>
            <a:xfrm>
              <a:off x="2944707" y="2499242"/>
              <a:ext cx="347810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/>
                <a:t>Channel Mapper</a:t>
              </a:r>
              <a:endParaRPr lang="en-US" sz="2000" b="1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F8174F8-6C3C-8F32-D1EC-7E49B713FEEE}"/>
              </a:ext>
            </a:extLst>
          </p:cNvPr>
          <p:cNvGrpSpPr/>
          <p:nvPr/>
        </p:nvGrpSpPr>
        <p:grpSpPr>
          <a:xfrm rot="16200000">
            <a:off x="1610789" y="4496220"/>
            <a:ext cx="2248311" cy="665903"/>
            <a:chOff x="2944707" y="2397124"/>
            <a:chExt cx="3478108" cy="665903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E84834C-80BF-B7D1-47D9-6A34531311D2}"/>
                </a:ext>
              </a:extLst>
            </p:cNvPr>
            <p:cNvSpPr/>
            <p:nvPr/>
          </p:nvSpPr>
          <p:spPr bwMode="auto">
            <a:xfrm>
              <a:off x="2944707" y="2397124"/>
              <a:ext cx="3478108" cy="665903"/>
            </a:xfrm>
            <a:prstGeom prst="rect">
              <a:avLst/>
            </a:prstGeom>
            <a:noFill/>
            <a:ln w="571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BA68490-C51B-C966-72D5-781FCB0851C6}"/>
                </a:ext>
              </a:extLst>
            </p:cNvPr>
            <p:cNvSpPr txBox="1"/>
            <p:nvPr/>
          </p:nvSpPr>
          <p:spPr>
            <a:xfrm>
              <a:off x="2944707" y="2499242"/>
              <a:ext cx="347810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/>
                <a:t>Controller 1</a:t>
              </a:r>
              <a:endParaRPr 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949882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C2E4E-E45D-6A3D-2FF8-23D6208AA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F87F9-8EDF-757F-8CB7-32A0E2AF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Simulator Architecture (III)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113A2-CD87-3E5B-3B42-48E3053EC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682038" cy="5193723"/>
          </a:xfrm>
        </p:spPr>
        <p:txBody>
          <a:bodyPr/>
          <a:lstStyle/>
          <a:p>
            <a:r>
              <a:rPr lang="en-US" sz="2400" b="1" dirty="0"/>
              <a:t>Inside the Memory Controller</a:t>
            </a:r>
            <a:endParaRPr lang="en-US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3A0D5-A571-6130-28F5-167A85FBD0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E7EE20B-A307-8362-7FC7-81CB04429978}"/>
              </a:ext>
            </a:extLst>
          </p:cNvPr>
          <p:cNvGrpSpPr/>
          <p:nvPr/>
        </p:nvGrpSpPr>
        <p:grpSpPr>
          <a:xfrm>
            <a:off x="-2114974" y="1584960"/>
            <a:ext cx="10906762" cy="4733290"/>
            <a:chOff x="-85705" y="2165371"/>
            <a:chExt cx="4043807" cy="31810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94C2A11-33F8-3397-31A5-18DC1E760D70}"/>
                </a:ext>
              </a:extLst>
            </p:cNvPr>
            <p:cNvSpPr/>
            <p:nvPr/>
          </p:nvSpPr>
          <p:spPr bwMode="auto">
            <a:xfrm>
              <a:off x="911906" y="2165371"/>
              <a:ext cx="3046196" cy="3181011"/>
            </a:xfrm>
            <a:prstGeom prst="rect">
              <a:avLst/>
            </a:prstGeom>
            <a:noFill/>
            <a:ln w="571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5782236-EEE8-D877-3E18-EF8ED79F09B8}"/>
                </a:ext>
              </a:extLst>
            </p:cNvPr>
            <p:cNvSpPr txBox="1"/>
            <p:nvPr/>
          </p:nvSpPr>
          <p:spPr>
            <a:xfrm>
              <a:off x="-85705" y="2229901"/>
              <a:ext cx="3092027" cy="3102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DRAM Controller</a:t>
              </a:r>
              <a:endPara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AF880A9-7786-D7B9-3A9B-A9550803537E}"/>
              </a:ext>
            </a:extLst>
          </p:cNvPr>
          <p:cNvGrpSpPr/>
          <p:nvPr/>
        </p:nvGrpSpPr>
        <p:grpSpPr>
          <a:xfrm>
            <a:off x="2944707" y="2273089"/>
            <a:ext cx="3478108" cy="665903"/>
            <a:chOff x="2944707" y="2397124"/>
            <a:chExt cx="3478108" cy="6659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1B4F98B-0F58-3405-E38C-E2785EA32BA3}"/>
                </a:ext>
              </a:extLst>
            </p:cNvPr>
            <p:cNvSpPr/>
            <p:nvPr/>
          </p:nvSpPr>
          <p:spPr bwMode="auto">
            <a:xfrm>
              <a:off x="2944707" y="2397124"/>
              <a:ext cx="3478108" cy="665903"/>
            </a:xfrm>
            <a:prstGeom prst="rect">
              <a:avLst/>
            </a:prstGeom>
            <a:noFill/>
            <a:ln w="571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684D2C-6F57-F1B9-8831-478EF928AC1E}"/>
                </a:ext>
              </a:extLst>
            </p:cNvPr>
            <p:cNvSpPr txBox="1"/>
            <p:nvPr/>
          </p:nvSpPr>
          <p:spPr>
            <a:xfrm>
              <a:off x="2944707" y="2499242"/>
              <a:ext cx="347810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/>
                <a:t>Address Mapper</a:t>
              </a:r>
              <a:endParaRPr lang="en-US" sz="2000" b="1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CA1DF1-ECBD-74DA-2A95-A40FBEDE54B9}"/>
              </a:ext>
            </a:extLst>
          </p:cNvPr>
          <p:cNvGrpSpPr/>
          <p:nvPr/>
        </p:nvGrpSpPr>
        <p:grpSpPr>
          <a:xfrm>
            <a:off x="2944707" y="3824946"/>
            <a:ext cx="3478108" cy="665903"/>
            <a:chOff x="2944707" y="2397124"/>
            <a:chExt cx="3478108" cy="66590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3B2038D-10BD-29AA-8F3D-7B52F99CB156}"/>
                </a:ext>
              </a:extLst>
            </p:cNvPr>
            <p:cNvSpPr/>
            <p:nvPr/>
          </p:nvSpPr>
          <p:spPr bwMode="auto">
            <a:xfrm>
              <a:off x="2944707" y="2397124"/>
              <a:ext cx="3478108" cy="665903"/>
            </a:xfrm>
            <a:prstGeom prst="rect">
              <a:avLst/>
            </a:prstGeom>
            <a:noFill/>
            <a:ln w="571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7B733A-E864-0CDB-26FF-D7184ABD947D}"/>
                </a:ext>
              </a:extLst>
            </p:cNvPr>
            <p:cNvSpPr txBox="1"/>
            <p:nvPr/>
          </p:nvSpPr>
          <p:spPr>
            <a:xfrm>
              <a:off x="2944707" y="2499242"/>
              <a:ext cx="347810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/>
                <a:t>Req. Forwarding</a:t>
              </a:r>
              <a:endParaRPr lang="en-US" sz="2000" b="1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601D7C-40DF-A4B2-56A2-E18FBCF866C7}"/>
              </a:ext>
            </a:extLst>
          </p:cNvPr>
          <p:cNvGrpSpPr/>
          <p:nvPr/>
        </p:nvGrpSpPr>
        <p:grpSpPr>
          <a:xfrm>
            <a:off x="4648643" y="1739770"/>
            <a:ext cx="3720459" cy="529873"/>
            <a:chOff x="4683761" y="1963271"/>
            <a:chExt cx="3720459" cy="529873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773D8F8-F887-E515-6EFD-6EE03E73324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83761" y="1963271"/>
              <a:ext cx="0" cy="529873"/>
            </a:xfrm>
            <a:prstGeom prst="straightConnector1">
              <a:avLst/>
            </a:prstGeom>
            <a:solidFill>
              <a:srgbClr val="C0C0C0"/>
            </a:solidFill>
            <a:ln w="57150" cap="flat" cmpd="sng" algn="ctr">
              <a:solidFill>
                <a:srgbClr val="CC99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BC5DD0D-17C0-10AF-EE69-725B091DF430}"/>
                </a:ext>
              </a:extLst>
            </p:cNvPr>
            <p:cNvSpPr txBox="1"/>
            <p:nvPr/>
          </p:nvSpPr>
          <p:spPr>
            <a:xfrm>
              <a:off x="4739434" y="1986597"/>
              <a:ext cx="3664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66CC"/>
                  </a:solidFill>
                </a:rPr>
                <a:t>Request from memory system</a:t>
              </a:r>
              <a:endParaRPr lang="LID4096" b="1" dirty="0">
                <a:solidFill>
                  <a:srgbClr val="0066CC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7C113E2-3394-1449-CAA4-CE021C050B7E}"/>
              </a:ext>
            </a:extLst>
          </p:cNvPr>
          <p:cNvGrpSpPr/>
          <p:nvPr/>
        </p:nvGrpSpPr>
        <p:grpSpPr>
          <a:xfrm>
            <a:off x="4641653" y="2953463"/>
            <a:ext cx="3710045" cy="879506"/>
            <a:chOff x="4683761" y="1963271"/>
            <a:chExt cx="3710045" cy="879506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161F539-275D-DFE6-2306-5D00E9D6C09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83761" y="1963271"/>
              <a:ext cx="0" cy="879506"/>
            </a:xfrm>
            <a:prstGeom prst="straightConnector1">
              <a:avLst/>
            </a:prstGeom>
            <a:solidFill>
              <a:srgbClr val="C0C0C0"/>
            </a:solidFill>
            <a:ln w="57150" cap="flat" cmpd="sng" algn="ctr">
              <a:solidFill>
                <a:srgbClr val="CC99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45C22A7-9CD1-9587-55AF-18AA8FE0D83A}"/>
                </a:ext>
              </a:extLst>
            </p:cNvPr>
            <p:cNvSpPr txBox="1"/>
            <p:nvPr/>
          </p:nvSpPr>
          <p:spPr>
            <a:xfrm>
              <a:off x="4749860" y="2040396"/>
              <a:ext cx="364394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0066CC"/>
                  </a:solidFill>
                </a:rPr>
                <a:t>Addr</a:t>
              </a:r>
              <a:r>
                <a:rPr lang="en-US" b="1" dirty="0">
                  <a:solidFill>
                    <a:srgbClr val="0066CC"/>
                  </a:solidFill>
                </a:rPr>
                <a:t> -&gt; </a:t>
              </a:r>
              <a:r>
                <a:rPr lang="en-US" b="1" dirty="0" err="1">
                  <a:solidFill>
                    <a:srgbClr val="0066CC"/>
                  </a:solidFill>
                </a:rPr>
                <a:t>Addr</a:t>
              </a:r>
              <a:r>
                <a:rPr lang="en-US" b="1" dirty="0">
                  <a:solidFill>
                    <a:srgbClr val="0066CC"/>
                  </a:solidFill>
                </a:rPr>
                <a:t> Vector</a:t>
              </a:r>
              <a:br>
                <a:rPr lang="en-US" b="1" dirty="0">
                  <a:solidFill>
                    <a:srgbClr val="0066CC"/>
                  </a:solidFill>
                </a:rPr>
              </a:br>
              <a:r>
                <a:rPr lang="en-US" b="1" dirty="0">
                  <a:solidFill>
                    <a:srgbClr val="0066CC"/>
                  </a:solidFill>
                </a:rPr>
                <a:t>e.g., &lt;Ch, Ra, </a:t>
              </a:r>
              <a:r>
                <a:rPr lang="en-US" b="1" dirty="0" err="1">
                  <a:solidFill>
                    <a:srgbClr val="0066CC"/>
                  </a:solidFill>
                </a:rPr>
                <a:t>Bg</a:t>
              </a:r>
              <a:r>
                <a:rPr lang="en-US" b="1" dirty="0">
                  <a:solidFill>
                    <a:srgbClr val="0066CC"/>
                  </a:solidFill>
                </a:rPr>
                <a:t>, Ba, Ro, Co&gt;</a:t>
              </a:r>
              <a:endParaRPr lang="LID4096" b="1" dirty="0">
                <a:solidFill>
                  <a:srgbClr val="0066CC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1DA2781-3F2E-7775-B628-457169421394}"/>
              </a:ext>
            </a:extLst>
          </p:cNvPr>
          <p:cNvGrpSpPr/>
          <p:nvPr/>
        </p:nvGrpSpPr>
        <p:grpSpPr>
          <a:xfrm>
            <a:off x="1205240" y="5232559"/>
            <a:ext cx="6956216" cy="668224"/>
            <a:chOff x="1481667" y="5118927"/>
            <a:chExt cx="6956216" cy="668224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DDDAA65F-5F80-5A84-999C-4D93B8A02372}"/>
                </a:ext>
              </a:extLst>
            </p:cNvPr>
            <p:cNvGrpSpPr/>
            <p:nvPr/>
          </p:nvGrpSpPr>
          <p:grpSpPr>
            <a:xfrm>
              <a:off x="1481667" y="5121248"/>
              <a:ext cx="3478108" cy="665903"/>
              <a:chOff x="2944707" y="2397124"/>
              <a:chExt cx="3478108" cy="665903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55FCA42F-9817-E3FB-94C4-6301AE85E5BE}"/>
                  </a:ext>
                </a:extLst>
              </p:cNvPr>
              <p:cNvSpPr/>
              <p:nvPr/>
            </p:nvSpPr>
            <p:spPr bwMode="auto">
              <a:xfrm>
                <a:off x="2944707" y="2397124"/>
                <a:ext cx="3478108" cy="665903"/>
              </a:xfrm>
              <a:prstGeom prst="rect">
                <a:avLst/>
              </a:prstGeom>
              <a:noFill/>
              <a:ln w="5715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LID4096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EF55724-FDBE-EB06-0761-16A75AA63699}"/>
                  </a:ext>
                </a:extLst>
              </p:cNvPr>
              <p:cNvSpPr txBox="1"/>
              <p:nvPr/>
            </p:nvSpPr>
            <p:spPr>
              <a:xfrm>
                <a:off x="2944707" y="2499242"/>
                <a:ext cx="34781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/>
                  <a:t>Read Queue</a:t>
                </a:r>
                <a:endParaRPr lang="en-US" sz="2000" b="1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8AEC824-9881-A6F4-BEF3-54B7E958B30D}"/>
                </a:ext>
              </a:extLst>
            </p:cNvPr>
            <p:cNvGrpSpPr/>
            <p:nvPr/>
          </p:nvGrpSpPr>
          <p:grpSpPr>
            <a:xfrm>
              <a:off x="4959775" y="5118927"/>
              <a:ext cx="3478108" cy="665903"/>
              <a:chOff x="2944707" y="2397124"/>
              <a:chExt cx="3478108" cy="665903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F1AF3EE-8435-EC54-2880-0C7E475A68D0}"/>
                  </a:ext>
                </a:extLst>
              </p:cNvPr>
              <p:cNvSpPr/>
              <p:nvPr/>
            </p:nvSpPr>
            <p:spPr bwMode="auto">
              <a:xfrm>
                <a:off x="2944707" y="2397124"/>
                <a:ext cx="3478108" cy="665903"/>
              </a:xfrm>
              <a:prstGeom prst="rect">
                <a:avLst/>
              </a:prstGeom>
              <a:noFill/>
              <a:ln w="5715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LID4096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8379019-D148-1B0F-5007-AD11DE1A37F5}"/>
                  </a:ext>
                </a:extLst>
              </p:cNvPr>
              <p:cNvSpPr txBox="1"/>
              <p:nvPr/>
            </p:nvSpPr>
            <p:spPr>
              <a:xfrm>
                <a:off x="2944707" y="2499242"/>
                <a:ext cx="34781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/>
                  <a:t>Write Queue</a:t>
                </a:r>
                <a:endParaRPr lang="en-US" sz="2000" b="1" dirty="0"/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A18C622-214A-3B5F-FAF2-A2ECE671D2D1}"/>
              </a:ext>
            </a:extLst>
          </p:cNvPr>
          <p:cNvGrpSpPr/>
          <p:nvPr/>
        </p:nvGrpSpPr>
        <p:grpSpPr>
          <a:xfrm>
            <a:off x="2944294" y="4490849"/>
            <a:ext cx="3478108" cy="744031"/>
            <a:chOff x="2944294" y="4490849"/>
            <a:chExt cx="3478108" cy="744031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DCDD521-AC04-21A6-3A6F-5CBFD379F408}"/>
                </a:ext>
              </a:extLst>
            </p:cNvPr>
            <p:cNvCxnSpPr>
              <a:cxnSpLocks/>
              <a:endCxn id="41" idx="0"/>
            </p:cNvCxnSpPr>
            <p:nvPr/>
          </p:nvCxnSpPr>
          <p:spPr bwMode="auto">
            <a:xfrm flipH="1">
              <a:off x="2944294" y="4775359"/>
              <a:ext cx="1739054" cy="459521"/>
            </a:xfrm>
            <a:prstGeom prst="straightConnector1">
              <a:avLst/>
            </a:prstGeom>
            <a:solidFill>
              <a:srgbClr val="C0C0C0"/>
            </a:solidFill>
            <a:ln w="57150" cap="flat" cmpd="sng" algn="ctr">
              <a:solidFill>
                <a:srgbClr val="CC99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9E0BFD8-1F14-FF3C-67BD-5522C4120911}"/>
                </a:ext>
              </a:extLst>
            </p:cNvPr>
            <p:cNvCxnSpPr>
              <a:cxnSpLocks/>
              <a:endCxn id="44" idx="0"/>
            </p:cNvCxnSpPr>
            <p:nvPr/>
          </p:nvCxnSpPr>
          <p:spPr bwMode="auto">
            <a:xfrm>
              <a:off x="4641653" y="4775359"/>
              <a:ext cx="1780749" cy="457200"/>
            </a:xfrm>
            <a:prstGeom prst="straightConnector1">
              <a:avLst/>
            </a:prstGeom>
            <a:solidFill>
              <a:srgbClr val="C0C0C0"/>
            </a:solidFill>
            <a:ln w="57150" cap="flat" cmpd="sng" algn="ctr">
              <a:solidFill>
                <a:srgbClr val="CC99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9DF04E1A-B353-490E-F080-9D2604D6BAC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41653" y="4490849"/>
              <a:ext cx="0" cy="338538"/>
            </a:xfrm>
            <a:prstGeom prst="straightConnector1">
              <a:avLst/>
            </a:prstGeom>
            <a:solidFill>
              <a:srgbClr val="C0C0C0"/>
            </a:solidFill>
            <a:ln w="57150" cap="flat" cmpd="sng" algn="ctr">
              <a:solidFill>
                <a:srgbClr val="CC99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2482C56-ADC4-B259-7F33-D6C51417C2DC}"/>
              </a:ext>
            </a:extLst>
          </p:cNvPr>
          <p:cNvGrpSpPr/>
          <p:nvPr/>
        </p:nvGrpSpPr>
        <p:grpSpPr>
          <a:xfrm>
            <a:off x="823249" y="3348654"/>
            <a:ext cx="2121458" cy="809245"/>
            <a:chOff x="823249" y="3348654"/>
            <a:chExt cx="2121458" cy="809245"/>
          </a:xfrm>
        </p:grpSpPr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15C20D05-142E-7C43-2465-6155A398958C}"/>
                </a:ext>
              </a:extLst>
            </p:cNvPr>
            <p:cNvCxnSpPr>
              <a:cxnSpLocks/>
              <a:stCxn id="13" idx="1"/>
            </p:cNvCxnSpPr>
            <p:nvPr/>
          </p:nvCxnSpPr>
          <p:spPr bwMode="auto">
            <a:xfrm rot="10800000">
              <a:off x="823249" y="3353754"/>
              <a:ext cx="2121458" cy="804145"/>
            </a:xfrm>
            <a:prstGeom prst="bentConnector3">
              <a:avLst>
                <a:gd name="adj1" fmla="val 99807"/>
              </a:avLst>
            </a:prstGeom>
            <a:solidFill>
              <a:srgbClr val="C0C0C0"/>
            </a:solidFill>
            <a:ln w="57150" cap="flat" cmpd="sng" algn="ctr">
              <a:solidFill>
                <a:srgbClr val="CC99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84F3E53-DB85-6101-9F66-393C4DCAA132}"/>
                </a:ext>
              </a:extLst>
            </p:cNvPr>
            <p:cNvSpPr txBox="1"/>
            <p:nvPr/>
          </p:nvSpPr>
          <p:spPr>
            <a:xfrm>
              <a:off x="1018547" y="3348654"/>
              <a:ext cx="150874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66CC"/>
                  </a:solidFill>
                </a:rPr>
                <a:t>Completion</a:t>
              </a:r>
            </a:p>
            <a:p>
              <a:pPr algn="ctr"/>
              <a:r>
                <a:rPr lang="en-US" b="1" dirty="0">
                  <a:solidFill>
                    <a:srgbClr val="0066CC"/>
                  </a:solidFill>
                </a:rPr>
                <a:t>Callback</a:t>
              </a:r>
              <a:endParaRPr lang="LID4096" b="1" dirty="0">
                <a:solidFill>
                  <a:srgbClr val="0066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16562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23AE6-5119-701A-4AC2-603ED5D24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FDC67-F580-B500-F4D3-96CF4C1CE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Simulator Architecture (IV)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53F80-D80A-0FC6-6417-F1A2B05E8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682038" cy="5193723"/>
          </a:xfrm>
        </p:spPr>
        <p:txBody>
          <a:bodyPr/>
          <a:lstStyle/>
          <a:p>
            <a:r>
              <a:rPr lang="en-US" sz="2400" b="1" dirty="0"/>
              <a:t>Inside the Scheduler</a:t>
            </a:r>
            <a:endParaRPr lang="en-US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B8DEE-3822-65A5-4434-C037590232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96603E4-AA30-DF34-E436-44A840456C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6792"/>
          <a:stretch>
            <a:fillRect/>
          </a:stretch>
        </p:blipFill>
        <p:spPr>
          <a:xfrm>
            <a:off x="262826" y="2133911"/>
            <a:ext cx="8542148" cy="304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1326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07B34-90FB-3D0E-748A-CC9883CFA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4969A-246F-88B1-6B20-DA7EDF32C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Simulator Architecture (IV)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E3618-DCC5-EF0F-47CC-E33760A0E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682038" cy="5193723"/>
          </a:xfrm>
        </p:spPr>
        <p:txBody>
          <a:bodyPr/>
          <a:lstStyle/>
          <a:p>
            <a:r>
              <a:rPr lang="en-US" sz="2400" b="1" dirty="0"/>
              <a:t>Inside the Scheduler</a:t>
            </a:r>
            <a:endParaRPr lang="en-US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8F688-600A-29E2-AEA8-D87284C021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21C61F-953E-13D6-377C-11C234398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57" y="2063049"/>
            <a:ext cx="8519323" cy="350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98263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6BBED-6733-2A16-2942-B76B599BF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8816F-3D89-72BB-A3A9-A167DF147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Simulator Architecture (IV)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9C100-02CF-93F8-C5DF-B94D0BE2B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682038" cy="5193723"/>
          </a:xfrm>
        </p:spPr>
        <p:txBody>
          <a:bodyPr/>
          <a:lstStyle/>
          <a:p>
            <a:r>
              <a:rPr lang="en-US" sz="2400" b="1" dirty="0"/>
              <a:t>Inside the Scheduler</a:t>
            </a:r>
            <a:endParaRPr lang="en-US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7A8F1-62C3-79B9-1990-E3BE52283C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2313C3-A631-B04D-0FFF-887332A5D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387" y="1494544"/>
            <a:ext cx="5823093" cy="482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27239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8272E-5736-224A-6F81-3075F208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77D89-C891-4463-1427-3E79E8336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Simulator Architecture (IV)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21D3A-49F0-DA59-3CD3-CD22DBD45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682038" cy="5193723"/>
          </a:xfrm>
        </p:spPr>
        <p:txBody>
          <a:bodyPr/>
          <a:lstStyle/>
          <a:p>
            <a:r>
              <a:rPr lang="en-US" sz="2400" b="1" dirty="0"/>
              <a:t>Inside the Scheduler</a:t>
            </a:r>
            <a:endParaRPr lang="en-US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42287-0215-AE8C-25EE-E764CBD447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B249B4-5C31-0C21-8FC2-1B29D7E49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965" y="2564935"/>
            <a:ext cx="4653869" cy="205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5484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72768-2F6F-7A54-8AD3-C2D39CB59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E51F6-FE12-A678-A182-939DAAB8B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Simulator Architecture (IV)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19574-4A97-BE48-68DE-56D1D28EA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682038" cy="5193723"/>
          </a:xfrm>
        </p:spPr>
        <p:txBody>
          <a:bodyPr/>
          <a:lstStyle/>
          <a:p>
            <a:r>
              <a:rPr lang="en-US" sz="2400" b="1" dirty="0"/>
              <a:t>Inside the Scheduler</a:t>
            </a:r>
            <a:endParaRPr lang="en-US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65D9B-CBA2-D32C-53E8-0D5A4FA0D0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46127B-A16D-F09E-663D-E1251F956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26" y="1556099"/>
            <a:ext cx="8455986" cy="47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9125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707DA-3AAC-3680-06B9-AE152798B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1C463-BEAB-DF29-06AF-48DB44C0E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Simulator Architecture (IV)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9AB36-F1A6-110C-61A3-29D1DDAFB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682038" cy="5193723"/>
          </a:xfrm>
        </p:spPr>
        <p:txBody>
          <a:bodyPr/>
          <a:lstStyle/>
          <a:p>
            <a:r>
              <a:rPr lang="en-US" sz="2400" b="1" dirty="0"/>
              <a:t>Inside </a:t>
            </a:r>
            <a:r>
              <a:rPr lang="en-US" sz="2400" b="1" dirty="0" err="1"/>
              <a:t>issue_command</a:t>
            </a:r>
            <a:r>
              <a:rPr lang="en-US" sz="2400" b="1" dirty="0"/>
              <a:t>()</a:t>
            </a:r>
          </a:p>
          <a:p>
            <a:pPr lvl="1"/>
            <a:endParaRPr lang="en-US" sz="1850" b="1" dirty="0"/>
          </a:p>
          <a:p>
            <a:pPr lvl="1"/>
            <a:endParaRPr lang="en-US" sz="1850" b="1" dirty="0"/>
          </a:p>
          <a:p>
            <a:pPr lvl="1"/>
            <a:endParaRPr lang="en-US" sz="1850" b="1" dirty="0"/>
          </a:p>
          <a:p>
            <a:pPr lvl="1"/>
            <a:endParaRPr lang="en-US" sz="1850" b="1" dirty="0"/>
          </a:p>
          <a:p>
            <a:pPr lvl="1"/>
            <a:r>
              <a:rPr lang="en-US" sz="2400" dirty="0"/>
              <a:t>Recursively walks the tree hierarchy of DRAM nodes</a:t>
            </a:r>
          </a:p>
          <a:p>
            <a:pPr lvl="1"/>
            <a:r>
              <a:rPr lang="en-US" sz="2400" dirty="0"/>
              <a:t>Update timings along the way</a:t>
            </a:r>
          </a:p>
          <a:p>
            <a:pPr lvl="2"/>
            <a:r>
              <a:rPr lang="en-US" sz="2000" dirty="0"/>
              <a:t>Update the earliest ready cycle of following commands based on timing constraints</a:t>
            </a:r>
          </a:p>
          <a:p>
            <a:pPr lvl="1"/>
            <a:r>
              <a:rPr lang="en-US" sz="2400" dirty="0"/>
              <a:t>Apply the action that the issued command has on involved nodes</a:t>
            </a:r>
          </a:p>
          <a:p>
            <a:pPr lvl="2"/>
            <a:r>
              <a:rPr lang="en-US" sz="2000" dirty="0"/>
              <a:t>Node state changes</a:t>
            </a:r>
          </a:p>
          <a:p>
            <a:pPr lvl="1"/>
            <a:endParaRPr lang="en-US" sz="2000" b="1" dirty="0"/>
          </a:p>
          <a:p>
            <a:pPr lvl="1"/>
            <a:endParaRPr lang="en-US" sz="1850" b="1" dirty="0"/>
          </a:p>
          <a:p>
            <a:pPr lvl="1"/>
            <a:endParaRPr lang="en-US" sz="185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3E2FE-1738-640D-29D1-0EE92E8F7D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866D65-CB5C-C7C4-3640-18CFD125F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86" y="1576261"/>
            <a:ext cx="8577266" cy="109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88604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B647F-DEFF-C624-2A2E-A450985A0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8C21A-D5D7-1ED4-D0A0-5B0CC5F87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Hands On Material</a:t>
            </a:r>
            <a:endParaRPr lang="LID4096" sz="36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F1083-1E6D-F400-989E-89E86E76C9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B01C66-9667-8AA4-21BE-730DEC10D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1568559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C093D-E371-3BB2-E0F7-C9CD4DC0E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815DA-E12E-D1DF-BC2A-800A8C9AF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Contribute to Ramulator 2.1 (II)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82B4A-5713-2EE3-86F6-D54198E88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682038" cy="5193723"/>
          </a:xfrm>
        </p:spPr>
        <p:txBody>
          <a:bodyPr/>
          <a:lstStyle/>
          <a:p>
            <a:r>
              <a:rPr lang="en-US" sz="2400" b="1" dirty="0"/>
              <a:t>Example directions of contributions</a:t>
            </a:r>
          </a:p>
          <a:p>
            <a:pPr lvl="1"/>
            <a:r>
              <a:rPr lang="en-US" sz="2000" b="1" dirty="0">
                <a:solidFill>
                  <a:srgbClr val="0066CC"/>
                </a:solidFill>
              </a:rPr>
              <a:t>Better timing presets of DRAM standards</a:t>
            </a:r>
          </a:p>
          <a:p>
            <a:pPr lvl="2"/>
            <a:r>
              <a:rPr lang="en-US" sz="2000" dirty="0"/>
              <a:t>Some of the DRAM timings are our best effort “guesstimates”</a:t>
            </a:r>
          </a:p>
          <a:p>
            <a:pPr lvl="2"/>
            <a:r>
              <a:rPr lang="en-US" sz="2000" dirty="0"/>
              <a:t>We welcome your more accurate set of timings w/o breaking NDA</a:t>
            </a:r>
          </a:p>
          <a:p>
            <a:pPr lvl="1"/>
            <a:r>
              <a:rPr lang="en-US" sz="2000" b="1" dirty="0">
                <a:solidFill>
                  <a:srgbClr val="0066CC"/>
                </a:solidFill>
              </a:rPr>
              <a:t>More DRAM request scheduling techniques</a:t>
            </a:r>
          </a:p>
          <a:p>
            <a:pPr lvl="1"/>
            <a:r>
              <a:rPr lang="en-US" sz="2000" b="1" dirty="0">
                <a:solidFill>
                  <a:srgbClr val="0066CC"/>
                </a:solidFill>
              </a:rPr>
              <a:t>More DRAM read disturbance mitigation techniques</a:t>
            </a:r>
          </a:p>
          <a:p>
            <a:pPr lvl="2"/>
            <a:r>
              <a:rPr lang="en-US" sz="2000" dirty="0"/>
              <a:t>Make use of controller plugins and scheduler filters</a:t>
            </a:r>
          </a:p>
          <a:p>
            <a:pPr lvl="1"/>
            <a:r>
              <a:rPr lang="en-US" sz="2000" b="1" dirty="0">
                <a:solidFill>
                  <a:srgbClr val="0066CC"/>
                </a:solidFill>
              </a:rPr>
              <a:t>More intelligent scheduling of refresh</a:t>
            </a:r>
          </a:p>
          <a:p>
            <a:pPr lvl="2"/>
            <a:r>
              <a:rPr lang="en-US" sz="2000" dirty="0"/>
              <a:t>Refresh postponing &amp; pull-in</a:t>
            </a:r>
          </a:p>
          <a:p>
            <a:pPr lvl="2"/>
            <a:r>
              <a:rPr lang="en-US" sz="2000" dirty="0"/>
              <a:t>Dynamic choice of </a:t>
            </a:r>
            <a:r>
              <a:rPr lang="en-US" sz="2000" dirty="0" err="1"/>
              <a:t>REFab</a:t>
            </a:r>
            <a:r>
              <a:rPr lang="en-US" sz="2000" dirty="0"/>
              <a:t>/sb/pb</a:t>
            </a:r>
          </a:p>
          <a:p>
            <a:pPr lvl="1"/>
            <a:r>
              <a:rPr lang="en-US" sz="2000" b="1" dirty="0">
                <a:solidFill>
                  <a:srgbClr val="0066CC"/>
                </a:solidFill>
              </a:rPr>
              <a:t>PUD/PNM modeling</a:t>
            </a:r>
          </a:p>
          <a:p>
            <a:pPr lvl="1"/>
            <a:r>
              <a:rPr lang="en-US" sz="2000" b="1" dirty="0">
                <a:solidFill>
                  <a:srgbClr val="0066CC"/>
                </a:solidFill>
              </a:rPr>
              <a:t>More integration with other simulators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Please open an Issue/Discussion first to coordinate with potential internal development!</a:t>
            </a:r>
          </a:p>
          <a:p>
            <a:pPr marL="0" indent="0">
              <a:buNone/>
            </a:pPr>
            <a:endParaRPr lang="en-US" sz="2150" b="1" dirty="0">
              <a:solidFill>
                <a:srgbClr val="00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28AD9-98FC-6F67-2E23-4083C1A38F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40628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B5533-ED36-186B-4410-2C183CA61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8069C-8EC4-5561-D898-1A683F55A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Acknowledgements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4BE48-0B85-59B3-CA10-3772102BB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682038" cy="5193723"/>
          </a:xfrm>
        </p:spPr>
        <p:txBody>
          <a:bodyPr/>
          <a:lstStyle/>
          <a:p>
            <a:r>
              <a:rPr lang="en-US" sz="2400" b="1" dirty="0"/>
              <a:t>Contributors (growing)</a:t>
            </a:r>
          </a:p>
          <a:p>
            <a:pPr lvl="1"/>
            <a:r>
              <a:rPr lang="en-US" sz="2000" dirty="0"/>
              <a:t>Haocong Luo</a:t>
            </a:r>
          </a:p>
          <a:p>
            <a:pPr lvl="1"/>
            <a:r>
              <a:rPr lang="en-US" sz="2000" dirty="0"/>
              <a:t>Nisa Bostancı</a:t>
            </a:r>
          </a:p>
          <a:p>
            <a:pPr lvl="1"/>
            <a:r>
              <a:rPr lang="en-US" sz="2000" dirty="0"/>
              <a:t>Ataberk Olgun </a:t>
            </a:r>
          </a:p>
          <a:p>
            <a:pPr lvl="1"/>
            <a:r>
              <a:rPr lang="en-US" sz="2000" dirty="0"/>
              <a:t>Maria Makeenkova</a:t>
            </a:r>
          </a:p>
          <a:p>
            <a:pPr lvl="1"/>
            <a:r>
              <a:rPr lang="en-US" sz="2000" dirty="0"/>
              <a:t>Ziad Malik </a:t>
            </a:r>
          </a:p>
          <a:p>
            <a:pPr lvl="1"/>
            <a:r>
              <a:rPr lang="en-US" sz="2000" dirty="0"/>
              <a:t>Ipek Akdeniz</a:t>
            </a:r>
          </a:p>
          <a:p>
            <a:pPr lvl="1"/>
            <a:r>
              <a:rPr lang="en-US" sz="2000" dirty="0"/>
              <a:t>Kislay Arya</a:t>
            </a:r>
          </a:p>
          <a:p>
            <a:pPr lvl="1"/>
            <a:r>
              <a:rPr lang="en-US" sz="2000" dirty="0"/>
              <a:t>Roman Hoffmann</a:t>
            </a:r>
          </a:p>
          <a:p>
            <a:pPr lvl="1"/>
            <a:r>
              <a:rPr lang="en-US" sz="2000" dirty="0" err="1"/>
              <a:t>Wonhyuk</a:t>
            </a:r>
            <a:r>
              <a:rPr lang="en-US" sz="2000" dirty="0"/>
              <a:t> Yang</a:t>
            </a:r>
          </a:p>
          <a:p>
            <a:pPr lvl="1"/>
            <a:r>
              <a:rPr lang="en-US" sz="2000" dirty="0"/>
              <a:t>@jiegec</a:t>
            </a:r>
          </a:p>
          <a:p>
            <a:pPr lvl="1"/>
            <a:r>
              <a:rPr lang="en-US" sz="2000" dirty="0"/>
              <a:t>Julien Eudine</a:t>
            </a:r>
          </a:p>
          <a:p>
            <a:pPr lvl="1"/>
            <a:r>
              <a:rPr lang="en-US" sz="2000" dirty="0" err="1"/>
              <a:t>Sangjae</a:t>
            </a:r>
            <a:r>
              <a:rPr lang="en-US" sz="2000" dirty="0"/>
              <a:t> Park</a:t>
            </a:r>
          </a:p>
          <a:p>
            <a:pPr lvl="1"/>
            <a:r>
              <a:rPr lang="en-US" sz="2000" dirty="0"/>
              <a:t>…</a:t>
            </a:r>
          </a:p>
          <a:p>
            <a:pPr lvl="1"/>
            <a:endParaRPr lang="en-US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30C2B-45C3-8361-138E-794D861D79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F6A284-3426-8BDD-660B-373C761DEBA9}"/>
              </a:ext>
            </a:extLst>
          </p:cNvPr>
          <p:cNvGrpSpPr/>
          <p:nvPr/>
        </p:nvGrpSpPr>
        <p:grpSpPr>
          <a:xfrm>
            <a:off x="3782388" y="3240447"/>
            <a:ext cx="4672353" cy="707886"/>
            <a:chOff x="3782388" y="3240447"/>
            <a:chExt cx="4672353" cy="707886"/>
          </a:xfrm>
        </p:grpSpPr>
        <p:sp>
          <p:nvSpPr>
            <p:cNvPr id="6" name="Arrow: Left 5">
              <a:extLst>
                <a:ext uri="{FF2B5EF4-FFF2-40B4-BE49-F238E27FC236}">
                  <a16:creationId xmlns:a16="http://schemas.microsoft.com/office/drawing/2014/main" id="{0B7A2995-51E0-288A-8012-84B30B615BB2}"/>
                </a:ext>
              </a:extLst>
            </p:cNvPr>
            <p:cNvSpPr/>
            <p:nvPr/>
          </p:nvSpPr>
          <p:spPr bwMode="auto">
            <a:xfrm>
              <a:off x="3782388" y="3378928"/>
              <a:ext cx="978408" cy="484632"/>
            </a:xfrm>
            <a:prstGeom prst="leftArrow">
              <a:avLst/>
            </a:prstGeom>
            <a:solidFill>
              <a:srgbClr val="CC99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95C5710-F26A-D85C-EA5F-14777A127F2A}"/>
                </a:ext>
              </a:extLst>
            </p:cNvPr>
            <p:cNvSpPr txBox="1"/>
            <p:nvPr/>
          </p:nvSpPr>
          <p:spPr>
            <a:xfrm>
              <a:off x="5099335" y="3240447"/>
              <a:ext cx="335540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tx2"/>
                  </a:solidFill>
                </a:rPr>
                <a:t>Join the list!</a:t>
              </a:r>
              <a:endParaRPr lang="LID4096" sz="4000" b="1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65792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50000"/>
            <a:lumOff val="50000"/>
          </a:schemeClr>
        </a:solidFill>
        <a:ln w="38100">
          <a:solidFill>
            <a:schemeClr val="tx1"/>
          </a:solidFill>
        </a:ln>
      </a:spPr>
      <a:bodyPr rtlCol="0" anchor="ctr"/>
      <a:lstStyle>
        <a:defPPr algn="ctr">
          <a:defRPr dirty="0" smtClean="0">
            <a:latin typeface="Cambria" panose="02040503050406030204" pitchFamily="18" charset="0"/>
            <a:ea typeface="Cambria" panose="02040503050406030204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>
            <a:latin typeface="Cambria" panose="02040503050406030204" pitchFamily="18" charset="0"/>
            <a:ea typeface="Cambria" panose="020405030504060302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1BD002CAFB3264890C230D19E131FFF" ma:contentTypeVersion="9" ma:contentTypeDescription="Ein neues Dokument erstellen." ma:contentTypeScope="" ma:versionID="55f6e0906779d11b42fb2ee343cfa23d">
  <xsd:schema xmlns:xsd="http://www.w3.org/2001/XMLSchema" xmlns:xs="http://www.w3.org/2001/XMLSchema" xmlns:p="http://schemas.microsoft.com/office/2006/metadata/properties" xmlns:ns3="efc136c2-bcae-4815-abde-6fabe11e70e0" xmlns:ns4="a3499594-7ad5-4181-bb48-75a3221fb6a9" targetNamespace="http://schemas.microsoft.com/office/2006/metadata/properties" ma:root="true" ma:fieldsID="e011328a3614556c53e29411f781c411" ns3:_="" ns4:_="">
    <xsd:import namespace="efc136c2-bcae-4815-abde-6fabe11e70e0"/>
    <xsd:import namespace="a3499594-7ad5-4181-bb48-75a3221fb6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c136c2-bcae-4815-abde-6fabe11e70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499594-7ad5-4181-bb48-75a3221fb6a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fc136c2-bcae-4815-abde-6fabe11e70e0" xsi:nil="true"/>
  </documentManagement>
</p:properties>
</file>

<file path=customXml/itemProps1.xml><?xml version="1.0" encoding="utf-8"?>
<ds:datastoreItem xmlns:ds="http://schemas.openxmlformats.org/officeDocument/2006/customXml" ds:itemID="{9A7A7BF9-FFF1-41B7-A182-76AD8808F1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c136c2-bcae-4815-abde-6fabe11e70e0"/>
    <ds:schemaRef ds:uri="a3499594-7ad5-4181-bb48-75a3221fb6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A5B4FBD-F71C-44C5-88C8-311EBA4B7F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524522-DDEF-471B-93A0-A99916A69934}">
  <ds:schemaRefs>
    <ds:schemaRef ds:uri="http://schemas.microsoft.com/office/2006/metadata/properties"/>
    <ds:schemaRef ds:uri="http://www.w3.org/XML/1998/namespace"/>
    <ds:schemaRef ds:uri="efc136c2-bcae-4815-abde-6fabe11e70e0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a3499594-7ad5-4181-bb48-75a3221fb6a9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5473</TotalTime>
  <Words>675</Words>
  <Application>Microsoft Office PowerPoint</Application>
  <PresentationFormat>On-screen Show (4:3)</PresentationFormat>
  <Paragraphs>169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ＭＳ Ｐゴシック</vt:lpstr>
      <vt:lpstr>Cambria</vt:lpstr>
      <vt:lpstr>Arial</vt:lpstr>
      <vt:lpstr>Garamond</vt:lpstr>
      <vt:lpstr>Wingdings</vt:lpstr>
      <vt:lpstr>Calibri</vt:lpstr>
      <vt:lpstr>Tahoma</vt:lpstr>
      <vt:lpstr>Office Theme</vt:lpstr>
      <vt:lpstr>2_Edge</vt:lpstr>
      <vt:lpstr>Ramulator 2.1 Tutorial</vt:lpstr>
      <vt:lpstr>Introduction</vt:lpstr>
      <vt:lpstr>Currently Supported DRAM Standards</vt:lpstr>
      <vt:lpstr>Getting Started (I)</vt:lpstr>
      <vt:lpstr>Getting Started (I)</vt:lpstr>
      <vt:lpstr>Getting Started (II)</vt:lpstr>
      <vt:lpstr>Getting Started (III)</vt:lpstr>
      <vt:lpstr>Navigating the Source Tree</vt:lpstr>
      <vt:lpstr>Simulator Architecture (I)</vt:lpstr>
      <vt:lpstr>Simulator Architecture (II)</vt:lpstr>
      <vt:lpstr>Simulator Architecture (III)</vt:lpstr>
      <vt:lpstr>Simulator Architecture (IV)</vt:lpstr>
      <vt:lpstr>Simulator Architecture (IV)</vt:lpstr>
      <vt:lpstr>Simulator Architecture (IV)</vt:lpstr>
      <vt:lpstr>Simulator Architecture (IV)</vt:lpstr>
      <vt:lpstr>Simulator Architecture (IV)</vt:lpstr>
      <vt:lpstr>Simulator Architecture (IV)</vt:lpstr>
      <vt:lpstr>Hands On Material</vt:lpstr>
      <vt:lpstr>Contribute to Ramulator 2.1 (II)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VTS 25 Read Disturbance</dc:title>
  <dc:creator>Haocong Luo</dc:creator>
  <cp:lastModifiedBy>Haocong Luo</cp:lastModifiedBy>
  <cp:revision>502</cp:revision>
  <dcterms:created xsi:type="dcterms:W3CDTF">2020-10-13T05:06:54Z</dcterms:created>
  <dcterms:modified xsi:type="dcterms:W3CDTF">2026-07-04T13:38:29Z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0x01010091BD002CAFB3264890C230D19E131FFF</vt:lpwstr>
  </property>
</Properties>
</file>